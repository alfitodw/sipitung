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7315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365760"/>
            <a:ext cx="3383280" cy="1463040"/>
          </a:xfrm>
          <a:prstGeom prst="rect">
            <a:avLst/>
          </a:prstGeom>
          <a:solidFill>
            <a:srgbClr val="1A376C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8F0"/>
                </a:solidFill>
              </a:rPr>
              <a:t>[LOGO LLDIKTI
WILAYAH III]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10312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LLDIKTI WILAYAH III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56032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8F0"/>
                </a:solidFill>
              </a:rPr>
              <a:t>Kementerian Pendidikan Tinggi,
Sains dan Teknologi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337560"/>
            <a:ext cx="3566160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34747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D8F0"/>
                </a:solidFill>
              </a:rPr>
              <a:t>PETUNJUK TEKNIS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84048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Penggunaan Aplikasi
SIPITUNG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3093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A8D0"/>
                </a:solidFill>
              </a:rPr>
              <a:t>Versi 1.0  |  April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0058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SIPITUNG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240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A623"/>
                </a:solidFill>
              </a:rPr>
              <a:t>Sistem Informasi Perencanaan &amp; Kinerja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2788920"/>
            <a:ext cx="7315200" cy="45720"/>
          </a:xfrm>
          <a:prstGeom prst="rect">
            <a:avLst/>
          </a:prstGeom>
          <a:solidFill>
            <a:srgbClr val="88A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2926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Modul Perencanaan &amp; Pengukuran Kinerja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4290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8F0"/>
                </a:solidFill>
              </a:rPr>
              <a:t>Panduan Review, Persetujuan &amp; Penolakan Dokumen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4297680"/>
            <a:ext cx="2194560" cy="594360"/>
          </a:xfrm>
          <a:prstGeom prst="rect">
            <a:avLst/>
          </a:prstGeom>
          <a:solidFill>
            <a:srgbClr val="0D472E"/>
          </a:solidFill>
          <a:ln w="9525">
            <a:solidFill>
              <a:srgbClr val="88A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431596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A623"/>
                </a:solidFill>
              </a:rPr>
              <a:t>Pengguna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5445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Kabag Umum (Pimpinan)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4297680"/>
            <a:ext cx="2194560" cy="594360"/>
          </a:xfrm>
          <a:prstGeom prst="rect">
            <a:avLst/>
          </a:prstGeom>
          <a:solidFill>
            <a:srgbClr val="0D472E"/>
          </a:solidFill>
          <a:ln w="9525">
            <a:solidFill>
              <a:srgbClr val="88A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431596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A623"/>
                </a:solidFill>
              </a:rPr>
              <a:t>Tahun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5445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8320" y="4297680"/>
            <a:ext cx="2194560" cy="594360"/>
          </a:xfrm>
          <a:prstGeom prst="rect">
            <a:avLst/>
          </a:prstGeom>
          <a:solidFill>
            <a:srgbClr val="0D472E"/>
          </a:solidFill>
          <a:ln w="9525">
            <a:solidFill>
              <a:srgbClr val="88A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0" y="431596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A623"/>
                </a:solidFill>
              </a:rPr>
              <a:t>Status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45445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Aktif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Daftar Isi — Juknis Kabag Umum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492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8F0"/>
                </a:solidFill>
              </a:rPr>
              <a:t>SIPITUNG — Petunjuk Teknis | LLDIKTI Wilayah III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92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2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5577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34440"/>
            <a:ext cx="640080" cy="914400"/>
          </a:xfrm>
          <a:prstGeom prst="rect">
            <a:avLst/>
          </a:prstGeom>
          <a:solidFill>
            <a:srgbClr val="1A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4173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128930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6C"/>
                </a:solidFill>
              </a:rPr>
              <a:t>Pendahuluan &amp; Peran Kabag Umum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158191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Tanggung jawab Kabag Umum dalam SIPITUNG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234440"/>
            <a:ext cx="5577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234440"/>
            <a:ext cx="640080" cy="914400"/>
          </a:xfrm>
          <a:prstGeom prst="rect">
            <a:avLst/>
          </a:prstGeom>
          <a:solidFill>
            <a:srgbClr val="1A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4173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2592" y="128930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6C"/>
                </a:solidFill>
              </a:rPr>
              <a:t>Ketentuan Umum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2592" y="158191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Aturan dan batasan kewenangan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258568"/>
            <a:ext cx="5577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2258568"/>
            <a:ext cx="640080" cy="914400"/>
          </a:xfrm>
          <a:prstGeom prst="rect">
            <a:avLst/>
          </a:prstGeom>
          <a:solidFill>
            <a:srgbClr val="1A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44144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231343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6C"/>
                </a:solidFill>
              </a:rPr>
              <a:t>Login &amp; Navigasi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26060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Cara masuk dan navigasi menu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258568"/>
            <a:ext cx="5577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2258568"/>
            <a:ext cx="640080" cy="914400"/>
          </a:xfrm>
          <a:prstGeom prst="rect">
            <a:avLst/>
          </a:prstGeom>
          <a:solidFill>
            <a:srgbClr val="1A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244144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2592" y="231343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6C"/>
                </a:solidFill>
              </a:rPr>
              <a:t>Memahami Tampilan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2592" y="26060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Struktur halaman review dokumen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282696"/>
            <a:ext cx="5577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3282696"/>
            <a:ext cx="640080" cy="914400"/>
          </a:xfrm>
          <a:prstGeom prst="rect">
            <a:avLst/>
          </a:prstGeom>
          <a:solidFill>
            <a:srgbClr val="1A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3465576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333756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6C"/>
                </a:solidFill>
              </a:rPr>
              <a:t>Review Rencana Aksi (RA)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" y="363016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Cara mereview dan menyetujui/menolak RA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3282696"/>
            <a:ext cx="5577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9360" y="3282696"/>
            <a:ext cx="640080" cy="914400"/>
          </a:xfrm>
          <a:prstGeom prst="rect">
            <a:avLst/>
          </a:prstGeom>
          <a:solidFill>
            <a:srgbClr val="1A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3465576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22592" y="333756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6C"/>
                </a:solidFill>
              </a:rPr>
              <a:t>Setujui Rencana Aksi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22592" y="363016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Langkah persetujuan RA per Tim Kerja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306824"/>
            <a:ext cx="5577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5760" y="4306824"/>
            <a:ext cx="640080" cy="914400"/>
          </a:xfrm>
          <a:prstGeom prst="rect">
            <a:avLst/>
          </a:prstGeom>
          <a:solidFill>
            <a:srgbClr val="1A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4489704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" y="436168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6C"/>
                </a:solidFill>
              </a:rPr>
              <a:t>Tolak &amp; Beri Catatan RA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" y="4654296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Cara menolak RA disertai catatan revisi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4306824"/>
            <a:ext cx="5577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09360" y="4306824"/>
            <a:ext cx="640080" cy="914400"/>
          </a:xfrm>
          <a:prstGeom prst="rect">
            <a:avLst/>
          </a:prstGeom>
          <a:solidFill>
            <a:srgbClr val="1A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5080" y="4489704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22592" y="436168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6C"/>
                </a:solidFill>
              </a:rPr>
              <a:t>Review Laporan Pengukuran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22592" y="4654296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Cara mereview laporan triwulan Tim Kerja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5330952"/>
            <a:ext cx="5577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5760" y="5330952"/>
            <a:ext cx="640080" cy="914400"/>
          </a:xfrm>
          <a:prstGeom prst="rect">
            <a:avLst/>
          </a:prstGeom>
          <a:solidFill>
            <a:srgbClr val="1A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" y="551383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78992" y="5385816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6C"/>
                </a:solidFill>
              </a:rPr>
              <a:t>Setujui / Tolak Laporan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8992" y="5678424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Langkah persetujuan atau penolakan laporan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09360" y="5330952"/>
            <a:ext cx="5577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09360" y="5330952"/>
            <a:ext cx="640080" cy="914400"/>
          </a:xfrm>
          <a:prstGeom prst="rect">
            <a:avLst/>
          </a:prstGeom>
          <a:solidFill>
            <a:srgbClr val="1A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55080" y="551383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22592" y="5385816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6C"/>
                </a:solidFill>
              </a:rPr>
              <a:t>Export Laporan PDF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22592" y="5678424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Cara mengekspor laporan pengukuran per TW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6355080"/>
            <a:ext cx="5577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65760" y="6355080"/>
            <a:ext cx="640080" cy="914400"/>
          </a:xfrm>
          <a:prstGeom prst="rect">
            <a:avLst/>
          </a:prstGeom>
          <a:solidFill>
            <a:srgbClr val="1A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1480" y="65379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78992" y="640994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6C"/>
                </a:solidFill>
              </a:rPr>
              <a:t>Alur Lengkap &amp; Checklist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78992" y="670255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Ringkasan alur kerja dan checklist harian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09360" y="6355080"/>
            <a:ext cx="5577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09360" y="6355080"/>
            <a:ext cx="640080" cy="914400"/>
          </a:xfrm>
          <a:prstGeom prst="rect">
            <a:avLst/>
          </a:prstGeom>
          <a:solidFill>
            <a:srgbClr val="1A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55080" y="65379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022592" y="640994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6C"/>
                </a:solidFill>
              </a:rPr>
              <a:t>FAQ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22592" y="670255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Pertanyaan yang sering diajukan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01  |  Pendahuluan &amp; Peran Kabag Umum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F0"/>
                </a:solidFill>
              </a:rPr>
              <a:t>Posisi dan tanggung jawab dalam sistem persetujuan SIPITUNG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492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8F0"/>
                </a:solidFill>
              </a:rPr>
              <a:t>SIPITUNG — Juknis Kabag Umum | LLDIKTI Wilayah III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92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3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34440"/>
            <a:ext cx="11430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234440"/>
            <a:ext cx="11430000" cy="384048"/>
          </a:xfrm>
          <a:prstGeom prst="rect">
            <a:avLst/>
          </a:prstGeom>
          <a:solidFill>
            <a:srgbClr val="0D4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25272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Posisi Kabag Umum dalam Alur Persetujuan SIPITUNG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691640"/>
            <a:ext cx="2468880" cy="1691640"/>
          </a:xfrm>
          <a:prstGeom prst="rect">
            <a:avLst/>
          </a:prstGeom>
          <a:solidFill>
            <a:srgbClr val="1E4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17373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Tim Kerja
(Ketua)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286000"/>
            <a:ext cx="2286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CDDFF"/>
                </a:solidFill>
              </a:rPr>
              <a:t>Menyusun RA &amp;
Mengisi Realisasi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27832" y="2286000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E75B6"/>
                </a:solidFill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6160" y="1691640"/>
            <a:ext cx="2468880" cy="1691640"/>
          </a:xfrm>
          <a:prstGeom prst="rect">
            <a:avLst/>
          </a:prstGeom>
          <a:solidFill>
            <a:srgbClr val="0D4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17373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Kabag Umum
★ ANDA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286000"/>
            <a:ext cx="2286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CDDFF"/>
                </a:solidFill>
              </a:rPr>
              <a:t>Review, Setujui/
Tolak Dokumen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62472" y="2286000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E75B6"/>
                </a:solidFill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691640"/>
            <a:ext cx="2468880" cy="16916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7373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PPK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286000"/>
            <a:ext cx="2286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CDDFF"/>
                </a:solidFill>
              </a:rPr>
              <a:t>Persetujuan
Final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97112" y="2286000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E75B6"/>
                </a:solidFill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1691640"/>
            <a:ext cx="2468880" cy="1691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0" y="17373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Terkunci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286000"/>
            <a:ext cx="2286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CDDFF"/>
                </a:solidFill>
              </a:rPr>
              <a:t>Dokumen
Final &amp; Arsip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657600"/>
            <a:ext cx="5394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3657600"/>
            <a:ext cx="5394960" cy="384048"/>
          </a:xfrm>
          <a:prstGeom prst="rect">
            <a:avLst/>
          </a:prstGeom>
          <a:solidFill>
            <a:srgbClr val="1A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675887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Kewenangan Kabag Umum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133087"/>
            <a:ext cx="384048" cy="438912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178807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178807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Mereview dan menyetujui Rencana Aksi (RA) yang disubmit Tim Kerja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590288"/>
            <a:ext cx="384048" cy="438912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4636007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4636007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Menolak RA disertai catatan revisi untuk diperbaiki Tim Kerja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047488"/>
            <a:ext cx="384048" cy="438912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5093207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093207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Mereview dan menyetujui Laporan Pengukuran Kinerja per triwulan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504688"/>
            <a:ext cx="384048" cy="438912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5550407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5550407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Menolak Laporan Pengukuran disertai rekomendasi perbaikan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5961888"/>
            <a:ext cx="384048" cy="438912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6007607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6007607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Mengekspor laporan pengukuran dalam format PDF per triwulan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0" y="3657600"/>
            <a:ext cx="57150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26480" y="3657600"/>
            <a:ext cx="5715000" cy="384048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63640" y="3675887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Dokumen yang Direview Kabag Umum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6480" y="4133087"/>
            <a:ext cx="5715000" cy="10515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126480" y="4133087"/>
            <a:ext cx="502920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11696" y="42062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76C"/>
                </a:solidFill>
              </a:rPr>
              <a:t>Modul Perencanaan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11696" y="4535424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Rencana Aksi (RA) — target triwulan &amp; rencana kegiatan IKU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26480" y="5248655"/>
            <a:ext cx="571500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126480" y="5248655"/>
            <a:ext cx="502920" cy="10515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11696" y="5321807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76C"/>
                </a:solidFill>
              </a:rPr>
              <a:t>Modul Pengukuran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11696" y="565099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Laporan Pengukuran Kinerja — realisasi capaian per triwulan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02  |  Ketentuan Umum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F0"/>
                </a:solidFill>
              </a:rPr>
              <a:t>Aturan dan batasan kewenangan Kabag Umum dalam SIPITUNG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492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8F0"/>
                </a:solidFill>
              </a:rPr>
              <a:t>SIPITUNG — Juknis Kabag Umum | LLDIKTI Wilayah III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92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4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61872"/>
            <a:ext cx="55778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261872"/>
            <a:ext cx="5577840" cy="73152"/>
          </a:xfrm>
          <a:prstGeom prst="rect">
            <a:avLst/>
          </a:prstGeom>
          <a:solidFill>
            <a:srgbClr val="1A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335024"/>
            <a:ext cx="502920" cy="1618488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810512"/>
            <a:ext cx="347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472E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137160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6C"/>
                </a:solidFill>
              </a:rPr>
              <a:t>Status Dokumen untuk Review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1682495"/>
            <a:ext cx="4892040" cy="18288"/>
          </a:xfrm>
          <a:prstGeom prst="rect">
            <a:avLst/>
          </a:prstGeom>
          <a:solidFill>
            <a:srgbClr val="CCD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1737360"/>
            <a:ext cx="489204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Kabag Umum hanya dapat menyetujui/menolak dokumen berstatus 'submitted'. Dokumen berstatus lain ditampilkan sebagai view-only.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261872"/>
            <a:ext cx="55778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261872"/>
            <a:ext cx="5577840" cy="73152"/>
          </a:xfrm>
          <a:prstGeom prst="rect">
            <a:avLst/>
          </a:prstGeom>
          <a:solidFill>
            <a:srgbClr val="1A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1335024"/>
            <a:ext cx="502920" cy="1618488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810512"/>
            <a:ext cx="347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472E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137160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6C"/>
                </a:solidFill>
              </a:rPr>
              <a:t>Persetujuan Bertahap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03720" y="1682495"/>
            <a:ext cx="4892040" cy="18288"/>
          </a:xfrm>
          <a:prstGeom prst="rect">
            <a:avLst/>
          </a:prstGeom>
          <a:solidFill>
            <a:srgbClr val="CCD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737360"/>
            <a:ext cx="489204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Setelah Kabag Umum menyetujui, dokumen diteruskan ke PPK untuk persetujuan final. Kabag Umum tidak dapat membatalkan persetujuan PPK.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017520"/>
            <a:ext cx="55778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3017520"/>
            <a:ext cx="5577840" cy="73152"/>
          </a:xfrm>
          <a:prstGeom prst="rect">
            <a:avLst/>
          </a:prstGeom>
          <a:solidFill>
            <a:srgbClr val="1A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090672"/>
            <a:ext cx="502920" cy="1618488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566160"/>
            <a:ext cx="347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472E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127248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6C"/>
                </a:solidFill>
              </a:rPr>
              <a:t>Catatan Wajib saat Menolak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" y="3438144"/>
            <a:ext cx="4892040" cy="18288"/>
          </a:xfrm>
          <a:prstGeom prst="rect">
            <a:avLst/>
          </a:prstGeom>
          <a:solidFill>
            <a:srgbClr val="CCD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3493008"/>
            <a:ext cx="489204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Setiap penolakan (RA maupun Laporan) WAJIB disertai catatan/rekomendasi yang jelas agar Tim Kerja dapat melakukan perbaikan.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3017520"/>
            <a:ext cx="55778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3017520"/>
            <a:ext cx="5577840" cy="73152"/>
          </a:xfrm>
          <a:prstGeom prst="rect">
            <a:avLst/>
          </a:prstGeom>
          <a:solidFill>
            <a:srgbClr val="1A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3090672"/>
            <a:ext cx="502920" cy="1618488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566160"/>
            <a:ext cx="347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472E"/>
                </a:solidFill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3127248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6C"/>
                </a:solidFill>
              </a:rPr>
              <a:t>View-Only untuk Semua Status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03720" y="3438144"/>
            <a:ext cx="4892040" cy="18288"/>
          </a:xfrm>
          <a:prstGeom prst="rect">
            <a:avLst/>
          </a:prstGeom>
          <a:solidFill>
            <a:srgbClr val="CCD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03720" y="3493008"/>
            <a:ext cx="489204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Halaman review menampilkan SEMUA dokumen dari semua Tim Kerja (semua status). Tombol Setujui/Tolak hanya aktif untuk status 'submitted'.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773168"/>
            <a:ext cx="55778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4773168"/>
            <a:ext cx="5577840" cy="73152"/>
          </a:xfrm>
          <a:prstGeom prst="rect">
            <a:avLst/>
          </a:prstGeom>
          <a:solidFill>
            <a:srgbClr val="1A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5760" y="4846320"/>
            <a:ext cx="502920" cy="1618488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321807"/>
            <a:ext cx="347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472E"/>
                </a:solidFill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4882896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6C"/>
                </a:solidFill>
              </a:rPr>
              <a:t>Login PPK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0120" y="5193792"/>
            <a:ext cx="4892040" cy="18288"/>
          </a:xfrm>
          <a:prstGeom prst="rect">
            <a:avLst/>
          </a:prstGeom>
          <a:solidFill>
            <a:srgbClr val="CCD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0120" y="5248656"/>
            <a:ext cx="489204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Perlu diperhatikan: halaman review yang sama digunakan oleh PPK, tetapi tombol aksi hanya muncul untuk akun Kabag Umum (bukan PPK).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4773168"/>
            <a:ext cx="55778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09360" y="4773168"/>
            <a:ext cx="5577840" cy="73152"/>
          </a:xfrm>
          <a:prstGeom prst="rect">
            <a:avLst/>
          </a:prstGeom>
          <a:solidFill>
            <a:srgbClr val="1A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309360" y="4846320"/>
            <a:ext cx="502920" cy="1618488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5321807"/>
            <a:ext cx="347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472E"/>
                </a:solidFill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03720" y="4882896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6C"/>
                </a:solidFill>
              </a:rPr>
              <a:t>Export Laporan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03720" y="5193792"/>
            <a:ext cx="4892040" cy="18288"/>
          </a:xfrm>
          <a:prstGeom prst="rect">
            <a:avLst/>
          </a:prstGeom>
          <a:solidFill>
            <a:srgbClr val="CCD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03720" y="5248656"/>
            <a:ext cx="489204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Hanya Kabag Umum yang dapat mengekspor laporan pengukuran ke PDF. Export tersedia setelah minimal satu laporan disetujui.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03  |  Login &amp; Navigasi Menu Kabag Umum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F0"/>
                </a:solidFill>
              </a:rPr>
              <a:t>Cara masuk dan mengakses menu review di SIPITUNG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492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8F0"/>
                </a:solidFill>
              </a:rPr>
              <a:t>SIPITUNG — Juknis Kabag Umum | LLDIKTI Wilayah III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92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5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34440"/>
            <a:ext cx="4389120" cy="5257800"/>
          </a:xfrm>
          <a:prstGeom prst="rect">
            <a:avLst/>
          </a:prstGeom>
          <a:solidFill>
            <a:srgbClr val="E8EEF8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234440"/>
            <a:ext cx="438912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25272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Tampilan Dashboard Kabag Umum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737360"/>
            <a:ext cx="3977639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2E75B6"/>
                </a:solidFill>
              </a:rPr>
              <a:t>[ SCREENSHOT DASHBOARD KABAG UMUM ]
Tambahkan screenshot di sini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1261872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6C"/>
                </a:solidFill>
              </a:rPr>
              <a:t>Langkah Login &amp; Navigasi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1261872"/>
            <a:ext cx="54864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74920" y="1737360"/>
            <a:ext cx="676656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74920" y="1737360"/>
            <a:ext cx="457200" cy="786384"/>
          </a:xfrm>
          <a:prstGeom prst="rect">
            <a:avLst/>
          </a:prstGeom>
          <a:solidFill>
            <a:srgbClr val="1A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1929384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05272" y="1783080"/>
            <a:ext cx="6172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76C"/>
                </a:solidFill>
              </a:rPr>
              <a:t>Buka Aplikasi &amp; Login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05272" y="2066543"/>
            <a:ext cx="6172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Buka browser, akses URL SIPITUNG. Masukkan username Kabag Umum (kabag.umum) dan password, lalu klik "Masuk".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74920" y="2587752"/>
            <a:ext cx="676656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74920" y="2587752"/>
            <a:ext cx="457200" cy="786384"/>
          </a:xfrm>
          <a:prstGeom prst="rect">
            <a:avLst/>
          </a:prstGeom>
          <a:solidFill>
            <a:srgbClr val="1A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2779776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05272" y="2633472"/>
            <a:ext cx="6172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76C"/>
                </a:solidFill>
              </a:rPr>
              <a:t>Dashboard Kabag Umum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05272" y="2916936"/>
            <a:ext cx="6172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Setelah login, Anda akan masuk ke Dashboard yang menampilkan ringkasan: Menunggu Review / Sudah Disetujui / Ditolak.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74920" y="3438144"/>
            <a:ext cx="676656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74920" y="3438144"/>
            <a:ext cx="457200" cy="786384"/>
          </a:xfrm>
          <a:prstGeom prst="rect">
            <a:avLst/>
          </a:prstGeom>
          <a:solidFill>
            <a:srgbClr val="1A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3630167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05272" y="3483863"/>
            <a:ext cx="6172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76C"/>
                </a:solidFill>
              </a:rPr>
              <a:t>Navigasi Modul Perencanaan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05272" y="3767328"/>
            <a:ext cx="6172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Untuk review RA: klik 'Perencanaan' di sidebar → 'Rencana Aksi'. Halaman menampilkan RA dari semua Tim Kerja.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74920" y="4288536"/>
            <a:ext cx="676656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74920" y="4288536"/>
            <a:ext cx="457200" cy="786384"/>
          </a:xfrm>
          <a:prstGeom prst="rect">
            <a:avLst/>
          </a:prstGeom>
          <a:solidFill>
            <a:srgbClr val="1A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74920" y="4480559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05272" y="4334255"/>
            <a:ext cx="6172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76C"/>
                </a:solidFill>
              </a:rPr>
              <a:t>Navigasi Modul Pengukuran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05272" y="4617720"/>
            <a:ext cx="6172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Untuk review Laporan: klik 'Pengukuran Kinerja' di sidebar. Laporan per Tim Kerja tampil di bagian atas halaman.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74920" y="5138928"/>
            <a:ext cx="676656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74920" y="5138928"/>
            <a:ext cx="457200" cy="786384"/>
          </a:xfrm>
          <a:prstGeom prst="rect">
            <a:avLst/>
          </a:prstGeom>
          <a:solidFill>
            <a:srgbClr val="1A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74920" y="533095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05272" y="5184648"/>
            <a:ext cx="6172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76C"/>
                </a:solidFill>
              </a:rPr>
              <a:t>Filter &amp; Pencarian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05272" y="5468112"/>
            <a:ext cx="6172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Gunakan filter tahun anggaran dan pencarian nama tim kerja untuk menemukan dokumen yang ingin direview lebih cepat.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74920" y="6035040"/>
            <a:ext cx="6766560" cy="82296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12080" y="606247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472E"/>
                </a:solidFill>
              </a:rPr>
              <a:t>Kredensial Login Kabag Umum: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2080" y="6309360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Username: kabag.umum
Password: (sesuai yang ditetapkan Admin)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04  |  Memahami Tampilan Halaman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F0"/>
                </a:solidFill>
              </a:rPr>
              <a:t>Struktur tabel dan elemen UI yang digunakan Kabag Umum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492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8F0"/>
                </a:solidFill>
              </a:rPr>
              <a:t>SIPITUNG — Juknis Kabag Umum | LLDIKTI Wilayah III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92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6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34440"/>
            <a:ext cx="4572000" cy="5257800"/>
          </a:xfrm>
          <a:prstGeom prst="rect">
            <a:avLst/>
          </a:prstGeom>
          <a:solidFill>
            <a:srgbClr val="E8EEF8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234440"/>
            <a:ext cx="457200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25272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Tampilan Halaman Review Rencana Aksi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737360"/>
            <a:ext cx="416052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2E75B6"/>
                </a:solidFill>
              </a:rPr>
              <a:t>[ SCREENSHOT HALAMAN REVIEW RENCANA AKSI ]
Tambahkan screenshot di sini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1261872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6C"/>
                </a:solidFill>
              </a:rPr>
              <a:t>Penjelasan Kolom Tabel Review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57800" y="1261872"/>
            <a:ext cx="54864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57800" y="1737360"/>
            <a:ext cx="6583680" cy="768096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179222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76C"/>
                </a:solidFill>
              </a:rPr>
              <a:t>Kolom Status
(kiri, rowspan tim kerja)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53527" y="1828800"/>
            <a:ext cx="27432" cy="566928"/>
          </a:xfrm>
          <a:prstGeom prst="rect">
            <a:avLst/>
          </a:prstGeom>
          <a:solidFill>
            <a:srgbClr val="CCD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44968" y="1792224"/>
            <a:ext cx="40233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Nama Tim Kerja (kecil di atas) + badge status berwarna:
Kuning=Draft, Biru=Menunggu Review, Hijau=Disetujui, Merah=Ditolak.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57800" y="2542032"/>
            <a:ext cx="6583680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0" y="2596896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76C"/>
                </a:solidFill>
              </a:rPr>
              <a:t>Kolom Sasaran
(rowspan per sasaran)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53527" y="2633472"/>
            <a:ext cx="27432" cy="566928"/>
          </a:xfrm>
          <a:prstGeom prst="rect">
            <a:avLst/>
          </a:prstGeom>
          <a:solidFill>
            <a:srgbClr val="CCD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44968" y="2596896"/>
            <a:ext cx="40233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Nama sasaran strategis, color-coded. Setiap sasaran bisa memiliki beberapa IKU.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57800" y="3346704"/>
            <a:ext cx="6583680" cy="768096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0" y="34015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76C"/>
                </a:solidFill>
              </a:rPr>
              <a:t>Kolom Indikator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53527" y="3438144"/>
            <a:ext cx="27432" cy="566928"/>
          </a:xfrm>
          <a:prstGeom prst="rect">
            <a:avLst/>
          </a:prstGeom>
          <a:solidFill>
            <a:srgbClr val="CCD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44968" y="3401568"/>
            <a:ext cx="40233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Kode dan nama IKU. Badge 'Tim Kerja Primer' dan 'Co-PIC' ditampilkan untuk IKU kolaborasi.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57800" y="4151376"/>
            <a:ext cx="6583680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4960" y="4206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76C"/>
                </a:solidFill>
              </a:rPr>
              <a:t>Kolom PIC Tim Kerja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53527" y="4242816"/>
            <a:ext cx="27432" cy="566928"/>
          </a:xfrm>
          <a:prstGeom prst="rect">
            <a:avLst/>
          </a:prstGeom>
          <a:solidFill>
            <a:srgbClr val="CCD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44968" y="4206240"/>
            <a:ext cx="40233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Badge biru = PIC primer, badge abu = co-PIC. Berguna untuk memastikan IKU kolaborasi sudah diisi kedua pihak.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57800" y="4956048"/>
            <a:ext cx="6583680" cy="768096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94960" y="501091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76C"/>
                </a:solidFill>
              </a:rPr>
              <a:t>Kolom Target / TW I–IV
(khusus RA)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53527" y="5047488"/>
            <a:ext cx="27432" cy="566928"/>
          </a:xfrm>
          <a:prstGeom prst="rect">
            <a:avLst/>
          </a:prstGeom>
          <a:solidFill>
            <a:srgbClr val="CCD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44968" y="5010912"/>
            <a:ext cx="40233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Nilai target tahunan dan per triwulan yang diisi Tim Kerja.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57800" y="5760720"/>
            <a:ext cx="6583680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94960" y="581558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76C"/>
                </a:solidFill>
              </a:rPr>
              <a:t>Kolom Aksi
(hanya untuk kabag_umum)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53527" y="5852160"/>
            <a:ext cx="27432" cy="566928"/>
          </a:xfrm>
          <a:prstGeom prst="rect">
            <a:avLst/>
          </a:prstGeom>
          <a:solidFill>
            <a:srgbClr val="CCD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44968" y="5815584"/>
            <a:ext cx="40233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Tombol 'Setujui' dan 'Tolak' HANYA muncul saat status = 'submitted'. Status lain menampilkan tanda —.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57800" y="6446520"/>
            <a:ext cx="6583680" cy="411480"/>
          </a:xfrm>
          <a:prstGeom prst="rect">
            <a:avLst/>
          </a:prstGeom>
          <a:solidFill>
            <a:srgbClr val="E3F2FD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94960" y="6483096"/>
            <a:ext cx="63825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76C"/>
                </a:solidFill>
              </a:rPr>
              <a:t>ℹ  Catatan: Halaman ini menampilkan SEMUA Tim Kerja dan SEMUA status. Scroll ke bawah atau gunakan pencarian untuk menemukan dokumen yang perlu ditindaklanjuti.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05–06  |  Review &amp; Setujui Rencana Aksi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F0"/>
                </a:solidFill>
              </a:rPr>
              <a:t>Cara memeriksa dan memberikan persetujuan RA Tim Kerja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492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8F0"/>
                </a:solidFill>
              </a:rPr>
              <a:t>SIPITUNG — Juknis Kabag Umum | LLDIKTI Wilayah III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92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7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34440"/>
            <a:ext cx="5394960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234440"/>
            <a:ext cx="5394960" cy="411480"/>
          </a:xfrm>
          <a:prstGeom prst="rect">
            <a:avLst/>
          </a:prstGeom>
          <a:solidFill>
            <a:srgbClr val="1A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252728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05  |  Cara Mereview Rencana Aksi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37360"/>
            <a:ext cx="5394960" cy="7315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737360"/>
            <a:ext cx="384048" cy="7315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901952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1828800"/>
            <a:ext cx="482803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Buka halaman Perencanaan → Rencana Aksi. Seluruh RA dari semua Tim Kerja tampil dalam tabel flat.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505456"/>
            <a:ext cx="53949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505456"/>
            <a:ext cx="384048" cy="7315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670048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596896"/>
            <a:ext cx="482803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Identifikasi baris yang memiliki badge status biru 'Menunggu Review' — ini yang perlu ditindaklanjuti.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273552"/>
            <a:ext cx="5394960" cy="7315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273552"/>
            <a:ext cx="384048" cy="7315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438144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364992"/>
            <a:ext cx="482803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Periksa kelengkapan target TW I–IV untuk setiap IKU. Pastikan tidak ada nilai yang kosong atau tidak wajar.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041648"/>
            <a:ext cx="53949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041648"/>
            <a:ext cx="384048" cy="7315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206240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133087"/>
            <a:ext cx="482803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Untuk IKU kolaborasi, cek apakah badge PIC primer dan co-PIC sudah mencerminkan Tim Kerja yang benar.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809744"/>
            <a:ext cx="5394960" cy="7315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4809744"/>
            <a:ext cx="384048" cy="7315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97433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901183"/>
            <a:ext cx="482803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Periksa apakah target triwulan bersifat kumulatif dan sesuai dengan target tahunan PK.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577840"/>
            <a:ext cx="53949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5577840"/>
            <a:ext cx="384048" cy="7315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5742431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669279"/>
            <a:ext cx="482803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Jika semua data sudah sesuai, klik tombol 'Setujui' pada kolom Aksi baris Tim Kerja tersebut.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1234440"/>
            <a:ext cx="5715000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26480" y="1234440"/>
            <a:ext cx="571500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40" y="12527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06  |  Langkah Persetujuan RA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0" y="1737360"/>
            <a:ext cx="57150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6480" y="1737360"/>
            <a:ext cx="457200" cy="8686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80" y="1970531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56832" y="17830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76C"/>
                </a:solidFill>
              </a:rPr>
              <a:t>Temukan Tim Kerja yang Perlu Disetujui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56832" y="2066543"/>
            <a:ext cx="51206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Cari baris dengan status 'Menunggu Review' (badge biru). Tombol Setujui tersedia di kolom Aksi.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26480" y="2670048"/>
            <a:ext cx="57150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26480" y="2670048"/>
            <a:ext cx="457200" cy="8686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0" y="2903220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56832" y="271576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76C"/>
                </a:solidFill>
              </a:rPr>
              <a:t>Klik Tombol 'Setujui'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56832" y="2999232"/>
            <a:ext cx="51206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Klik tombol hijau 'Setujui' pada baris Tim Kerja tersebut. Sebuah dialog konfirmasi akan muncul.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26480" y="3602736"/>
            <a:ext cx="57150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26480" y="3602736"/>
            <a:ext cx="457200" cy="8686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26480" y="383590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56832" y="364845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76C"/>
                </a:solidFill>
              </a:rPr>
              <a:t>Konfirmasi Persetujuan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56832" y="3931920"/>
            <a:ext cx="51206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Baca isi dialog, lalu klik 'Konfirmasi' untuk menyetujui RA. Status dokumen berubah menjadi 'Menunggu PPK'.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26480" y="4535424"/>
            <a:ext cx="57150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126480" y="4535424"/>
            <a:ext cx="457200" cy="8686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26480" y="4768596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56832" y="458114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76C"/>
                </a:solidFill>
              </a:rPr>
              <a:t>Verifikasi Status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56832" y="4864608"/>
            <a:ext cx="51206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Setelah konfirmasi, refresh halaman. Status Tim Kerja tersebut berubah menjadi badge amber 'Menunggu PPK'.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26480" y="5468112"/>
            <a:ext cx="57150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126480" y="5468112"/>
            <a:ext cx="457200" cy="8686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26480" y="5701284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56832" y="551383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76C"/>
                </a:solidFill>
              </a:rPr>
              <a:t>Ulangi untuk Tim Lain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56832" y="5797296"/>
            <a:ext cx="51206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Lakukan hal yang sama untuk setiap Tim Kerja lain yang RA-nya berstatus 'Menunggu Review'.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126480" y="6446520"/>
            <a:ext cx="5715000" cy="411480"/>
          </a:xfrm>
          <a:prstGeom prst="rect">
            <a:avLst/>
          </a:prstGeom>
          <a:solidFill>
            <a:srgbClr val="E3F2FD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63640" y="6483096"/>
            <a:ext cx="551383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76C"/>
                </a:solidFill>
              </a:rPr>
              <a:t>ℹ  Setelah Kabag Umum menyetujui, dokumen diteruskan ke PPK. Kabag tidak perlu melakukan tindakan lanjutan.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07  |  Menolak Rencana Aksi &amp; Memberi Catatan Revisi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F0"/>
                </a:solidFill>
              </a:rPr>
              <a:t>Prosedur penolakan RA dengan catatan yang konstruktif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492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8F0"/>
                </a:solidFill>
              </a:rPr>
              <a:t>SIPITUNG — Juknis Kabag Umum | LLDIKTI Wilayah III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92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8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34440"/>
            <a:ext cx="4389120" cy="5257800"/>
          </a:xfrm>
          <a:prstGeom prst="rect">
            <a:avLst/>
          </a:prstGeom>
          <a:solidFill>
            <a:srgbClr val="E8EEF8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234440"/>
            <a:ext cx="438912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25272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Tampilan Dialog Tolak &amp; Catatan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737360"/>
            <a:ext cx="3977639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2E75B6"/>
                </a:solidFill>
              </a:rPr>
              <a:t>[ SCREENSHOT DIALOG TOLAK &amp; CATATAN ]
Tambahkan screenshot di sini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1261872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6C"/>
                </a:solidFill>
              </a:rPr>
              <a:t>Langkah Penolakan Rencana Aksi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1261872"/>
            <a:ext cx="54864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74920" y="1737360"/>
            <a:ext cx="67665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74920" y="1737360"/>
            <a:ext cx="457200" cy="7132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1892807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05272" y="1783080"/>
            <a:ext cx="6172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76C"/>
                </a:solidFill>
              </a:rPr>
              <a:t>Identifikasi Alasan Penolakan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05272" y="2066543"/>
            <a:ext cx="6172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Sebelum menolak, pastikan Anda sudah mengetahui poin spesifik yang perlu diperbaiki oleh Tim Kerja.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74920" y="2514600"/>
            <a:ext cx="67665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74920" y="2514600"/>
            <a:ext cx="457200" cy="7132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267004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05272" y="2560320"/>
            <a:ext cx="6172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76C"/>
                </a:solidFill>
              </a:rPr>
              <a:t>Klik Tombol 'Tolak'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05272" y="2843784"/>
            <a:ext cx="6172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Klik tombol merah 'Tolak' pada kolom Aksi baris Tim Kerja yang bersangkutan.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74920" y="3291839"/>
            <a:ext cx="67665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74920" y="3291839"/>
            <a:ext cx="457200" cy="7132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3447287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05272" y="3337559"/>
            <a:ext cx="6172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76C"/>
                </a:solidFill>
              </a:rPr>
              <a:t>Dialog Catatan Revisi Terbuka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05272" y="3621023"/>
            <a:ext cx="6172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Sebuah dialog berisi kolom teks 'Catatan Revisi' akan terbuka. Kolom ini WAJIB diisi sebelum dapat mengkonfirmasi penolakan.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74920" y="4069079"/>
            <a:ext cx="67665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74920" y="4069079"/>
            <a:ext cx="457200" cy="7132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74920" y="4224527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05272" y="4114799"/>
            <a:ext cx="6172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76C"/>
                </a:solidFill>
              </a:rPr>
              <a:t>Tulis Catatan Revisi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05272" y="4398264"/>
            <a:ext cx="6172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Tulis catatan revisi yang jelas, spesifik, dan konstruktif (contoh: 'Target TW II IKU 2.1 terlalu rendah dibanding target tahunan. Mohon disesuaikan.').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74920" y="4846320"/>
            <a:ext cx="67665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74920" y="4846320"/>
            <a:ext cx="457200" cy="7132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74920" y="500176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05272" y="4892040"/>
            <a:ext cx="6172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76C"/>
                </a:solidFill>
              </a:rPr>
              <a:t>Klik Konfirmasi Tolak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05272" y="5175504"/>
            <a:ext cx="6172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Klik tombol 'Konfirmasi Tolak'. Status dokumen berubah menjadi 'Ditolak' dan catatan terkirim ke Tim Kerja.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74920" y="5623560"/>
            <a:ext cx="67665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74920" y="5623560"/>
            <a:ext cx="457200" cy="7132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74920" y="577900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05272" y="5669280"/>
            <a:ext cx="6172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76C"/>
                </a:solidFill>
              </a:rPr>
              <a:t>Verifikasi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05272" y="5952744"/>
            <a:ext cx="6172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Badge status Tim Kerja berubah menjadi merah 'Ditolak'. Tim Kerja dapat melihat catatan Anda dan melakukan perbaikan.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74920" y="6400800"/>
            <a:ext cx="6766560" cy="457200"/>
          </a:xfrm>
          <a:prstGeom prst="rect">
            <a:avLst/>
          </a:prstGeom>
          <a:solidFill>
            <a:srgbClr val="FFF3CD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12080" y="6437376"/>
            <a:ext cx="65653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D6008"/>
                </a:solidFill>
              </a:rPr>
              <a:t>⚠  Penting: Catatan revisi harus SPESIFIK dan JELAS. Catatan yang terlalu umum (contoh: 'Perbaiki targetnya') akan menyulitkan Tim Kerja dalam melakukan revisi yang tepat.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08  |  Review Laporan Pengukuran Kinerja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F0"/>
                </a:solidFill>
              </a:rPr>
              <a:t>Cara mereview laporan triwulan yang disubmit Tim Kerja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492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8F0"/>
                </a:solidFill>
              </a:rPr>
              <a:t>SIPITUNG — Juknis Kabag Umum | LLDIKTI Wilayah III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92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9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34440"/>
            <a:ext cx="4389120" cy="5257800"/>
          </a:xfrm>
          <a:prstGeom prst="rect">
            <a:avLst/>
          </a:prstGeom>
          <a:solidFill>
            <a:srgbClr val="E8EEF8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234440"/>
            <a:ext cx="438912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25272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Tampilan Halaman Laporan Pengukuran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737360"/>
            <a:ext cx="3977639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2E75B6"/>
                </a:solidFill>
              </a:rPr>
              <a:t>[ SCREENSHOT HALAMAN LAPORAN PENGUKURAN ]
Tambahkan screenshot di sini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1261872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6C"/>
                </a:solidFill>
              </a:rPr>
              <a:t>Cara Mereview Laporan Pengukuran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1261872"/>
            <a:ext cx="54864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74920" y="1737360"/>
            <a:ext cx="67665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74920" y="1737360"/>
            <a:ext cx="457200" cy="713232"/>
          </a:xfrm>
          <a:prstGeom prst="rect">
            <a:avLst/>
          </a:prstGeom>
          <a:solidFill>
            <a:srgbClr val="1A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1892807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05272" y="1783080"/>
            <a:ext cx="6172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76C"/>
                </a:solidFill>
              </a:rPr>
              <a:t>Buka Menu Pengukuran Kinerja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05272" y="2066543"/>
            <a:ext cx="6172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Klik 'Pengukuran Kinerja' di sidebar. Halaman menampilkan kartu laporan per Tim Kerja di bagian atas, diikuti matriks realisasi.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74920" y="2514600"/>
            <a:ext cx="67665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74920" y="2514600"/>
            <a:ext cx="457200" cy="713232"/>
          </a:xfrm>
          <a:prstGeom prst="rect">
            <a:avLst/>
          </a:prstGeom>
          <a:solidFill>
            <a:srgbClr val="1A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267004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05272" y="2560320"/>
            <a:ext cx="6172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76C"/>
                </a:solidFill>
              </a:rPr>
              <a:t>Pilih Periode Triwulan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05272" y="2843784"/>
            <a:ext cx="6172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Pilih periode yang ingin direview dari dropdown. Kartu laporan akan berubah sesuai periode yang dipilih.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74920" y="3291839"/>
            <a:ext cx="67665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74920" y="3291839"/>
            <a:ext cx="457200" cy="713232"/>
          </a:xfrm>
          <a:prstGeom prst="rect">
            <a:avLst/>
          </a:prstGeom>
          <a:solidFill>
            <a:srgbClr val="1A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3447287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05272" y="3337559"/>
            <a:ext cx="6172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76C"/>
                </a:solidFill>
              </a:rPr>
              <a:t>Identifikasi Laporan Menunggu 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05272" y="3621023"/>
            <a:ext cx="6172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Cari kartu dengan badge biru 'Menunggu'. Kartu ini berisi tombol 'Setujui' dan 'Kembalikan'.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74920" y="4069079"/>
            <a:ext cx="67665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74920" y="4069079"/>
            <a:ext cx="457200" cy="713232"/>
          </a:xfrm>
          <a:prstGeom prst="rect">
            <a:avLst/>
          </a:prstGeom>
          <a:solidFill>
            <a:srgbClr val="1A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74920" y="4224527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05272" y="4114799"/>
            <a:ext cx="6172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76C"/>
                </a:solidFill>
              </a:rPr>
              <a:t>Review Detail Realisasi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05272" y="4398264"/>
            <a:ext cx="6172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Periksa matriks di bawah kartu laporan. Verifikasi nilai realisasi, progress kegiatan, kendala, dan strategi tindak lanjut setiap IKU.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74920" y="4846320"/>
            <a:ext cx="67665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74920" y="4846320"/>
            <a:ext cx="457200" cy="713232"/>
          </a:xfrm>
          <a:prstGeom prst="rect">
            <a:avLst/>
          </a:prstGeom>
          <a:solidFill>
            <a:srgbClr val="1A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74920" y="500176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05272" y="4892040"/>
            <a:ext cx="6172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76C"/>
                </a:solidFill>
              </a:rPr>
              <a:t>Cek Kelengkapan Semua IKU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05272" y="5175504"/>
            <a:ext cx="6172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Pastikan semua IKU Tim Kerja sudah diisi (tidak ada baris kosong). Perhatikan apakah ada IKU kolaborasi yang belum terisi oleh pihak yang harusnya mengisi.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74920" y="5623560"/>
            <a:ext cx="67665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74920" y="5623560"/>
            <a:ext cx="457200" cy="713232"/>
          </a:xfrm>
          <a:prstGeom prst="rect">
            <a:avLst/>
          </a:prstGeom>
          <a:solidFill>
            <a:srgbClr val="1A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74920" y="577900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05272" y="5669280"/>
            <a:ext cx="6172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76C"/>
                </a:solidFill>
              </a:rPr>
              <a:t>Ambil Keputusan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05272" y="5952744"/>
            <a:ext cx="6172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Jika data lengkap dan valid → Setujui. Jika ada yang perlu diperbaiki → Kembalikan dengan catatan rekomendasi.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74920" y="6419088"/>
            <a:ext cx="6766560" cy="438912"/>
          </a:xfrm>
          <a:prstGeom prst="rect">
            <a:avLst/>
          </a:prstGeom>
          <a:solidFill>
            <a:srgbClr val="E3F2FD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12080" y="6455664"/>
            <a:ext cx="6565392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76C"/>
                </a:solidFill>
              </a:rPr>
              <a:t>ℹ  Matriks realisasi menampilkan: Sasaran, IKU, PIC, Satuan, Target PK, Target TW, Realisasi, Progress, Kendala, Strategi, dan 'Diisi Oleh'.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09  |  Setujui atau Tolak Laporan Pengukuran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F0"/>
                </a:solidFill>
              </a:rPr>
              <a:t>Langkah persetujuan dan prosedur penolakan laporan triwulan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492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8F0"/>
                </a:solidFill>
              </a:rPr>
              <a:t>SIPITUNG — Juknis Kabag Umum | LLDIKTI Wilayah III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92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10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34440"/>
            <a:ext cx="5394960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234440"/>
            <a:ext cx="539496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252728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Menyetujui Laporan Pengukuran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37360"/>
            <a:ext cx="5394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737360"/>
            <a:ext cx="457200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94767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1783080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76C"/>
                </a:solidFill>
              </a:rPr>
              <a:t>Klik Tombol 'Setujui' pada Kartu Laporan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2066543"/>
            <a:ext cx="4800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Pada kartu laporan Tim Kerja yang sudah Anda review, klik tombol hijau 'Setujui'.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33472"/>
            <a:ext cx="5394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633472"/>
            <a:ext cx="457200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843784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2679191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76C"/>
                </a:solidFill>
              </a:rPr>
              <a:t>Dialog Konfirmasi Muncul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2962656"/>
            <a:ext cx="4800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Sebuah dialog konfirmasi akan muncul. Anda dapat mengisi catatan apresiasi (opsional) sebelum mengkonfirmasi.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529584"/>
            <a:ext cx="5394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529584"/>
            <a:ext cx="457200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739896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3575303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76C"/>
                </a:solidFill>
              </a:rPr>
              <a:t>Klik Konfirmasi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3858768"/>
            <a:ext cx="4800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Klik 'Konfirmasi'. Status laporan berubah menjadi 'Disetujui' (badge hijau). Tim Kerja mendapat notifikasi otomatis.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425696"/>
            <a:ext cx="5394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4425696"/>
            <a:ext cx="457200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63600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" y="4471416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76C"/>
                </a:solidFill>
              </a:rPr>
              <a:t>Verifikasi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4754880"/>
            <a:ext cx="4800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Kartu laporan Tim Kerja tersebut sekarang menampilkan badge hijau 'Disetujui' beserta tanggal persetujuan.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321808"/>
            <a:ext cx="5394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5321808"/>
            <a:ext cx="457200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5532120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" y="5367528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76C"/>
                </a:solidFill>
              </a:rPr>
              <a:t>Ulangi untuk Tim Lain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" y="5650992"/>
            <a:ext cx="4800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Lakukan hal yang sama untuk setiap laporan Tim Kerja lain yang perlu disetujui pada periode ini.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0" y="1234440"/>
            <a:ext cx="5715000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26480" y="1234440"/>
            <a:ext cx="571500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12527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Menolak / Mengembalikan Laporan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1737360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6480" y="1737360"/>
            <a:ext cx="457200" cy="8229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0" y="194767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56832" y="17830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76C"/>
                </a:solidFill>
              </a:rPr>
              <a:t>Klik Tombol 'Kembalikan'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56832" y="2066543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Pada kartu laporan Tim Kerja, klik tombol merah 'Kembalikan'. Dialog catatan rekomendasi akan terbuka.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0" y="2633472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26480" y="2633472"/>
            <a:ext cx="457200" cy="8229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26480" y="2843784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56832" y="2679191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76C"/>
                </a:solidFill>
              </a:rPr>
              <a:t>Isi Catatan Rekomendasi (WAJIB)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56832" y="2962656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Tulis rekomendasi perbaikan secara spesifik (contoh: 'Realisasi IKU 3.1 perlu dilengkapi dengan keterangan progress kegiatan').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80" y="3529584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126480" y="3529584"/>
            <a:ext cx="457200" cy="8229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26480" y="3739896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56832" y="3575303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76C"/>
                </a:solidFill>
              </a:rPr>
              <a:t>Klik Konfirmasi Kembalikan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56832" y="3858768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Klik 'Konfirmasi'. Status laporan berubah menjadi 'Dikembalikan'. Tim Kerja dapat melihat catatan dan melakukan perbaikan.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26480" y="4425696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26480" y="4425696"/>
            <a:ext cx="457200" cy="8229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26480" y="463600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56832" y="447141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76C"/>
                </a:solidFill>
              </a:rPr>
              <a:t>Tim Kerja Melakukan Revisi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56832" y="475488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Tim Kerja akan memperbaiki data realisasi dan submit ulang. Laporan yang disubmit ulang akan kembali berstatus 'Menunggu Review'.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26480" y="5321808"/>
            <a:ext cx="5715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126480" y="5321808"/>
            <a:ext cx="457200" cy="8229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26480" y="5532120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56832" y="53675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76C"/>
                </a:solidFill>
              </a:rPr>
              <a:t>Review Ulang Laporan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56832" y="5650992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Setelah Tim Kerja submit ulang, ulangi proses review dari langkah awal. Tidak ada batasan jumlah siklus revisi.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6446520"/>
            <a:ext cx="11430000" cy="411480"/>
          </a:xfrm>
          <a:prstGeom prst="rect">
            <a:avLst/>
          </a:prstGeom>
          <a:solidFill>
            <a:srgbClr val="FFF3CD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2920" y="6483096"/>
            <a:ext cx="1122883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D6008"/>
                </a:solidFill>
              </a:rPr>
              <a:t>⚠  Pastikan catatan rekomendasi ditulis dengan bahasa yang konstruktif dan mudah dipahami. Ini akan membantu Tim Kerja melakukan perbaikan dengan cepat dan tepat.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10  |  Export Laporan Pengukuran ke PDF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F0"/>
                </a:solidFill>
              </a:rPr>
              <a:t>Mengekspor laporan triwulan dalam format PDF untuk dokumentasi resmi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492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8F0"/>
                </a:solidFill>
              </a:rPr>
              <a:t>SIPITUNG — Juknis Kabag Umum | LLDIKTI Wilayah III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92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11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34440"/>
            <a:ext cx="4389120" cy="5257800"/>
          </a:xfrm>
          <a:prstGeom prst="rect">
            <a:avLst/>
          </a:prstGeom>
          <a:solidFill>
            <a:srgbClr val="E8EEF8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234440"/>
            <a:ext cx="438912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25272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Tampilan Halaman Export PDF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737360"/>
            <a:ext cx="3977639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2E75B6"/>
                </a:solidFill>
              </a:rPr>
              <a:t>[ SCREENSHOT HALAMAN EXPORT PDF ]
Tambahkan screenshot di sini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1261872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6C"/>
                </a:solidFill>
              </a:rPr>
              <a:t>Cara Export Laporan PDF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1261872"/>
            <a:ext cx="54864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74920" y="1737360"/>
            <a:ext cx="676656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74920" y="1737360"/>
            <a:ext cx="457200" cy="804672"/>
          </a:xfrm>
          <a:prstGeom prst="rect">
            <a:avLst/>
          </a:prstGeom>
          <a:solidFill>
            <a:srgbClr val="1E4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1938527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05272" y="1783080"/>
            <a:ext cx="6172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76C"/>
                </a:solidFill>
              </a:rPr>
              <a:t>Buka Halaman Pengukuran Kinerja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05272" y="2066543"/>
            <a:ext cx="6172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Klik 'Pengukuran Kinerja' di sidebar. Pastikan Anda sudah memilih periode triwulan yang ingin diekspor.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74920" y="2606039"/>
            <a:ext cx="676656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74920" y="2606039"/>
            <a:ext cx="457200" cy="804672"/>
          </a:xfrm>
          <a:prstGeom prst="rect">
            <a:avLst/>
          </a:prstGeom>
          <a:solidFill>
            <a:srgbClr val="1E4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2807207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05272" y="2651759"/>
            <a:ext cx="6172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76C"/>
                </a:solidFill>
              </a:rPr>
              <a:t>Klik Tombol Export PDF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05272" y="2935223"/>
            <a:ext cx="6172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Klik tombol 'Export PDF [TW]' yang tersedia di bagian atas halaman atau di area kartu laporan. Pilih triwulan yang sesuai.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74920" y="3474720"/>
            <a:ext cx="676656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74920" y="3474720"/>
            <a:ext cx="457200" cy="804672"/>
          </a:xfrm>
          <a:prstGeom prst="rect">
            <a:avLst/>
          </a:prstGeom>
          <a:solidFill>
            <a:srgbClr val="1E4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367588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05272" y="3520439"/>
            <a:ext cx="6172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76C"/>
                </a:solidFill>
              </a:rPr>
              <a:t>Halaman Preview Muncul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05272" y="3803904"/>
            <a:ext cx="6172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Browser akan membuka halaman preview laporan dalam format A3 landscape. Periksa kelengkapan data sebelum mencetak.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74920" y="4343400"/>
            <a:ext cx="676656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74920" y="4343400"/>
            <a:ext cx="457200" cy="804672"/>
          </a:xfrm>
          <a:prstGeom prst="rect">
            <a:avLst/>
          </a:prstGeom>
          <a:solidFill>
            <a:srgbClr val="1E4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74920" y="454456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05272" y="4389120"/>
            <a:ext cx="6172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76C"/>
                </a:solidFill>
              </a:rPr>
              <a:t>Cetak / Simpan sebagai PDF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05272" y="4672584"/>
            <a:ext cx="6172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Gunakan fungsi cetak browser (Ctrl+P / Cmd+P). Pilih 'Save as PDF' sebagai printer untuk menyimpan, atau pilih printer fisik untuk mencetak.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74920" y="5212079"/>
            <a:ext cx="676656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74920" y="5212079"/>
            <a:ext cx="457200" cy="804672"/>
          </a:xfrm>
          <a:prstGeom prst="rect">
            <a:avLst/>
          </a:prstGeom>
          <a:solidFill>
            <a:srgbClr val="1E4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74920" y="541324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05272" y="5257799"/>
            <a:ext cx="6172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76C"/>
                </a:solidFill>
              </a:rPr>
              <a:t>Verifikasi Isi Laporan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05272" y="5541264"/>
            <a:ext cx="6172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Laporan PDF berisi: judul + periode, matriks realisasi (Sasaran, IKU, PIC, Target PK, Target TW, Realisasi), status laporan per Tim Kerja, dan area tanda tangan.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74920" y="5989320"/>
            <a:ext cx="67665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74920" y="5989320"/>
            <a:ext cx="6766560" cy="73152"/>
          </a:xfrm>
          <a:prstGeom prst="rect">
            <a:avLst/>
          </a:prstGeom>
          <a:solidFill>
            <a:srgbClr val="1E4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12080" y="6108192"/>
            <a:ext cx="6492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Konten dalam laporan PDF: Judul &amp; Periode  |  Matriks Realisasi semua IKU  |  Status per Tim Kerja  |  Tanda Tangan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11  |  Alur Lengkap &amp; Checklist Harian Kabag Umum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F0"/>
                </a:solidFill>
              </a:rPr>
              <a:t>Ringkasan alur kerja dan panduan checklist untuk memastikan tidak ada yang terlewat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492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8F0"/>
                </a:solidFill>
              </a:rPr>
              <a:t>SIPITUNG — Juknis Kabag Umum | LLDIKTI Wilayah III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92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12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34440"/>
            <a:ext cx="114300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234440"/>
            <a:ext cx="11430000" cy="384048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25272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Alur Kerja Kabag Umum di SIPITUNG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691640"/>
            <a:ext cx="1691640" cy="914400"/>
          </a:xfrm>
          <a:prstGeom prst="rect">
            <a:avLst/>
          </a:prstGeom>
          <a:solidFill>
            <a:srgbClr val="1A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7" y="1783080"/>
            <a:ext cx="15727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Login &amp;
Buka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58568" y="1975104"/>
            <a:ext cx="155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75B6"/>
                </a:solidFill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23160" y="1691640"/>
            <a:ext cx="1691640" cy="914400"/>
          </a:xfrm>
          <a:prstGeom prst="rect">
            <a:avLst/>
          </a:prstGeom>
          <a:solidFill>
            <a:srgbClr val="1E4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7168" y="1783080"/>
            <a:ext cx="15727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Cek RA
Menunggu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33087" y="1975104"/>
            <a:ext cx="155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75B6"/>
                </a:solidFill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79" y="1691640"/>
            <a:ext cx="1691640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1688" y="1783080"/>
            <a:ext cx="15727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Setujui /
Tolak 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07607" y="1975104"/>
            <a:ext cx="155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75B6"/>
                </a:solidFill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199" y="1691640"/>
            <a:ext cx="1691640" cy="9144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7" y="1783080"/>
            <a:ext cx="15727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Cek Laporan
Pengukuran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82127" y="1975104"/>
            <a:ext cx="155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75B6"/>
                </a:solidFill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19" y="1691640"/>
            <a:ext cx="1691640" cy="914400"/>
          </a:xfrm>
          <a:prstGeom prst="rect">
            <a:avLst/>
          </a:prstGeom>
          <a:solidFill>
            <a:srgbClr val="0D4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10727" y="1783080"/>
            <a:ext cx="15727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Setujui /
Kembalikan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56647" y="1975104"/>
            <a:ext cx="155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75B6"/>
                </a:solidFill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21240" y="1691640"/>
            <a:ext cx="1691640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85248" y="1783080"/>
            <a:ext cx="15727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Export
PDF (opsional)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788920"/>
            <a:ext cx="53949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788920"/>
            <a:ext cx="5394960" cy="384048"/>
          </a:xfrm>
          <a:prstGeom prst="rect">
            <a:avLst/>
          </a:prstGeom>
          <a:solidFill>
            <a:srgbClr val="1A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280720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Checklist Review Rencana Aksi (RA)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3291839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</a:rP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3319272"/>
            <a:ext cx="4800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Semua IKU sudah memiliki target TW I, TW II, TW III, TW IV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3813048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</a:rP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3840479"/>
            <a:ext cx="4800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Target triwulan bersifat kumulatif (TW IV = target tahunan)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334256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</a:rP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4361688"/>
            <a:ext cx="4800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Tidak ada nilai target yang kosong atau nol tanpa keterangan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4855464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</a:rP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4882895"/>
            <a:ext cx="4800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IKU kolaborasi sudah di-assign ke PIC primer dan co-PIC yang benar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5376672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</a:rP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5404103"/>
            <a:ext cx="4800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Satuan IKU konsisten dengan dokumen PK yang telah disepakati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897880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</a:rP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" y="5925312"/>
            <a:ext cx="4800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Rencana kegiatan per IKU sudah terisi (minimal satu kegiatan per TW)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26480" y="2788920"/>
            <a:ext cx="57150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26480" y="2788920"/>
            <a:ext cx="5715000" cy="384048"/>
          </a:xfrm>
          <a:prstGeom prst="rect">
            <a:avLst/>
          </a:prstGeom>
          <a:solidFill>
            <a:srgbClr val="1B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63640" y="28072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Checklist Review Laporan Pengukuran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291839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</a:rPr>
              <a:t>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9400" y="3319272"/>
            <a:ext cx="5120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Semua IKU Tim Kerja sudah diisi nilai realisasi (tidak ada yang kosong)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813048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</a:rPr>
              <a:t>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29400" y="3840479"/>
            <a:ext cx="5120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Nilai realisasi wajar dan konsisten dengan periode sebelumnya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4334256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</a:rPr>
              <a:t>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29400" y="4361688"/>
            <a:ext cx="5120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Kolom 'Progress Kegiatan' terisi dengan deskripsi yang jelas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4855464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</a:rPr>
              <a:t>☐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29400" y="4882895"/>
            <a:ext cx="5120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Kolom 'Kendala' diisi jika ada hambatan yang signifikan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5376672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</a:rPr>
              <a:t>☐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29400" y="5404103"/>
            <a:ext cx="5120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Kolom 'Strategi Tindak Lanjut' diisi sesuai kendala yang ada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5897880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</a:rPr>
              <a:t>☐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29400" y="5925312"/>
            <a:ext cx="5120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Untuk IKU kolaborasi: terisi oleh pihak yang tepat (cek kolom 'Diisi Oleh')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12  |  FAQ — Kabag Umum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F0"/>
                </a:solidFill>
              </a:rPr>
              <a:t>Pertanyaan yang Sering Diajukan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492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8F0"/>
                </a:solidFill>
              </a:rPr>
              <a:t>SIPITUNG — Juknis Kabag Umum | LLDIKTI Wilayah III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92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13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61872"/>
            <a:ext cx="55778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261872"/>
            <a:ext cx="5577840" cy="73152"/>
          </a:xfrm>
          <a:prstGeom prst="rect">
            <a:avLst/>
          </a:prstGeom>
          <a:solidFill>
            <a:srgbClr val="1A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335024"/>
            <a:ext cx="475488" cy="1618488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865376"/>
            <a:ext cx="3108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472E"/>
                </a:solidFill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1353312"/>
            <a:ext cx="4892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76C"/>
                </a:solidFill>
              </a:rPr>
              <a:t>Tombol Setujui/Tolak tidak muncul di baris Tim Kerja tertentu.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1810512"/>
            <a:ext cx="4892040" cy="18288"/>
          </a:xfrm>
          <a:prstGeom prst="rect">
            <a:avLst/>
          </a:prstGeom>
          <a:solidFill>
            <a:srgbClr val="CCD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1883664"/>
            <a:ext cx="48920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Tombol hanya muncul jika status dokumen adalah 'submitted'. Jika status lain (draft, kabag_approved, dll.), kolom Aksi menampilkan tanda '—'.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261872"/>
            <a:ext cx="55778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261872"/>
            <a:ext cx="5577840" cy="73152"/>
          </a:xfrm>
          <a:prstGeom prst="rect">
            <a:avLst/>
          </a:prstGeom>
          <a:solidFill>
            <a:srgbClr val="1A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1335024"/>
            <a:ext cx="475488" cy="1618488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865376"/>
            <a:ext cx="3108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472E"/>
                </a:solidFill>
              </a:rPr>
              <a:t>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76288" y="1353312"/>
            <a:ext cx="4892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76C"/>
                </a:solidFill>
              </a:rPr>
              <a:t>Saya sudah menyetujui RA, tapi tim kerja bilang belum berubah statusnya.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76288" y="1810512"/>
            <a:ext cx="4892040" cy="18288"/>
          </a:xfrm>
          <a:prstGeom prst="rect">
            <a:avLst/>
          </a:prstGeom>
          <a:solidFill>
            <a:srgbClr val="CCD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1883664"/>
            <a:ext cx="48920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Minta Tim Kerja untuk me-refresh halaman (F5 atau Ctrl+R). Status diperbarui secara real-time setelah persetujuan.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017520"/>
            <a:ext cx="55778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3017520"/>
            <a:ext cx="5577840" cy="73152"/>
          </a:xfrm>
          <a:prstGeom prst="rect">
            <a:avLst/>
          </a:prstGeom>
          <a:solidFill>
            <a:srgbClr val="1A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090672"/>
            <a:ext cx="475488" cy="1618488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621024"/>
            <a:ext cx="3108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472E"/>
                </a:solidFill>
              </a:rPr>
              <a:t>Q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3108960"/>
            <a:ext cx="4892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76C"/>
                </a:solidFill>
              </a:rPr>
              <a:t>Apakah saya bisa membatalkan persetujuan yang sudah saya berikan?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2688" y="3566160"/>
            <a:ext cx="4892040" cy="18288"/>
          </a:xfrm>
          <a:prstGeom prst="rect">
            <a:avLst/>
          </a:prstGeom>
          <a:solidFill>
            <a:srgbClr val="CCD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3639312"/>
            <a:ext cx="48920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Tidak. Setelah Kabag Umum menyetujui, dokumen diteruskan ke PPK. Hanya SuperAdmin yang dapat membuka kembali dokumen yang sudah ppk_approved.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3017520"/>
            <a:ext cx="55778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3017520"/>
            <a:ext cx="5577840" cy="73152"/>
          </a:xfrm>
          <a:prstGeom prst="rect">
            <a:avLst/>
          </a:prstGeom>
          <a:solidFill>
            <a:srgbClr val="1A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3090672"/>
            <a:ext cx="475488" cy="1618488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621024"/>
            <a:ext cx="3108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472E"/>
                </a:solidFill>
              </a:rPr>
              <a:t>Q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76288" y="3108960"/>
            <a:ext cx="4892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76C"/>
                </a:solidFill>
              </a:rPr>
              <a:t>Saya tidak bisa melihat dokumen salah satu Tim Kerja.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76288" y="3566160"/>
            <a:ext cx="4892040" cy="18288"/>
          </a:xfrm>
          <a:prstGeom prst="rect">
            <a:avLst/>
          </a:prstGeom>
          <a:solidFill>
            <a:srgbClr val="CCD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76288" y="3639312"/>
            <a:ext cx="48920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Pastikan filter tahun anggaran sudah benar. Jika masih tidak tampil, kemungkinan Tim Kerja tersebut belum membuat dokumen (status masih draft). Hubungi Tim Kerja terkait.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773168"/>
            <a:ext cx="55778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4773168"/>
            <a:ext cx="5577840" cy="73152"/>
          </a:xfrm>
          <a:prstGeom prst="rect">
            <a:avLst/>
          </a:prstGeom>
          <a:solidFill>
            <a:srgbClr val="1A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5760" y="4846320"/>
            <a:ext cx="475488" cy="1618488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376672"/>
            <a:ext cx="3108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472E"/>
                </a:solidFill>
              </a:rPr>
              <a:t>Q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" y="4864607"/>
            <a:ext cx="4892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76C"/>
                </a:solidFill>
              </a:rPr>
              <a:t>Bagaimana cara mengetahui laporan mana saja yang masih menunggu review?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2688" y="5321807"/>
            <a:ext cx="4892040" cy="18288"/>
          </a:xfrm>
          <a:prstGeom prst="rect">
            <a:avLst/>
          </a:prstGeom>
          <a:solidFill>
            <a:srgbClr val="CCD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" y="5394959"/>
            <a:ext cx="48920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Lihat Dashboard Kabag Umum — angka 'Menunggu Review' menunjukkan jumlah dokumen yang perlu ditindaklanjuti. Klik untuk langsung menuju halaman tersebut.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4773168"/>
            <a:ext cx="55778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09360" y="4773168"/>
            <a:ext cx="5577840" cy="73152"/>
          </a:xfrm>
          <a:prstGeom prst="rect">
            <a:avLst/>
          </a:prstGeom>
          <a:solidFill>
            <a:srgbClr val="1A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309360" y="4846320"/>
            <a:ext cx="475488" cy="1618488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5376672"/>
            <a:ext cx="3108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472E"/>
                </a:solidFill>
              </a:rPr>
              <a:t>Q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76288" y="4864607"/>
            <a:ext cx="4892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76C"/>
                </a:solidFill>
              </a:rPr>
              <a:t>Apakah saya bisa export laporan sebelum semua Tim Kerja submit?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76288" y="5321807"/>
            <a:ext cx="4892040" cy="18288"/>
          </a:xfrm>
          <a:prstGeom prst="rect">
            <a:avLst/>
          </a:prstGeom>
          <a:solidFill>
            <a:srgbClr val="CCD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76288" y="5394959"/>
            <a:ext cx="48920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Ya, export bisa dilakukan kapan saja. Namun, laporan yang belum disubmit Tim Kerja tidak akan muncul dalam data realisasi yang diekspor.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40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Terima Kasih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A623"/>
                </a:solidFill>
              </a:rPr>
              <a:t>Juknis SIPITUNG — Kabag Umum | LLDIKTI Wilayah III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Untuk pertanyaan dan bantuan teknis, hubungi Admin Sistem SIPITUNG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A8D0"/>
                </a:solidFill>
              </a:rPr>
              <a:t>Versi 1.0  |  April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4754880"/>
            <a:ext cx="1920240" cy="502920"/>
          </a:xfrm>
          <a:prstGeom prst="rect">
            <a:avLst/>
          </a:prstGeom>
          <a:solidFill>
            <a:srgbClr val="1A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4809744"/>
            <a:ext cx="17556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Perencanaan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4754880"/>
            <a:ext cx="1920240" cy="502920"/>
          </a:xfrm>
          <a:prstGeom prst="rect">
            <a:avLst/>
          </a:prstGeom>
          <a:solidFill>
            <a:srgbClr val="1E4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79" y="4809744"/>
            <a:ext cx="17556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Rencana Aksi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59" y="4754880"/>
            <a:ext cx="192024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199" y="4809744"/>
            <a:ext cx="17556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Pengukuran Kinerja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