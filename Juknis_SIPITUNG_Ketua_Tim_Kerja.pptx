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85800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114800" cy="6858000"/>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14800" y="0"/>
            <a:ext cx="73152" cy="6858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365760"/>
            <a:ext cx="3383280" cy="1463040"/>
          </a:xfrm>
          <a:prstGeom prst="rect">
            <a:avLst/>
          </a:prstGeom>
          <a:solidFill>
            <a:srgbClr val="1A376C"/>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365760"/>
            <a:ext cx="3383280" cy="1463040"/>
          </a:xfrm>
          <a:prstGeom prst="rect">
            <a:avLst/>
          </a:prstGeom>
          <a:noFill/>
        </p:spPr>
        <p:txBody>
          <a:bodyPr wrap="square">
            <a:spAutoFit/>
          </a:bodyPr>
          <a:lstStyle/>
          <a:p>
            <a:pPr algn="ctr"/>
            <a:r>
              <a:rPr sz="1100" b="0" i="0">
                <a:solidFill>
                  <a:srgbClr val="C8D8F0"/>
                </a:solidFill>
              </a:rPr>
              <a:t>[LOGO LLDIKTI
WILAYAH III]</a:t>
            </a:r>
          </a:p>
        </p:txBody>
      </p:sp>
      <p:sp>
        <p:nvSpPr>
          <p:cNvPr id="8" name="TextBox 7"/>
          <p:cNvSpPr txBox="1"/>
          <p:nvPr/>
        </p:nvSpPr>
        <p:spPr>
          <a:xfrm>
            <a:off x="274320" y="2103120"/>
            <a:ext cx="3566160" cy="502920"/>
          </a:xfrm>
          <a:prstGeom prst="rect">
            <a:avLst/>
          </a:prstGeom>
          <a:noFill/>
        </p:spPr>
        <p:txBody>
          <a:bodyPr wrap="square">
            <a:spAutoFit/>
          </a:bodyPr>
          <a:lstStyle/>
          <a:p>
            <a:pPr algn="l"/>
            <a:r>
              <a:rPr sz="1300" b="1" i="0">
                <a:solidFill>
                  <a:srgbClr val="F5A623"/>
                </a:solidFill>
              </a:rPr>
              <a:t>LLDIKTI WILAYAH III</a:t>
            </a:r>
          </a:p>
        </p:txBody>
      </p:sp>
      <p:sp>
        <p:nvSpPr>
          <p:cNvPr id="9" name="TextBox 8"/>
          <p:cNvSpPr txBox="1"/>
          <p:nvPr/>
        </p:nvSpPr>
        <p:spPr>
          <a:xfrm>
            <a:off x="274320" y="2560320"/>
            <a:ext cx="3566160" cy="731520"/>
          </a:xfrm>
          <a:prstGeom prst="rect">
            <a:avLst/>
          </a:prstGeom>
          <a:noFill/>
        </p:spPr>
        <p:txBody>
          <a:bodyPr wrap="square">
            <a:spAutoFit/>
          </a:bodyPr>
          <a:lstStyle/>
          <a:p>
            <a:pPr algn="l"/>
            <a:r>
              <a:rPr sz="1000" b="0" i="0">
                <a:solidFill>
                  <a:srgbClr val="C8D8F0"/>
                </a:solidFill>
              </a:rPr>
              <a:t>Kementerian Pendidikan Tinggi,
Sains dan Teknologi</a:t>
            </a:r>
          </a:p>
        </p:txBody>
      </p:sp>
      <p:sp>
        <p:nvSpPr>
          <p:cNvPr id="10" name="Rectangle 9"/>
          <p:cNvSpPr/>
          <p:nvPr/>
        </p:nvSpPr>
        <p:spPr>
          <a:xfrm>
            <a:off x="274320" y="3474720"/>
            <a:ext cx="356616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3657600"/>
            <a:ext cx="3566160" cy="411480"/>
          </a:xfrm>
          <a:prstGeom prst="rect">
            <a:avLst/>
          </a:prstGeom>
          <a:noFill/>
        </p:spPr>
        <p:txBody>
          <a:bodyPr wrap="square">
            <a:spAutoFit/>
          </a:bodyPr>
          <a:lstStyle/>
          <a:p>
            <a:pPr algn="l"/>
            <a:r>
              <a:rPr sz="1100" b="1" i="0">
                <a:solidFill>
                  <a:srgbClr val="C8D8F0"/>
                </a:solidFill>
              </a:rPr>
              <a:t>PETUNJUK TEKNIS</a:t>
            </a:r>
          </a:p>
        </p:txBody>
      </p:sp>
      <p:sp>
        <p:nvSpPr>
          <p:cNvPr id="12" name="TextBox 11"/>
          <p:cNvSpPr txBox="1"/>
          <p:nvPr/>
        </p:nvSpPr>
        <p:spPr>
          <a:xfrm>
            <a:off x="274320" y="4023360"/>
            <a:ext cx="3566160" cy="822960"/>
          </a:xfrm>
          <a:prstGeom prst="rect">
            <a:avLst/>
          </a:prstGeom>
          <a:noFill/>
        </p:spPr>
        <p:txBody>
          <a:bodyPr wrap="square">
            <a:spAutoFit/>
          </a:bodyPr>
          <a:lstStyle/>
          <a:p>
            <a:pPr algn="l"/>
            <a:r>
              <a:rPr sz="1400" b="1" i="0">
                <a:solidFill>
                  <a:srgbClr val="FFFFFF"/>
                </a:solidFill>
              </a:rPr>
              <a:t>Penggunaan Aplikasi
SIPITUNG</a:t>
            </a:r>
          </a:p>
        </p:txBody>
      </p:sp>
      <p:sp>
        <p:nvSpPr>
          <p:cNvPr id="13" name="TextBox 12"/>
          <p:cNvSpPr txBox="1"/>
          <p:nvPr/>
        </p:nvSpPr>
        <p:spPr>
          <a:xfrm>
            <a:off x="274320" y="6309360"/>
            <a:ext cx="3566160" cy="365760"/>
          </a:xfrm>
          <a:prstGeom prst="rect">
            <a:avLst/>
          </a:prstGeom>
          <a:noFill/>
        </p:spPr>
        <p:txBody>
          <a:bodyPr wrap="square">
            <a:spAutoFit/>
          </a:bodyPr>
          <a:lstStyle/>
          <a:p>
            <a:pPr algn="l"/>
            <a:r>
              <a:rPr sz="900" b="0" i="0">
                <a:solidFill>
                  <a:srgbClr val="88A8D0"/>
                </a:solidFill>
              </a:rPr>
              <a:t>Versi 1.0  |  April 2026</a:t>
            </a:r>
          </a:p>
        </p:txBody>
      </p:sp>
      <p:sp>
        <p:nvSpPr>
          <p:cNvPr id="14" name="TextBox 13"/>
          <p:cNvSpPr txBox="1"/>
          <p:nvPr/>
        </p:nvSpPr>
        <p:spPr>
          <a:xfrm>
            <a:off x="4480560" y="1097280"/>
            <a:ext cx="7315200" cy="1280160"/>
          </a:xfrm>
          <a:prstGeom prst="rect">
            <a:avLst/>
          </a:prstGeom>
          <a:noFill/>
        </p:spPr>
        <p:txBody>
          <a:bodyPr wrap="square">
            <a:spAutoFit/>
          </a:bodyPr>
          <a:lstStyle/>
          <a:p>
            <a:pPr algn="l"/>
            <a:r>
              <a:rPr sz="5600" b="1" i="0">
                <a:solidFill>
                  <a:srgbClr val="FFFFFF"/>
                </a:solidFill>
              </a:rPr>
              <a:t>SIPITUNG</a:t>
            </a:r>
          </a:p>
        </p:txBody>
      </p:sp>
      <p:sp>
        <p:nvSpPr>
          <p:cNvPr id="15" name="TextBox 14"/>
          <p:cNvSpPr txBox="1"/>
          <p:nvPr/>
        </p:nvSpPr>
        <p:spPr>
          <a:xfrm>
            <a:off x="4480560" y="2331720"/>
            <a:ext cx="7315200" cy="502920"/>
          </a:xfrm>
          <a:prstGeom prst="rect">
            <a:avLst/>
          </a:prstGeom>
          <a:noFill/>
        </p:spPr>
        <p:txBody>
          <a:bodyPr wrap="square">
            <a:spAutoFit/>
          </a:bodyPr>
          <a:lstStyle/>
          <a:p>
            <a:pPr algn="l"/>
            <a:r>
              <a:rPr sz="1800" b="0" i="0">
                <a:solidFill>
                  <a:srgbClr val="F5A623"/>
                </a:solidFill>
              </a:rPr>
              <a:t>Sistem Informasi Perencanaan &amp; Kinerja</a:t>
            </a:r>
          </a:p>
        </p:txBody>
      </p:sp>
      <p:sp>
        <p:nvSpPr>
          <p:cNvPr id="16" name="Rectangle 15"/>
          <p:cNvSpPr/>
          <p:nvPr/>
        </p:nvSpPr>
        <p:spPr>
          <a:xfrm>
            <a:off x="4480560" y="2926080"/>
            <a:ext cx="7315200" cy="45720"/>
          </a:xfrm>
          <a:prstGeom prst="rect">
            <a:avLst/>
          </a:prstGeom>
          <a:solidFill>
            <a:srgbClr val="88A8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3063240"/>
            <a:ext cx="7315200" cy="457200"/>
          </a:xfrm>
          <a:prstGeom prst="rect">
            <a:avLst/>
          </a:prstGeom>
          <a:noFill/>
        </p:spPr>
        <p:txBody>
          <a:bodyPr wrap="square">
            <a:spAutoFit/>
          </a:bodyPr>
          <a:lstStyle/>
          <a:p>
            <a:pPr algn="l"/>
            <a:r>
              <a:rPr sz="1600" b="1" i="0">
                <a:solidFill>
                  <a:srgbClr val="FFFFFF"/>
                </a:solidFill>
              </a:rPr>
              <a:t>Modul Penyusunan Rencana Aksi</a:t>
            </a:r>
          </a:p>
        </p:txBody>
      </p:sp>
      <p:sp>
        <p:nvSpPr>
          <p:cNvPr id="18" name="TextBox 17"/>
          <p:cNvSpPr txBox="1"/>
          <p:nvPr/>
        </p:nvSpPr>
        <p:spPr>
          <a:xfrm>
            <a:off x="4480560" y="3566160"/>
            <a:ext cx="7315200" cy="731520"/>
          </a:xfrm>
          <a:prstGeom prst="rect">
            <a:avLst/>
          </a:prstGeom>
          <a:noFill/>
        </p:spPr>
        <p:txBody>
          <a:bodyPr wrap="square">
            <a:spAutoFit/>
          </a:bodyPr>
          <a:lstStyle/>
          <a:p>
            <a:pPr algn="l"/>
            <a:r>
              <a:rPr sz="1400" b="0" i="0">
                <a:solidFill>
                  <a:srgbClr val="C8D8F0"/>
                </a:solidFill>
              </a:rPr>
              <a:t>Panduan Penggunaan untuk
Ketua Tim Kerja</a:t>
            </a:r>
          </a:p>
        </p:txBody>
      </p:sp>
      <p:sp>
        <p:nvSpPr>
          <p:cNvPr id="19" name="Rectangle 18"/>
          <p:cNvSpPr/>
          <p:nvPr/>
        </p:nvSpPr>
        <p:spPr>
          <a:xfrm>
            <a:off x="4480560" y="4572000"/>
            <a:ext cx="2194560" cy="594360"/>
          </a:xfrm>
          <a:prstGeom prst="rect">
            <a:avLst/>
          </a:prstGeom>
          <a:solidFill>
            <a:srgbClr val="1E4D9B"/>
          </a:solidFill>
          <a:ln w="9525">
            <a:solidFill>
              <a:srgbClr val="88A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0" y="4590288"/>
            <a:ext cx="2011680" cy="228600"/>
          </a:xfrm>
          <a:prstGeom prst="rect">
            <a:avLst/>
          </a:prstGeom>
          <a:noFill/>
        </p:spPr>
        <p:txBody>
          <a:bodyPr wrap="square">
            <a:spAutoFit/>
          </a:bodyPr>
          <a:lstStyle/>
          <a:p>
            <a:pPr algn="l"/>
            <a:r>
              <a:rPr sz="800" b="1" i="0">
                <a:solidFill>
                  <a:srgbClr val="F5A623"/>
                </a:solidFill>
              </a:rPr>
              <a:t>Pengguna</a:t>
            </a:r>
          </a:p>
        </p:txBody>
      </p:sp>
      <p:sp>
        <p:nvSpPr>
          <p:cNvPr id="21" name="TextBox 20"/>
          <p:cNvSpPr txBox="1"/>
          <p:nvPr/>
        </p:nvSpPr>
        <p:spPr>
          <a:xfrm>
            <a:off x="4572000" y="4818888"/>
            <a:ext cx="2011680" cy="274320"/>
          </a:xfrm>
          <a:prstGeom prst="rect">
            <a:avLst/>
          </a:prstGeom>
          <a:noFill/>
        </p:spPr>
        <p:txBody>
          <a:bodyPr wrap="square">
            <a:spAutoFit/>
          </a:bodyPr>
          <a:lstStyle/>
          <a:p>
            <a:pPr algn="l"/>
            <a:r>
              <a:rPr sz="1100" b="1" i="0">
                <a:solidFill>
                  <a:srgbClr val="FFFFFF"/>
                </a:solidFill>
              </a:rPr>
              <a:t>Ketua Tim Kerja</a:t>
            </a:r>
          </a:p>
        </p:txBody>
      </p:sp>
      <p:sp>
        <p:nvSpPr>
          <p:cNvPr id="22" name="Rectangle 21"/>
          <p:cNvSpPr/>
          <p:nvPr/>
        </p:nvSpPr>
        <p:spPr>
          <a:xfrm>
            <a:off x="6949440" y="4572000"/>
            <a:ext cx="2194560" cy="594360"/>
          </a:xfrm>
          <a:prstGeom prst="rect">
            <a:avLst/>
          </a:prstGeom>
          <a:solidFill>
            <a:srgbClr val="1E4D9B"/>
          </a:solidFill>
          <a:ln w="9525">
            <a:solidFill>
              <a:srgbClr val="88A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0" y="4590288"/>
            <a:ext cx="2011680" cy="228600"/>
          </a:xfrm>
          <a:prstGeom prst="rect">
            <a:avLst/>
          </a:prstGeom>
          <a:noFill/>
        </p:spPr>
        <p:txBody>
          <a:bodyPr wrap="square">
            <a:spAutoFit/>
          </a:bodyPr>
          <a:lstStyle/>
          <a:p>
            <a:pPr algn="l"/>
            <a:r>
              <a:rPr sz="800" b="1" i="0">
                <a:solidFill>
                  <a:srgbClr val="F5A623"/>
                </a:solidFill>
              </a:rPr>
              <a:t>Tahun</a:t>
            </a:r>
          </a:p>
        </p:txBody>
      </p:sp>
      <p:sp>
        <p:nvSpPr>
          <p:cNvPr id="24" name="TextBox 23"/>
          <p:cNvSpPr txBox="1"/>
          <p:nvPr/>
        </p:nvSpPr>
        <p:spPr>
          <a:xfrm>
            <a:off x="7040880" y="4818888"/>
            <a:ext cx="2011680" cy="274320"/>
          </a:xfrm>
          <a:prstGeom prst="rect">
            <a:avLst/>
          </a:prstGeom>
          <a:noFill/>
        </p:spPr>
        <p:txBody>
          <a:bodyPr wrap="square">
            <a:spAutoFit/>
          </a:bodyPr>
          <a:lstStyle/>
          <a:p>
            <a:pPr algn="l"/>
            <a:r>
              <a:rPr sz="1100" b="1" i="0">
                <a:solidFill>
                  <a:srgbClr val="FFFFFF"/>
                </a:solidFill>
              </a:rPr>
              <a:t>2026</a:t>
            </a:r>
          </a:p>
        </p:txBody>
      </p:sp>
      <p:sp>
        <p:nvSpPr>
          <p:cNvPr id="25" name="Rectangle 24"/>
          <p:cNvSpPr/>
          <p:nvPr/>
        </p:nvSpPr>
        <p:spPr>
          <a:xfrm>
            <a:off x="9418320" y="4572000"/>
            <a:ext cx="2194560" cy="594360"/>
          </a:xfrm>
          <a:prstGeom prst="rect">
            <a:avLst/>
          </a:prstGeom>
          <a:solidFill>
            <a:srgbClr val="1E4D9B"/>
          </a:solidFill>
          <a:ln w="9525">
            <a:solidFill>
              <a:srgbClr val="88A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09760" y="4590288"/>
            <a:ext cx="2011680" cy="228600"/>
          </a:xfrm>
          <a:prstGeom prst="rect">
            <a:avLst/>
          </a:prstGeom>
          <a:noFill/>
        </p:spPr>
        <p:txBody>
          <a:bodyPr wrap="square">
            <a:spAutoFit/>
          </a:bodyPr>
          <a:lstStyle/>
          <a:p>
            <a:pPr algn="l"/>
            <a:r>
              <a:rPr sz="800" b="1" i="0">
                <a:solidFill>
                  <a:srgbClr val="F5A623"/>
                </a:solidFill>
              </a:rPr>
              <a:t>Status</a:t>
            </a:r>
          </a:p>
        </p:txBody>
      </p:sp>
      <p:sp>
        <p:nvSpPr>
          <p:cNvPr id="27" name="TextBox 26"/>
          <p:cNvSpPr txBox="1"/>
          <p:nvPr/>
        </p:nvSpPr>
        <p:spPr>
          <a:xfrm>
            <a:off x="9509760" y="4818888"/>
            <a:ext cx="2011680" cy="274320"/>
          </a:xfrm>
          <a:prstGeom prst="rect">
            <a:avLst/>
          </a:prstGeom>
          <a:noFill/>
        </p:spPr>
        <p:txBody>
          <a:bodyPr wrap="square">
            <a:spAutoFit/>
          </a:bodyPr>
          <a:lstStyle/>
          <a:p>
            <a:pPr algn="l"/>
            <a:r>
              <a:rPr sz="1100" b="1" i="0">
                <a:solidFill>
                  <a:srgbClr val="FFFFFF"/>
                </a:solidFill>
              </a:rPr>
              <a:t>Aktif</a:t>
            </a:r>
          </a:p>
        </p:txBody>
      </p:sp>
      <p:sp>
        <p:nvSpPr>
          <p:cNvPr id="28" name="TextBox 27"/>
          <p:cNvSpPr txBox="1"/>
          <p:nvPr/>
        </p:nvSpPr>
        <p:spPr>
          <a:xfrm>
            <a:off x="11795760" y="6583680"/>
            <a:ext cx="365760" cy="274320"/>
          </a:xfrm>
          <a:prstGeom prst="rect">
            <a:avLst/>
          </a:prstGeom>
          <a:noFill/>
        </p:spPr>
        <p:txBody>
          <a:bodyPr wrap="square">
            <a:spAutoFit/>
          </a:bodyPr>
          <a:lstStyle/>
          <a:p>
            <a:pPr algn="r"/>
            <a:r>
              <a:rPr sz="800" b="0" i="0">
                <a:solidFill>
                  <a:srgbClr val="88A8D0"/>
                </a:solidFil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09728"/>
            <a:ext cx="11430000" cy="594360"/>
          </a:xfrm>
          <a:prstGeom prst="rect">
            <a:avLst/>
          </a:prstGeom>
          <a:noFill/>
        </p:spPr>
        <p:txBody>
          <a:bodyPr wrap="square">
            <a:spAutoFit/>
          </a:bodyPr>
          <a:lstStyle/>
          <a:p>
            <a:pPr algn="l"/>
            <a:r>
              <a:rPr sz="2600" b="1" i="0">
                <a:solidFill>
                  <a:srgbClr val="FFFFFF"/>
                </a:solidFill>
              </a:rPr>
              <a:t>Daftar Isi</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300" b="0" i="0">
                <a:solidFill>
                  <a:srgbClr val="C8D8F0"/>
                </a:solidFill>
              </a:rPr>
              <a:t>Petunjuk Teknis SIPITUNG — Ketua Tim Kerja</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Petunjuk Teknis Ketua Tim Kerja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2 / 11</a:t>
            </a:r>
          </a:p>
        </p:txBody>
      </p:sp>
      <p:sp>
        <p:nvSpPr>
          <p:cNvPr id="10" name="Rectangle 9"/>
          <p:cNvSpPr/>
          <p:nvPr/>
        </p:nvSpPr>
        <p:spPr>
          <a:xfrm>
            <a:off x="365760" y="1234440"/>
            <a:ext cx="5577840" cy="9144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34440"/>
            <a:ext cx="640080" cy="91440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417320"/>
            <a:ext cx="548640" cy="502920"/>
          </a:xfrm>
          <a:prstGeom prst="rect">
            <a:avLst/>
          </a:prstGeom>
          <a:noFill/>
        </p:spPr>
        <p:txBody>
          <a:bodyPr wrap="square">
            <a:spAutoFit/>
          </a:bodyPr>
          <a:lstStyle/>
          <a:p>
            <a:pPr algn="ctr"/>
            <a:r>
              <a:rPr sz="1600" b="1" i="0">
                <a:solidFill>
                  <a:srgbClr val="FFFFFF"/>
                </a:solidFill>
              </a:rPr>
              <a:t>01</a:t>
            </a:r>
          </a:p>
        </p:txBody>
      </p:sp>
      <p:sp>
        <p:nvSpPr>
          <p:cNvPr id="13" name="TextBox 12"/>
          <p:cNvSpPr txBox="1"/>
          <p:nvPr/>
        </p:nvSpPr>
        <p:spPr>
          <a:xfrm>
            <a:off x="1078992" y="1289304"/>
            <a:ext cx="4754880" cy="292608"/>
          </a:xfrm>
          <a:prstGeom prst="rect">
            <a:avLst/>
          </a:prstGeom>
          <a:noFill/>
        </p:spPr>
        <p:txBody>
          <a:bodyPr wrap="square">
            <a:spAutoFit/>
          </a:bodyPr>
          <a:lstStyle/>
          <a:p>
            <a:pPr algn="l"/>
            <a:r>
              <a:rPr sz="1100" b="1" i="0">
                <a:solidFill>
                  <a:srgbClr val="1A376C"/>
                </a:solidFill>
              </a:rPr>
              <a:t>Pendahuluan &amp; Tujuan</a:t>
            </a:r>
          </a:p>
        </p:txBody>
      </p:sp>
      <p:sp>
        <p:nvSpPr>
          <p:cNvPr id="14" name="TextBox 13"/>
          <p:cNvSpPr txBox="1"/>
          <p:nvPr/>
        </p:nvSpPr>
        <p:spPr>
          <a:xfrm>
            <a:off x="1078992" y="1581912"/>
            <a:ext cx="4754880" cy="502920"/>
          </a:xfrm>
          <a:prstGeom prst="rect">
            <a:avLst/>
          </a:prstGeom>
          <a:noFill/>
        </p:spPr>
        <p:txBody>
          <a:bodyPr wrap="square">
            <a:spAutoFit/>
          </a:bodyPr>
          <a:lstStyle/>
          <a:p>
            <a:pPr algn="l"/>
            <a:r>
              <a:rPr sz="900" b="0" i="0">
                <a:solidFill>
                  <a:srgbClr val="444444"/>
                </a:solidFill>
              </a:rPr>
              <a:t>Latar belakang dan maksud penggunaan juknis ini</a:t>
            </a:r>
          </a:p>
        </p:txBody>
      </p:sp>
      <p:sp>
        <p:nvSpPr>
          <p:cNvPr id="15" name="Rectangle 14"/>
          <p:cNvSpPr/>
          <p:nvPr/>
        </p:nvSpPr>
        <p:spPr>
          <a:xfrm>
            <a:off x="6309360" y="1234440"/>
            <a:ext cx="5577840" cy="9144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09360" y="1234440"/>
            <a:ext cx="640080" cy="91440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1417320"/>
            <a:ext cx="548640" cy="502920"/>
          </a:xfrm>
          <a:prstGeom prst="rect">
            <a:avLst/>
          </a:prstGeom>
          <a:noFill/>
        </p:spPr>
        <p:txBody>
          <a:bodyPr wrap="square">
            <a:spAutoFit/>
          </a:bodyPr>
          <a:lstStyle/>
          <a:p>
            <a:pPr algn="ctr"/>
            <a:r>
              <a:rPr sz="1600" b="1" i="0">
                <a:solidFill>
                  <a:srgbClr val="FFFFFF"/>
                </a:solidFill>
              </a:rPr>
              <a:t>02</a:t>
            </a:r>
          </a:p>
        </p:txBody>
      </p:sp>
      <p:sp>
        <p:nvSpPr>
          <p:cNvPr id="18" name="TextBox 17"/>
          <p:cNvSpPr txBox="1"/>
          <p:nvPr/>
        </p:nvSpPr>
        <p:spPr>
          <a:xfrm>
            <a:off x="7022592" y="1289304"/>
            <a:ext cx="4754880" cy="292608"/>
          </a:xfrm>
          <a:prstGeom prst="rect">
            <a:avLst/>
          </a:prstGeom>
          <a:noFill/>
        </p:spPr>
        <p:txBody>
          <a:bodyPr wrap="square">
            <a:spAutoFit/>
          </a:bodyPr>
          <a:lstStyle/>
          <a:p>
            <a:pPr algn="l"/>
            <a:r>
              <a:rPr sz="1100" b="1" i="0">
                <a:solidFill>
                  <a:srgbClr val="1A376C"/>
                </a:solidFill>
              </a:rPr>
              <a:t>Ruang Lingkup</a:t>
            </a:r>
          </a:p>
        </p:txBody>
      </p:sp>
      <p:sp>
        <p:nvSpPr>
          <p:cNvPr id="19" name="TextBox 18"/>
          <p:cNvSpPr txBox="1"/>
          <p:nvPr/>
        </p:nvSpPr>
        <p:spPr>
          <a:xfrm>
            <a:off x="7022592" y="1581912"/>
            <a:ext cx="4754880" cy="502920"/>
          </a:xfrm>
          <a:prstGeom prst="rect">
            <a:avLst/>
          </a:prstGeom>
          <a:noFill/>
        </p:spPr>
        <p:txBody>
          <a:bodyPr wrap="square">
            <a:spAutoFit/>
          </a:bodyPr>
          <a:lstStyle/>
          <a:p>
            <a:pPr algn="l"/>
            <a:r>
              <a:rPr sz="900" b="0" i="0">
                <a:solidFill>
                  <a:srgbClr val="444444"/>
                </a:solidFill>
              </a:rPr>
              <a:t>Batasan pengguna dan fitur yang dibahas</a:t>
            </a:r>
          </a:p>
        </p:txBody>
      </p:sp>
      <p:sp>
        <p:nvSpPr>
          <p:cNvPr id="20" name="Rectangle 19"/>
          <p:cNvSpPr/>
          <p:nvPr/>
        </p:nvSpPr>
        <p:spPr>
          <a:xfrm>
            <a:off x="365760" y="2258568"/>
            <a:ext cx="5577840" cy="9144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2258568"/>
            <a:ext cx="640080" cy="91440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2441448"/>
            <a:ext cx="548640" cy="502920"/>
          </a:xfrm>
          <a:prstGeom prst="rect">
            <a:avLst/>
          </a:prstGeom>
          <a:noFill/>
        </p:spPr>
        <p:txBody>
          <a:bodyPr wrap="square">
            <a:spAutoFit/>
          </a:bodyPr>
          <a:lstStyle/>
          <a:p>
            <a:pPr algn="ctr"/>
            <a:r>
              <a:rPr sz="1600" b="1" i="0">
                <a:solidFill>
                  <a:srgbClr val="FFFFFF"/>
                </a:solidFill>
              </a:rPr>
              <a:t>03</a:t>
            </a:r>
          </a:p>
        </p:txBody>
      </p:sp>
      <p:sp>
        <p:nvSpPr>
          <p:cNvPr id="23" name="TextBox 22"/>
          <p:cNvSpPr txBox="1"/>
          <p:nvPr/>
        </p:nvSpPr>
        <p:spPr>
          <a:xfrm>
            <a:off x="1078992" y="2313432"/>
            <a:ext cx="4754880" cy="292608"/>
          </a:xfrm>
          <a:prstGeom prst="rect">
            <a:avLst/>
          </a:prstGeom>
          <a:noFill/>
        </p:spPr>
        <p:txBody>
          <a:bodyPr wrap="square">
            <a:spAutoFit/>
          </a:bodyPr>
          <a:lstStyle/>
          <a:p>
            <a:pPr algn="l"/>
            <a:r>
              <a:rPr sz="1100" b="1" i="0">
                <a:solidFill>
                  <a:srgbClr val="1A376C"/>
                </a:solidFill>
              </a:rPr>
              <a:t>Ketentuan Umum</a:t>
            </a:r>
          </a:p>
        </p:txBody>
      </p:sp>
      <p:sp>
        <p:nvSpPr>
          <p:cNvPr id="24" name="TextBox 23"/>
          <p:cNvSpPr txBox="1"/>
          <p:nvPr/>
        </p:nvSpPr>
        <p:spPr>
          <a:xfrm>
            <a:off x="1078992" y="2606040"/>
            <a:ext cx="4754880" cy="502920"/>
          </a:xfrm>
          <a:prstGeom prst="rect">
            <a:avLst/>
          </a:prstGeom>
          <a:noFill/>
        </p:spPr>
        <p:txBody>
          <a:bodyPr wrap="square">
            <a:spAutoFit/>
          </a:bodyPr>
          <a:lstStyle/>
          <a:p>
            <a:pPr algn="l"/>
            <a:r>
              <a:rPr sz="900" b="0" i="0">
                <a:solidFill>
                  <a:srgbClr val="444444"/>
                </a:solidFill>
              </a:rPr>
              <a:t>Aturan dan kebijakan yang perlu diketahui</a:t>
            </a:r>
          </a:p>
        </p:txBody>
      </p:sp>
      <p:sp>
        <p:nvSpPr>
          <p:cNvPr id="25" name="Rectangle 24"/>
          <p:cNvSpPr/>
          <p:nvPr/>
        </p:nvSpPr>
        <p:spPr>
          <a:xfrm>
            <a:off x="6309360" y="2258568"/>
            <a:ext cx="5577840" cy="9144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09360" y="2258568"/>
            <a:ext cx="640080" cy="91440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2441448"/>
            <a:ext cx="548640" cy="502920"/>
          </a:xfrm>
          <a:prstGeom prst="rect">
            <a:avLst/>
          </a:prstGeom>
          <a:noFill/>
        </p:spPr>
        <p:txBody>
          <a:bodyPr wrap="square">
            <a:spAutoFit/>
          </a:bodyPr>
          <a:lstStyle/>
          <a:p>
            <a:pPr algn="ctr"/>
            <a:r>
              <a:rPr sz="1600" b="1" i="0">
                <a:solidFill>
                  <a:srgbClr val="FFFFFF"/>
                </a:solidFill>
              </a:rPr>
              <a:t>04</a:t>
            </a:r>
          </a:p>
        </p:txBody>
      </p:sp>
      <p:sp>
        <p:nvSpPr>
          <p:cNvPr id="28" name="TextBox 27"/>
          <p:cNvSpPr txBox="1"/>
          <p:nvPr/>
        </p:nvSpPr>
        <p:spPr>
          <a:xfrm>
            <a:off x="7022592" y="2313432"/>
            <a:ext cx="4754880" cy="292608"/>
          </a:xfrm>
          <a:prstGeom prst="rect">
            <a:avLst/>
          </a:prstGeom>
          <a:noFill/>
        </p:spPr>
        <p:txBody>
          <a:bodyPr wrap="square">
            <a:spAutoFit/>
          </a:bodyPr>
          <a:lstStyle/>
          <a:p>
            <a:pPr algn="l"/>
            <a:r>
              <a:rPr sz="1100" b="1" i="0">
                <a:solidFill>
                  <a:srgbClr val="1A376C"/>
                </a:solidFill>
              </a:rPr>
              <a:t>Login ke Aplikasi</a:t>
            </a:r>
          </a:p>
        </p:txBody>
      </p:sp>
      <p:sp>
        <p:nvSpPr>
          <p:cNvPr id="29" name="TextBox 28"/>
          <p:cNvSpPr txBox="1"/>
          <p:nvPr/>
        </p:nvSpPr>
        <p:spPr>
          <a:xfrm>
            <a:off x="7022592" y="2606040"/>
            <a:ext cx="4754880" cy="502920"/>
          </a:xfrm>
          <a:prstGeom prst="rect">
            <a:avLst/>
          </a:prstGeom>
          <a:noFill/>
        </p:spPr>
        <p:txBody>
          <a:bodyPr wrap="square">
            <a:spAutoFit/>
          </a:bodyPr>
          <a:lstStyle/>
          <a:p>
            <a:pPr algn="l"/>
            <a:r>
              <a:rPr sz="900" b="0" i="0">
                <a:solidFill>
                  <a:srgbClr val="444444"/>
                </a:solidFill>
              </a:rPr>
              <a:t>Cara masuk ke SIPITUNG</a:t>
            </a:r>
          </a:p>
        </p:txBody>
      </p:sp>
      <p:sp>
        <p:nvSpPr>
          <p:cNvPr id="30" name="Rectangle 29"/>
          <p:cNvSpPr/>
          <p:nvPr/>
        </p:nvSpPr>
        <p:spPr>
          <a:xfrm>
            <a:off x="365760" y="3282696"/>
            <a:ext cx="5577840" cy="9144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3282696"/>
            <a:ext cx="640080" cy="91440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80" y="3465576"/>
            <a:ext cx="548640" cy="502920"/>
          </a:xfrm>
          <a:prstGeom prst="rect">
            <a:avLst/>
          </a:prstGeom>
          <a:noFill/>
        </p:spPr>
        <p:txBody>
          <a:bodyPr wrap="square">
            <a:spAutoFit/>
          </a:bodyPr>
          <a:lstStyle/>
          <a:p>
            <a:pPr algn="ctr"/>
            <a:r>
              <a:rPr sz="1600" b="1" i="0">
                <a:solidFill>
                  <a:srgbClr val="FFFFFF"/>
                </a:solidFill>
              </a:rPr>
              <a:t>05</a:t>
            </a:r>
          </a:p>
        </p:txBody>
      </p:sp>
      <p:sp>
        <p:nvSpPr>
          <p:cNvPr id="33" name="TextBox 32"/>
          <p:cNvSpPr txBox="1"/>
          <p:nvPr/>
        </p:nvSpPr>
        <p:spPr>
          <a:xfrm>
            <a:off x="1078992" y="3337560"/>
            <a:ext cx="4754880" cy="292608"/>
          </a:xfrm>
          <a:prstGeom prst="rect">
            <a:avLst/>
          </a:prstGeom>
          <a:noFill/>
        </p:spPr>
        <p:txBody>
          <a:bodyPr wrap="square">
            <a:spAutoFit/>
          </a:bodyPr>
          <a:lstStyle/>
          <a:p>
            <a:pPr algn="l"/>
            <a:r>
              <a:rPr sz="1100" b="1" i="0">
                <a:solidFill>
                  <a:srgbClr val="1A376C"/>
                </a:solidFill>
              </a:rPr>
              <a:t>Navigasi Menu Perencanaan</a:t>
            </a:r>
          </a:p>
        </p:txBody>
      </p:sp>
      <p:sp>
        <p:nvSpPr>
          <p:cNvPr id="34" name="TextBox 33"/>
          <p:cNvSpPr txBox="1"/>
          <p:nvPr/>
        </p:nvSpPr>
        <p:spPr>
          <a:xfrm>
            <a:off x="1078992" y="3630168"/>
            <a:ext cx="4754880" cy="502920"/>
          </a:xfrm>
          <a:prstGeom prst="rect">
            <a:avLst/>
          </a:prstGeom>
          <a:noFill/>
        </p:spPr>
        <p:txBody>
          <a:bodyPr wrap="square">
            <a:spAutoFit/>
          </a:bodyPr>
          <a:lstStyle/>
          <a:p>
            <a:pPr algn="l"/>
            <a:r>
              <a:rPr sz="900" b="0" i="0">
                <a:solidFill>
                  <a:srgbClr val="444444"/>
                </a:solidFill>
              </a:rPr>
              <a:t>Akses menu Rencana Aksi &gt; Penyusunan</a:t>
            </a:r>
          </a:p>
        </p:txBody>
      </p:sp>
      <p:sp>
        <p:nvSpPr>
          <p:cNvPr id="35" name="Rectangle 34"/>
          <p:cNvSpPr/>
          <p:nvPr/>
        </p:nvSpPr>
        <p:spPr>
          <a:xfrm>
            <a:off x="6309360" y="3282696"/>
            <a:ext cx="5577840" cy="9144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09360" y="3282696"/>
            <a:ext cx="640080" cy="91440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3465576"/>
            <a:ext cx="548640" cy="502920"/>
          </a:xfrm>
          <a:prstGeom prst="rect">
            <a:avLst/>
          </a:prstGeom>
          <a:noFill/>
        </p:spPr>
        <p:txBody>
          <a:bodyPr wrap="square">
            <a:spAutoFit/>
          </a:bodyPr>
          <a:lstStyle/>
          <a:p>
            <a:pPr algn="ctr"/>
            <a:r>
              <a:rPr sz="1600" b="1" i="0">
                <a:solidFill>
                  <a:srgbClr val="FFFFFF"/>
                </a:solidFill>
              </a:rPr>
              <a:t>06</a:t>
            </a:r>
          </a:p>
        </p:txBody>
      </p:sp>
      <p:sp>
        <p:nvSpPr>
          <p:cNvPr id="38" name="TextBox 37"/>
          <p:cNvSpPr txBox="1"/>
          <p:nvPr/>
        </p:nvSpPr>
        <p:spPr>
          <a:xfrm>
            <a:off x="7022592" y="3337560"/>
            <a:ext cx="4754880" cy="292608"/>
          </a:xfrm>
          <a:prstGeom prst="rect">
            <a:avLst/>
          </a:prstGeom>
          <a:noFill/>
        </p:spPr>
        <p:txBody>
          <a:bodyPr wrap="square">
            <a:spAutoFit/>
          </a:bodyPr>
          <a:lstStyle/>
          <a:p>
            <a:pPr algn="l"/>
            <a:r>
              <a:rPr sz="1100" b="1" i="0">
                <a:solidFill>
                  <a:srgbClr val="1A376C"/>
                </a:solidFill>
              </a:rPr>
              <a:t>Mengisi Target Triwulan</a:t>
            </a:r>
          </a:p>
        </p:txBody>
      </p:sp>
      <p:sp>
        <p:nvSpPr>
          <p:cNvPr id="39" name="TextBox 38"/>
          <p:cNvSpPr txBox="1"/>
          <p:nvPr/>
        </p:nvSpPr>
        <p:spPr>
          <a:xfrm>
            <a:off x="7022592" y="3630168"/>
            <a:ext cx="4754880" cy="502920"/>
          </a:xfrm>
          <a:prstGeom prst="rect">
            <a:avLst/>
          </a:prstGeom>
          <a:noFill/>
        </p:spPr>
        <p:txBody>
          <a:bodyPr wrap="square">
            <a:spAutoFit/>
          </a:bodyPr>
          <a:lstStyle/>
          <a:p>
            <a:pPr algn="l"/>
            <a:r>
              <a:rPr sz="900" b="0" i="0">
                <a:solidFill>
                  <a:srgbClr val="444444"/>
                </a:solidFill>
              </a:rPr>
              <a:t>Cara edit IKU dan mengisi target TW I–IV</a:t>
            </a:r>
          </a:p>
        </p:txBody>
      </p:sp>
      <p:sp>
        <p:nvSpPr>
          <p:cNvPr id="40" name="Rectangle 39"/>
          <p:cNvSpPr/>
          <p:nvPr/>
        </p:nvSpPr>
        <p:spPr>
          <a:xfrm>
            <a:off x="365760" y="4306824"/>
            <a:ext cx="5577840" cy="9144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65760" y="4306824"/>
            <a:ext cx="640080" cy="91440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1480" y="4489704"/>
            <a:ext cx="548640" cy="502920"/>
          </a:xfrm>
          <a:prstGeom prst="rect">
            <a:avLst/>
          </a:prstGeom>
          <a:noFill/>
        </p:spPr>
        <p:txBody>
          <a:bodyPr wrap="square">
            <a:spAutoFit/>
          </a:bodyPr>
          <a:lstStyle/>
          <a:p>
            <a:pPr algn="ctr"/>
            <a:r>
              <a:rPr sz="1600" b="1" i="0">
                <a:solidFill>
                  <a:srgbClr val="FFFFFF"/>
                </a:solidFill>
              </a:rPr>
              <a:t>07</a:t>
            </a:r>
          </a:p>
        </p:txBody>
      </p:sp>
      <p:sp>
        <p:nvSpPr>
          <p:cNvPr id="43" name="TextBox 42"/>
          <p:cNvSpPr txBox="1"/>
          <p:nvPr/>
        </p:nvSpPr>
        <p:spPr>
          <a:xfrm>
            <a:off x="1078992" y="4361688"/>
            <a:ext cx="4754880" cy="292608"/>
          </a:xfrm>
          <a:prstGeom prst="rect">
            <a:avLst/>
          </a:prstGeom>
          <a:noFill/>
        </p:spPr>
        <p:txBody>
          <a:bodyPr wrap="square">
            <a:spAutoFit/>
          </a:bodyPr>
          <a:lstStyle/>
          <a:p>
            <a:pPr algn="l"/>
            <a:r>
              <a:rPr sz="1100" b="1" i="0">
                <a:solidFill>
                  <a:srgbClr val="1A376C"/>
                </a:solidFill>
              </a:rPr>
              <a:t>Menambah Rencana Kegiatan</a:t>
            </a:r>
          </a:p>
        </p:txBody>
      </p:sp>
      <p:sp>
        <p:nvSpPr>
          <p:cNvPr id="44" name="TextBox 43"/>
          <p:cNvSpPr txBox="1"/>
          <p:nvPr/>
        </p:nvSpPr>
        <p:spPr>
          <a:xfrm>
            <a:off x="1078992" y="4654296"/>
            <a:ext cx="4754880" cy="502920"/>
          </a:xfrm>
          <a:prstGeom prst="rect">
            <a:avLst/>
          </a:prstGeom>
          <a:noFill/>
        </p:spPr>
        <p:txBody>
          <a:bodyPr wrap="square">
            <a:spAutoFit/>
          </a:bodyPr>
          <a:lstStyle/>
          <a:p>
            <a:pPr algn="l"/>
            <a:r>
              <a:rPr sz="900" b="0" i="0">
                <a:solidFill>
                  <a:srgbClr val="444444"/>
                </a:solidFill>
              </a:rPr>
              <a:t>Cara mengisi kegiatan per triwulan</a:t>
            </a:r>
          </a:p>
        </p:txBody>
      </p:sp>
      <p:sp>
        <p:nvSpPr>
          <p:cNvPr id="45" name="Rectangle 44"/>
          <p:cNvSpPr/>
          <p:nvPr/>
        </p:nvSpPr>
        <p:spPr>
          <a:xfrm>
            <a:off x="6309360" y="4306824"/>
            <a:ext cx="5577840" cy="9144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309360" y="4306824"/>
            <a:ext cx="640080" cy="91440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55080" y="4489704"/>
            <a:ext cx="548640" cy="502920"/>
          </a:xfrm>
          <a:prstGeom prst="rect">
            <a:avLst/>
          </a:prstGeom>
          <a:noFill/>
        </p:spPr>
        <p:txBody>
          <a:bodyPr wrap="square">
            <a:spAutoFit/>
          </a:bodyPr>
          <a:lstStyle/>
          <a:p>
            <a:pPr algn="ctr"/>
            <a:r>
              <a:rPr sz="1600" b="1" i="0">
                <a:solidFill>
                  <a:srgbClr val="FFFFFF"/>
                </a:solidFill>
              </a:rPr>
              <a:t>08</a:t>
            </a:r>
          </a:p>
        </p:txBody>
      </p:sp>
      <p:sp>
        <p:nvSpPr>
          <p:cNvPr id="48" name="TextBox 47"/>
          <p:cNvSpPr txBox="1"/>
          <p:nvPr/>
        </p:nvSpPr>
        <p:spPr>
          <a:xfrm>
            <a:off x="7022592" y="4361688"/>
            <a:ext cx="4754880" cy="292608"/>
          </a:xfrm>
          <a:prstGeom prst="rect">
            <a:avLst/>
          </a:prstGeom>
          <a:noFill/>
        </p:spPr>
        <p:txBody>
          <a:bodyPr wrap="square">
            <a:spAutoFit/>
          </a:bodyPr>
          <a:lstStyle/>
          <a:p>
            <a:pPr algn="l"/>
            <a:r>
              <a:rPr sz="1100" b="1" i="0">
                <a:solidFill>
                  <a:srgbClr val="1A376C"/>
                </a:solidFill>
              </a:rPr>
              <a:t>Submit ke Kabag Umum</a:t>
            </a:r>
          </a:p>
        </p:txBody>
      </p:sp>
      <p:sp>
        <p:nvSpPr>
          <p:cNvPr id="49" name="TextBox 48"/>
          <p:cNvSpPr txBox="1"/>
          <p:nvPr/>
        </p:nvSpPr>
        <p:spPr>
          <a:xfrm>
            <a:off x="7022592" y="4654296"/>
            <a:ext cx="4754880" cy="502920"/>
          </a:xfrm>
          <a:prstGeom prst="rect">
            <a:avLst/>
          </a:prstGeom>
          <a:noFill/>
        </p:spPr>
        <p:txBody>
          <a:bodyPr wrap="square">
            <a:spAutoFit/>
          </a:bodyPr>
          <a:lstStyle/>
          <a:p>
            <a:pPr algn="l"/>
            <a:r>
              <a:rPr sz="900" b="0" i="0">
                <a:solidFill>
                  <a:srgbClr val="444444"/>
                </a:solidFill>
              </a:rPr>
              <a:t>Cara mengirim dokumen untuk persetujuan</a:t>
            </a:r>
          </a:p>
        </p:txBody>
      </p:sp>
      <p:sp>
        <p:nvSpPr>
          <p:cNvPr id="50" name="Rectangle 49"/>
          <p:cNvSpPr/>
          <p:nvPr/>
        </p:nvSpPr>
        <p:spPr>
          <a:xfrm>
            <a:off x="365760" y="5330952"/>
            <a:ext cx="5577840" cy="9144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65760" y="5330952"/>
            <a:ext cx="640080" cy="91440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11480" y="5513832"/>
            <a:ext cx="548640" cy="502920"/>
          </a:xfrm>
          <a:prstGeom prst="rect">
            <a:avLst/>
          </a:prstGeom>
          <a:noFill/>
        </p:spPr>
        <p:txBody>
          <a:bodyPr wrap="square">
            <a:spAutoFit/>
          </a:bodyPr>
          <a:lstStyle/>
          <a:p>
            <a:pPr algn="ctr"/>
            <a:r>
              <a:rPr sz="1600" b="1" i="0">
                <a:solidFill>
                  <a:srgbClr val="FFFFFF"/>
                </a:solidFill>
              </a:rPr>
              <a:t>09</a:t>
            </a:r>
          </a:p>
        </p:txBody>
      </p:sp>
      <p:sp>
        <p:nvSpPr>
          <p:cNvPr id="53" name="TextBox 52"/>
          <p:cNvSpPr txBox="1"/>
          <p:nvPr/>
        </p:nvSpPr>
        <p:spPr>
          <a:xfrm>
            <a:off x="1078992" y="5385816"/>
            <a:ext cx="4754880" cy="292608"/>
          </a:xfrm>
          <a:prstGeom prst="rect">
            <a:avLst/>
          </a:prstGeom>
          <a:noFill/>
        </p:spPr>
        <p:txBody>
          <a:bodyPr wrap="square">
            <a:spAutoFit/>
          </a:bodyPr>
          <a:lstStyle/>
          <a:p>
            <a:pPr algn="l"/>
            <a:r>
              <a:rPr sz="1100" b="1" i="0">
                <a:solidFill>
                  <a:srgbClr val="1A376C"/>
                </a:solidFill>
              </a:rPr>
              <a:t>Revisi &amp; Submit Ulang</a:t>
            </a:r>
          </a:p>
        </p:txBody>
      </p:sp>
      <p:sp>
        <p:nvSpPr>
          <p:cNvPr id="54" name="TextBox 53"/>
          <p:cNvSpPr txBox="1"/>
          <p:nvPr/>
        </p:nvSpPr>
        <p:spPr>
          <a:xfrm>
            <a:off x="1078992" y="5678424"/>
            <a:ext cx="4754880" cy="502920"/>
          </a:xfrm>
          <a:prstGeom prst="rect">
            <a:avLst/>
          </a:prstGeom>
          <a:noFill/>
        </p:spPr>
        <p:txBody>
          <a:bodyPr wrap="square">
            <a:spAutoFit/>
          </a:bodyPr>
          <a:lstStyle/>
          <a:p>
            <a:pPr algn="l"/>
            <a:r>
              <a:rPr sz="900" b="0" i="0">
                <a:solidFill>
                  <a:srgbClr val="444444"/>
                </a:solidFill>
              </a:rPr>
              <a:t>Prosedur jika dokumen dikembalikan</a:t>
            </a:r>
          </a:p>
        </p:txBody>
      </p:sp>
      <p:sp>
        <p:nvSpPr>
          <p:cNvPr id="55" name="Rectangle 54"/>
          <p:cNvSpPr/>
          <p:nvPr/>
        </p:nvSpPr>
        <p:spPr>
          <a:xfrm>
            <a:off x="6309360" y="5330952"/>
            <a:ext cx="5577840" cy="9144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309360" y="5330952"/>
            <a:ext cx="640080" cy="91440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55080" y="5513832"/>
            <a:ext cx="548640" cy="502920"/>
          </a:xfrm>
          <a:prstGeom prst="rect">
            <a:avLst/>
          </a:prstGeom>
          <a:noFill/>
        </p:spPr>
        <p:txBody>
          <a:bodyPr wrap="square">
            <a:spAutoFit/>
          </a:bodyPr>
          <a:lstStyle/>
          <a:p>
            <a:pPr algn="ctr"/>
            <a:r>
              <a:rPr sz="1600" b="1" i="0">
                <a:solidFill>
                  <a:srgbClr val="FFFFFF"/>
                </a:solidFill>
              </a:rPr>
              <a:t>10</a:t>
            </a:r>
          </a:p>
        </p:txBody>
      </p:sp>
      <p:sp>
        <p:nvSpPr>
          <p:cNvPr id="58" name="TextBox 57"/>
          <p:cNvSpPr txBox="1"/>
          <p:nvPr/>
        </p:nvSpPr>
        <p:spPr>
          <a:xfrm>
            <a:off x="7022592" y="5385816"/>
            <a:ext cx="4754880" cy="292608"/>
          </a:xfrm>
          <a:prstGeom prst="rect">
            <a:avLst/>
          </a:prstGeom>
          <a:noFill/>
        </p:spPr>
        <p:txBody>
          <a:bodyPr wrap="square">
            <a:spAutoFit/>
          </a:bodyPr>
          <a:lstStyle/>
          <a:p>
            <a:pPr algn="l"/>
            <a:r>
              <a:rPr sz="1100" b="1" i="0">
                <a:solidFill>
                  <a:srgbClr val="1A376C"/>
                </a:solidFill>
              </a:rPr>
              <a:t>FAQ</a:t>
            </a:r>
          </a:p>
        </p:txBody>
      </p:sp>
      <p:sp>
        <p:nvSpPr>
          <p:cNvPr id="59" name="TextBox 58"/>
          <p:cNvSpPr txBox="1"/>
          <p:nvPr/>
        </p:nvSpPr>
        <p:spPr>
          <a:xfrm>
            <a:off x="7022592" y="5678424"/>
            <a:ext cx="4754880" cy="502920"/>
          </a:xfrm>
          <a:prstGeom prst="rect">
            <a:avLst/>
          </a:prstGeom>
          <a:noFill/>
        </p:spPr>
        <p:txBody>
          <a:bodyPr wrap="square">
            <a:spAutoFit/>
          </a:bodyPr>
          <a:lstStyle/>
          <a:p>
            <a:pPr algn="l"/>
            <a:r>
              <a:rPr sz="900" b="0" i="0">
                <a:solidFill>
                  <a:srgbClr val="444444"/>
                </a:solidFill>
              </a:rPr>
              <a:t>Pertanyaan yang sering diajukan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09728"/>
            <a:ext cx="11430000" cy="594360"/>
          </a:xfrm>
          <a:prstGeom prst="rect">
            <a:avLst/>
          </a:prstGeom>
          <a:noFill/>
        </p:spPr>
        <p:txBody>
          <a:bodyPr wrap="square">
            <a:spAutoFit/>
          </a:bodyPr>
          <a:lstStyle/>
          <a:p>
            <a:pPr algn="l"/>
            <a:r>
              <a:rPr sz="2600" b="1" i="0">
                <a:solidFill>
                  <a:srgbClr val="FFFFFF"/>
                </a:solidFill>
              </a:rPr>
              <a:t>01  |  Pendahuluan &amp; Tujuan</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300" b="0" i="0">
                <a:solidFill>
                  <a:srgbClr val="C8D8F0"/>
                </a:solidFill>
              </a:rPr>
              <a:t>Latar belakang dan maksud dokumen ini</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Petunjuk Teknis Ketua Tim Kerja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3 / 11</a:t>
            </a:r>
          </a:p>
        </p:txBody>
      </p:sp>
      <p:sp>
        <p:nvSpPr>
          <p:cNvPr id="10" name="TextBox 9"/>
          <p:cNvSpPr txBox="1"/>
          <p:nvPr/>
        </p:nvSpPr>
        <p:spPr>
          <a:xfrm>
            <a:off x="365760" y="1234440"/>
            <a:ext cx="5577840" cy="347472"/>
          </a:xfrm>
          <a:prstGeom prst="rect">
            <a:avLst/>
          </a:prstGeom>
          <a:noFill/>
        </p:spPr>
        <p:txBody>
          <a:bodyPr wrap="square">
            <a:spAutoFit/>
          </a:bodyPr>
          <a:lstStyle/>
          <a:p>
            <a:pPr algn="l"/>
            <a:r>
              <a:rPr sz="1300" b="1" i="0">
                <a:solidFill>
                  <a:srgbClr val="1A376C"/>
                </a:solidFill>
              </a:rPr>
              <a:t>Latar Belakang</a:t>
            </a:r>
          </a:p>
        </p:txBody>
      </p:sp>
      <p:sp>
        <p:nvSpPr>
          <p:cNvPr id="11" name="Rectangle 10"/>
          <p:cNvSpPr/>
          <p:nvPr/>
        </p:nvSpPr>
        <p:spPr>
          <a:xfrm>
            <a:off x="365760" y="1234440"/>
            <a:ext cx="54864"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645920"/>
            <a:ext cx="5486400" cy="1645920"/>
          </a:xfrm>
          <a:prstGeom prst="rect">
            <a:avLst/>
          </a:prstGeom>
          <a:noFill/>
        </p:spPr>
        <p:txBody>
          <a:bodyPr wrap="square">
            <a:spAutoFit/>
          </a:bodyPr>
          <a:lstStyle/>
          <a:p>
            <a:pPr algn="l"/>
            <a:r>
              <a:rPr sz="1050" b="0" i="0">
                <a:solidFill>
                  <a:srgbClr val="444444"/>
                </a:solidFill>
              </a:rPr>
              <a:t>SIPITUNG (Sistem Informasi Perencanaan &amp; Kinerja) dikembangkan untuk mendukung proses perencanaan kerja di lingkungan LLDIKTI Wilayah III secara digital, transparan, dan terstruktur. Setiap Tim Kerja diwajibkan menyusun Rencana Aksi yang memuat target triwulan dan rencana kegiatan untuk setiap Indikator Kinerja Utama (IKU) yang menjadi tanggung jawab mereka.</a:t>
            </a:r>
          </a:p>
        </p:txBody>
      </p:sp>
      <p:sp>
        <p:nvSpPr>
          <p:cNvPr id="13" name="TextBox 12"/>
          <p:cNvSpPr txBox="1"/>
          <p:nvPr/>
        </p:nvSpPr>
        <p:spPr>
          <a:xfrm>
            <a:off x="365760" y="3429000"/>
            <a:ext cx="5577840" cy="347472"/>
          </a:xfrm>
          <a:prstGeom prst="rect">
            <a:avLst/>
          </a:prstGeom>
          <a:noFill/>
        </p:spPr>
        <p:txBody>
          <a:bodyPr wrap="square">
            <a:spAutoFit/>
          </a:bodyPr>
          <a:lstStyle/>
          <a:p>
            <a:pPr algn="l"/>
            <a:r>
              <a:rPr sz="1300" b="1" i="0">
                <a:solidFill>
                  <a:srgbClr val="1A376C"/>
                </a:solidFill>
              </a:rPr>
              <a:t>Tujuan Juknis</a:t>
            </a:r>
          </a:p>
        </p:txBody>
      </p:sp>
      <p:sp>
        <p:nvSpPr>
          <p:cNvPr id="14" name="Rectangle 13"/>
          <p:cNvSpPr/>
          <p:nvPr/>
        </p:nvSpPr>
        <p:spPr>
          <a:xfrm>
            <a:off x="365760" y="3429000"/>
            <a:ext cx="54864"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922776"/>
            <a:ext cx="201168" cy="201168"/>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886200"/>
            <a:ext cx="201168" cy="256032"/>
          </a:xfrm>
          <a:prstGeom prst="rect">
            <a:avLst/>
          </a:prstGeom>
          <a:noFill/>
        </p:spPr>
        <p:txBody>
          <a:bodyPr wrap="square">
            <a:spAutoFit/>
          </a:bodyPr>
          <a:lstStyle/>
          <a:p>
            <a:pPr algn="ctr"/>
            <a:r>
              <a:rPr sz="900" b="1" i="0">
                <a:solidFill>
                  <a:srgbClr val="FFFFFF"/>
                </a:solidFill>
              </a:rPr>
              <a:t>1</a:t>
            </a:r>
          </a:p>
        </p:txBody>
      </p:sp>
      <p:sp>
        <p:nvSpPr>
          <p:cNvPr id="17" name="TextBox 16"/>
          <p:cNvSpPr txBox="1"/>
          <p:nvPr/>
        </p:nvSpPr>
        <p:spPr>
          <a:xfrm>
            <a:off x="731520" y="3840480"/>
            <a:ext cx="5303520" cy="457200"/>
          </a:xfrm>
          <a:prstGeom prst="rect">
            <a:avLst/>
          </a:prstGeom>
          <a:noFill/>
        </p:spPr>
        <p:txBody>
          <a:bodyPr wrap="square">
            <a:spAutoFit/>
          </a:bodyPr>
          <a:lstStyle/>
          <a:p>
            <a:pPr algn="l"/>
            <a:r>
              <a:rPr sz="1050" b="0" i="0">
                <a:solidFill>
                  <a:srgbClr val="444444"/>
                </a:solidFill>
              </a:rPr>
              <a:t>Memberikan panduan penggunaan modul Penyusunan Rencana Aksi bagi Ketua Tim Kerja.</a:t>
            </a:r>
          </a:p>
        </p:txBody>
      </p:sp>
      <p:sp>
        <p:nvSpPr>
          <p:cNvPr id="18" name="Rectangle 17"/>
          <p:cNvSpPr/>
          <p:nvPr/>
        </p:nvSpPr>
        <p:spPr>
          <a:xfrm>
            <a:off x="457200" y="4398264"/>
            <a:ext cx="201168" cy="201168"/>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361688"/>
            <a:ext cx="201168" cy="256032"/>
          </a:xfrm>
          <a:prstGeom prst="rect">
            <a:avLst/>
          </a:prstGeom>
          <a:noFill/>
        </p:spPr>
        <p:txBody>
          <a:bodyPr wrap="square">
            <a:spAutoFit/>
          </a:bodyPr>
          <a:lstStyle/>
          <a:p>
            <a:pPr algn="ctr"/>
            <a:r>
              <a:rPr sz="900" b="1" i="0">
                <a:solidFill>
                  <a:srgbClr val="FFFFFF"/>
                </a:solidFill>
              </a:rPr>
              <a:t>2</a:t>
            </a:r>
          </a:p>
        </p:txBody>
      </p:sp>
      <p:sp>
        <p:nvSpPr>
          <p:cNvPr id="20" name="TextBox 19"/>
          <p:cNvSpPr txBox="1"/>
          <p:nvPr/>
        </p:nvSpPr>
        <p:spPr>
          <a:xfrm>
            <a:off x="731520" y="4315968"/>
            <a:ext cx="5303520" cy="457200"/>
          </a:xfrm>
          <a:prstGeom prst="rect">
            <a:avLst/>
          </a:prstGeom>
          <a:noFill/>
        </p:spPr>
        <p:txBody>
          <a:bodyPr wrap="square">
            <a:spAutoFit/>
          </a:bodyPr>
          <a:lstStyle/>
          <a:p>
            <a:pPr algn="l"/>
            <a:r>
              <a:rPr sz="1050" b="0" i="0">
                <a:solidFill>
                  <a:srgbClr val="444444"/>
                </a:solidFill>
              </a:rPr>
              <a:t>Memastikan data yang diinput sesuai format dan ketentuan yang berlaku.</a:t>
            </a:r>
          </a:p>
        </p:txBody>
      </p:sp>
      <p:sp>
        <p:nvSpPr>
          <p:cNvPr id="21" name="Rectangle 20"/>
          <p:cNvSpPr/>
          <p:nvPr/>
        </p:nvSpPr>
        <p:spPr>
          <a:xfrm>
            <a:off x="457200" y="4873752"/>
            <a:ext cx="201168" cy="201168"/>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837176"/>
            <a:ext cx="201168" cy="256032"/>
          </a:xfrm>
          <a:prstGeom prst="rect">
            <a:avLst/>
          </a:prstGeom>
          <a:noFill/>
        </p:spPr>
        <p:txBody>
          <a:bodyPr wrap="square">
            <a:spAutoFit/>
          </a:bodyPr>
          <a:lstStyle/>
          <a:p>
            <a:pPr algn="ctr"/>
            <a:r>
              <a:rPr sz="900" b="1" i="0">
                <a:solidFill>
                  <a:srgbClr val="FFFFFF"/>
                </a:solidFill>
              </a:rPr>
              <a:t>3</a:t>
            </a:r>
          </a:p>
        </p:txBody>
      </p:sp>
      <p:sp>
        <p:nvSpPr>
          <p:cNvPr id="23" name="TextBox 22"/>
          <p:cNvSpPr txBox="1"/>
          <p:nvPr/>
        </p:nvSpPr>
        <p:spPr>
          <a:xfrm>
            <a:off x="731520" y="4791456"/>
            <a:ext cx="5303520" cy="457200"/>
          </a:xfrm>
          <a:prstGeom prst="rect">
            <a:avLst/>
          </a:prstGeom>
          <a:noFill/>
        </p:spPr>
        <p:txBody>
          <a:bodyPr wrap="square">
            <a:spAutoFit/>
          </a:bodyPr>
          <a:lstStyle/>
          <a:p>
            <a:pPr algn="l"/>
            <a:r>
              <a:rPr sz="1050" b="0" i="0">
                <a:solidFill>
                  <a:srgbClr val="444444"/>
                </a:solidFill>
              </a:rPr>
              <a:t>Meminimalkan kesalahan dalam proses input dan pengajuan Rencana Aksi.</a:t>
            </a:r>
          </a:p>
        </p:txBody>
      </p:sp>
      <p:sp>
        <p:nvSpPr>
          <p:cNvPr id="24" name="Rectangle 23"/>
          <p:cNvSpPr/>
          <p:nvPr/>
        </p:nvSpPr>
        <p:spPr>
          <a:xfrm>
            <a:off x="457200" y="5349240"/>
            <a:ext cx="201168" cy="201168"/>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5312664"/>
            <a:ext cx="201168" cy="256032"/>
          </a:xfrm>
          <a:prstGeom prst="rect">
            <a:avLst/>
          </a:prstGeom>
          <a:noFill/>
        </p:spPr>
        <p:txBody>
          <a:bodyPr wrap="square">
            <a:spAutoFit/>
          </a:bodyPr>
          <a:lstStyle/>
          <a:p>
            <a:pPr algn="ctr"/>
            <a:r>
              <a:rPr sz="900" b="1" i="0">
                <a:solidFill>
                  <a:srgbClr val="FFFFFF"/>
                </a:solidFill>
              </a:rPr>
              <a:t>4</a:t>
            </a:r>
          </a:p>
        </p:txBody>
      </p:sp>
      <p:sp>
        <p:nvSpPr>
          <p:cNvPr id="26" name="TextBox 25"/>
          <p:cNvSpPr txBox="1"/>
          <p:nvPr/>
        </p:nvSpPr>
        <p:spPr>
          <a:xfrm>
            <a:off x="731520" y="5266944"/>
            <a:ext cx="5303520" cy="457200"/>
          </a:xfrm>
          <a:prstGeom prst="rect">
            <a:avLst/>
          </a:prstGeom>
          <a:noFill/>
        </p:spPr>
        <p:txBody>
          <a:bodyPr wrap="square">
            <a:spAutoFit/>
          </a:bodyPr>
          <a:lstStyle/>
          <a:p>
            <a:pPr algn="l"/>
            <a:r>
              <a:rPr sz="1050" b="0" i="0">
                <a:solidFill>
                  <a:srgbClr val="444444"/>
                </a:solidFill>
              </a:rPr>
              <a:t>Menjadi referensi saat terjadi kendala teknis di lapangan.</a:t>
            </a:r>
          </a:p>
        </p:txBody>
      </p:sp>
      <p:sp>
        <p:nvSpPr>
          <p:cNvPr id="27" name="Rectangle 26"/>
          <p:cNvSpPr/>
          <p:nvPr/>
        </p:nvSpPr>
        <p:spPr>
          <a:xfrm>
            <a:off x="6400800" y="1143000"/>
            <a:ext cx="5486400" cy="530352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0" y="1143000"/>
            <a:ext cx="5486400" cy="7315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1261872"/>
            <a:ext cx="5120640" cy="347472"/>
          </a:xfrm>
          <a:prstGeom prst="rect">
            <a:avLst/>
          </a:prstGeom>
          <a:noFill/>
        </p:spPr>
        <p:txBody>
          <a:bodyPr wrap="square">
            <a:spAutoFit/>
          </a:bodyPr>
          <a:lstStyle/>
          <a:p>
            <a:pPr algn="l"/>
            <a:r>
              <a:rPr sz="1200" b="1" i="0">
                <a:solidFill>
                  <a:srgbClr val="1A376C"/>
                </a:solidFill>
              </a:rPr>
              <a:t>Informasi Dokumen</a:t>
            </a:r>
          </a:p>
        </p:txBody>
      </p:sp>
      <p:sp>
        <p:nvSpPr>
          <p:cNvPr id="30" name="Rectangle 29"/>
          <p:cNvSpPr/>
          <p:nvPr/>
        </p:nvSpPr>
        <p:spPr>
          <a:xfrm>
            <a:off x="6400800" y="1737360"/>
            <a:ext cx="5486400" cy="621792"/>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37960" y="1810512"/>
            <a:ext cx="2194560" cy="475488"/>
          </a:xfrm>
          <a:prstGeom prst="rect">
            <a:avLst/>
          </a:prstGeom>
          <a:noFill/>
        </p:spPr>
        <p:txBody>
          <a:bodyPr wrap="square">
            <a:spAutoFit/>
          </a:bodyPr>
          <a:lstStyle/>
          <a:p>
            <a:pPr algn="l"/>
            <a:r>
              <a:rPr sz="1000" b="1" i="0">
                <a:solidFill>
                  <a:srgbClr val="1A376C"/>
                </a:solidFill>
              </a:rPr>
              <a:t>Nama Sistem</a:t>
            </a:r>
          </a:p>
        </p:txBody>
      </p:sp>
      <p:sp>
        <p:nvSpPr>
          <p:cNvPr id="32" name="TextBox 31"/>
          <p:cNvSpPr txBox="1"/>
          <p:nvPr/>
        </p:nvSpPr>
        <p:spPr>
          <a:xfrm>
            <a:off x="8778240" y="1810512"/>
            <a:ext cx="3017520" cy="475488"/>
          </a:xfrm>
          <a:prstGeom prst="rect">
            <a:avLst/>
          </a:prstGeom>
          <a:noFill/>
        </p:spPr>
        <p:txBody>
          <a:bodyPr wrap="square">
            <a:spAutoFit/>
          </a:bodyPr>
          <a:lstStyle/>
          <a:p>
            <a:pPr algn="l"/>
            <a:r>
              <a:rPr sz="1000" b="0" i="0">
                <a:solidFill>
                  <a:srgbClr val="444444"/>
                </a:solidFill>
              </a:rPr>
              <a:t>SIPITUNG</a:t>
            </a:r>
          </a:p>
        </p:txBody>
      </p:sp>
      <p:sp>
        <p:nvSpPr>
          <p:cNvPr id="33" name="Rectangle 32"/>
          <p:cNvSpPr/>
          <p:nvPr/>
        </p:nvSpPr>
        <p:spPr>
          <a:xfrm>
            <a:off x="6400800" y="2359152"/>
            <a:ext cx="54864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37960" y="2432304"/>
            <a:ext cx="2194560" cy="475488"/>
          </a:xfrm>
          <a:prstGeom prst="rect">
            <a:avLst/>
          </a:prstGeom>
          <a:noFill/>
        </p:spPr>
        <p:txBody>
          <a:bodyPr wrap="square">
            <a:spAutoFit/>
          </a:bodyPr>
          <a:lstStyle/>
          <a:p>
            <a:pPr algn="l"/>
            <a:r>
              <a:rPr sz="1000" b="1" i="0">
                <a:solidFill>
                  <a:srgbClr val="1A376C"/>
                </a:solidFill>
              </a:rPr>
              <a:t>Versi</a:t>
            </a:r>
          </a:p>
        </p:txBody>
      </p:sp>
      <p:sp>
        <p:nvSpPr>
          <p:cNvPr id="35" name="TextBox 34"/>
          <p:cNvSpPr txBox="1"/>
          <p:nvPr/>
        </p:nvSpPr>
        <p:spPr>
          <a:xfrm>
            <a:off x="8778240" y="2432304"/>
            <a:ext cx="3017520" cy="475488"/>
          </a:xfrm>
          <a:prstGeom prst="rect">
            <a:avLst/>
          </a:prstGeom>
          <a:noFill/>
        </p:spPr>
        <p:txBody>
          <a:bodyPr wrap="square">
            <a:spAutoFit/>
          </a:bodyPr>
          <a:lstStyle/>
          <a:p>
            <a:pPr algn="l"/>
            <a:r>
              <a:rPr sz="1000" b="0" i="0">
                <a:solidFill>
                  <a:srgbClr val="444444"/>
                </a:solidFill>
              </a:rPr>
              <a:t>1.0</a:t>
            </a:r>
          </a:p>
        </p:txBody>
      </p:sp>
      <p:sp>
        <p:nvSpPr>
          <p:cNvPr id="36" name="Rectangle 35"/>
          <p:cNvSpPr/>
          <p:nvPr/>
        </p:nvSpPr>
        <p:spPr>
          <a:xfrm>
            <a:off x="6400800" y="2980944"/>
            <a:ext cx="5486400" cy="621792"/>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37960" y="3054096"/>
            <a:ext cx="2194560" cy="475488"/>
          </a:xfrm>
          <a:prstGeom prst="rect">
            <a:avLst/>
          </a:prstGeom>
          <a:noFill/>
        </p:spPr>
        <p:txBody>
          <a:bodyPr wrap="square">
            <a:spAutoFit/>
          </a:bodyPr>
          <a:lstStyle/>
          <a:p>
            <a:pPr algn="l"/>
            <a:r>
              <a:rPr sz="1000" b="1" i="0">
                <a:solidFill>
                  <a:srgbClr val="1A376C"/>
                </a:solidFill>
              </a:rPr>
              <a:t>Tanggal Terbit</a:t>
            </a:r>
          </a:p>
        </p:txBody>
      </p:sp>
      <p:sp>
        <p:nvSpPr>
          <p:cNvPr id="38" name="TextBox 37"/>
          <p:cNvSpPr txBox="1"/>
          <p:nvPr/>
        </p:nvSpPr>
        <p:spPr>
          <a:xfrm>
            <a:off x="8778240" y="3054096"/>
            <a:ext cx="3017520" cy="475488"/>
          </a:xfrm>
          <a:prstGeom prst="rect">
            <a:avLst/>
          </a:prstGeom>
          <a:noFill/>
        </p:spPr>
        <p:txBody>
          <a:bodyPr wrap="square">
            <a:spAutoFit/>
          </a:bodyPr>
          <a:lstStyle/>
          <a:p>
            <a:pPr algn="l"/>
            <a:r>
              <a:rPr sz="1000" b="0" i="0">
                <a:solidFill>
                  <a:srgbClr val="444444"/>
                </a:solidFill>
              </a:rPr>
              <a:t>April 2026</a:t>
            </a:r>
          </a:p>
        </p:txBody>
      </p:sp>
      <p:sp>
        <p:nvSpPr>
          <p:cNvPr id="39" name="Rectangle 38"/>
          <p:cNvSpPr/>
          <p:nvPr/>
        </p:nvSpPr>
        <p:spPr>
          <a:xfrm>
            <a:off x="6400800" y="3602736"/>
            <a:ext cx="54864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37960" y="3675887"/>
            <a:ext cx="2194560" cy="475488"/>
          </a:xfrm>
          <a:prstGeom prst="rect">
            <a:avLst/>
          </a:prstGeom>
          <a:noFill/>
        </p:spPr>
        <p:txBody>
          <a:bodyPr wrap="square">
            <a:spAutoFit/>
          </a:bodyPr>
          <a:lstStyle/>
          <a:p>
            <a:pPr algn="l"/>
            <a:r>
              <a:rPr sz="1000" b="1" i="0">
                <a:solidFill>
                  <a:srgbClr val="1A376C"/>
                </a:solidFill>
              </a:rPr>
              <a:t>Pengguna</a:t>
            </a:r>
          </a:p>
        </p:txBody>
      </p:sp>
      <p:sp>
        <p:nvSpPr>
          <p:cNvPr id="41" name="TextBox 40"/>
          <p:cNvSpPr txBox="1"/>
          <p:nvPr/>
        </p:nvSpPr>
        <p:spPr>
          <a:xfrm>
            <a:off x="8778240" y="3675887"/>
            <a:ext cx="3017520" cy="475488"/>
          </a:xfrm>
          <a:prstGeom prst="rect">
            <a:avLst/>
          </a:prstGeom>
          <a:noFill/>
        </p:spPr>
        <p:txBody>
          <a:bodyPr wrap="square">
            <a:spAutoFit/>
          </a:bodyPr>
          <a:lstStyle/>
          <a:p>
            <a:pPr algn="l"/>
            <a:r>
              <a:rPr sz="1000" b="0" i="0">
                <a:solidFill>
                  <a:srgbClr val="444444"/>
                </a:solidFill>
              </a:rPr>
              <a:t>Ketua Tim Kerja</a:t>
            </a:r>
          </a:p>
        </p:txBody>
      </p:sp>
      <p:sp>
        <p:nvSpPr>
          <p:cNvPr id="42" name="Rectangle 41"/>
          <p:cNvSpPr/>
          <p:nvPr/>
        </p:nvSpPr>
        <p:spPr>
          <a:xfrm>
            <a:off x="6400800" y="4224528"/>
            <a:ext cx="5486400" cy="621792"/>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37960" y="4297680"/>
            <a:ext cx="2194560" cy="475488"/>
          </a:xfrm>
          <a:prstGeom prst="rect">
            <a:avLst/>
          </a:prstGeom>
          <a:noFill/>
        </p:spPr>
        <p:txBody>
          <a:bodyPr wrap="square">
            <a:spAutoFit/>
          </a:bodyPr>
          <a:lstStyle/>
          <a:p>
            <a:pPr algn="l"/>
            <a:r>
              <a:rPr sz="1000" b="1" i="0">
                <a:solidFill>
                  <a:srgbClr val="1A376C"/>
                </a:solidFill>
              </a:rPr>
              <a:t>Modul</a:t>
            </a:r>
          </a:p>
        </p:txBody>
      </p:sp>
      <p:sp>
        <p:nvSpPr>
          <p:cNvPr id="44" name="TextBox 43"/>
          <p:cNvSpPr txBox="1"/>
          <p:nvPr/>
        </p:nvSpPr>
        <p:spPr>
          <a:xfrm>
            <a:off x="8778240" y="4297680"/>
            <a:ext cx="3017520" cy="475488"/>
          </a:xfrm>
          <a:prstGeom prst="rect">
            <a:avLst/>
          </a:prstGeom>
          <a:noFill/>
        </p:spPr>
        <p:txBody>
          <a:bodyPr wrap="square">
            <a:spAutoFit/>
          </a:bodyPr>
          <a:lstStyle/>
          <a:p>
            <a:pPr algn="l"/>
            <a:r>
              <a:rPr sz="1000" b="0" i="0">
                <a:solidFill>
                  <a:srgbClr val="444444"/>
                </a:solidFill>
              </a:rPr>
              <a:t>Perencanaan &gt; Rencana Aksi &gt; Penyusunan</a:t>
            </a:r>
          </a:p>
        </p:txBody>
      </p:sp>
      <p:sp>
        <p:nvSpPr>
          <p:cNvPr id="45" name="Rectangle 44"/>
          <p:cNvSpPr/>
          <p:nvPr/>
        </p:nvSpPr>
        <p:spPr>
          <a:xfrm>
            <a:off x="6400800" y="4846320"/>
            <a:ext cx="548640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37960" y="4919472"/>
            <a:ext cx="2194560" cy="475488"/>
          </a:xfrm>
          <a:prstGeom prst="rect">
            <a:avLst/>
          </a:prstGeom>
          <a:noFill/>
        </p:spPr>
        <p:txBody>
          <a:bodyPr wrap="square">
            <a:spAutoFit/>
          </a:bodyPr>
          <a:lstStyle/>
          <a:p>
            <a:pPr algn="l"/>
            <a:r>
              <a:rPr sz="1000" b="1" i="0">
                <a:solidFill>
                  <a:srgbClr val="1A376C"/>
                </a:solidFill>
              </a:rPr>
              <a:t>Instansi</a:t>
            </a:r>
          </a:p>
        </p:txBody>
      </p:sp>
      <p:sp>
        <p:nvSpPr>
          <p:cNvPr id="47" name="TextBox 46"/>
          <p:cNvSpPr txBox="1"/>
          <p:nvPr/>
        </p:nvSpPr>
        <p:spPr>
          <a:xfrm>
            <a:off x="8778240" y="4919472"/>
            <a:ext cx="3017520" cy="475488"/>
          </a:xfrm>
          <a:prstGeom prst="rect">
            <a:avLst/>
          </a:prstGeom>
          <a:noFill/>
        </p:spPr>
        <p:txBody>
          <a:bodyPr wrap="square">
            <a:spAutoFit/>
          </a:bodyPr>
          <a:lstStyle/>
          <a:p>
            <a:pPr algn="l"/>
            <a:r>
              <a:rPr sz="1000" b="0" i="0">
                <a:solidFill>
                  <a:srgbClr val="444444"/>
                </a:solidFill>
              </a:rPr>
              <a:t>LLDIKTI Wilayah III</a:t>
            </a:r>
          </a:p>
        </p:txBody>
      </p:sp>
      <p:sp>
        <p:nvSpPr>
          <p:cNvPr id="48" name="Rectangle 47"/>
          <p:cNvSpPr/>
          <p:nvPr/>
        </p:nvSpPr>
        <p:spPr>
          <a:xfrm>
            <a:off x="6400800" y="5468112"/>
            <a:ext cx="5486400" cy="621792"/>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37960" y="5541264"/>
            <a:ext cx="2194560" cy="475488"/>
          </a:xfrm>
          <a:prstGeom prst="rect">
            <a:avLst/>
          </a:prstGeom>
          <a:noFill/>
        </p:spPr>
        <p:txBody>
          <a:bodyPr wrap="square">
            <a:spAutoFit/>
          </a:bodyPr>
          <a:lstStyle/>
          <a:p>
            <a:pPr algn="l"/>
            <a:r>
              <a:rPr sz="1000" b="1" i="0">
                <a:solidFill>
                  <a:srgbClr val="1A376C"/>
                </a:solidFill>
              </a:rPr>
              <a:t>Kontak Dukungan</a:t>
            </a:r>
          </a:p>
        </p:txBody>
      </p:sp>
      <p:sp>
        <p:nvSpPr>
          <p:cNvPr id="50" name="TextBox 49"/>
          <p:cNvSpPr txBox="1"/>
          <p:nvPr/>
        </p:nvSpPr>
        <p:spPr>
          <a:xfrm>
            <a:off x="8778240" y="5541264"/>
            <a:ext cx="3017520" cy="475488"/>
          </a:xfrm>
          <a:prstGeom prst="rect">
            <a:avLst/>
          </a:prstGeom>
          <a:noFill/>
        </p:spPr>
        <p:txBody>
          <a:bodyPr wrap="square">
            <a:spAutoFit/>
          </a:bodyPr>
          <a:lstStyle/>
          <a:p>
            <a:pPr algn="l"/>
            <a:r>
              <a:rPr sz="1000" b="0" i="0">
                <a:solidFill>
                  <a:srgbClr val="444444"/>
                </a:solidFill>
              </a:rPr>
              <a:t>Admin Sistem — ext. 100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09728"/>
            <a:ext cx="11430000" cy="594360"/>
          </a:xfrm>
          <a:prstGeom prst="rect">
            <a:avLst/>
          </a:prstGeom>
          <a:noFill/>
        </p:spPr>
        <p:txBody>
          <a:bodyPr wrap="square">
            <a:spAutoFit/>
          </a:bodyPr>
          <a:lstStyle/>
          <a:p>
            <a:pPr algn="l"/>
            <a:r>
              <a:rPr sz="2600" b="1" i="0">
                <a:solidFill>
                  <a:srgbClr val="FFFFFF"/>
                </a:solidFill>
              </a:rPr>
              <a:t>02–03  |  Ruang Lingkup &amp; Ketentuan Umum</a:t>
            </a:r>
          </a:p>
        </p:txBody>
      </p:sp>
      <p:sp>
        <p:nvSpPr>
          <p:cNvPr id="6" name="Rectangle 5"/>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Petunjuk Teknis Ketua Tim Kerja | LLDIKTI Wilayah III</a:t>
            </a:r>
          </a:p>
        </p:txBody>
      </p:sp>
      <p:sp>
        <p:nvSpPr>
          <p:cNvPr id="8" name="TextBox 7"/>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4 / 11</a:t>
            </a:r>
          </a:p>
        </p:txBody>
      </p:sp>
      <p:sp>
        <p:nvSpPr>
          <p:cNvPr id="9" name="Rectangle 8"/>
          <p:cNvSpPr/>
          <p:nvPr/>
        </p:nvSpPr>
        <p:spPr>
          <a:xfrm>
            <a:off x="365760" y="1234440"/>
            <a:ext cx="5303520" cy="52578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234440"/>
            <a:ext cx="5303520" cy="41148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261872"/>
            <a:ext cx="5029200" cy="365760"/>
          </a:xfrm>
          <a:prstGeom prst="rect">
            <a:avLst/>
          </a:prstGeom>
          <a:noFill/>
        </p:spPr>
        <p:txBody>
          <a:bodyPr wrap="square">
            <a:spAutoFit/>
          </a:bodyPr>
          <a:lstStyle/>
          <a:p>
            <a:pPr algn="l"/>
            <a:r>
              <a:rPr sz="1200" b="1" i="0">
                <a:solidFill>
                  <a:srgbClr val="FFFFFF"/>
                </a:solidFill>
              </a:rPr>
              <a:t>02  |  Ruang Lingkup</a:t>
            </a:r>
          </a:p>
        </p:txBody>
      </p:sp>
      <p:sp>
        <p:nvSpPr>
          <p:cNvPr id="12" name="Rectangle 11"/>
          <p:cNvSpPr/>
          <p:nvPr/>
        </p:nvSpPr>
        <p:spPr>
          <a:xfrm>
            <a:off x="365760" y="1737360"/>
            <a:ext cx="5303520" cy="86868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792224"/>
            <a:ext cx="1371600" cy="292608"/>
          </a:xfrm>
          <a:prstGeom prst="rect">
            <a:avLst/>
          </a:prstGeom>
          <a:noFill/>
        </p:spPr>
        <p:txBody>
          <a:bodyPr wrap="square">
            <a:spAutoFit/>
          </a:bodyPr>
          <a:lstStyle/>
          <a:p>
            <a:pPr algn="l"/>
            <a:r>
              <a:rPr sz="900" b="1" i="0">
                <a:solidFill>
                  <a:srgbClr val="1E4D9B"/>
                </a:solidFill>
              </a:rPr>
              <a:t>Pengguna</a:t>
            </a:r>
          </a:p>
        </p:txBody>
      </p:sp>
      <p:sp>
        <p:nvSpPr>
          <p:cNvPr id="14" name="TextBox 13"/>
          <p:cNvSpPr txBox="1"/>
          <p:nvPr/>
        </p:nvSpPr>
        <p:spPr>
          <a:xfrm>
            <a:off x="502920" y="2066543"/>
            <a:ext cx="5029200" cy="502920"/>
          </a:xfrm>
          <a:prstGeom prst="rect">
            <a:avLst/>
          </a:prstGeom>
          <a:noFill/>
        </p:spPr>
        <p:txBody>
          <a:bodyPr wrap="square">
            <a:spAutoFit/>
          </a:bodyPr>
          <a:lstStyle/>
          <a:p>
            <a:pPr algn="l"/>
            <a:r>
              <a:rPr sz="950" b="0" i="0">
                <a:solidFill>
                  <a:srgbClr val="444444"/>
                </a:solidFill>
              </a:rPr>
              <a:t>Ketua Tim Kerja yang telah memiliki akun aktif di SIPITUNG (username: ketua.xxx)</a:t>
            </a:r>
          </a:p>
        </p:txBody>
      </p:sp>
      <p:sp>
        <p:nvSpPr>
          <p:cNvPr id="15" name="Rectangle 14"/>
          <p:cNvSpPr/>
          <p:nvPr/>
        </p:nvSpPr>
        <p:spPr>
          <a:xfrm>
            <a:off x="365760" y="2633472"/>
            <a:ext cx="530352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688336"/>
            <a:ext cx="1371600" cy="292608"/>
          </a:xfrm>
          <a:prstGeom prst="rect">
            <a:avLst/>
          </a:prstGeom>
          <a:noFill/>
        </p:spPr>
        <p:txBody>
          <a:bodyPr wrap="square">
            <a:spAutoFit/>
          </a:bodyPr>
          <a:lstStyle/>
          <a:p>
            <a:pPr algn="l"/>
            <a:r>
              <a:rPr sz="900" b="1" i="0">
                <a:solidFill>
                  <a:srgbClr val="1E4D9B"/>
                </a:solidFill>
              </a:rPr>
              <a:t>Modul</a:t>
            </a:r>
          </a:p>
        </p:txBody>
      </p:sp>
      <p:sp>
        <p:nvSpPr>
          <p:cNvPr id="17" name="TextBox 16"/>
          <p:cNvSpPr txBox="1"/>
          <p:nvPr/>
        </p:nvSpPr>
        <p:spPr>
          <a:xfrm>
            <a:off x="502920" y="2962656"/>
            <a:ext cx="5029200" cy="502920"/>
          </a:xfrm>
          <a:prstGeom prst="rect">
            <a:avLst/>
          </a:prstGeom>
          <a:noFill/>
        </p:spPr>
        <p:txBody>
          <a:bodyPr wrap="square">
            <a:spAutoFit/>
          </a:bodyPr>
          <a:lstStyle/>
          <a:p>
            <a:pPr algn="l"/>
            <a:r>
              <a:rPr sz="950" b="0" i="0">
                <a:solidFill>
                  <a:srgbClr val="444444"/>
                </a:solidFill>
              </a:rPr>
              <a:t>Perencanaan &gt; Rencana Aksi &gt; Penyusunan</a:t>
            </a:r>
          </a:p>
        </p:txBody>
      </p:sp>
      <p:sp>
        <p:nvSpPr>
          <p:cNvPr id="18" name="Rectangle 17"/>
          <p:cNvSpPr/>
          <p:nvPr/>
        </p:nvSpPr>
        <p:spPr>
          <a:xfrm>
            <a:off x="365760" y="3529584"/>
            <a:ext cx="5303520" cy="86868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3584448"/>
            <a:ext cx="1371600" cy="292608"/>
          </a:xfrm>
          <a:prstGeom prst="rect">
            <a:avLst/>
          </a:prstGeom>
          <a:noFill/>
        </p:spPr>
        <p:txBody>
          <a:bodyPr wrap="square">
            <a:spAutoFit/>
          </a:bodyPr>
          <a:lstStyle/>
          <a:p>
            <a:pPr algn="l"/>
            <a:r>
              <a:rPr sz="900" b="1" i="0">
                <a:solidFill>
                  <a:srgbClr val="1E4D9B"/>
                </a:solidFill>
              </a:rPr>
              <a:t>Periode</a:t>
            </a:r>
          </a:p>
        </p:txBody>
      </p:sp>
      <p:sp>
        <p:nvSpPr>
          <p:cNvPr id="20" name="TextBox 19"/>
          <p:cNvSpPr txBox="1"/>
          <p:nvPr/>
        </p:nvSpPr>
        <p:spPr>
          <a:xfrm>
            <a:off x="502920" y="3858768"/>
            <a:ext cx="5029200" cy="502920"/>
          </a:xfrm>
          <a:prstGeom prst="rect">
            <a:avLst/>
          </a:prstGeom>
          <a:noFill/>
        </p:spPr>
        <p:txBody>
          <a:bodyPr wrap="square">
            <a:spAutoFit/>
          </a:bodyPr>
          <a:lstStyle/>
          <a:p>
            <a:pPr algn="l"/>
            <a:r>
              <a:rPr sz="950" b="0" i="0">
                <a:solidFill>
                  <a:srgbClr val="444444"/>
                </a:solidFill>
              </a:rPr>
              <a:t>Setiap tahun anggaran, mengikuti siklus perencanaan LLDIKTI Wilayah III</a:t>
            </a:r>
          </a:p>
        </p:txBody>
      </p:sp>
      <p:sp>
        <p:nvSpPr>
          <p:cNvPr id="21" name="Rectangle 20"/>
          <p:cNvSpPr/>
          <p:nvPr/>
        </p:nvSpPr>
        <p:spPr>
          <a:xfrm>
            <a:off x="365760" y="4425696"/>
            <a:ext cx="530352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4480559"/>
            <a:ext cx="1371600" cy="292608"/>
          </a:xfrm>
          <a:prstGeom prst="rect">
            <a:avLst/>
          </a:prstGeom>
          <a:noFill/>
        </p:spPr>
        <p:txBody>
          <a:bodyPr wrap="square">
            <a:spAutoFit/>
          </a:bodyPr>
          <a:lstStyle/>
          <a:p>
            <a:pPr algn="l"/>
            <a:r>
              <a:rPr sz="900" b="1" i="0">
                <a:solidFill>
                  <a:srgbClr val="1E4D9B"/>
                </a:solidFill>
              </a:rPr>
              <a:t>Cakupan Data</a:t>
            </a:r>
          </a:p>
        </p:txBody>
      </p:sp>
      <p:sp>
        <p:nvSpPr>
          <p:cNvPr id="23" name="TextBox 22"/>
          <p:cNvSpPr txBox="1"/>
          <p:nvPr/>
        </p:nvSpPr>
        <p:spPr>
          <a:xfrm>
            <a:off x="502920" y="4754880"/>
            <a:ext cx="5029200" cy="502920"/>
          </a:xfrm>
          <a:prstGeom prst="rect">
            <a:avLst/>
          </a:prstGeom>
          <a:noFill/>
        </p:spPr>
        <p:txBody>
          <a:bodyPr wrap="square">
            <a:spAutoFit/>
          </a:bodyPr>
          <a:lstStyle/>
          <a:p>
            <a:pPr algn="l"/>
            <a:r>
              <a:rPr sz="950" b="0" i="0">
                <a:solidFill>
                  <a:srgbClr val="444444"/>
                </a:solidFill>
              </a:rPr>
              <a:t>IKU mandiri (milik tim sendiri) dan IKU kolaborasi (bersama tim lain)</a:t>
            </a:r>
          </a:p>
        </p:txBody>
      </p:sp>
      <p:sp>
        <p:nvSpPr>
          <p:cNvPr id="24" name="Rectangle 23"/>
          <p:cNvSpPr/>
          <p:nvPr/>
        </p:nvSpPr>
        <p:spPr>
          <a:xfrm>
            <a:off x="365760" y="5321808"/>
            <a:ext cx="5303520" cy="86868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5376672"/>
            <a:ext cx="1371600" cy="292608"/>
          </a:xfrm>
          <a:prstGeom prst="rect">
            <a:avLst/>
          </a:prstGeom>
          <a:noFill/>
        </p:spPr>
        <p:txBody>
          <a:bodyPr wrap="square">
            <a:spAutoFit/>
          </a:bodyPr>
          <a:lstStyle/>
          <a:p>
            <a:pPr algn="l"/>
            <a:r>
              <a:rPr sz="900" b="1" i="0">
                <a:solidFill>
                  <a:srgbClr val="1E4D9B"/>
                </a:solidFill>
              </a:rPr>
              <a:t>Di Luar Lingkup</a:t>
            </a:r>
          </a:p>
        </p:txBody>
      </p:sp>
      <p:sp>
        <p:nvSpPr>
          <p:cNvPr id="26" name="TextBox 25"/>
          <p:cNvSpPr txBox="1"/>
          <p:nvPr/>
        </p:nvSpPr>
        <p:spPr>
          <a:xfrm>
            <a:off x="502920" y="5650992"/>
            <a:ext cx="5029200" cy="502920"/>
          </a:xfrm>
          <a:prstGeom prst="rect">
            <a:avLst/>
          </a:prstGeom>
          <a:noFill/>
        </p:spPr>
        <p:txBody>
          <a:bodyPr wrap="square">
            <a:spAutoFit/>
          </a:bodyPr>
          <a:lstStyle/>
          <a:p>
            <a:pPr algn="l"/>
            <a:r>
              <a:rPr sz="950" b="0" i="0">
                <a:solidFill>
                  <a:srgbClr val="444444"/>
                </a:solidFill>
              </a:rPr>
              <a:t>Pengaturan akun, manajemen IKU, dan persetujuan dokumen (kewenangan Kabag Umum)</a:t>
            </a:r>
          </a:p>
        </p:txBody>
      </p:sp>
      <p:sp>
        <p:nvSpPr>
          <p:cNvPr id="27" name="Rectangle 26"/>
          <p:cNvSpPr/>
          <p:nvPr/>
        </p:nvSpPr>
        <p:spPr>
          <a:xfrm>
            <a:off x="6309360" y="1234440"/>
            <a:ext cx="5532120" cy="52578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09360" y="1234440"/>
            <a:ext cx="5532120" cy="41148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1261872"/>
            <a:ext cx="5303520" cy="365760"/>
          </a:xfrm>
          <a:prstGeom prst="rect">
            <a:avLst/>
          </a:prstGeom>
          <a:noFill/>
        </p:spPr>
        <p:txBody>
          <a:bodyPr wrap="square">
            <a:spAutoFit/>
          </a:bodyPr>
          <a:lstStyle/>
          <a:p>
            <a:pPr algn="l"/>
            <a:r>
              <a:rPr sz="1200" b="1" i="0">
                <a:solidFill>
                  <a:srgbClr val="FFFFFF"/>
                </a:solidFill>
              </a:rPr>
              <a:t>03  |  Ketentuan Umum</a:t>
            </a:r>
          </a:p>
        </p:txBody>
      </p:sp>
      <p:sp>
        <p:nvSpPr>
          <p:cNvPr id="30" name="Rectangle 29"/>
          <p:cNvSpPr/>
          <p:nvPr/>
        </p:nvSpPr>
        <p:spPr>
          <a:xfrm>
            <a:off x="6309360" y="1719072"/>
            <a:ext cx="5532120" cy="74980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309360" y="1719072"/>
            <a:ext cx="365760" cy="74980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09360" y="1883664"/>
            <a:ext cx="365760" cy="365760"/>
          </a:xfrm>
          <a:prstGeom prst="rect">
            <a:avLst/>
          </a:prstGeom>
          <a:noFill/>
        </p:spPr>
        <p:txBody>
          <a:bodyPr wrap="square">
            <a:spAutoFit/>
          </a:bodyPr>
          <a:lstStyle/>
          <a:p>
            <a:pPr algn="ctr"/>
            <a:r>
              <a:rPr sz="1300" b="1" i="0">
                <a:solidFill>
                  <a:srgbClr val="FFFFFF"/>
                </a:solidFill>
              </a:rPr>
              <a:t>1</a:t>
            </a:r>
          </a:p>
        </p:txBody>
      </p:sp>
      <p:sp>
        <p:nvSpPr>
          <p:cNvPr id="33" name="TextBox 32"/>
          <p:cNvSpPr txBox="1"/>
          <p:nvPr/>
        </p:nvSpPr>
        <p:spPr>
          <a:xfrm>
            <a:off x="6748272" y="1755648"/>
            <a:ext cx="4937760" cy="256032"/>
          </a:xfrm>
          <a:prstGeom prst="rect">
            <a:avLst/>
          </a:prstGeom>
          <a:noFill/>
        </p:spPr>
        <p:txBody>
          <a:bodyPr wrap="square">
            <a:spAutoFit/>
          </a:bodyPr>
          <a:lstStyle/>
          <a:p>
            <a:pPr algn="l"/>
            <a:r>
              <a:rPr sz="1000" b="1" i="0">
                <a:solidFill>
                  <a:srgbClr val="1A376C"/>
                </a:solidFill>
              </a:rPr>
              <a:t>Akun Aktif</a:t>
            </a:r>
          </a:p>
        </p:txBody>
      </p:sp>
      <p:sp>
        <p:nvSpPr>
          <p:cNvPr id="34" name="TextBox 33"/>
          <p:cNvSpPr txBox="1"/>
          <p:nvPr/>
        </p:nvSpPr>
        <p:spPr>
          <a:xfrm>
            <a:off x="6748272" y="2011679"/>
            <a:ext cx="4937760" cy="420624"/>
          </a:xfrm>
          <a:prstGeom prst="rect">
            <a:avLst/>
          </a:prstGeom>
          <a:noFill/>
        </p:spPr>
        <p:txBody>
          <a:bodyPr wrap="square">
            <a:spAutoFit/>
          </a:bodyPr>
          <a:lstStyle/>
          <a:p>
            <a:pPr algn="l"/>
            <a:r>
              <a:rPr sz="900" b="0" i="0">
                <a:solidFill>
                  <a:srgbClr val="444444"/>
                </a:solidFill>
              </a:rPr>
              <a:t>Pengguna harus memiliki akun dengan status aktif. Hubungi Admin jika tidak dapat login.</a:t>
            </a:r>
          </a:p>
        </p:txBody>
      </p:sp>
      <p:sp>
        <p:nvSpPr>
          <p:cNvPr id="35" name="Rectangle 34"/>
          <p:cNvSpPr/>
          <p:nvPr/>
        </p:nvSpPr>
        <p:spPr>
          <a:xfrm>
            <a:off x="6309360" y="2487168"/>
            <a:ext cx="5532120"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09360" y="2487168"/>
            <a:ext cx="365760" cy="749808"/>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09360" y="2651760"/>
            <a:ext cx="365760" cy="365760"/>
          </a:xfrm>
          <a:prstGeom prst="rect">
            <a:avLst/>
          </a:prstGeom>
          <a:noFill/>
        </p:spPr>
        <p:txBody>
          <a:bodyPr wrap="square">
            <a:spAutoFit/>
          </a:bodyPr>
          <a:lstStyle/>
          <a:p>
            <a:pPr algn="ctr"/>
            <a:r>
              <a:rPr sz="1300" b="1" i="0">
                <a:solidFill>
                  <a:srgbClr val="FFFFFF"/>
                </a:solidFill>
              </a:rPr>
              <a:t>2</a:t>
            </a:r>
          </a:p>
        </p:txBody>
      </p:sp>
      <p:sp>
        <p:nvSpPr>
          <p:cNvPr id="38" name="TextBox 37"/>
          <p:cNvSpPr txBox="1"/>
          <p:nvPr/>
        </p:nvSpPr>
        <p:spPr>
          <a:xfrm>
            <a:off x="6748272" y="2523744"/>
            <a:ext cx="4937760" cy="256032"/>
          </a:xfrm>
          <a:prstGeom prst="rect">
            <a:avLst/>
          </a:prstGeom>
          <a:noFill/>
        </p:spPr>
        <p:txBody>
          <a:bodyPr wrap="square">
            <a:spAutoFit/>
          </a:bodyPr>
          <a:lstStyle/>
          <a:p>
            <a:pPr algn="l"/>
            <a:r>
              <a:rPr sz="1000" b="1" i="0">
                <a:solidFill>
                  <a:srgbClr val="1A376C"/>
                </a:solidFill>
              </a:rPr>
              <a:t>Kelengkapan Data</a:t>
            </a:r>
          </a:p>
        </p:txBody>
      </p:sp>
      <p:sp>
        <p:nvSpPr>
          <p:cNvPr id="39" name="TextBox 38"/>
          <p:cNvSpPr txBox="1"/>
          <p:nvPr/>
        </p:nvSpPr>
        <p:spPr>
          <a:xfrm>
            <a:off x="6748272" y="2779775"/>
            <a:ext cx="4937760" cy="420624"/>
          </a:xfrm>
          <a:prstGeom prst="rect">
            <a:avLst/>
          </a:prstGeom>
          <a:noFill/>
        </p:spPr>
        <p:txBody>
          <a:bodyPr wrap="square">
            <a:spAutoFit/>
          </a:bodyPr>
          <a:lstStyle/>
          <a:p>
            <a:pPr algn="l"/>
            <a:r>
              <a:rPr sz="900" b="0" i="0">
                <a:solidFill>
                  <a:srgbClr val="444444"/>
                </a:solidFill>
              </a:rPr>
              <a:t>Semua IKU yang tampil wajib diisi target TW I–IV sebelum dokumen dapat disubmit.</a:t>
            </a:r>
          </a:p>
        </p:txBody>
      </p:sp>
      <p:sp>
        <p:nvSpPr>
          <p:cNvPr id="40" name="Rectangle 39"/>
          <p:cNvSpPr/>
          <p:nvPr/>
        </p:nvSpPr>
        <p:spPr>
          <a:xfrm>
            <a:off x="6309360" y="3255263"/>
            <a:ext cx="5532120" cy="74980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09360" y="3255263"/>
            <a:ext cx="365760" cy="74980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09360" y="3419856"/>
            <a:ext cx="365760" cy="365760"/>
          </a:xfrm>
          <a:prstGeom prst="rect">
            <a:avLst/>
          </a:prstGeom>
          <a:noFill/>
        </p:spPr>
        <p:txBody>
          <a:bodyPr wrap="square">
            <a:spAutoFit/>
          </a:bodyPr>
          <a:lstStyle/>
          <a:p>
            <a:pPr algn="ctr"/>
            <a:r>
              <a:rPr sz="1300" b="1" i="0">
                <a:solidFill>
                  <a:srgbClr val="FFFFFF"/>
                </a:solidFill>
              </a:rPr>
              <a:t>3</a:t>
            </a:r>
          </a:p>
        </p:txBody>
      </p:sp>
      <p:sp>
        <p:nvSpPr>
          <p:cNvPr id="43" name="TextBox 42"/>
          <p:cNvSpPr txBox="1"/>
          <p:nvPr/>
        </p:nvSpPr>
        <p:spPr>
          <a:xfrm>
            <a:off x="6748272" y="3291839"/>
            <a:ext cx="4937760" cy="256032"/>
          </a:xfrm>
          <a:prstGeom prst="rect">
            <a:avLst/>
          </a:prstGeom>
          <a:noFill/>
        </p:spPr>
        <p:txBody>
          <a:bodyPr wrap="square">
            <a:spAutoFit/>
          </a:bodyPr>
          <a:lstStyle/>
          <a:p>
            <a:pPr algn="l"/>
            <a:r>
              <a:rPr sz="1000" b="1" i="0">
                <a:solidFill>
                  <a:srgbClr val="1A376C"/>
                </a:solidFill>
              </a:rPr>
              <a:t>Dokumen Tersubmit</a:t>
            </a:r>
          </a:p>
        </p:txBody>
      </p:sp>
      <p:sp>
        <p:nvSpPr>
          <p:cNvPr id="44" name="TextBox 43"/>
          <p:cNvSpPr txBox="1"/>
          <p:nvPr/>
        </p:nvSpPr>
        <p:spPr>
          <a:xfrm>
            <a:off x="6748272" y="3547871"/>
            <a:ext cx="4937760" cy="420624"/>
          </a:xfrm>
          <a:prstGeom prst="rect">
            <a:avLst/>
          </a:prstGeom>
          <a:noFill/>
        </p:spPr>
        <p:txBody>
          <a:bodyPr wrap="square">
            <a:spAutoFit/>
          </a:bodyPr>
          <a:lstStyle/>
          <a:p>
            <a:pPr algn="l"/>
            <a:r>
              <a:rPr sz="900" b="0" i="0">
                <a:solidFill>
                  <a:srgbClr val="444444"/>
                </a:solidFill>
              </a:rPr>
              <a:t>Dokumen yang telah disubmit tidak dapat diubah, kecuali dikembalikan oleh Kabag Umum dengan catatan revisi.</a:t>
            </a:r>
          </a:p>
        </p:txBody>
      </p:sp>
      <p:sp>
        <p:nvSpPr>
          <p:cNvPr id="45" name="Rectangle 44"/>
          <p:cNvSpPr/>
          <p:nvPr/>
        </p:nvSpPr>
        <p:spPr>
          <a:xfrm>
            <a:off x="6309360" y="4023360"/>
            <a:ext cx="5532120"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309360" y="4023360"/>
            <a:ext cx="365760" cy="749808"/>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09360" y="4187952"/>
            <a:ext cx="365760" cy="365760"/>
          </a:xfrm>
          <a:prstGeom prst="rect">
            <a:avLst/>
          </a:prstGeom>
          <a:noFill/>
        </p:spPr>
        <p:txBody>
          <a:bodyPr wrap="square">
            <a:spAutoFit/>
          </a:bodyPr>
          <a:lstStyle/>
          <a:p>
            <a:pPr algn="ctr"/>
            <a:r>
              <a:rPr sz="1300" b="1" i="0">
                <a:solidFill>
                  <a:srgbClr val="FFFFFF"/>
                </a:solidFill>
              </a:rPr>
              <a:t>4</a:t>
            </a:r>
          </a:p>
        </p:txBody>
      </p:sp>
      <p:sp>
        <p:nvSpPr>
          <p:cNvPr id="48" name="TextBox 47"/>
          <p:cNvSpPr txBox="1"/>
          <p:nvPr/>
        </p:nvSpPr>
        <p:spPr>
          <a:xfrm>
            <a:off x="6748272" y="4059936"/>
            <a:ext cx="4937760" cy="256032"/>
          </a:xfrm>
          <a:prstGeom prst="rect">
            <a:avLst/>
          </a:prstGeom>
          <a:noFill/>
        </p:spPr>
        <p:txBody>
          <a:bodyPr wrap="square">
            <a:spAutoFit/>
          </a:bodyPr>
          <a:lstStyle/>
          <a:p>
            <a:pPr algn="l"/>
            <a:r>
              <a:rPr sz="1000" b="1" i="0">
                <a:solidFill>
                  <a:srgbClr val="1A376C"/>
                </a:solidFill>
              </a:rPr>
              <a:t>IKU Kolaborasi</a:t>
            </a:r>
          </a:p>
        </p:txBody>
      </p:sp>
      <p:sp>
        <p:nvSpPr>
          <p:cNvPr id="49" name="TextBox 48"/>
          <p:cNvSpPr txBox="1"/>
          <p:nvPr/>
        </p:nvSpPr>
        <p:spPr>
          <a:xfrm>
            <a:off x="6748272" y="4315968"/>
            <a:ext cx="4937760" cy="420624"/>
          </a:xfrm>
          <a:prstGeom prst="rect">
            <a:avLst/>
          </a:prstGeom>
          <a:noFill/>
        </p:spPr>
        <p:txBody>
          <a:bodyPr wrap="square">
            <a:spAutoFit/>
          </a:bodyPr>
          <a:lstStyle/>
          <a:p>
            <a:pPr algn="l"/>
            <a:r>
              <a:rPr sz="900" b="0" i="0">
                <a:solidFill>
                  <a:srgbClr val="444444"/>
                </a:solidFill>
              </a:rPr>
              <a:t>Target pada IKU kolaborasi diisi bersama, namun masing-masing Tim Kerja mengisi rencana kegiatannya sendiri.</a:t>
            </a:r>
          </a:p>
        </p:txBody>
      </p:sp>
      <p:sp>
        <p:nvSpPr>
          <p:cNvPr id="50" name="Rectangle 49"/>
          <p:cNvSpPr/>
          <p:nvPr/>
        </p:nvSpPr>
        <p:spPr>
          <a:xfrm>
            <a:off x="6309360" y="4791456"/>
            <a:ext cx="5532120" cy="74980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309360" y="4791456"/>
            <a:ext cx="365760" cy="74980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09360" y="4956048"/>
            <a:ext cx="365760" cy="365760"/>
          </a:xfrm>
          <a:prstGeom prst="rect">
            <a:avLst/>
          </a:prstGeom>
          <a:noFill/>
        </p:spPr>
        <p:txBody>
          <a:bodyPr wrap="square">
            <a:spAutoFit/>
          </a:bodyPr>
          <a:lstStyle/>
          <a:p>
            <a:pPr algn="ctr"/>
            <a:r>
              <a:rPr sz="1300" b="1" i="0">
                <a:solidFill>
                  <a:srgbClr val="FFFFFF"/>
                </a:solidFill>
              </a:rPr>
              <a:t>5</a:t>
            </a:r>
          </a:p>
        </p:txBody>
      </p:sp>
      <p:sp>
        <p:nvSpPr>
          <p:cNvPr id="53" name="TextBox 52"/>
          <p:cNvSpPr txBox="1"/>
          <p:nvPr/>
        </p:nvSpPr>
        <p:spPr>
          <a:xfrm>
            <a:off x="6748272" y="4828032"/>
            <a:ext cx="4937760" cy="256032"/>
          </a:xfrm>
          <a:prstGeom prst="rect">
            <a:avLst/>
          </a:prstGeom>
          <a:noFill/>
        </p:spPr>
        <p:txBody>
          <a:bodyPr wrap="square">
            <a:spAutoFit/>
          </a:bodyPr>
          <a:lstStyle/>
          <a:p>
            <a:pPr algn="l"/>
            <a:r>
              <a:rPr sz="1000" b="1" i="0">
                <a:solidFill>
                  <a:srgbClr val="1A376C"/>
                </a:solidFill>
              </a:rPr>
              <a:t>Kerahasiaan Akun</a:t>
            </a:r>
          </a:p>
        </p:txBody>
      </p:sp>
      <p:sp>
        <p:nvSpPr>
          <p:cNvPr id="54" name="TextBox 53"/>
          <p:cNvSpPr txBox="1"/>
          <p:nvPr/>
        </p:nvSpPr>
        <p:spPr>
          <a:xfrm>
            <a:off x="6748272" y="5084064"/>
            <a:ext cx="4937760" cy="420624"/>
          </a:xfrm>
          <a:prstGeom prst="rect">
            <a:avLst/>
          </a:prstGeom>
          <a:noFill/>
        </p:spPr>
        <p:txBody>
          <a:bodyPr wrap="square">
            <a:spAutoFit/>
          </a:bodyPr>
          <a:lstStyle/>
          <a:p>
            <a:pPr algn="l"/>
            <a:r>
              <a:rPr sz="900" b="0" i="0">
                <a:solidFill>
                  <a:srgbClr val="444444"/>
                </a:solidFill>
              </a:rPr>
              <a:t>Username dan password bersifat rahasia. Jangan berbagi akun dengan pihak lain.</a:t>
            </a:r>
          </a:p>
        </p:txBody>
      </p:sp>
      <p:sp>
        <p:nvSpPr>
          <p:cNvPr id="55" name="Rectangle 54"/>
          <p:cNvSpPr/>
          <p:nvPr/>
        </p:nvSpPr>
        <p:spPr>
          <a:xfrm>
            <a:off x="6309360" y="5559552"/>
            <a:ext cx="5532120"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309360" y="5559552"/>
            <a:ext cx="365760" cy="749808"/>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09360" y="5724144"/>
            <a:ext cx="365760" cy="365760"/>
          </a:xfrm>
          <a:prstGeom prst="rect">
            <a:avLst/>
          </a:prstGeom>
          <a:noFill/>
        </p:spPr>
        <p:txBody>
          <a:bodyPr wrap="square">
            <a:spAutoFit/>
          </a:bodyPr>
          <a:lstStyle/>
          <a:p>
            <a:pPr algn="ctr"/>
            <a:r>
              <a:rPr sz="1300" b="1" i="0">
                <a:solidFill>
                  <a:srgbClr val="FFFFFF"/>
                </a:solidFill>
              </a:rPr>
              <a:t>6</a:t>
            </a:r>
          </a:p>
        </p:txBody>
      </p:sp>
      <p:sp>
        <p:nvSpPr>
          <p:cNvPr id="58" name="TextBox 57"/>
          <p:cNvSpPr txBox="1"/>
          <p:nvPr/>
        </p:nvSpPr>
        <p:spPr>
          <a:xfrm>
            <a:off x="6748272" y="5596128"/>
            <a:ext cx="4937760" cy="256032"/>
          </a:xfrm>
          <a:prstGeom prst="rect">
            <a:avLst/>
          </a:prstGeom>
          <a:noFill/>
        </p:spPr>
        <p:txBody>
          <a:bodyPr wrap="square">
            <a:spAutoFit/>
          </a:bodyPr>
          <a:lstStyle/>
          <a:p>
            <a:pPr algn="l"/>
            <a:r>
              <a:rPr sz="1000" b="1" i="0">
                <a:solidFill>
                  <a:srgbClr val="1A376C"/>
                </a:solidFill>
              </a:rPr>
              <a:t>Bantuan Teknis</a:t>
            </a:r>
          </a:p>
        </p:txBody>
      </p:sp>
      <p:sp>
        <p:nvSpPr>
          <p:cNvPr id="59" name="TextBox 58"/>
          <p:cNvSpPr txBox="1"/>
          <p:nvPr/>
        </p:nvSpPr>
        <p:spPr>
          <a:xfrm>
            <a:off x="6748272" y="5852160"/>
            <a:ext cx="4937760" cy="420624"/>
          </a:xfrm>
          <a:prstGeom prst="rect">
            <a:avLst/>
          </a:prstGeom>
          <a:noFill/>
        </p:spPr>
        <p:txBody>
          <a:bodyPr wrap="square">
            <a:spAutoFit/>
          </a:bodyPr>
          <a:lstStyle/>
          <a:p>
            <a:pPr algn="l"/>
            <a:r>
              <a:rPr sz="900" b="0" i="0">
                <a:solidFill>
                  <a:srgbClr val="444444"/>
                </a:solidFill>
              </a:rPr>
              <a:t>Jika mengalami kendala teknis, hubungi Admin Sistem melalui kontak yang tersedia.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09728"/>
            <a:ext cx="11430000" cy="594360"/>
          </a:xfrm>
          <a:prstGeom prst="rect">
            <a:avLst/>
          </a:prstGeom>
          <a:noFill/>
        </p:spPr>
        <p:txBody>
          <a:bodyPr wrap="square">
            <a:spAutoFit/>
          </a:bodyPr>
          <a:lstStyle/>
          <a:p>
            <a:pPr algn="l"/>
            <a:r>
              <a:rPr sz="2600" b="1" i="0">
                <a:solidFill>
                  <a:srgbClr val="FFFFFF"/>
                </a:solidFill>
              </a:rPr>
              <a:t>04  |  Login ke Aplikasi SIPITUNG</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300" b="0" i="0">
                <a:solidFill>
                  <a:srgbClr val="C8D8F0"/>
                </a:solidFill>
              </a:rPr>
              <a:t>Langkah pertama sebelum menggunakan sistem</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Petunjuk Teknis Ketua Tim Kerja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5 / 11</a:t>
            </a:r>
          </a:p>
        </p:txBody>
      </p:sp>
      <p:sp>
        <p:nvSpPr>
          <p:cNvPr id="10" name="Rectangle 9"/>
          <p:cNvSpPr/>
          <p:nvPr/>
        </p:nvSpPr>
        <p:spPr>
          <a:xfrm>
            <a:off x="365760" y="1234440"/>
            <a:ext cx="5029200" cy="5257800"/>
          </a:xfrm>
          <a:prstGeom prst="rect">
            <a:avLst/>
          </a:prstGeom>
          <a:solidFill>
            <a:srgbClr val="E8EEF8"/>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34440"/>
            <a:ext cx="502920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252728"/>
            <a:ext cx="4754880" cy="320040"/>
          </a:xfrm>
          <a:prstGeom prst="rect">
            <a:avLst/>
          </a:prstGeom>
          <a:noFill/>
        </p:spPr>
        <p:txBody>
          <a:bodyPr wrap="square">
            <a:spAutoFit/>
          </a:bodyPr>
          <a:lstStyle/>
          <a:p>
            <a:pPr algn="l"/>
            <a:r>
              <a:rPr sz="1000" b="1" i="0">
                <a:solidFill>
                  <a:srgbClr val="FFFFFF"/>
                </a:solidFill>
              </a:rPr>
              <a:t>Tampilan Halaman Login</a:t>
            </a:r>
          </a:p>
        </p:txBody>
      </p:sp>
      <p:sp>
        <p:nvSpPr>
          <p:cNvPr id="13" name="TextBox 12"/>
          <p:cNvSpPr txBox="1"/>
          <p:nvPr/>
        </p:nvSpPr>
        <p:spPr>
          <a:xfrm>
            <a:off x="822960" y="2194560"/>
            <a:ext cx="4206240" cy="3657600"/>
          </a:xfrm>
          <a:prstGeom prst="rect">
            <a:avLst/>
          </a:prstGeom>
          <a:noFill/>
        </p:spPr>
        <p:txBody>
          <a:bodyPr wrap="square">
            <a:spAutoFit/>
          </a:bodyPr>
          <a:lstStyle/>
          <a:p>
            <a:pPr algn="ctr"/>
            <a:r>
              <a:rPr sz="1100" b="0" i="1">
                <a:solidFill>
                  <a:srgbClr val="2E75B6"/>
                </a:solidFill>
              </a:rPr>
              <a:t>[ SCREENSHOT HALAMAN LOGIN ]
Tambahkan screenshot tampilan
halaman login aplikasi SIPITUNG
di sini</a:t>
            </a:r>
          </a:p>
        </p:txBody>
      </p:sp>
      <p:sp>
        <p:nvSpPr>
          <p:cNvPr id="14" name="Rectangle 13"/>
          <p:cNvSpPr/>
          <p:nvPr/>
        </p:nvSpPr>
        <p:spPr>
          <a:xfrm>
            <a:off x="1371600" y="3200400"/>
            <a:ext cx="3017520" cy="1828800"/>
          </a:xfrm>
          <a:prstGeom prst="rect">
            <a:avLst/>
          </a:prstGeom>
          <a:solidFill>
            <a:srgbClr val="D0DCF0"/>
          </a:solidFill>
          <a:ln w="9525">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63040" y="3246120"/>
            <a:ext cx="2834640" cy="1737360"/>
          </a:xfrm>
          <a:prstGeom prst="rect">
            <a:avLst/>
          </a:prstGeom>
          <a:noFill/>
        </p:spPr>
        <p:txBody>
          <a:bodyPr wrap="square">
            <a:spAutoFit/>
          </a:bodyPr>
          <a:lstStyle/>
          <a:p>
            <a:pPr algn="ctr"/>
            <a:r>
              <a:rPr sz="900" b="0" i="0">
                <a:solidFill>
                  <a:srgbClr val="1A376C"/>
                </a:solidFill>
              </a:rPr>
              <a:t>Username
_______________
Password
_______________
[ LOGIN ]</a:t>
            </a:r>
          </a:p>
        </p:txBody>
      </p:sp>
      <p:sp>
        <p:nvSpPr>
          <p:cNvPr id="16" name="TextBox 15"/>
          <p:cNvSpPr txBox="1"/>
          <p:nvPr/>
        </p:nvSpPr>
        <p:spPr>
          <a:xfrm>
            <a:off x="5760720" y="1234440"/>
            <a:ext cx="6035040" cy="365760"/>
          </a:xfrm>
          <a:prstGeom prst="rect">
            <a:avLst/>
          </a:prstGeom>
          <a:noFill/>
        </p:spPr>
        <p:txBody>
          <a:bodyPr wrap="square">
            <a:spAutoFit/>
          </a:bodyPr>
          <a:lstStyle/>
          <a:p>
            <a:pPr algn="l"/>
            <a:r>
              <a:rPr sz="1300" b="1" i="0">
                <a:solidFill>
                  <a:srgbClr val="1A376C"/>
                </a:solidFill>
              </a:rPr>
              <a:t>Langkah-Langkah Login</a:t>
            </a:r>
          </a:p>
        </p:txBody>
      </p:sp>
      <p:sp>
        <p:nvSpPr>
          <p:cNvPr id="17" name="Rectangle 16"/>
          <p:cNvSpPr/>
          <p:nvPr/>
        </p:nvSpPr>
        <p:spPr>
          <a:xfrm>
            <a:off x="5760720" y="1234440"/>
            <a:ext cx="54864" cy="3657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760720" y="1737360"/>
            <a:ext cx="6035040" cy="868680"/>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760720" y="1737360"/>
            <a:ext cx="502920" cy="86868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0720" y="1920240"/>
            <a:ext cx="502920" cy="502920"/>
          </a:xfrm>
          <a:prstGeom prst="rect">
            <a:avLst/>
          </a:prstGeom>
          <a:noFill/>
        </p:spPr>
        <p:txBody>
          <a:bodyPr wrap="square">
            <a:spAutoFit/>
          </a:bodyPr>
          <a:lstStyle/>
          <a:p>
            <a:pPr algn="ctr"/>
            <a:r>
              <a:rPr sz="2000" b="1" i="0">
                <a:solidFill>
                  <a:srgbClr val="FFFFFF"/>
                </a:solidFill>
              </a:rPr>
              <a:t>1</a:t>
            </a:r>
          </a:p>
        </p:txBody>
      </p:sp>
      <p:sp>
        <p:nvSpPr>
          <p:cNvPr id="21" name="TextBox 20"/>
          <p:cNvSpPr txBox="1"/>
          <p:nvPr/>
        </p:nvSpPr>
        <p:spPr>
          <a:xfrm>
            <a:off x="6336792" y="1783080"/>
            <a:ext cx="5394960" cy="274320"/>
          </a:xfrm>
          <a:prstGeom prst="rect">
            <a:avLst/>
          </a:prstGeom>
          <a:noFill/>
        </p:spPr>
        <p:txBody>
          <a:bodyPr wrap="square">
            <a:spAutoFit/>
          </a:bodyPr>
          <a:lstStyle/>
          <a:p>
            <a:pPr algn="l"/>
            <a:r>
              <a:rPr sz="1050" b="1" i="0">
                <a:solidFill>
                  <a:srgbClr val="1A376C"/>
                </a:solidFill>
              </a:rPr>
              <a:t>Buka Aplikasi</a:t>
            </a:r>
          </a:p>
        </p:txBody>
      </p:sp>
      <p:sp>
        <p:nvSpPr>
          <p:cNvPr id="22" name="TextBox 21"/>
          <p:cNvSpPr txBox="1"/>
          <p:nvPr/>
        </p:nvSpPr>
        <p:spPr>
          <a:xfrm>
            <a:off x="6336792" y="2057400"/>
            <a:ext cx="5394960" cy="502920"/>
          </a:xfrm>
          <a:prstGeom prst="rect">
            <a:avLst/>
          </a:prstGeom>
          <a:noFill/>
        </p:spPr>
        <p:txBody>
          <a:bodyPr wrap="square">
            <a:spAutoFit/>
          </a:bodyPr>
          <a:lstStyle/>
          <a:p>
            <a:pPr algn="l"/>
            <a:r>
              <a:rPr sz="950" b="0" i="0">
                <a:solidFill>
                  <a:srgbClr val="444444"/>
                </a:solidFill>
              </a:rPr>
              <a:t>Buka browser (Chrome/Firefox) dan akses URL SIPITUNG yang diberikan Admin Sistem.</a:t>
            </a:r>
          </a:p>
        </p:txBody>
      </p:sp>
      <p:sp>
        <p:nvSpPr>
          <p:cNvPr id="23" name="Rectangle 22"/>
          <p:cNvSpPr/>
          <p:nvPr/>
        </p:nvSpPr>
        <p:spPr>
          <a:xfrm>
            <a:off x="5760720" y="2670048"/>
            <a:ext cx="6035040" cy="868680"/>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760720" y="2670048"/>
            <a:ext cx="502920" cy="86868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60720" y="2852928"/>
            <a:ext cx="502920" cy="502920"/>
          </a:xfrm>
          <a:prstGeom prst="rect">
            <a:avLst/>
          </a:prstGeom>
          <a:noFill/>
        </p:spPr>
        <p:txBody>
          <a:bodyPr wrap="square">
            <a:spAutoFit/>
          </a:bodyPr>
          <a:lstStyle/>
          <a:p>
            <a:pPr algn="ctr"/>
            <a:r>
              <a:rPr sz="2000" b="1" i="0">
                <a:solidFill>
                  <a:srgbClr val="FFFFFF"/>
                </a:solidFill>
              </a:rPr>
              <a:t>2</a:t>
            </a:r>
          </a:p>
        </p:txBody>
      </p:sp>
      <p:sp>
        <p:nvSpPr>
          <p:cNvPr id="26" name="TextBox 25"/>
          <p:cNvSpPr txBox="1"/>
          <p:nvPr/>
        </p:nvSpPr>
        <p:spPr>
          <a:xfrm>
            <a:off x="6336792" y="2715768"/>
            <a:ext cx="5394960" cy="274320"/>
          </a:xfrm>
          <a:prstGeom prst="rect">
            <a:avLst/>
          </a:prstGeom>
          <a:noFill/>
        </p:spPr>
        <p:txBody>
          <a:bodyPr wrap="square">
            <a:spAutoFit/>
          </a:bodyPr>
          <a:lstStyle/>
          <a:p>
            <a:pPr algn="l"/>
            <a:r>
              <a:rPr sz="1050" b="1" i="0">
                <a:solidFill>
                  <a:srgbClr val="1A376C"/>
                </a:solidFill>
              </a:rPr>
              <a:t>Masukkan Username</a:t>
            </a:r>
          </a:p>
        </p:txBody>
      </p:sp>
      <p:sp>
        <p:nvSpPr>
          <p:cNvPr id="27" name="TextBox 26"/>
          <p:cNvSpPr txBox="1"/>
          <p:nvPr/>
        </p:nvSpPr>
        <p:spPr>
          <a:xfrm>
            <a:off x="6336792" y="2990088"/>
            <a:ext cx="5394960" cy="502920"/>
          </a:xfrm>
          <a:prstGeom prst="rect">
            <a:avLst/>
          </a:prstGeom>
          <a:noFill/>
        </p:spPr>
        <p:txBody>
          <a:bodyPr wrap="square">
            <a:spAutoFit/>
          </a:bodyPr>
          <a:lstStyle/>
          <a:p>
            <a:pPr algn="l"/>
            <a:r>
              <a:rPr sz="950" b="0" i="0">
                <a:solidFill>
                  <a:srgbClr val="444444"/>
                </a:solidFill>
              </a:rPr>
              <a:t>Ketik username Anda (format: ketua.xxx, contoh: ketua.keuangan) pada kolom Username.</a:t>
            </a:r>
          </a:p>
        </p:txBody>
      </p:sp>
      <p:sp>
        <p:nvSpPr>
          <p:cNvPr id="28" name="Rectangle 27"/>
          <p:cNvSpPr/>
          <p:nvPr/>
        </p:nvSpPr>
        <p:spPr>
          <a:xfrm>
            <a:off x="5760720" y="3602736"/>
            <a:ext cx="6035040" cy="868680"/>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760720" y="3602736"/>
            <a:ext cx="502920" cy="86868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60720" y="3785615"/>
            <a:ext cx="502920" cy="502920"/>
          </a:xfrm>
          <a:prstGeom prst="rect">
            <a:avLst/>
          </a:prstGeom>
          <a:noFill/>
        </p:spPr>
        <p:txBody>
          <a:bodyPr wrap="square">
            <a:spAutoFit/>
          </a:bodyPr>
          <a:lstStyle/>
          <a:p>
            <a:pPr algn="ctr"/>
            <a:r>
              <a:rPr sz="2000" b="1" i="0">
                <a:solidFill>
                  <a:srgbClr val="FFFFFF"/>
                </a:solidFill>
              </a:rPr>
              <a:t>3</a:t>
            </a:r>
          </a:p>
        </p:txBody>
      </p:sp>
      <p:sp>
        <p:nvSpPr>
          <p:cNvPr id="31" name="TextBox 30"/>
          <p:cNvSpPr txBox="1"/>
          <p:nvPr/>
        </p:nvSpPr>
        <p:spPr>
          <a:xfrm>
            <a:off x="6336792" y="3648456"/>
            <a:ext cx="5394960" cy="274320"/>
          </a:xfrm>
          <a:prstGeom prst="rect">
            <a:avLst/>
          </a:prstGeom>
          <a:noFill/>
        </p:spPr>
        <p:txBody>
          <a:bodyPr wrap="square">
            <a:spAutoFit/>
          </a:bodyPr>
          <a:lstStyle/>
          <a:p>
            <a:pPr algn="l"/>
            <a:r>
              <a:rPr sz="1050" b="1" i="0">
                <a:solidFill>
                  <a:srgbClr val="1A376C"/>
                </a:solidFill>
              </a:rPr>
              <a:t>Masukkan Password</a:t>
            </a:r>
          </a:p>
        </p:txBody>
      </p:sp>
      <p:sp>
        <p:nvSpPr>
          <p:cNvPr id="32" name="TextBox 31"/>
          <p:cNvSpPr txBox="1"/>
          <p:nvPr/>
        </p:nvSpPr>
        <p:spPr>
          <a:xfrm>
            <a:off x="6336792" y="3922776"/>
            <a:ext cx="5394960" cy="502920"/>
          </a:xfrm>
          <a:prstGeom prst="rect">
            <a:avLst/>
          </a:prstGeom>
          <a:noFill/>
        </p:spPr>
        <p:txBody>
          <a:bodyPr wrap="square">
            <a:spAutoFit/>
          </a:bodyPr>
          <a:lstStyle/>
          <a:p>
            <a:pPr algn="l"/>
            <a:r>
              <a:rPr sz="950" b="0" i="0">
                <a:solidFill>
                  <a:srgbClr val="444444"/>
                </a:solidFill>
              </a:rPr>
              <a:t>Ketik password Anda pada kolom Password. Password bersifat case-sensitive.</a:t>
            </a:r>
          </a:p>
        </p:txBody>
      </p:sp>
      <p:sp>
        <p:nvSpPr>
          <p:cNvPr id="33" name="Rectangle 32"/>
          <p:cNvSpPr/>
          <p:nvPr/>
        </p:nvSpPr>
        <p:spPr>
          <a:xfrm>
            <a:off x="5760720" y="4535424"/>
            <a:ext cx="6035040" cy="868680"/>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760720" y="4535424"/>
            <a:ext cx="502920" cy="86868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760720" y="4718304"/>
            <a:ext cx="502920" cy="502920"/>
          </a:xfrm>
          <a:prstGeom prst="rect">
            <a:avLst/>
          </a:prstGeom>
          <a:noFill/>
        </p:spPr>
        <p:txBody>
          <a:bodyPr wrap="square">
            <a:spAutoFit/>
          </a:bodyPr>
          <a:lstStyle/>
          <a:p>
            <a:pPr algn="ctr"/>
            <a:r>
              <a:rPr sz="2000" b="1" i="0">
                <a:solidFill>
                  <a:srgbClr val="FFFFFF"/>
                </a:solidFill>
              </a:rPr>
              <a:t>4</a:t>
            </a:r>
          </a:p>
        </p:txBody>
      </p:sp>
      <p:sp>
        <p:nvSpPr>
          <p:cNvPr id="36" name="TextBox 35"/>
          <p:cNvSpPr txBox="1"/>
          <p:nvPr/>
        </p:nvSpPr>
        <p:spPr>
          <a:xfrm>
            <a:off x="6336792" y="4581144"/>
            <a:ext cx="5394960" cy="274320"/>
          </a:xfrm>
          <a:prstGeom prst="rect">
            <a:avLst/>
          </a:prstGeom>
          <a:noFill/>
        </p:spPr>
        <p:txBody>
          <a:bodyPr wrap="square">
            <a:spAutoFit/>
          </a:bodyPr>
          <a:lstStyle/>
          <a:p>
            <a:pPr algn="l"/>
            <a:r>
              <a:rPr sz="1050" b="1" i="0">
                <a:solidFill>
                  <a:srgbClr val="1A376C"/>
                </a:solidFill>
              </a:rPr>
              <a:t>Klik Tombol Login</a:t>
            </a:r>
          </a:p>
        </p:txBody>
      </p:sp>
      <p:sp>
        <p:nvSpPr>
          <p:cNvPr id="37" name="TextBox 36"/>
          <p:cNvSpPr txBox="1"/>
          <p:nvPr/>
        </p:nvSpPr>
        <p:spPr>
          <a:xfrm>
            <a:off x="6336792" y="4855464"/>
            <a:ext cx="5394960" cy="502920"/>
          </a:xfrm>
          <a:prstGeom prst="rect">
            <a:avLst/>
          </a:prstGeom>
          <a:noFill/>
        </p:spPr>
        <p:txBody>
          <a:bodyPr wrap="square">
            <a:spAutoFit/>
          </a:bodyPr>
          <a:lstStyle/>
          <a:p>
            <a:pPr algn="l"/>
            <a:r>
              <a:rPr sz="950" b="0" i="0">
                <a:solidFill>
                  <a:srgbClr val="444444"/>
                </a:solidFill>
              </a:rPr>
              <a:t>Klik tombol "Masuk" atau tekan Enter pada keyboard.</a:t>
            </a:r>
          </a:p>
        </p:txBody>
      </p:sp>
      <p:sp>
        <p:nvSpPr>
          <p:cNvPr id="38" name="Rectangle 37"/>
          <p:cNvSpPr/>
          <p:nvPr/>
        </p:nvSpPr>
        <p:spPr>
          <a:xfrm>
            <a:off x="5760720" y="5468112"/>
            <a:ext cx="6035040" cy="868680"/>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760720" y="5468112"/>
            <a:ext cx="502920" cy="86868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760720" y="5650992"/>
            <a:ext cx="502920" cy="502920"/>
          </a:xfrm>
          <a:prstGeom prst="rect">
            <a:avLst/>
          </a:prstGeom>
          <a:noFill/>
        </p:spPr>
        <p:txBody>
          <a:bodyPr wrap="square">
            <a:spAutoFit/>
          </a:bodyPr>
          <a:lstStyle/>
          <a:p>
            <a:pPr algn="ctr"/>
            <a:r>
              <a:rPr sz="2000" b="1" i="0">
                <a:solidFill>
                  <a:srgbClr val="FFFFFF"/>
                </a:solidFill>
              </a:rPr>
              <a:t>5</a:t>
            </a:r>
          </a:p>
        </p:txBody>
      </p:sp>
      <p:sp>
        <p:nvSpPr>
          <p:cNvPr id="41" name="TextBox 40"/>
          <p:cNvSpPr txBox="1"/>
          <p:nvPr/>
        </p:nvSpPr>
        <p:spPr>
          <a:xfrm>
            <a:off x="6336792" y="5513832"/>
            <a:ext cx="5394960" cy="274320"/>
          </a:xfrm>
          <a:prstGeom prst="rect">
            <a:avLst/>
          </a:prstGeom>
          <a:noFill/>
        </p:spPr>
        <p:txBody>
          <a:bodyPr wrap="square">
            <a:spAutoFit/>
          </a:bodyPr>
          <a:lstStyle/>
          <a:p>
            <a:pPr algn="l"/>
            <a:r>
              <a:rPr sz="1050" b="1" i="0">
                <a:solidFill>
                  <a:srgbClr val="1A376C"/>
                </a:solidFill>
              </a:rPr>
              <a:t>Verifikasi Berhasil</a:t>
            </a:r>
          </a:p>
        </p:txBody>
      </p:sp>
      <p:sp>
        <p:nvSpPr>
          <p:cNvPr id="42" name="TextBox 41"/>
          <p:cNvSpPr txBox="1"/>
          <p:nvPr/>
        </p:nvSpPr>
        <p:spPr>
          <a:xfrm>
            <a:off x="6336792" y="5788152"/>
            <a:ext cx="5394960" cy="502920"/>
          </a:xfrm>
          <a:prstGeom prst="rect">
            <a:avLst/>
          </a:prstGeom>
          <a:noFill/>
        </p:spPr>
        <p:txBody>
          <a:bodyPr wrap="square">
            <a:spAutoFit/>
          </a:bodyPr>
          <a:lstStyle/>
          <a:p>
            <a:pPr algn="l"/>
            <a:r>
              <a:rPr sz="950" b="0" i="0">
                <a:solidFill>
                  <a:srgbClr val="444444"/>
                </a:solidFill>
              </a:rPr>
              <a:t>Jika berhasil, Anda akan diarahkan ke Dashboard Ketua Tim Kerja.</a:t>
            </a:r>
          </a:p>
        </p:txBody>
      </p:sp>
      <p:sp>
        <p:nvSpPr>
          <p:cNvPr id="43" name="Rectangle 42"/>
          <p:cNvSpPr/>
          <p:nvPr/>
        </p:nvSpPr>
        <p:spPr>
          <a:xfrm>
            <a:off x="5760720" y="6400800"/>
            <a:ext cx="6035040" cy="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760720" y="6355080"/>
            <a:ext cx="6035040" cy="548640"/>
          </a:xfrm>
          <a:prstGeom prst="rect">
            <a:avLst/>
          </a:prstGeom>
          <a:solidFill>
            <a:srgbClr val="FFF3CD"/>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897880" y="6373368"/>
            <a:ext cx="5760720" cy="512064"/>
          </a:xfrm>
          <a:prstGeom prst="rect">
            <a:avLst/>
          </a:prstGeom>
          <a:noFill/>
        </p:spPr>
        <p:txBody>
          <a:bodyPr wrap="square">
            <a:spAutoFit/>
          </a:bodyPr>
          <a:lstStyle/>
          <a:p>
            <a:pPr algn="l"/>
            <a:r>
              <a:rPr sz="900" b="0" i="0">
                <a:solidFill>
                  <a:srgbClr val="7D6008"/>
                </a:solidFill>
              </a:rPr>
              <a:t>⚠  Perhatian: Jika login gagal, periksa kembali username dan password. Pastikan Caps Lock tidak aktif. Hubungi Admin jika akun terkunci.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09728"/>
            <a:ext cx="11430000" cy="594360"/>
          </a:xfrm>
          <a:prstGeom prst="rect">
            <a:avLst/>
          </a:prstGeom>
          <a:noFill/>
        </p:spPr>
        <p:txBody>
          <a:bodyPr wrap="square">
            <a:spAutoFit/>
          </a:bodyPr>
          <a:lstStyle/>
          <a:p>
            <a:pPr algn="l"/>
            <a:r>
              <a:rPr sz="2600" b="1" i="0">
                <a:solidFill>
                  <a:srgbClr val="FFFFFF"/>
                </a:solidFill>
              </a:rPr>
              <a:t>05  |  Navigasi Menu Penyusunan Rencana Aksi</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300" b="0" i="0">
                <a:solidFill>
                  <a:srgbClr val="C8D8F0"/>
                </a:solidFill>
              </a:rPr>
              <a:t>Menemukan dan membuka halaman yang tepat</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Petunjuk Teknis Ketua Tim Kerja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6 / 11</a:t>
            </a:r>
          </a:p>
        </p:txBody>
      </p:sp>
      <p:sp>
        <p:nvSpPr>
          <p:cNvPr id="10" name="Rectangle 9"/>
          <p:cNvSpPr/>
          <p:nvPr/>
        </p:nvSpPr>
        <p:spPr>
          <a:xfrm>
            <a:off x="365760" y="1234440"/>
            <a:ext cx="11430000" cy="50292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261872"/>
            <a:ext cx="2468879" cy="448056"/>
          </a:xfrm>
          <a:prstGeom prst="rect">
            <a:avLst/>
          </a:prstGeom>
          <a:solidFill>
            <a:srgbClr val="E0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289304"/>
            <a:ext cx="2423160" cy="393192"/>
          </a:xfrm>
          <a:prstGeom prst="rect">
            <a:avLst/>
          </a:prstGeom>
          <a:noFill/>
        </p:spPr>
        <p:txBody>
          <a:bodyPr wrap="square">
            <a:spAutoFit/>
          </a:bodyPr>
          <a:lstStyle/>
          <a:p>
            <a:pPr algn="l"/>
            <a:r>
              <a:rPr sz="1000" b="0" i="0">
                <a:solidFill>
                  <a:srgbClr val="1A376C"/>
                </a:solidFill>
              </a:rPr>
              <a:t>Dashboard</a:t>
            </a:r>
          </a:p>
        </p:txBody>
      </p:sp>
      <p:sp>
        <p:nvSpPr>
          <p:cNvPr id="13" name="Rectangle 12"/>
          <p:cNvSpPr/>
          <p:nvPr/>
        </p:nvSpPr>
        <p:spPr>
          <a:xfrm>
            <a:off x="3017520" y="1261872"/>
            <a:ext cx="2468879" cy="44805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08960" y="1289304"/>
            <a:ext cx="2423160" cy="393192"/>
          </a:xfrm>
          <a:prstGeom prst="rect">
            <a:avLst/>
          </a:prstGeom>
          <a:noFill/>
        </p:spPr>
        <p:txBody>
          <a:bodyPr wrap="square">
            <a:spAutoFit/>
          </a:bodyPr>
          <a:lstStyle/>
          <a:p>
            <a:pPr algn="l"/>
            <a:r>
              <a:rPr sz="1000" b="0" i="0">
                <a:solidFill>
                  <a:srgbClr val="FFFFFF"/>
                </a:solidFill>
              </a:rPr>
              <a:t>▶  Perencanaan</a:t>
            </a:r>
          </a:p>
        </p:txBody>
      </p:sp>
      <p:sp>
        <p:nvSpPr>
          <p:cNvPr id="15" name="Rectangle 14"/>
          <p:cNvSpPr/>
          <p:nvPr/>
        </p:nvSpPr>
        <p:spPr>
          <a:xfrm>
            <a:off x="5577840" y="1261872"/>
            <a:ext cx="2468879" cy="44805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79" y="1289304"/>
            <a:ext cx="2423160" cy="393192"/>
          </a:xfrm>
          <a:prstGeom prst="rect">
            <a:avLst/>
          </a:prstGeom>
          <a:noFill/>
        </p:spPr>
        <p:txBody>
          <a:bodyPr wrap="square">
            <a:spAutoFit/>
          </a:bodyPr>
          <a:lstStyle/>
          <a:p>
            <a:pPr algn="l"/>
            <a:r>
              <a:rPr sz="1000" b="0" i="0">
                <a:solidFill>
                  <a:srgbClr val="FFFFFF"/>
                </a:solidFill>
              </a:rPr>
              <a:t>▶  Rencana Aksi</a:t>
            </a:r>
          </a:p>
        </p:txBody>
      </p:sp>
      <p:sp>
        <p:nvSpPr>
          <p:cNvPr id="17" name="Rectangle 16"/>
          <p:cNvSpPr/>
          <p:nvPr/>
        </p:nvSpPr>
        <p:spPr>
          <a:xfrm>
            <a:off x="8138159" y="1261872"/>
            <a:ext cx="2468879" cy="448056"/>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9" y="1289304"/>
            <a:ext cx="2423160" cy="393192"/>
          </a:xfrm>
          <a:prstGeom prst="rect">
            <a:avLst/>
          </a:prstGeom>
          <a:noFill/>
        </p:spPr>
        <p:txBody>
          <a:bodyPr wrap="square">
            <a:spAutoFit/>
          </a:bodyPr>
          <a:lstStyle/>
          <a:p>
            <a:pPr algn="l"/>
            <a:r>
              <a:rPr sz="1000" b="1" i="0">
                <a:solidFill>
                  <a:srgbClr val="FFFFFF"/>
                </a:solidFill>
              </a:rPr>
              <a:t>▶  Penyusunan</a:t>
            </a:r>
          </a:p>
        </p:txBody>
      </p:sp>
      <p:sp>
        <p:nvSpPr>
          <p:cNvPr id="19" name="Rectangle 18"/>
          <p:cNvSpPr/>
          <p:nvPr/>
        </p:nvSpPr>
        <p:spPr>
          <a:xfrm>
            <a:off x="365760" y="1874519"/>
            <a:ext cx="4114800" cy="4526280"/>
          </a:xfrm>
          <a:prstGeom prst="rect">
            <a:avLst/>
          </a:prstGeom>
          <a:solidFill>
            <a:srgbClr val="E8EEF8"/>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1874519"/>
            <a:ext cx="411480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1892807"/>
            <a:ext cx="3840480" cy="320040"/>
          </a:xfrm>
          <a:prstGeom prst="rect">
            <a:avLst/>
          </a:prstGeom>
          <a:noFill/>
        </p:spPr>
        <p:txBody>
          <a:bodyPr wrap="square">
            <a:spAutoFit/>
          </a:bodyPr>
          <a:lstStyle/>
          <a:p>
            <a:pPr algn="l"/>
            <a:r>
              <a:rPr sz="1000" b="1" i="0">
                <a:solidFill>
                  <a:srgbClr val="FFFFFF"/>
                </a:solidFill>
              </a:rPr>
              <a:t>Tampilan Menu Sidebar</a:t>
            </a:r>
          </a:p>
        </p:txBody>
      </p:sp>
      <p:sp>
        <p:nvSpPr>
          <p:cNvPr id="22" name="TextBox 21"/>
          <p:cNvSpPr txBox="1"/>
          <p:nvPr/>
        </p:nvSpPr>
        <p:spPr>
          <a:xfrm>
            <a:off x="548640" y="2468880"/>
            <a:ext cx="3749039" cy="3749039"/>
          </a:xfrm>
          <a:prstGeom prst="rect">
            <a:avLst/>
          </a:prstGeom>
          <a:noFill/>
        </p:spPr>
        <p:txBody>
          <a:bodyPr wrap="square">
            <a:spAutoFit/>
          </a:bodyPr>
          <a:lstStyle/>
          <a:p>
            <a:pPr algn="ctr"/>
            <a:r>
              <a:rPr sz="1000" b="0" i="1">
                <a:solidFill>
                  <a:srgbClr val="2E75B6"/>
                </a:solidFill>
              </a:rPr>
              <a:t>[ SCREENSHOT SIDEBAR MENU ]
Tambahkan screenshot menu
navigasi sidebar di sini
Tunjukkan:
• Menu 'Perencanaan'
• Submenu 'Rencana Aksi'
• Submenu 'Penyusunan'</a:t>
            </a:r>
          </a:p>
        </p:txBody>
      </p:sp>
      <p:sp>
        <p:nvSpPr>
          <p:cNvPr id="23" name="TextBox 22"/>
          <p:cNvSpPr txBox="1"/>
          <p:nvPr/>
        </p:nvSpPr>
        <p:spPr>
          <a:xfrm>
            <a:off x="4800600" y="1874519"/>
            <a:ext cx="7040880" cy="347472"/>
          </a:xfrm>
          <a:prstGeom prst="rect">
            <a:avLst/>
          </a:prstGeom>
          <a:noFill/>
        </p:spPr>
        <p:txBody>
          <a:bodyPr wrap="square">
            <a:spAutoFit/>
          </a:bodyPr>
          <a:lstStyle/>
          <a:p>
            <a:pPr algn="l"/>
            <a:r>
              <a:rPr sz="1300" b="1" i="0">
                <a:solidFill>
                  <a:srgbClr val="1A376C"/>
                </a:solidFill>
              </a:rPr>
              <a:t>Langkah Navigasi</a:t>
            </a:r>
          </a:p>
        </p:txBody>
      </p:sp>
      <p:sp>
        <p:nvSpPr>
          <p:cNvPr id="24" name="Rectangle 23"/>
          <p:cNvSpPr/>
          <p:nvPr/>
        </p:nvSpPr>
        <p:spPr>
          <a:xfrm>
            <a:off x="4800600" y="1874519"/>
            <a:ext cx="54864"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800600" y="2331720"/>
            <a:ext cx="7040880" cy="75895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800600" y="2331720"/>
            <a:ext cx="457200" cy="75895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2487168"/>
            <a:ext cx="457200" cy="457200"/>
          </a:xfrm>
          <a:prstGeom prst="rect">
            <a:avLst/>
          </a:prstGeom>
          <a:noFill/>
        </p:spPr>
        <p:txBody>
          <a:bodyPr wrap="square">
            <a:spAutoFit/>
          </a:bodyPr>
          <a:lstStyle/>
          <a:p>
            <a:pPr algn="ctr"/>
            <a:r>
              <a:rPr sz="1800" b="1" i="0">
                <a:solidFill>
                  <a:srgbClr val="FFFFFF"/>
                </a:solidFill>
              </a:rPr>
              <a:t>1</a:t>
            </a:r>
          </a:p>
        </p:txBody>
      </p:sp>
      <p:sp>
        <p:nvSpPr>
          <p:cNvPr id="28" name="TextBox 27"/>
          <p:cNvSpPr txBox="1"/>
          <p:nvPr/>
        </p:nvSpPr>
        <p:spPr>
          <a:xfrm>
            <a:off x="5321808" y="2368296"/>
            <a:ext cx="6446520" cy="256032"/>
          </a:xfrm>
          <a:prstGeom prst="rect">
            <a:avLst/>
          </a:prstGeom>
          <a:noFill/>
        </p:spPr>
        <p:txBody>
          <a:bodyPr wrap="square">
            <a:spAutoFit/>
          </a:bodyPr>
          <a:lstStyle/>
          <a:p>
            <a:pPr algn="l"/>
            <a:r>
              <a:rPr sz="1050" b="1" i="0">
                <a:solidFill>
                  <a:srgbClr val="1A376C"/>
                </a:solidFill>
              </a:rPr>
              <a:t>Buka Sidebar</a:t>
            </a:r>
          </a:p>
        </p:txBody>
      </p:sp>
      <p:sp>
        <p:nvSpPr>
          <p:cNvPr id="29" name="TextBox 28"/>
          <p:cNvSpPr txBox="1"/>
          <p:nvPr/>
        </p:nvSpPr>
        <p:spPr>
          <a:xfrm>
            <a:off x="5321808" y="2642615"/>
            <a:ext cx="6446520" cy="411480"/>
          </a:xfrm>
          <a:prstGeom prst="rect">
            <a:avLst/>
          </a:prstGeom>
          <a:noFill/>
        </p:spPr>
        <p:txBody>
          <a:bodyPr wrap="square">
            <a:spAutoFit/>
          </a:bodyPr>
          <a:lstStyle/>
          <a:p>
            <a:pPr algn="l"/>
            <a:r>
              <a:rPr sz="950" b="0" i="0">
                <a:solidFill>
                  <a:srgbClr val="444444"/>
                </a:solidFill>
              </a:rPr>
              <a:t>Setelah login, sidebar navigasi akan tampil di sisi kiri layar.</a:t>
            </a:r>
          </a:p>
        </p:txBody>
      </p:sp>
      <p:sp>
        <p:nvSpPr>
          <p:cNvPr id="30" name="Rectangle 29"/>
          <p:cNvSpPr/>
          <p:nvPr/>
        </p:nvSpPr>
        <p:spPr>
          <a:xfrm>
            <a:off x="4800600" y="3154679"/>
            <a:ext cx="7040880" cy="75895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800600" y="3154679"/>
            <a:ext cx="457200" cy="75895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00600" y="3310127"/>
            <a:ext cx="457200" cy="457200"/>
          </a:xfrm>
          <a:prstGeom prst="rect">
            <a:avLst/>
          </a:prstGeom>
          <a:noFill/>
        </p:spPr>
        <p:txBody>
          <a:bodyPr wrap="square">
            <a:spAutoFit/>
          </a:bodyPr>
          <a:lstStyle/>
          <a:p>
            <a:pPr algn="ctr"/>
            <a:r>
              <a:rPr sz="1800" b="1" i="0">
                <a:solidFill>
                  <a:srgbClr val="FFFFFF"/>
                </a:solidFill>
              </a:rPr>
              <a:t>2</a:t>
            </a:r>
          </a:p>
        </p:txBody>
      </p:sp>
      <p:sp>
        <p:nvSpPr>
          <p:cNvPr id="33" name="TextBox 32"/>
          <p:cNvSpPr txBox="1"/>
          <p:nvPr/>
        </p:nvSpPr>
        <p:spPr>
          <a:xfrm>
            <a:off x="5321808" y="3191256"/>
            <a:ext cx="6446520" cy="256032"/>
          </a:xfrm>
          <a:prstGeom prst="rect">
            <a:avLst/>
          </a:prstGeom>
          <a:noFill/>
        </p:spPr>
        <p:txBody>
          <a:bodyPr wrap="square">
            <a:spAutoFit/>
          </a:bodyPr>
          <a:lstStyle/>
          <a:p>
            <a:pPr algn="l"/>
            <a:r>
              <a:rPr sz="1050" b="1" i="0">
                <a:solidFill>
                  <a:srgbClr val="1A376C"/>
                </a:solidFill>
              </a:rPr>
              <a:t>Klik 'Perencanaan'</a:t>
            </a:r>
          </a:p>
        </p:txBody>
      </p:sp>
      <p:sp>
        <p:nvSpPr>
          <p:cNvPr id="34" name="TextBox 33"/>
          <p:cNvSpPr txBox="1"/>
          <p:nvPr/>
        </p:nvSpPr>
        <p:spPr>
          <a:xfrm>
            <a:off x="5321808" y="3465575"/>
            <a:ext cx="6446520" cy="411480"/>
          </a:xfrm>
          <a:prstGeom prst="rect">
            <a:avLst/>
          </a:prstGeom>
          <a:noFill/>
        </p:spPr>
        <p:txBody>
          <a:bodyPr wrap="square">
            <a:spAutoFit/>
          </a:bodyPr>
          <a:lstStyle/>
          <a:p>
            <a:pPr algn="l"/>
            <a:r>
              <a:rPr sz="950" b="0" i="0">
                <a:solidFill>
                  <a:srgbClr val="444444"/>
                </a:solidFill>
              </a:rPr>
              <a:t>Klik menu 'Perencanaan' pada sidebar untuk memperluas submenu.</a:t>
            </a:r>
          </a:p>
        </p:txBody>
      </p:sp>
      <p:sp>
        <p:nvSpPr>
          <p:cNvPr id="35" name="Rectangle 34"/>
          <p:cNvSpPr/>
          <p:nvPr/>
        </p:nvSpPr>
        <p:spPr>
          <a:xfrm>
            <a:off x="4800600" y="3977639"/>
            <a:ext cx="7040880" cy="75895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800600" y="3977639"/>
            <a:ext cx="457200" cy="75895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00600" y="4133087"/>
            <a:ext cx="457200" cy="457200"/>
          </a:xfrm>
          <a:prstGeom prst="rect">
            <a:avLst/>
          </a:prstGeom>
          <a:noFill/>
        </p:spPr>
        <p:txBody>
          <a:bodyPr wrap="square">
            <a:spAutoFit/>
          </a:bodyPr>
          <a:lstStyle/>
          <a:p>
            <a:pPr algn="ctr"/>
            <a:r>
              <a:rPr sz="1800" b="1" i="0">
                <a:solidFill>
                  <a:srgbClr val="FFFFFF"/>
                </a:solidFill>
              </a:rPr>
              <a:t>3</a:t>
            </a:r>
          </a:p>
        </p:txBody>
      </p:sp>
      <p:sp>
        <p:nvSpPr>
          <p:cNvPr id="38" name="TextBox 37"/>
          <p:cNvSpPr txBox="1"/>
          <p:nvPr/>
        </p:nvSpPr>
        <p:spPr>
          <a:xfrm>
            <a:off x="5321808" y="4014215"/>
            <a:ext cx="6446520" cy="256032"/>
          </a:xfrm>
          <a:prstGeom prst="rect">
            <a:avLst/>
          </a:prstGeom>
          <a:noFill/>
        </p:spPr>
        <p:txBody>
          <a:bodyPr wrap="square">
            <a:spAutoFit/>
          </a:bodyPr>
          <a:lstStyle/>
          <a:p>
            <a:pPr algn="l"/>
            <a:r>
              <a:rPr sz="1050" b="1" i="0">
                <a:solidFill>
                  <a:srgbClr val="1A376C"/>
                </a:solidFill>
              </a:rPr>
              <a:t>Pilih 'Rencana Aksi'</a:t>
            </a:r>
          </a:p>
        </p:txBody>
      </p:sp>
      <p:sp>
        <p:nvSpPr>
          <p:cNvPr id="39" name="TextBox 38"/>
          <p:cNvSpPr txBox="1"/>
          <p:nvPr/>
        </p:nvSpPr>
        <p:spPr>
          <a:xfrm>
            <a:off x="5321808" y="4288536"/>
            <a:ext cx="6446520" cy="411480"/>
          </a:xfrm>
          <a:prstGeom prst="rect">
            <a:avLst/>
          </a:prstGeom>
          <a:noFill/>
        </p:spPr>
        <p:txBody>
          <a:bodyPr wrap="square">
            <a:spAutoFit/>
          </a:bodyPr>
          <a:lstStyle/>
          <a:p>
            <a:pPr algn="l"/>
            <a:r>
              <a:rPr sz="950" b="0" i="0">
                <a:solidFill>
                  <a:srgbClr val="444444"/>
                </a:solidFill>
              </a:rPr>
              <a:t>Dari submenu yang muncul, klik 'Rencana Aksi'.</a:t>
            </a:r>
          </a:p>
        </p:txBody>
      </p:sp>
      <p:sp>
        <p:nvSpPr>
          <p:cNvPr id="40" name="Rectangle 39"/>
          <p:cNvSpPr/>
          <p:nvPr/>
        </p:nvSpPr>
        <p:spPr>
          <a:xfrm>
            <a:off x="4800600" y="4800600"/>
            <a:ext cx="7040880" cy="75895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800600" y="4800600"/>
            <a:ext cx="457200" cy="75895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00600" y="4956048"/>
            <a:ext cx="457200" cy="457200"/>
          </a:xfrm>
          <a:prstGeom prst="rect">
            <a:avLst/>
          </a:prstGeom>
          <a:noFill/>
        </p:spPr>
        <p:txBody>
          <a:bodyPr wrap="square">
            <a:spAutoFit/>
          </a:bodyPr>
          <a:lstStyle/>
          <a:p>
            <a:pPr algn="ctr"/>
            <a:r>
              <a:rPr sz="1800" b="1" i="0">
                <a:solidFill>
                  <a:srgbClr val="FFFFFF"/>
                </a:solidFill>
              </a:rPr>
              <a:t>4</a:t>
            </a:r>
          </a:p>
        </p:txBody>
      </p:sp>
      <p:sp>
        <p:nvSpPr>
          <p:cNvPr id="43" name="TextBox 42"/>
          <p:cNvSpPr txBox="1"/>
          <p:nvPr/>
        </p:nvSpPr>
        <p:spPr>
          <a:xfrm>
            <a:off x="5321808" y="4837176"/>
            <a:ext cx="6446520" cy="256032"/>
          </a:xfrm>
          <a:prstGeom prst="rect">
            <a:avLst/>
          </a:prstGeom>
          <a:noFill/>
        </p:spPr>
        <p:txBody>
          <a:bodyPr wrap="square">
            <a:spAutoFit/>
          </a:bodyPr>
          <a:lstStyle/>
          <a:p>
            <a:pPr algn="l"/>
            <a:r>
              <a:rPr sz="1050" b="1" i="0">
                <a:solidFill>
                  <a:srgbClr val="1A376C"/>
                </a:solidFill>
              </a:rPr>
              <a:t>Pilih 'Penyusunan'</a:t>
            </a:r>
          </a:p>
        </p:txBody>
      </p:sp>
      <p:sp>
        <p:nvSpPr>
          <p:cNvPr id="44" name="TextBox 43"/>
          <p:cNvSpPr txBox="1"/>
          <p:nvPr/>
        </p:nvSpPr>
        <p:spPr>
          <a:xfrm>
            <a:off x="5321808" y="5111496"/>
            <a:ext cx="6446520" cy="411480"/>
          </a:xfrm>
          <a:prstGeom prst="rect">
            <a:avLst/>
          </a:prstGeom>
          <a:noFill/>
        </p:spPr>
        <p:txBody>
          <a:bodyPr wrap="square">
            <a:spAutoFit/>
          </a:bodyPr>
          <a:lstStyle/>
          <a:p>
            <a:pPr algn="l"/>
            <a:r>
              <a:rPr sz="950" b="0" i="0">
                <a:solidFill>
                  <a:srgbClr val="444444"/>
                </a:solidFill>
              </a:rPr>
              <a:t>Klik submenu 'Penyusunan' untuk masuk ke halaman daftar IKU tim Anda.</a:t>
            </a:r>
          </a:p>
        </p:txBody>
      </p:sp>
      <p:sp>
        <p:nvSpPr>
          <p:cNvPr id="45" name="Rectangle 44"/>
          <p:cNvSpPr/>
          <p:nvPr/>
        </p:nvSpPr>
        <p:spPr>
          <a:xfrm>
            <a:off x="4800600" y="5623560"/>
            <a:ext cx="7040880" cy="75895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800600" y="5623560"/>
            <a:ext cx="457200" cy="75895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800600" y="5779008"/>
            <a:ext cx="457200" cy="457200"/>
          </a:xfrm>
          <a:prstGeom prst="rect">
            <a:avLst/>
          </a:prstGeom>
          <a:noFill/>
        </p:spPr>
        <p:txBody>
          <a:bodyPr wrap="square">
            <a:spAutoFit/>
          </a:bodyPr>
          <a:lstStyle/>
          <a:p>
            <a:pPr algn="ctr"/>
            <a:r>
              <a:rPr sz="1800" b="1" i="0">
                <a:solidFill>
                  <a:srgbClr val="FFFFFF"/>
                </a:solidFill>
              </a:rPr>
              <a:t>5</a:t>
            </a:r>
          </a:p>
        </p:txBody>
      </p:sp>
      <p:sp>
        <p:nvSpPr>
          <p:cNvPr id="48" name="TextBox 47"/>
          <p:cNvSpPr txBox="1"/>
          <p:nvPr/>
        </p:nvSpPr>
        <p:spPr>
          <a:xfrm>
            <a:off x="5321808" y="5660136"/>
            <a:ext cx="6446520" cy="256032"/>
          </a:xfrm>
          <a:prstGeom prst="rect">
            <a:avLst/>
          </a:prstGeom>
          <a:noFill/>
        </p:spPr>
        <p:txBody>
          <a:bodyPr wrap="square">
            <a:spAutoFit/>
          </a:bodyPr>
          <a:lstStyle/>
          <a:p>
            <a:pPr algn="l"/>
            <a:r>
              <a:rPr sz="1050" b="1" i="0">
                <a:solidFill>
                  <a:srgbClr val="1A376C"/>
                </a:solidFill>
              </a:rPr>
              <a:t>Verifikasi Halaman</a:t>
            </a:r>
          </a:p>
        </p:txBody>
      </p:sp>
      <p:sp>
        <p:nvSpPr>
          <p:cNvPr id="49" name="TextBox 48"/>
          <p:cNvSpPr txBox="1"/>
          <p:nvPr/>
        </p:nvSpPr>
        <p:spPr>
          <a:xfrm>
            <a:off x="5321808" y="5934456"/>
            <a:ext cx="6446520" cy="411480"/>
          </a:xfrm>
          <a:prstGeom prst="rect">
            <a:avLst/>
          </a:prstGeom>
          <a:noFill/>
        </p:spPr>
        <p:txBody>
          <a:bodyPr wrap="square">
            <a:spAutoFit/>
          </a:bodyPr>
          <a:lstStyle/>
          <a:p>
            <a:pPr algn="l"/>
            <a:r>
              <a:rPr sz="950" b="0" i="0">
                <a:solidFill>
                  <a:srgbClr val="444444"/>
                </a:solidFill>
              </a:rPr>
              <a:t>Pastikan judul halaman menampilkan nama Tim Kerja Anda dan daftar IKU tampil dengan benar.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09728"/>
            <a:ext cx="11430000" cy="594360"/>
          </a:xfrm>
          <a:prstGeom prst="rect">
            <a:avLst/>
          </a:prstGeom>
          <a:noFill/>
        </p:spPr>
        <p:txBody>
          <a:bodyPr wrap="square">
            <a:spAutoFit/>
          </a:bodyPr>
          <a:lstStyle/>
          <a:p>
            <a:pPr algn="l"/>
            <a:r>
              <a:rPr sz="2600" b="1" i="0">
                <a:solidFill>
                  <a:srgbClr val="FFFFFF"/>
                </a:solidFill>
              </a:rPr>
              <a:t>06  |  Mengisi Target Triwulan (TW I–IV)</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300" b="0" i="0">
                <a:solidFill>
                  <a:srgbClr val="C8D8F0"/>
                </a:solidFill>
              </a:rPr>
              <a:t>Klik ikon pensil pada setiap IKU untuk membuka form isian</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Petunjuk Teknis Ketua Tim Kerja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7 / 11</a:t>
            </a:r>
          </a:p>
        </p:txBody>
      </p:sp>
      <p:sp>
        <p:nvSpPr>
          <p:cNvPr id="10" name="Rectangle 9"/>
          <p:cNvSpPr/>
          <p:nvPr/>
        </p:nvSpPr>
        <p:spPr>
          <a:xfrm>
            <a:off x="365760" y="1234440"/>
            <a:ext cx="4846320" cy="5257800"/>
          </a:xfrm>
          <a:prstGeom prst="rect">
            <a:avLst/>
          </a:prstGeom>
          <a:solidFill>
            <a:srgbClr val="E8EEF8"/>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34440"/>
            <a:ext cx="484632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252728"/>
            <a:ext cx="4572000" cy="320040"/>
          </a:xfrm>
          <a:prstGeom prst="rect">
            <a:avLst/>
          </a:prstGeom>
          <a:noFill/>
        </p:spPr>
        <p:txBody>
          <a:bodyPr wrap="square">
            <a:spAutoFit/>
          </a:bodyPr>
          <a:lstStyle/>
          <a:p>
            <a:pPr algn="l"/>
            <a:r>
              <a:rPr sz="1000" b="1" i="0">
                <a:solidFill>
                  <a:srgbClr val="FFFFFF"/>
                </a:solidFill>
              </a:rPr>
              <a:t>Tampilan Form Isian Target</a:t>
            </a:r>
          </a:p>
        </p:txBody>
      </p:sp>
      <p:sp>
        <p:nvSpPr>
          <p:cNvPr id="13" name="TextBox 12"/>
          <p:cNvSpPr txBox="1"/>
          <p:nvPr/>
        </p:nvSpPr>
        <p:spPr>
          <a:xfrm>
            <a:off x="594360" y="1920240"/>
            <a:ext cx="4389120" cy="4297680"/>
          </a:xfrm>
          <a:prstGeom prst="rect">
            <a:avLst/>
          </a:prstGeom>
          <a:noFill/>
        </p:spPr>
        <p:txBody>
          <a:bodyPr wrap="square">
            <a:spAutoFit/>
          </a:bodyPr>
          <a:lstStyle/>
          <a:p>
            <a:pPr algn="ctr"/>
            <a:r>
              <a:rPr sz="1000" b="0" i="1">
                <a:solidFill>
                  <a:srgbClr val="2E75B6"/>
                </a:solidFill>
              </a:rPr>
              <a:t>[ SCREENSHOT FORM EDIT TARGET ]
Tambahkan screenshot tampilan
form isian target triwulan
Tunjukkan:
• Daftar IKU
• Tombol ikon pensil (edit)
• Kolom TW I, TW II, TW III, TW IV
• Tombol Simpan</a:t>
            </a:r>
          </a:p>
        </p:txBody>
      </p:sp>
      <p:sp>
        <p:nvSpPr>
          <p:cNvPr id="14" name="TextBox 13"/>
          <p:cNvSpPr txBox="1"/>
          <p:nvPr/>
        </p:nvSpPr>
        <p:spPr>
          <a:xfrm>
            <a:off x="5532120" y="1234440"/>
            <a:ext cx="6400800" cy="347472"/>
          </a:xfrm>
          <a:prstGeom prst="rect">
            <a:avLst/>
          </a:prstGeom>
          <a:noFill/>
        </p:spPr>
        <p:txBody>
          <a:bodyPr wrap="square">
            <a:spAutoFit/>
          </a:bodyPr>
          <a:lstStyle/>
          <a:p>
            <a:pPr algn="l"/>
            <a:r>
              <a:rPr sz="1300" b="1" i="0">
                <a:solidFill>
                  <a:srgbClr val="1A376C"/>
                </a:solidFill>
              </a:rPr>
              <a:t>Cara Mengisi Target Triwulan</a:t>
            </a:r>
          </a:p>
        </p:txBody>
      </p:sp>
      <p:sp>
        <p:nvSpPr>
          <p:cNvPr id="15" name="Rectangle 14"/>
          <p:cNvSpPr/>
          <p:nvPr/>
        </p:nvSpPr>
        <p:spPr>
          <a:xfrm>
            <a:off x="5532120" y="1234440"/>
            <a:ext cx="54864"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532120" y="1737360"/>
            <a:ext cx="6400800" cy="822960"/>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32120" y="1737360"/>
            <a:ext cx="457200" cy="82296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32120" y="1892807"/>
            <a:ext cx="457200" cy="502920"/>
          </a:xfrm>
          <a:prstGeom prst="rect">
            <a:avLst/>
          </a:prstGeom>
          <a:noFill/>
        </p:spPr>
        <p:txBody>
          <a:bodyPr wrap="square">
            <a:spAutoFit/>
          </a:bodyPr>
          <a:lstStyle/>
          <a:p>
            <a:pPr algn="ctr"/>
            <a:r>
              <a:rPr sz="1800" b="1" i="0">
                <a:solidFill>
                  <a:srgbClr val="FFFFFF"/>
                </a:solidFill>
              </a:rPr>
              <a:t>1</a:t>
            </a:r>
          </a:p>
        </p:txBody>
      </p:sp>
      <p:sp>
        <p:nvSpPr>
          <p:cNvPr id="19" name="TextBox 18"/>
          <p:cNvSpPr txBox="1"/>
          <p:nvPr/>
        </p:nvSpPr>
        <p:spPr>
          <a:xfrm>
            <a:off x="6062472" y="1773936"/>
            <a:ext cx="5806440" cy="256032"/>
          </a:xfrm>
          <a:prstGeom prst="rect">
            <a:avLst/>
          </a:prstGeom>
          <a:noFill/>
        </p:spPr>
        <p:txBody>
          <a:bodyPr wrap="square">
            <a:spAutoFit/>
          </a:bodyPr>
          <a:lstStyle/>
          <a:p>
            <a:pPr algn="l"/>
            <a:r>
              <a:rPr sz="1050" b="1" i="0">
                <a:solidFill>
                  <a:srgbClr val="1A376C"/>
                </a:solidFill>
              </a:rPr>
              <a:t>Temukan IKU di Daftar</a:t>
            </a:r>
          </a:p>
        </p:txBody>
      </p:sp>
      <p:sp>
        <p:nvSpPr>
          <p:cNvPr id="20" name="TextBox 19"/>
          <p:cNvSpPr txBox="1"/>
          <p:nvPr/>
        </p:nvSpPr>
        <p:spPr>
          <a:xfrm>
            <a:off x="6062472" y="2048255"/>
            <a:ext cx="5806440" cy="475488"/>
          </a:xfrm>
          <a:prstGeom prst="rect">
            <a:avLst/>
          </a:prstGeom>
          <a:noFill/>
        </p:spPr>
        <p:txBody>
          <a:bodyPr wrap="square">
            <a:spAutoFit/>
          </a:bodyPr>
          <a:lstStyle/>
          <a:p>
            <a:pPr algn="l"/>
            <a:r>
              <a:rPr sz="950" b="0" i="0">
                <a:solidFill>
                  <a:srgbClr val="444444"/>
                </a:solidFill>
              </a:rPr>
              <a:t>Pada halaman Penyusunan, Anda akan melihat daftar IKU mandiri dan kolaborasi yang menjadi tanggung jawab tim Anda.</a:t>
            </a:r>
          </a:p>
        </p:txBody>
      </p:sp>
      <p:sp>
        <p:nvSpPr>
          <p:cNvPr id="21" name="Rectangle 20"/>
          <p:cNvSpPr/>
          <p:nvPr/>
        </p:nvSpPr>
        <p:spPr>
          <a:xfrm>
            <a:off x="5532120" y="2624328"/>
            <a:ext cx="6400800" cy="822960"/>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32120" y="2624328"/>
            <a:ext cx="457200" cy="82296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32120" y="2779776"/>
            <a:ext cx="457200" cy="502920"/>
          </a:xfrm>
          <a:prstGeom prst="rect">
            <a:avLst/>
          </a:prstGeom>
          <a:noFill/>
        </p:spPr>
        <p:txBody>
          <a:bodyPr wrap="square">
            <a:spAutoFit/>
          </a:bodyPr>
          <a:lstStyle/>
          <a:p>
            <a:pPr algn="ctr"/>
            <a:r>
              <a:rPr sz="1800" b="1" i="0">
                <a:solidFill>
                  <a:srgbClr val="FFFFFF"/>
                </a:solidFill>
              </a:rPr>
              <a:t>2</a:t>
            </a:r>
          </a:p>
        </p:txBody>
      </p:sp>
      <p:sp>
        <p:nvSpPr>
          <p:cNvPr id="24" name="TextBox 23"/>
          <p:cNvSpPr txBox="1"/>
          <p:nvPr/>
        </p:nvSpPr>
        <p:spPr>
          <a:xfrm>
            <a:off x="6062472" y="2660904"/>
            <a:ext cx="5806440" cy="256032"/>
          </a:xfrm>
          <a:prstGeom prst="rect">
            <a:avLst/>
          </a:prstGeom>
          <a:noFill/>
        </p:spPr>
        <p:txBody>
          <a:bodyPr wrap="square">
            <a:spAutoFit/>
          </a:bodyPr>
          <a:lstStyle/>
          <a:p>
            <a:pPr algn="l"/>
            <a:r>
              <a:rPr sz="1050" b="1" i="0">
                <a:solidFill>
                  <a:srgbClr val="1A376C"/>
                </a:solidFill>
              </a:rPr>
              <a:t>Klik Ikon Pensil (✏)</a:t>
            </a:r>
          </a:p>
        </p:txBody>
      </p:sp>
      <p:sp>
        <p:nvSpPr>
          <p:cNvPr id="25" name="TextBox 24"/>
          <p:cNvSpPr txBox="1"/>
          <p:nvPr/>
        </p:nvSpPr>
        <p:spPr>
          <a:xfrm>
            <a:off x="6062472" y="2935224"/>
            <a:ext cx="5806440" cy="475488"/>
          </a:xfrm>
          <a:prstGeom prst="rect">
            <a:avLst/>
          </a:prstGeom>
          <a:noFill/>
        </p:spPr>
        <p:txBody>
          <a:bodyPr wrap="square">
            <a:spAutoFit/>
          </a:bodyPr>
          <a:lstStyle/>
          <a:p>
            <a:pPr algn="l"/>
            <a:r>
              <a:rPr sz="950" b="0" i="0">
                <a:solidFill>
                  <a:srgbClr val="444444"/>
                </a:solidFill>
              </a:rPr>
              <a:t>Klik ikon pensil (edit) pada baris IKU yang ingin diisi. Sebuah form isian akan terbuka.</a:t>
            </a:r>
          </a:p>
        </p:txBody>
      </p:sp>
      <p:sp>
        <p:nvSpPr>
          <p:cNvPr id="26" name="Rectangle 25"/>
          <p:cNvSpPr/>
          <p:nvPr/>
        </p:nvSpPr>
        <p:spPr>
          <a:xfrm>
            <a:off x="5532120" y="3511296"/>
            <a:ext cx="6400800" cy="822960"/>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32120" y="3511296"/>
            <a:ext cx="457200" cy="82296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532120" y="3666744"/>
            <a:ext cx="457200" cy="502920"/>
          </a:xfrm>
          <a:prstGeom prst="rect">
            <a:avLst/>
          </a:prstGeom>
          <a:noFill/>
        </p:spPr>
        <p:txBody>
          <a:bodyPr wrap="square">
            <a:spAutoFit/>
          </a:bodyPr>
          <a:lstStyle/>
          <a:p>
            <a:pPr algn="ctr"/>
            <a:r>
              <a:rPr sz="1800" b="1" i="0">
                <a:solidFill>
                  <a:srgbClr val="FFFFFF"/>
                </a:solidFill>
              </a:rPr>
              <a:t>3</a:t>
            </a:r>
          </a:p>
        </p:txBody>
      </p:sp>
      <p:sp>
        <p:nvSpPr>
          <p:cNvPr id="29" name="TextBox 28"/>
          <p:cNvSpPr txBox="1"/>
          <p:nvPr/>
        </p:nvSpPr>
        <p:spPr>
          <a:xfrm>
            <a:off x="6062472" y="3547872"/>
            <a:ext cx="5806440" cy="256032"/>
          </a:xfrm>
          <a:prstGeom prst="rect">
            <a:avLst/>
          </a:prstGeom>
          <a:noFill/>
        </p:spPr>
        <p:txBody>
          <a:bodyPr wrap="square">
            <a:spAutoFit/>
          </a:bodyPr>
          <a:lstStyle/>
          <a:p>
            <a:pPr algn="l"/>
            <a:r>
              <a:rPr sz="1050" b="1" i="0">
                <a:solidFill>
                  <a:srgbClr val="1A376C"/>
                </a:solidFill>
              </a:rPr>
              <a:t>Isi Target TW I–IV</a:t>
            </a:r>
          </a:p>
        </p:txBody>
      </p:sp>
      <p:sp>
        <p:nvSpPr>
          <p:cNvPr id="30" name="TextBox 29"/>
          <p:cNvSpPr txBox="1"/>
          <p:nvPr/>
        </p:nvSpPr>
        <p:spPr>
          <a:xfrm>
            <a:off x="6062472" y="3822191"/>
            <a:ext cx="5806440" cy="475488"/>
          </a:xfrm>
          <a:prstGeom prst="rect">
            <a:avLst/>
          </a:prstGeom>
          <a:noFill/>
        </p:spPr>
        <p:txBody>
          <a:bodyPr wrap="square">
            <a:spAutoFit/>
          </a:bodyPr>
          <a:lstStyle/>
          <a:p>
            <a:pPr algn="l"/>
            <a:r>
              <a:rPr sz="950" b="0" i="0">
                <a:solidFill>
                  <a:srgbClr val="444444"/>
                </a:solidFill>
              </a:rPr>
              <a:t>Isi nilai target untuk masing-masing triwulan:
• TW I : Target akhir Maret
• TW II: Target akhir Juni
• TW III: Target akhir September
• TW IV: Target akhir Desember</a:t>
            </a:r>
          </a:p>
        </p:txBody>
      </p:sp>
      <p:sp>
        <p:nvSpPr>
          <p:cNvPr id="31" name="Rectangle 30"/>
          <p:cNvSpPr/>
          <p:nvPr/>
        </p:nvSpPr>
        <p:spPr>
          <a:xfrm>
            <a:off x="5532120" y="4398264"/>
            <a:ext cx="6400800" cy="822960"/>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32120" y="4398264"/>
            <a:ext cx="457200" cy="82296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32120" y="4553712"/>
            <a:ext cx="457200" cy="502920"/>
          </a:xfrm>
          <a:prstGeom prst="rect">
            <a:avLst/>
          </a:prstGeom>
          <a:noFill/>
        </p:spPr>
        <p:txBody>
          <a:bodyPr wrap="square">
            <a:spAutoFit/>
          </a:bodyPr>
          <a:lstStyle/>
          <a:p>
            <a:pPr algn="ctr"/>
            <a:r>
              <a:rPr sz="1800" b="1" i="0">
                <a:solidFill>
                  <a:srgbClr val="FFFFFF"/>
                </a:solidFill>
              </a:rPr>
              <a:t>4</a:t>
            </a:r>
          </a:p>
        </p:txBody>
      </p:sp>
      <p:sp>
        <p:nvSpPr>
          <p:cNvPr id="34" name="TextBox 33"/>
          <p:cNvSpPr txBox="1"/>
          <p:nvPr/>
        </p:nvSpPr>
        <p:spPr>
          <a:xfrm>
            <a:off x="6062472" y="4434840"/>
            <a:ext cx="5806440" cy="256032"/>
          </a:xfrm>
          <a:prstGeom prst="rect">
            <a:avLst/>
          </a:prstGeom>
          <a:noFill/>
        </p:spPr>
        <p:txBody>
          <a:bodyPr wrap="square">
            <a:spAutoFit/>
          </a:bodyPr>
          <a:lstStyle/>
          <a:p>
            <a:pPr algn="l"/>
            <a:r>
              <a:rPr sz="1050" b="1" i="0">
                <a:solidFill>
                  <a:srgbClr val="1A376C"/>
                </a:solidFill>
              </a:rPr>
              <a:t>Klik Simpan</a:t>
            </a:r>
          </a:p>
        </p:txBody>
      </p:sp>
      <p:sp>
        <p:nvSpPr>
          <p:cNvPr id="35" name="TextBox 34"/>
          <p:cNvSpPr txBox="1"/>
          <p:nvPr/>
        </p:nvSpPr>
        <p:spPr>
          <a:xfrm>
            <a:off x="6062472" y="4709160"/>
            <a:ext cx="5806440" cy="475488"/>
          </a:xfrm>
          <a:prstGeom prst="rect">
            <a:avLst/>
          </a:prstGeom>
          <a:noFill/>
        </p:spPr>
        <p:txBody>
          <a:bodyPr wrap="square">
            <a:spAutoFit/>
          </a:bodyPr>
          <a:lstStyle/>
          <a:p>
            <a:pPr algn="l"/>
            <a:r>
              <a:rPr sz="950" b="0" i="0">
                <a:solidFill>
                  <a:srgbClr val="444444"/>
                </a:solidFill>
              </a:rPr>
              <a:t>Klik tombol "Simpan" untuk menyimpan data. Status IKU akan berubah menandai telah diisi.</a:t>
            </a:r>
          </a:p>
        </p:txBody>
      </p:sp>
      <p:sp>
        <p:nvSpPr>
          <p:cNvPr id="36" name="Rectangle 35"/>
          <p:cNvSpPr/>
          <p:nvPr/>
        </p:nvSpPr>
        <p:spPr>
          <a:xfrm>
            <a:off x="5532120" y="5285231"/>
            <a:ext cx="6400800" cy="822960"/>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532120" y="5285231"/>
            <a:ext cx="457200" cy="82296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532120" y="5440679"/>
            <a:ext cx="457200" cy="502920"/>
          </a:xfrm>
          <a:prstGeom prst="rect">
            <a:avLst/>
          </a:prstGeom>
          <a:noFill/>
        </p:spPr>
        <p:txBody>
          <a:bodyPr wrap="square">
            <a:spAutoFit/>
          </a:bodyPr>
          <a:lstStyle/>
          <a:p>
            <a:pPr algn="ctr"/>
            <a:r>
              <a:rPr sz="1800" b="1" i="0">
                <a:solidFill>
                  <a:srgbClr val="FFFFFF"/>
                </a:solidFill>
              </a:rPr>
              <a:t>5</a:t>
            </a:r>
          </a:p>
        </p:txBody>
      </p:sp>
      <p:sp>
        <p:nvSpPr>
          <p:cNvPr id="39" name="TextBox 38"/>
          <p:cNvSpPr txBox="1"/>
          <p:nvPr/>
        </p:nvSpPr>
        <p:spPr>
          <a:xfrm>
            <a:off x="6062472" y="5321807"/>
            <a:ext cx="5806440" cy="256032"/>
          </a:xfrm>
          <a:prstGeom prst="rect">
            <a:avLst/>
          </a:prstGeom>
          <a:noFill/>
        </p:spPr>
        <p:txBody>
          <a:bodyPr wrap="square">
            <a:spAutoFit/>
          </a:bodyPr>
          <a:lstStyle/>
          <a:p>
            <a:pPr algn="l"/>
            <a:r>
              <a:rPr sz="1050" b="1" i="0">
                <a:solidFill>
                  <a:srgbClr val="1A376C"/>
                </a:solidFill>
              </a:rPr>
              <a:t>Ulangi untuk Semua IKU</a:t>
            </a:r>
          </a:p>
        </p:txBody>
      </p:sp>
      <p:sp>
        <p:nvSpPr>
          <p:cNvPr id="40" name="TextBox 39"/>
          <p:cNvSpPr txBox="1"/>
          <p:nvPr/>
        </p:nvSpPr>
        <p:spPr>
          <a:xfrm>
            <a:off x="6062472" y="5596127"/>
            <a:ext cx="5806440" cy="475488"/>
          </a:xfrm>
          <a:prstGeom prst="rect">
            <a:avLst/>
          </a:prstGeom>
          <a:noFill/>
        </p:spPr>
        <p:txBody>
          <a:bodyPr wrap="square">
            <a:spAutoFit/>
          </a:bodyPr>
          <a:lstStyle/>
          <a:p>
            <a:pPr algn="l"/>
            <a:r>
              <a:rPr sz="950" b="0" i="0">
                <a:solidFill>
                  <a:srgbClr val="444444"/>
                </a:solidFill>
              </a:rPr>
              <a:t>Lakukan langkah 2–4 untuk setiap IKU yang tampil di daftar.</a:t>
            </a:r>
          </a:p>
        </p:txBody>
      </p:sp>
      <p:sp>
        <p:nvSpPr>
          <p:cNvPr id="41" name="Rectangle 40"/>
          <p:cNvSpPr/>
          <p:nvPr/>
        </p:nvSpPr>
        <p:spPr>
          <a:xfrm>
            <a:off x="5532120" y="6172200"/>
            <a:ext cx="6400800" cy="548640"/>
          </a:xfrm>
          <a:prstGeom prst="rect">
            <a:avLst/>
          </a:prstGeom>
          <a:solidFill>
            <a:srgbClr val="E8F5E9"/>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69280" y="6190488"/>
            <a:ext cx="6126480" cy="512064"/>
          </a:xfrm>
          <a:prstGeom prst="rect">
            <a:avLst/>
          </a:prstGeom>
          <a:noFill/>
        </p:spPr>
        <p:txBody>
          <a:bodyPr wrap="square">
            <a:spAutoFit/>
          </a:bodyPr>
          <a:lstStyle/>
          <a:p>
            <a:pPr algn="l"/>
            <a:r>
              <a:rPr sz="900" b="0" i="0">
                <a:solidFill>
                  <a:srgbClr val="1A6B30"/>
                </a:solidFill>
              </a:rPr>
              <a:t>✓  Tips: Target triwulan bersifat kumulatif. Pastikan nilai TW IV sesuai dengan target tahunan yang telah ditetapkan dalam dokumen PK Awal.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09728"/>
            <a:ext cx="11430000" cy="594360"/>
          </a:xfrm>
          <a:prstGeom prst="rect">
            <a:avLst/>
          </a:prstGeom>
          <a:noFill/>
        </p:spPr>
        <p:txBody>
          <a:bodyPr wrap="square">
            <a:spAutoFit/>
          </a:bodyPr>
          <a:lstStyle/>
          <a:p>
            <a:pPr algn="l"/>
            <a:r>
              <a:rPr sz="2600" b="1" i="0">
                <a:solidFill>
                  <a:srgbClr val="FFFFFF"/>
                </a:solidFill>
              </a:rPr>
              <a:t>07  |  Menambahkan Rencana Kegiatan</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300" b="0" i="0">
                <a:solidFill>
                  <a:srgbClr val="C8D8F0"/>
                </a:solidFill>
              </a:rPr>
              <a:t>Klik ikon list pada setiap IKU untuk mengelola kegiatan</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Petunjuk Teknis Ketua Tim Kerja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8 / 11</a:t>
            </a:r>
          </a:p>
        </p:txBody>
      </p:sp>
      <p:sp>
        <p:nvSpPr>
          <p:cNvPr id="10" name="Rectangle 9"/>
          <p:cNvSpPr/>
          <p:nvPr/>
        </p:nvSpPr>
        <p:spPr>
          <a:xfrm>
            <a:off x="365760" y="1234440"/>
            <a:ext cx="4846320" cy="5257800"/>
          </a:xfrm>
          <a:prstGeom prst="rect">
            <a:avLst/>
          </a:prstGeom>
          <a:solidFill>
            <a:srgbClr val="E8EEF8"/>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34440"/>
            <a:ext cx="484632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252728"/>
            <a:ext cx="4572000" cy="320040"/>
          </a:xfrm>
          <a:prstGeom prst="rect">
            <a:avLst/>
          </a:prstGeom>
          <a:noFill/>
        </p:spPr>
        <p:txBody>
          <a:bodyPr wrap="square">
            <a:spAutoFit/>
          </a:bodyPr>
          <a:lstStyle/>
          <a:p>
            <a:pPr algn="l"/>
            <a:r>
              <a:rPr sz="1000" b="1" i="0">
                <a:solidFill>
                  <a:srgbClr val="FFFFFF"/>
                </a:solidFill>
              </a:rPr>
              <a:t>Tampilan Form Rencana Kegiatan</a:t>
            </a:r>
          </a:p>
        </p:txBody>
      </p:sp>
      <p:sp>
        <p:nvSpPr>
          <p:cNvPr id="13" name="TextBox 12"/>
          <p:cNvSpPr txBox="1"/>
          <p:nvPr/>
        </p:nvSpPr>
        <p:spPr>
          <a:xfrm>
            <a:off x="594360" y="1920240"/>
            <a:ext cx="4389120" cy="4297680"/>
          </a:xfrm>
          <a:prstGeom prst="rect">
            <a:avLst/>
          </a:prstGeom>
          <a:noFill/>
        </p:spPr>
        <p:txBody>
          <a:bodyPr wrap="square">
            <a:spAutoFit/>
          </a:bodyPr>
          <a:lstStyle/>
          <a:p>
            <a:pPr algn="ctr"/>
            <a:r>
              <a:rPr sz="1000" b="0" i="1">
                <a:solidFill>
                  <a:srgbClr val="2E75B6"/>
                </a:solidFill>
              </a:rPr>
              <a:t>[ SCREENSHOT FORM KEGIATAN ]
Tambahkan screenshot tampilan
form pengelolaan rencana
kegiatan
Tunjukkan:
• Tombol ikon list (kegiatan)
• Form tambah kegiatan
• Kolom nama kegiatan
• Pilihan triwulan</a:t>
            </a:r>
          </a:p>
        </p:txBody>
      </p:sp>
      <p:sp>
        <p:nvSpPr>
          <p:cNvPr id="14" name="TextBox 13"/>
          <p:cNvSpPr txBox="1"/>
          <p:nvPr/>
        </p:nvSpPr>
        <p:spPr>
          <a:xfrm>
            <a:off x="5532120" y="1234440"/>
            <a:ext cx="6400800" cy="347472"/>
          </a:xfrm>
          <a:prstGeom prst="rect">
            <a:avLst/>
          </a:prstGeom>
          <a:noFill/>
        </p:spPr>
        <p:txBody>
          <a:bodyPr wrap="square">
            <a:spAutoFit/>
          </a:bodyPr>
          <a:lstStyle/>
          <a:p>
            <a:pPr algn="l"/>
            <a:r>
              <a:rPr sz="1300" b="1" i="0">
                <a:solidFill>
                  <a:srgbClr val="1A376C"/>
                </a:solidFill>
              </a:rPr>
              <a:t>Cara Menambahkan Rencana Kegiatan</a:t>
            </a:r>
          </a:p>
        </p:txBody>
      </p:sp>
      <p:sp>
        <p:nvSpPr>
          <p:cNvPr id="15" name="Rectangle 14"/>
          <p:cNvSpPr/>
          <p:nvPr/>
        </p:nvSpPr>
        <p:spPr>
          <a:xfrm>
            <a:off x="5532120" y="1234440"/>
            <a:ext cx="54864"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532120" y="1737360"/>
            <a:ext cx="640080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32120" y="1737360"/>
            <a:ext cx="411480" cy="694944"/>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32120" y="1865376"/>
            <a:ext cx="411480" cy="438912"/>
          </a:xfrm>
          <a:prstGeom prst="rect">
            <a:avLst/>
          </a:prstGeom>
          <a:noFill/>
        </p:spPr>
        <p:txBody>
          <a:bodyPr wrap="square">
            <a:spAutoFit/>
          </a:bodyPr>
          <a:lstStyle/>
          <a:p>
            <a:pPr algn="ctr"/>
            <a:r>
              <a:rPr sz="1600" b="1" i="0">
                <a:solidFill>
                  <a:srgbClr val="FFFFFF"/>
                </a:solidFill>
              </a:rPr>
              <a:t>1</a:t>
            </a:r>
          </a:p>
        </p:txBody>
      </p:sp>
      <p:sp>
        <p:nvSpPr>
          <p:cNvPr id="19" name="TextBox 18"/>
          <p:cNvSpPr txBox="1"/>
          <p:nvPr/>
        </p:nvSpPr>
        <p:spPr>
          <a:xfrm>
            <a:off x="6007608" y="1764792"/>
            <a:ext cx="5852160" cy="256032"/>
          </a:xfrm>
          <a:prstGeom prst="rect">
            <a:avLst/>
          </a:prstGeom>
          <a:noFill/>
        </p:spPr>
        <p:txBody>
          <a:bodyPr wrap="square">
            <a:spAutoFit/>
          </a:bodyPr>
          <a:lstStyle/>
          <a:p>
            <a:pPr algn="l"/>
            <a:r>
              <a:rPr sz="1050" b="1" i="0">
                <a:solidFill>
                  <a:srgbClr val="1A376C"/>
                </a:solidFill>
              </a:rPr>
              <a:t>Klik Ikon Kegiatan (☰)</a:t>
            </a:r>
          </a:p>
        </p:txBody>
      </p:sp>
      <p:sp>
        <p:nvSpPr>
          <p:cNvPr id="20" name="TextBox 19"/>
          <p:cNvSpPr txBox="1"/>
          <p:nvPr/>
        </p:nvSpPr>
        <p:spPr>
          <a:xfrm>
            <a:off x="6007608" y="2029967"/>
            <a:ext cx="5852160" cy="384048"/>
          </a:xfrm>
          <a:prstGeom prst="rect">
            <a:avLst/>
          </a:prstGeom>
          <a:noFill/>
        </p:spPr>
        <p:txBody>
          <a:bodyPr wrap="square">
            <a:spAutoFit/>
          </a:bodyPr>
          <a:lstStyle/>
          <a:p>
            <a:pPr algn="l"/>
            <a:r>
              <a:rPr sz="950" b="0" i="0">
                <a:solidFill>
                  <a:srgbClr val="444444"/>
                </a:solidFill>
              </a:rPr>
              <a:t>Pada baris IKU, klik ikon list/kegiatan untuk membuka panel rencana kegiatan IKU tersebut.</a:t>
            </a:r>
          </a:p>
        </p:txBody>
      </p:sp>
      <p:sp>
        <p:nvSpPr>
          <p:cNvPr id="21" name="Rectangle 20"/>
          <p:cNvSpPr/>
          <p:nvPr/>
        </p:nvSpPr>
        <p:spPr>
          <a:xfrm>
            <a:off x="5532120" y="2487168"/>
            <a:ext cx="640080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32120" y="2487168"/>
            <a:ext cx="411480" cy="694944"/>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32120" y="2615184"/>
            <a:ext cx="411480" cy="438912"/>
          </a:xfrm>
          <a:prstGeom prst="rect">
            <a:avLst/>
          </a:prstGeom>
          <a:noFill/>
        </p:spPr>
        <p:txBody>
          <a:bodyPr wrap="square">
            <a:spAutoFit/>
          </a:bodyPr>
          <a:lstStyle/>
          <a:p>
            <a:pPr algn="ctr"/>
            <a:r>
              <a:rPr sz="1600" b="1" i="0">
                <a:solidFill>
                  <a:srgbClr val="FFFFFF"/>
                </a:solidFill>
              </a:rPr>
              <a:t>2</a:t>
            </a:r>
          </a:p>
        </p:txBody>
      </p:sp>
      <p:sp>
        <p:nvSpPr>
          <p:cNvPr id="24" name="TextBox 23"/>
          <p:cNvSpPr txBox="1"/>
          <p:nvPr/>
        </p:nvSpPr>
        <p:spPr>
          <a:xfrm>
            <a:off x="6007608" y="2514599"/>
            <a:ext cx="5852160" cy="256032"/>
          </a:xfrm>
          <a:prstGeom prst="rect">
            <a:avLst/>
          </a:prstGeom>
          <a:noFill/>
        </p:spPr>
        <p:txBody>
          <a:bodyPr wrap="square">
            <a:spAutoFit/>
          </a:bodyPr>
          <a:lstStyle/>
          <a:p>
            <a:pPr algn="l"/>
            <a:r>
              <a:rPr sz="1050" b="1" i="0">
                <a:solidFill>
                  <a:srgbClr val="1A376C"/>
                </a:solidFill>
              </a:rPr>
              <a:t>Klik 'Tambah Kegiatan'</a:t>
            </a:r>
          </a:p>
        </p:txBody>
      </p:sp>
      <p:sp>
        <p:nvSpPr>
          <p:cNvPr id="25" name="TextBox 24"/>
          <p:cNvSpPr txBox="1"/>
          <p:nvPr/>
        </p:nvSpPr>
        <p:spPr>
          <a:xfrm>
            <a:off x="6007608" y="2779775"/>
            <a:ext cx="5852160" cy="384048"/>
          </a:xfrm>
          <a:prstGeom prst="rect">
            <a:avLst/>
          </a:prstGeom>
          <a:noFill/>
        </p:spPr>
        <p:txBody>
          <a:bodyPr wrap="square">
            <a:spAutoFit/>
          </a:bodyPr>
          <a:lstStyle/>
          <a:p>
            <a:pPr algn="l"/>
            <a:r>
              <a:rPr sz="950" b="0" i="0">
                <a:solidFill>
                  <a:srgbClr val="444444"/>
                </a:solidFill>
              </a:rPr>
              <a:t>Klik tombol Tambah Kegiatan untuk membuka form isian kegiatan baru.</a:t>
            </a:r>
          </a:p>
        </p:txBody>
      </p:sp>
      <p:sp>
        <p:nvSpPr>
          <p:cNvPr id="26" name="Rectangle 25"/>
          <p:cNvSpPr/>
          <p:nvPr/>
        </p:nvSpPr>
        <p:spPr>
          <a:xfrm>
            <a:off x="5532120" y="3236976"/>
            <a:ext cx="640080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32120" y="3236976"/>
            <a:ext cx="411480" cy="694944"/>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532120" y="3364992"/>
            <a:ext cx="411480" cy="438912"/>
          </a:xfrm>
          <a:prstGeom prst="rect">
            <a:avLst/>
          </a:prstGeom>
          <a:noFill/>
        </p:spPr>
        <p:txBody>
          <a:bodyPr wrap="square">
            <a:spAutoFit/>
          </a:bodyPr>
          <a:lstStyle/>
          <a:p>
            <a:pPr algn="ctr"/>
            <a:r>
              <a:rPr sz="1600" b="1" i="0">
                <a:solidFill>
                  <a:srgbClr val="FFFFFF"/>
                </a:solidFill>
              </a:rPr>
              <a:t>3</a:t>
            </a:r>
          </a:p>
        </p:txBody>
      </p:sp>
      <p:sp>
        <p:nvSpPr>
          <p:cNvPr id="29" name="TextBox 28"/>
          <p:cNvSpPr txBox="1"/>
          <p:nvPr/>
        </p:nvSpPr>
        <p:spPr>
          <a:xfrm>
            <a:off x="6007608" y="3264408"/>
            <a:ext cx="5852160" cy="256032"/>
          </a:xfrm>
          <a:prstGeom prst="rect">
            <a:avLst/>
          </a:prstGeom>
          <a:noFill/>
        </p:spPr>
        <p:txBody>
          <a:bodyPr wrap="square">
            <a:spAutoFit/>
          </a:bodyPr>
          <a:lstStyle/>
          <a:p>
            <a:pPr algn="l"/>
            <a:r>
              <a:rPr sz="1050" b="1" i="0">
                <a:solidFill>
                  <a:srgbClr val="1A376C"/>
                </a:solidFill>
              </a:rPr>
              <a:t>Isi Nama Kegiatan</a:t>
            </a:r>
          </a:p>
        </p:txBody>
      </p:sp>
      <p:sp>
        <p:nvSpPr>
          <p:cNvPr id="30" name="TextBox 29"/>
          <p:cNvSpPr txBox="1"/>
          <p:nvPr/>
        </p:nvSpPr>
        <p:spPr>
          <a:xfrm>
            <a:off x="6007608" y="3529584"/>
            <a:ext cx="5852160" cy="384048"/>
          </a:xfrm>
          <a:prstGeom prst="rect">
            <a:avLst/>
          </a:prstGeom>
          <a:noFill/>
        </p:spPr>
        <p:txBody>
          <a:bodyPr wrap="square">
            <a:spAutoFit/>
          </a:bodyPr>
          <a:lstStyle/>
          <a:p>
            <a:pPr algn="l"/>
            <a:r>
              <a:rPr sz="950" b="0" i="0">
                <a:solidFill>
                  <a:srgbClr val="444444"/>
                </a:solidFill>
              </a:rPr>
              <a:t>Tuliskan nama kegiatan secara jelas dan spesifik (contoh: 'Rapat Koordinasi Penyusunan Anggaran TW I').</a:t>
            </a:r>
          </a:p>
        </p:txBody>
      </p:sp>
      <p:sp>
        <p:nvSpPr>
          <p:cNvPr id="31" name="Rectangle 30"/>
          <p:cNvSpPr/>
          <p:nvPr/>
        </p:nvSpPr>
        <p:spPr>
          <a:xfrm>
            <a:off x="5532120" y="3986783"/>
            <a:ext cx="640080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32120" y="3986783"/>
            <a:ext cx="411480" cy="694944"/>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32120" y="4114799"/>
            <a:ext cx="411480" cy="438912"/>
          </a:xfrm>
          <a:prstGeom prst="rect">
            <a:avLst/>
          </a:prstGeom>
          <a:noFill/>
        </p:spPr>
        <p:txBody>
          <a:bodyPr wrap="square">
            <a:spAutoFit/>
          </a:bodyPr>
          <a:lstStyle/>
          <a:p>
            <a:pPr algn="ctr"/>
            <a:r>
              <a:rPr sz="1600" b="1" i="0">
                <a:solidFill>
                  <a:srgbClr val="FFFFFF"/>
                </a:solidFill>
              </a:rPr>
              <a:t>4</a:t>
            </a:r>
          </a:p>
        </p:txBody>
      </p:sp>
      <p:sp>
        <p:nvSpPr>
          <p:cNvPr id="34" name="TextBox 33"/>
          <p:cNvSpPr txBox="1"/>
          <p:nvPr/>
        </p:nvSpPr>
        <p:spPr>
          <a:xfrm>
            <a:off x="6007608" y="4014215"/>
            <a:ext cx="5852160" cy="256032"/>
          </a:xfrm>
          <a:prstGeom prst="rect">
            <a:avLst/>
          </a:prstGeom>
          <a:noFill/>
        </p:spPr>
        <p:txBody>
          <a:bodyPr wrap="square">
            <a:spAutoFit/>
          </a:bodyPr>
          <a:lstStyle/>
          <a:p>
            <a:pPr algn="l"/>
            <a:r>
              <a:rPr sz="1050" b="1" i="0">
                <a:solidFill>
                  <a:srgbClr val="1A376C"/>
                </a:solidFill>
              </a:rPr>
              <a:t>Pilih Triwulan</a:t>
            </a:r>
          </a:p>
        </p:txBody>
      </p:sp>
      <p:sp>
        <p:nvSpPr>
          <p:cNvPr id="35" name="TextBox 34"/>
          <p:cNvSpPr txBox="1"/>
          <p:nvPr/>
        </p:nvSpPr>
        <p:spPr>
          <a:xfrm>
            <a:off x="6007608" y="4279392"/>
            <a:ext cx="5852160" cy="384048"/>
          </a:xfrm>
          <a:prstGeom prst="rect">
            <a:avLst/>
          </a:prstGeom>
          <a:noFill/>
        </p:spPr>
        <p:txBody>
          <a:bodyPr wrap="square">
            <a:spAutoFit/>
          </a:bodyPr>
          <a:lstStyle/>
          <a:p>
            <a:pPr algn="l"/>
            <a:r>
              <a:rPr sz="950" b="0" i="0">
                <a:solidFill>
                  <a:srgbClr val="444444"/>
                </a:solidFill>
              </a:rPr>
              <a:t>Pilih triwulan pelaksanaan kegiatan (TW I, TW II, TW III, atau TW IV).</a:t>
            </a:r>
          </a:p>
        </p:txBody>
      </p:sp>
      <p:sp>
        <p:nvSpPr>
          <p:cNvPr id="36" name="Rectangle 35"/>
          <p:cNvSpPr/>
          <p:nvPr/>
        </p:nvSpPr>
        <p:spPr>
          <a:xfrm>
            <a:off x="5532120" y="4736592"/>
            <a:ext cx="640080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532120" y="4736592"/>
            <a:ext cx="411480" cy="694944"/>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532120" y="4864607"/>
            <a:ext cx="411480" cy="438912"/>
          </a:xfrm>
          <a:prstGeom prst="rect">
            <a:avLst/>
          </a:prstGeom>
          <a:noFill/>
        </p:spPr>
        <p:txBody>
          <a:bodyPr wrap="square">
            <a:spAutoFit/>
          </a:bodyPr>
          <a:lstStyle/>
          <a:p>
            <a:pPr algn="ctr"/>
            <a:r>
              <a:rPr sz="1600" b="1" i="0">
                <a:solidFill>
                  <a:srgbClr val="FFFFFF"/>
                </a:solidFill>
              </a:rPr>
              <a:t>5</a:t>
            </a:r>
          </a:p>
        </p:txBody>
      </p:sp>
      <p:sp>
        <p:nvSpPr>
          <p:cNvPr id="39" name="TextBox 38"/>
          <p:cNvSpPr txBox="1"/>
          <p:nvPr/>
        </p:nvSpPr>
        <p:spPr>
          <a:xfrm>
            <a:off x="6007608" y="4764024"/>
            <a:ext cx="5852160" cy="256032"/>
          </a:xfrm>
          <a:prstGeom prst="rect">
            <a:avLst/>
          </a:prstGeom>
          <a:noFill/>
        </p:spPr>
        <p:txBody>
          <a:bodyPr wrap="square">
            <a:spAutoFit/>
          </a:bodyPr>
          <a:lstStyle/>
          <a:p>
            <a:pPr algn="l"/>
            <a:r>
              <a:rPr sz="1050" b="1" i="0">
                <a:solidFill>
                  <a:srgbClr val="1A376C"/>
                </a:solidFill>
              </a:rPr>
              <a:t>Simpan Kegiatan</a:t>
            </a:r>
          </a:p>
        </p:txBody>
      </p:sp>
      <p:sp>
        <p:nvSpPr>
          <p:cNvPr id="40" name="TextBox 39"/>
          <p:cNvSpPr txBox="1"/>
          <p:nvPr/>
        </p:nvSpPr>
        <p:spPr>
          <a:xfrm>
            <a:off x="6007608" y="5029200"/>
            <a:ext cx="5852160" cy="384048"/>
          </a:xfrm>
          <a:prstGeom prst="rect">
            <a:avLst/>
          </a:prstGeom>
          <a:noFill/>
        </p:spPr>
        <p:txBody>
          <a:bodyPr wrap="square">
            <a:spAutoFit/>
          </a:bodyPr>
          <a:lstStyle/>
          <a:p>
            <a:pPr algn="l"/>
            <a:r>
              <a:rPr sz="950" b="0" i="0">
                <a:solidFill>
                  <a:srgbClr val="444444"/>
                </a:solidFill>
              </a:rPr>
              <a:t>Klik "Simpan". Kegiatan akan muncul dalam daftar rencana kegiatan IKU tersebut.</a:t>
            </a:r>
          </a:p>
        </p:txBody>
      </p:sp>
      <p:sp>
        <p:nvSpPr>
          <p:cNvPr id="41" name="Rectangle 40"/>
          <p:cNvSpPr/>
          <p:nvPr/>
        </p:nvSpPr>
        <p:spPr>
          <a:xfrm>
            <a:off x="5532120" y="5486400"/>
            <a:ext cx="640080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532120" y="5486400"/>
            <a:ext cx="411480" cy="694944"/>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532120" y="5614416"/>
            <a:ext cx="411480" cy="438912"/>
          </a:xfrm>
          <a:prstGeom prst="rect">
            <a:avLst/>
          </a:prstGeom>
          <a:noFill/>
        </p:spPr>
        <p:txBody>
          <a:bodyPr wrap="square">
            <a:spAutoFit/>
          </a:bodyPr>
          <a:lstStyle/>
          <a:p>
            <a:pPr algn="ctr"/>
            <a:r>
              <a:rPr sz="1600" b="1" i="0">
                <a:solidFill>
                  <a:srgbClr val="FFFFFF"/>
                </a:solidFill>
              </a:rPr>
              <a:t>6</a:t>
            </a:r>
          </a:p>
        </p:txBody>
      </p:sp>
      <p:sp>
        <p:nvSpPr>
          <p:cNvPr id="44" name="TextBox 43"/>
          <p:cNvSpPr txBox="1"/>
          <p:nvPr/>
        </p:nvSpPr>
        <p:spPr>
          <a:xfrm>
            <a:off x="6007608" y="5513832"/>
            <a:ext cx="5852160" cy="256032"/>
          </a:xfrm>
          <a:prstGeom prst="rect">
            <a:avLst/>
          </a:prstGeom>
          <a:noFill/>
        </p:spPr>
        <p:txBody>
          <a:bodyPr wrap="square">
            <a:spAutoFit/>
          </a:bodyPr>
          <a:lstStyle/>
          <a:p>
            <a:pPr algn="l"/>
            <a:r>
              <a:rPr sz="1050" b="1" i="0">
                <a:solidFill>
                  <a:srgbClr val="1A376C"/>
                </a:solidFill>
              </a:rPr>
              <a:t>Ulangi Sesuai Kebutuhan</a:t>
            </a:r>
          </a:p>
        </p:txBody>
      </p:sp>
      <p:sp>
        <p:nvSpPr>
          <p:cNvPr id="45" name="TextBox 44"/>
          <p:cNvSpPr txBox="1"/>
          <p:nvPr/>
        </p:nvSpPr>
        <p:spPr>
          <a:xfrm>
            <a:off x="6007608" y="5779008"/>
            <a:ext cx="5852160" cy="384048"/>
          </a:xfrm>
          <a:prstGeom prst="rect">
            <a:avLst/>
          </a:prstGeom>
          <a:noFill/>
        </p:spPr>
        <p:txBody>
          <a:bodyPr wrap="square">
            <a:spAutoFit/>
          </a:bodyPr>
          <a:lstStyle/>
          <a:p>
            <a:pPr algn="l"/>
            <a:r>
              <a:rPr sz="950" b="0" i="0">
                <a:solidFill>
                  <a:srgbClr val="444444"/>
                </a:solidFill>
              </a:rPr>
              <a:t>Tambahkan semua kegiatan yang direncanakan. Setiap IKU dapat memiliki beberapa kegiatan di tiap triwulan.</a:t>
            </a:r>
          </a:p>
        </p:txBody>
      </p:sp>
      <p:sp>
        <p:nvSpPr>
          <p:cNvPr id="46" name="Rectangle 45"/>
          <p:cNvSpPr/>
          <p:nvPr/>
        </p:nvSpPr>
        <p:spPr>
          <a:xfrm>
            <a:off x="5532120" y="6236208"/>
            <a:ext cx="6400800" cy="548640"/>
          </a:xfrm>
          <a:prstGeom prst="rect">
            <a:avLst/>
          </a:prstGeom>
          <a:solidFill>
            <a:srgbClr val="FFF3CD"/>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669280" y="6254496"/>
            <a:ext cx="6126480" cy="512064"/>
          </a:xfrm>
          <a:prstGeom prst="rect">
            <a:avLst/>
          </a:prstGeom>
          <a:noFill/>
        </p:spPr>
        <p:txBody>
          <a:bodyPr wrap="square">
            <a:spAutoFit/>
          </a:bodyPr>
          <a:lstStyle/>
          <a:p>
            <a:pPr algn="l"/>
            <a:r>
              <a:rPr sz="900" b="0" i="0">
                <a:solidFill>
                  <a:srgbClr val="7D6008"/>
                </a:solidFill>
              </a:rPr>
              <a:t>⚠  Perhatian: Minimal satu kegiatan harus ditambahkan per IKU sebelum dokumen dapat disubmit. Pastikan nama kegiatan deskriptif dan mudah dipahami.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09728"/>
            <a:ext cx="11430000" cy="594360"/>
          </a:xfrm>
          <a:prstGeom prst="rect">
            <a:avLst/>
          </a:prstGeom>
          <a:noFill/>
        </p:spPr>
        <p:txBody>
          <a:bodyPr wrap="square">
            <a:spAutoFit/>
          </a:bodyPr>
          <a:lstStyle/>
          <a:p>
            <a:pPr algn="l"/>
            <a:r>
              <a:rPr sz="2600" b="1" i="0">
                <a:solidFill>
                  <a:srgbClr val="FFFFFF"/>
                </a:solidFill>
              </a:rPr>
              <a:t>08  |  Submit Rencana Aksi ke Kabag Umum</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300" b="0" i="0">
                <a:solidFill>
                  <a:srgbClr val="C8D8F0"/>
                </a:solidFill>
              </a:rPr>
              <a:t>Langkah pengajuan setelah semua IKU terisi lengkap</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Petunjuk Teknis Ketua Tim Kerja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9 / 11</a:t>
            </a:r>
          </a:p>
        </p:txBody>
      </p:sp>
      <p:sp>
        <p:nvSpPr>
          <p:cNvPr id="10" name="Rectangle 9"/>
          <p:cNvSpPr/>
          <p:nvPr/>
        </p:nvSpPr>
        <p:spPr>
          <a:xfrm>
            <a:off x="365760" y="1234440"/>
            <a:ext cx="11430000" cy="13716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1325880"/>
            <a:ext cx="2468880" cy="1188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19" y="1371600"/>
            <a:ext cx="2286000" cy="594360"/>
          </a:xfrm>
          <a:prstGeom prst="rect">
            <a:avLst/>
          </a:prstGeom>
          <a:noFill/>
        </p:spPr>
        <p:txBody>
          <a:bodyPr wrap="square">
            <a:spAutoFit/>
          </a:bodyPr>
          <a:lstStyle/>
          <a:p>
            <a:pPr algn="ctr"/>
            <a:r>
              <a:rPr sz="1000" b="1" i="0">
                <a:solidFill>
                  <a:srgbClr val="FFFFFF"/>
                </a:solidFill>
              </a:rPr>
              <a:t>Pengisian
Data</a:t>
            </a:r>
          </a:p>
        </p:txBody>
      </p:sp>
      <p:sp>
        <p:nvSpPr>
          <p:cNvPr id="13" name="TextBox 12"/>
          <p:cNvSpPr txBox="1"/>
          <p:nvPr/>
        </p:nvSpPr>
        <p:spPr>
          <a:xfrm>
            <a:off x="731519" y="1920240"/>
            <a:ext cx="2286000" cy="548640"/>
          </a:xfrm>
          <a:prstGeom prst="rect">
            <a:avLst/>
          </a:prstGeom>
          <a:noFill/>
        </p:spPr>
        <p:txBody>
          <a:bodyPr wrap="square">
            <a:spAutoFit/>
          </a:bodyPr>
          <a:lstStyle/>
          <a:p>
            <a:pPr algn="ctr"/>
            <a:r>
              <a:rPr sz="850" b="0" i="0">
                <a:solidFill>
                  <a:srgbClr val="CCDDFF"/>
                </a:solidFill>
              </a:rPr>
              <a:t>Ketua Tim
Kerja</a:t>
            </a:r>
          </a:p>
        </p:txBody>
      </p:sp>
      <p:sp>
        <p:nvSpPr>
          <p:cNvPr id="14" name="TextBox 13"/>
          <p:cNvSpPr txBox="1"/>
          <p:nvPr/>
        </p:nvSpPr>
        <p:spPr>
          <a:xfrm>
            <a:off x="3127248" y="1645920"/>
            <a:ext cx="320040" cy="502920"/>
          </a:xfrm>
          <a:prstGeom prst="rect">
            <a:avLst/>
          </a:prstGeom>
          <a:noFill/>
        </p:spPr>
        <p:txBody>
          <a:bodyPr wrap="square">
            <a:spAutoFit/>
          </a:bodyPr>
          <a:lstStyle/>
          <a:p>
            <a:pPr algn="ctr"/>
            <a:r>
              <a:rPr sz="1600" b="0" i="0">
                <a:solidFill>
                  <a:srgbClr val="2E75B6"/>
                </a:solidFill>
              </a:rPr>
              <a:t>▶</a:t>
            </a:r>
          </a:p>
        </p:txBody>
      </p:sp>
      <p:sp>
        <p:nvSpPr>
          <p:cNvPr id="15" name="Rectangle 14"/>
          <p:cNvSpPr/>
          <p:nvPr/>
        </p:nvSpPr>
        <p:spPr>
          <a:xfrm>
            <a:off x="3474720" y="1325880"/>
            <a:ext cx="2468880" cy="118872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66160" y="1371600"/>
            <a:ext cx="2286000" cy="594360"/>
          </a:xfrm>
          <a:prstGeom prst="rect">
            <a:avLst/>
          </a:prstGeom>
          <a:noFill/>
        </p:spPr>
        <p:txBody>
          <a:bodyPr wrap="square">
            <a:spAutoFit/>
          </a:bodyPr>
          <a:lstStyle/>
          <a:p>
            <a:pPr algn="ctr"/>
            <a:r>
              <a:rPr sz="1000" b="1" i="0">
                <a:solidFill>
                  <a:srgbClr val="FFFFFF"/>
                </a:solidFill>
              </a:rPr>
              <a:t>Submit ke
Kabag</a:t>
            </a:r>
          </a:p>
        </p:txBody>
      </p:sp>
      <p:sp>
        <p:nvSpPr>
          <p:cNvPr id="17" name="TextBox 16"/>
          <p:cNvSpPr txBox="1"/>
          <p:nvPr/>
        </p:nvSpPr>
        <p:spPr>
          <a:xfrm>
            <a:off x="3566160" y="1920240"/>
            <a:ext cx="2286000" cy="548640"/>
          </a:xfrm>
          <a:prstGeom prst="rect">
            <a:avLst/>
          </a:prstGeom>
          <a:noFill/>
        </p:spPr>
        <p:txBody>
          <a:bodyPr wrap="square">
            <a:spAutoFit/>
          </a:bodyPr>
          <a:lstStyle/>
          <a:p>
            <a:pPr algn="ctr"/>
            <a:r>
              <a:rPr sz="850" b="0" i="0">
                <a:solidFill>
                  <a:srgbClr val="CCDDFF"/>
                </a:solidFill>
              </a:rPr>
              <a:t>Ketua Tim
Kerja</a:t>
            </a:r>
          </a:p>
        </p:txBody>
      </p:sp>
      <p:sp>
        <p:nvSpPr>
          <p:cNvPr id="18" name="TextBox 17"/>
          <p:cNvSpPr txBox="1"/>
          <p:nvPr/>
        </p:nvSpPr>
        <p:spPr>
          <a:xfrm>
            <a:off x="5961888" y="1645920"/>
            <a:ext cx="320040" cy="502920"/>
          </a:xfrm>
          <a:prstGeom prst="rect">
            <a:avLst/>
          </a:prstGeom>
          <a:noFill/>
        </p:spPr>
        <p:txBody>
          <a:bodyPr wrap="square">
            <a:spAutoFit/>
          </a:bodyPr>
          <a:lstStyle/>
          <a:p>
            <a:pPr algn="ctr"/>
            <a:r>
              <a:rPr sz="1600" b="0" i="0">
                <a:solidFill>
                  <a:srgbClr val="2E75B6"/>
                </a:solidFill>
              </a:rPr>
              <a:t>▶</a:t>
            </a:r>
          </a:p>
        </p:txBody>
      </p:sp>
      <p:sp>
        <p:nvSpPr>
          <p:cNvPr id="19" name="Rectangle 18"/>
          <p:cNvSpPr/>
          <p:nvPr/>
        </p:nvSpPr>
        <p:spPr>
          <a:xfrm>
            <a:off x="6309360" y="1325880"/>
            <a:ext cx="2468880" cy="118872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371600"/>
            <a:ext cx="2286000" cy="594360"/>
          </a:xfrm>
          <a:prstGeom prst="rect">
            <a:avLst/>
          </a:prstGeom>
          <a:noFill/>
        </p:spPr>
        <p:txBody>
          <a:bodyPr wrap="square">
            <a:spAutoFit/>
          </a:bodyPr>
          <a:lstStyle/>
          <a:p>
            <a:pPr algn="ctr"/>
            <a:r>
              <a:rPr sz="1000" b="1" i="0">
                <a:solidFill>
                  <a:srgbClr val="FFFFFF"/>
                </a:solidFill>
              </a:rPr>
              <a:t>Review &amp;
Persetujuan</a:t>
            </a:r>
          </a:p>
        </p:txBody>
      </p:sp>
      <p:sp>
        <p:nvSpPr>
          <p:cNvPr id="21" name="TextBox 20"/>
          <p:cNvSpPr txBox="1"/>
          <p:nvPr/>
        </p:nvSpPr>
        <p:spPr>
          <a:xfrm>
            <a:off x="6400800" y="1920240"/>
            <a:ext cx="2286000" cy="548640"/>
          </a:xfrm>
          <a:prstGeom prst="rect">
            <a:avLst/>
          </a:prstGeom>
          <a:noFill/>
        </p:spPr>
        <p:txBody>
          <a:bodyPr wrap="square">
            <a:spAutoFit/>
          </a:bodyPr>
          <a:lstStyle/>
          <a:p>
            <a:pPr algn="ctr"/>
            <a:r>
              <a:rPr sz="850" b="0" i="0">
                <a:solidFill>
                  <a:srgbClr val="CCDDFF"/>
                </a:solidFill>
              </a:rPr>
              <a:t>Kabag
Umum</a:t>
            </a:r>
          </a:p>
        </p:txBody>
      </p:sp>
      <p:sp>
        <p:nvSpPr>
          <p:cNvPr id="22" name="TextBox 21"/>
          <p:cNvSpPr txBox="1"/>
          <p:nvPr/>
        </p:nvSpPr>
        <p:spPr>
          <a:xfrm>
            <a:off x="8796528" y="1645920"/>
            <a:ext cx="320040" cy="502920"/>
          </a:xfrm>
          <a:prstGeom prst="rect">
            <a:avLst/>
          </a:prstGeom>
          <a:noFill/>
        </p:spPr>
        <p:txBody>
          <a:bodyPr wrap="square">
            <a:spAutoFit/>
          </a:bodyPr>
          <a:lstStyle/>
          <a:p>
            <a:pPr algn="ctr"/>
            <a:r>
              <a:rPr sz="1600" b="0" i="0">
                <a:solidFill>
                  <a:srgbClr val="2E75B6"/>
                </a:solidFill>
              </a:rPr>
              <a:t>▶</a:t>
            </a:r>
          </a:p>
        </p:txBody>
      </p:sp>
      <p:sp>
        <p:nvSpPr>
          <p:cNvPr id="23" name="Rectangle 22"/>
          <p:cNvSpPr/>
          <p:nvPr/>
        </p:nvSpPr>
        <p:spPr>
          <a:xfrm>
            <a:off x="9144000" y="1325880"/>
            <a:ext cx="2468880" cy="11887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0" y="1371600"/>
            <a:ext cx="2286000" cy="594360"/>
          </a:xfrm>
          <a:prstGeom prst="rect">
            <a:avLst/>
          </a:prstGeom>
          <a:noFill/>
        </p:spPr>
        <p:txBody>
          <a:bodyPr wrap="square">
            <a:spAutoFit/>
          </a:bodyPr>
          <a:lstStyle/>
          <a:p>
            <a:pPr algn="ctr"/>
            <a:r>
              <a:rPr sz="1000" b="1" i="0">
                <a:solidFill>
                  <a:srgbClr val="FFFFFF"/>
                </a:solidFill>
              </a:rPr>
              <a:t>Dokumen
Disetujui</a:t>
            </a:r>
          </a:p>
        </p:txBody>
      </p:sp>
      <p:sp>
        <p:nvSpPr>
          <p:cNvPr id="25" name="TextBox 24"/>
          <p:cNvSpPr txBox="1"/>
          <p:nvPr/>
        </p:nvSpPr>
        <p:spPr>
          <a:xfrm>
            <a:off x="9235440" y="1920240"/>
            <a:ext cx="2286000" cy="548640"/>
          </a:xfrm>
          <a:prstGeom prst="rect">
            <a:avLst/>
          </a:prstGeom>
          <a:noFill/>
        </p:spPr>
        <p:txBody>
          <a:bodyPr wrap="square">
            <a:spAutoFit/>
          </a:bodyPr>
          <a:lstStyle/>
          <a:p>
            <a:pPr algn="ctr"/>
            <a:r>
              <a:rPr sz="850" b="0" i="0">
                <a:solidFill>
                  <a:srgbClr val="CCDDFF"/>
                </a:solidFill>
              </a:rPr>
              <a:t>Kabag
Umum</a:t>
            </a:r>
          </a:p>
        </p:txBody>
      </p:sp>
      <p:sp>
        <p:nvSpPr>
          <p:cNvPr id="26" name="Rectangle 25"/>
          <p:cNvSpPr/>
          <p:nvPr/>
        </p:nvSpPr>
        <p:spPr>
          <a:xfrm>
            <a:off x="365760" y="2743200"/>
            <a:ext cx="4846320" cy="3749039"/>
          </a:xfrm>
          <a:prstGeom prst="rect">
            <a:avLst/>
          </a:prstGeom>
          <a:solidFill>
            <a:srgbClr val="E8EEF8"/>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2743200"/>
            <a:ext cx="484632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2761488"/>
            <a:ext cx="4572000" cy="320040"/>
          </a:xfrm>
          <a:prstGeom prst="rect">
            <a:avLst/>
          </a:prstGeom>
          <a:noFill/>
        </p:spPr>
        <p:txBody>
          <a:bodyPr wrap="square">
            <a:spAutoFit/>
          </a:bodyPr>
          <a:lstStyle/>
          <a:p>
            <a:pPr algn="l"/>
            <a:r>
              <a:rPr sz="1000" b="1" i="0">
                <a:solidFill>
                  <a:srgbClr val="FFFFFF"/>
                </a:solidFill>
              </a:rPr>
              <a:t>Tampilan Tombol Submit</a:t>
            </a:r>
          </a:p>
        </p:txBody>
      </p:sp>
      <p:sp>
        <p:nvSpPr>
          <p:cNvPr id="29" name="TextBox 28"/>
          <p:cNvSpPr txBox="1"/>
          <p:nvPr/>
        </p:nvSpPr>
        <p:spPr>
          <a:xfrm>
            <a:off x="594360" y="3337560"/>
            <a:ext cx="4389120" cy="2926080"/>
          </a:xfrm>
          <a:prstGeom prst="rect">
            <a:avLst/>
          </a:prstGeom>
          <a:noFill/>
        </p:spPr>
        <p:txBody>
          <a:bodyPr wrap="square">
            <a:spAutoFit/>
          </a:bodyPr>
          <a:lstStyle/>
          <a:p>
            <a:pPr algn="ctr"/>
            <a:r>
              <a:rPr sz="1000" b="0" i="1">
                <a:solidFill>
                  <a:srgbClr val="2E75B6"/>
                </a:solidFill>
              </a:rPr>
              <a:t>[ SCREENSHOT TOMBOL SUBMIT ]
Tambahkan screenshot tombol
Submit ke Kabag Umum
Tunjukkan:
• Status kelengkapan IKU
• Tombol Submit
• Dialog konfirmasi</a:t>
            </a:r>
          </a:p>
        </p:txBody>
      </p:sp>
      <p:sp>
        <p:nvSpPr>
          <p:cNvPr id="30" name="TextBox 29"/>
          <p:cNvSpPr txBox="1"/>
          <p:nvPr/>
        </p:nvSpPr>
        <p:spPr>
          <a:xfrm>
            <a:off x="5532120" y="2743200"/>
            <a:ext cx="6400800" cy="347472"/>
          </a:xfrm>
          <a:prstGeom prst="rect">
            <a:avLst/>
          </a:prstGeom>
          <a:noFill/>
        </p:spPr>
        <p:txBody>
          <a:bodyPr wrap="square">
            <a:spAutoFit/>
          </a:bodyPr>
          <a:lstStyle/>
          <a:p>
            <a:pPr algn="l"/>
            <a:r>
              <a:rPr sz="1300" b="1" i="0">
                <a:solidFill>
                  <a:srgbClr val="1A376C"/>
                </a:solidFill>
              </a:rPr>
              <a:t>Cara Submit Dokumen</a:t>
            </a:r>
          </a:p>
        </p:txBody>
      </p:sp>
      <p:sp>
        <p:nvSpPr>
          <p:cNvPr id="31" name="Rectangle 30"/>
          <p:cNvSpPr/>
          <p:nvPr/>
        </p:nvSpPr>
        <p:spPr>
          <a:xfrm>
            <a:off x="5532120" y="2743200"/>
            <a:ext cx="54864"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32120" y="3200400"/>
            <a:ext cx="6400800" cy="71323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532120" y="3200400"/>
            <a:ext cx="457200" cy="713232"/>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32120" y="3337560"/>
            <a:ext cx="457200" cy="438912"/>
          </a:xfrm>
          <a:prstGeom prst="rect">
            <a:avLst/>
          </a:prstGeom>
          <a:noFill/>
        </p:spPr>
        <p:txBody>
          <a:bodyPr wrap="square">
            <a:spAutoFit/>
          </a:bodyPr>
          <a:lstStyle/>
          <a:p>
            <a:pPr algn="ctr"/>
            <a:r>
              <a:rPr sz="1800" b="1" i="0">
                <a:solidFill>
                  <a:srgbClr val="FFFFFF"/>
                </a:solidFill>
              </a:rPr>
              <a:t>1</a:t>
            </a:r>
          </a:p>
        </p:txBody>
      </p:sp>
      <p:sp>
        <p:nvSpPr>
          <p:cNvPr id="35" name="TextBox 34"/>
          <p:cNvSpPr txBox="1"/>
          <p:nvPr/>
        </p:nvSpPr>
        <p:spPr>
          <a:xfrm>
            <a:off x="6062472" y="3236976"/>
            <a:ext cx="5806440" cy="256032"/>
          </a:xfrm>
          <a:prstGeom prst="rect">
            <a:avLst/>
          </a:prstGeom>
          <a:noFill/>
        </p:spPr>
        <p:txBody>
          <a:bodyPr wrap="square">
            <a:spAutoFit/>
          </a:bodyPr>
          <a:lstStyle/>
          <a:p>
            <a:pPr algn="l"/>
            <a:r>
              <a:rPr sz="1050" b="1" i="0">
                <a:solidFill>
                  <a:srgbClr val="1A376C"/>
                </a:solidFill>
              </a:rPr>
              <a:t>Periksa Kelengkapan</a:t>
            </a:r>
          </a:p>
        </p:txBody>
      </p:sp>
      <p:sp>
        <p:nvSpPr>
          <p:cNvPr id="36" name="TextBox 35"/>
          <p:cNvSpPr txBox="1"/>
          <p:nvPr/>
        </p:nvSpPr>
        <p:spPr>
          <a:xfrm>
            <a:off x="6062472" y="3511296"/>
            <a:ext cx="5806440" cy="365760"/>
          </a:xfrm>
          <a:prstGeom prst="rect">
            <a:avLst/>
          </a:prstGeom>
          <a:noFill/>
        </p:spPr>
        <p:txBody>
          <a:bodyPr wrap="square">
            <a:spAutoFit/>
          </a:bodyPr>
          <a:lstStyle/>
          <a:p>
            <a:pPr algn="l"/>
            <a:r>
              <a:rPr sz="950" b="0" i="0">
                <a:solidFill>
                  <a:srgbClr val="444444"/>
                </a:solidFill>
              </a:rPr>
              <a:t>Pastikan semua IKU telah diisi target TW I–IV dan minimal satu rencana kegiatan.</a:t>
            </a:r>
          </a:p>
        </p:txBody>
      </p:sp>
      <p:sp>
        <p:nvSpPr>
          <p:cNvPr id="37" name="Rectangle 36"/>
          <p:cNvSpPr/>
          <p:nvPr/>
        </p:nvSpPr>
        <p:spPr>
          <a:xfrm>
            <a:off x="5532120" y="3977639"/>
            <a:ext cx="6400800" cy="71323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532120" y="3977639"/>
            <a:ext cx="457200" cy="713232"/>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532120" y="4114800"/>
            <a:ext cx="457200" cy="438912"/>
          </a:xfrm>
          <a:prstGeom prst="rect">
            <a:avLst/>
          </a:prstGeom>
          <a:noFill/>
        </p:spPr>
        <p:txBody>
          <a:bodyPr wrap="square">
            <a:spAutoFit/>
          </a:bodyPr>
          <a:lstStyle/>
          <a:p>
            <a:pPr algn="ctr"/>
            <a:r>
              <a:rPr sz="1800" b="1" i="0">
                <a:solidFill>
                  <a:srgbClr val="FFFFFF"/>
                </a:solidFill>
              </a:rPr>
              <a:t>2</a:t>
            </a:r>
          </a:p>
        </p:txBody>
      </p:sp>
      <p:sp>
        <p:nvSpPr>
          <p:cNvPr id="40" name="TextBox 39"/>
          <p:cNvSpPr txBox="1"/>
          <p:nvPr/>
        </p:nvSpPr>
        <p:spPr>
          <a:xfrm>
            <a:off x="6062472" y="4014215"/>
            <a:ext cx="5806440" cy="256032"/>
          </a:xfrm>
          <a:prstGeom prst="rect">
            <a:avLst/>
          </a:prstGeom>
          <a:noFill/>
        </p:spPr>
        <p:txBody>
          <a:bodyPr wrap="square">
            <a:spAutoFit/>
          </a:bodyPr>
          <a:lstStyle/>
          <a:p>
            <a:pPr algn="l"/>
            <a:r>
              <a:rPr sz="1050" b="1" i="0">
                <a:solidFill>
                  <a:srgbClr val="1A376C"/>
                </a:solidFill>
              </a:rPr>
              <a:t>Klik Tombol Submit</a:t>
            </a:r>
          </a:p>
        </p:txBody>
      </p:sp>
      <p:sp>
        <p:nvSpPr>
          <p:cNvPr id="41" name="TextBox 40"/>
          <p:cNvSpPr txBox="1"/>
          <p:nvPr/>
        </p:nvSpPr>
        <p:spPr>
          <a:xfrm>
            <a:off x="6062472" y="4288536"/>
            <a:ext cx="5806440" cy="365760"/>
          </a:xfrm>
          <a:prstGeom prst="rect">
            <a:avLst/>
          </a:prstGeom>
          <a:noFill/>
        </p:spPr>
        <p:txBody>
          <a:bodyPr wrap="square">
            <a:spAutoFit/>
          </a:bodyPr>
          <a:lstStyle/>
          <a:p>
            <a:pPr algn="l"/>
            <a:r>
              <a:rPr sz="950" b="0" i="0">
                <a:solidFill>
                  <a:srgbClr val="444444"/>
                </a:solidFill>
              </a:rPr>
              <a:t>Klik tombol "Submit ke Kabag Umum" yang tersedia di halaman Penyusunan.</a:t>
            </a:r>
          </a:p>
        </p:txBody>
      </p:sp>
      <p:sp>
        <p:nvSpPr>
          <p:cNvPr id="42" name="Rectangle 41"/>
          <p:cNvSpPr/>
          <p:nvPr/>
        </p:nvSpPr>
        <p:spPr>
          <a:xfrm>
            <a:off x="5532120" y="4754880"/>
            <a:ext cx="6400800" cy="71323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532120" y="4754880"/>
            <a:ext cx="457200" cy="713232"/>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532120" y="4892040"/>
            <a:ext cx="457200" cy="438912"/>
          </a:xfrm>
          <a:prstGeom prst="rect">
            <a:avLst/>
          </a:prstGeom>
          <a:noFill/>
        </p:spPr>
        <p:txBody>
          <a:bodyPr wrap="square">
            <a:spAutoFit/>
          </a:bodyPr>
          <a:lstStyle/>
          <a:p>
            <a:pPr algn="ctr"/>
            <a:r>
              <a:rPr sz="1800" b="1" i="0">
                <a:solidFill>
                  <a:srgbClr val="FFFFFF"/>
                </a:solidFill>
              </a:rPr>
              <a:t>3</a:t>
            </a:r>
          </a:p>
        </p:txBody>
      </p:sp>
      <p:sp>
        <p:nvSpPr>
          <p:cNvPr id="45" name="TextBox 44"/>
          <p:cNvSpPr txBox="1"/>
          <p:nvPr/>
        </p:nvSpPr>
        <p:spPr>
          <a:xfrm>
            <a:off x="6062472" y="4791456"/>
            <a:ext cx="5806440" cy="256032"/>
          </a:xfrm>
          <a:prstGeom prst="rect">
            <a:avLst/>
          </a:prstGeom>
          <a:noFill/>
        </p:spPr>
        <p:txBody>
          <a:bodyPr wrap="square">
            <a:spAutoFit/>
          </a:bodyPr>
          <a:lstStyle/>
          <a:p>
            <a:pPr algn="l"/>
            <a:r>
              <a:rPr sz="1050" b="1" i="0">
                <a:solidFill>
                  <a:srgbClr val="1A376C"/>
                </a:solidFill>
              </a:rPr>
              <a:t>Konfirmasi Submit</a:t>
            </a:r>
          </a:p>
        </p:txBody>
      </p:sp>
      <p:sp>
        <p:nvSpPr>
          <p:cNvPr id="46" name="TextBox 45"/>
          <p:cNvSpPr txBox="1"/>
          <p:nvPr/>
        </p:nvSpPr>
        <p:spPr>
          <a:xfrm>
            <a:off x="6062472" y="5065776"/>
            <a:ext cx="5806440" cy="365760"/>
          </a:xfrm>
          <a:prstGeom prst="rect">
            <a:avLst/>
          </a:prstGeom>
          <a:noFill/>
        </p:spPr>
        <p:txBody>
          <a:bodyPr wrap="square">
            <a:spAutoFit/>
          </a:bodyPr>
          <a:lstStyle/>
          <a:p>
            <a:pPr algn="l"/>
            <a:r>
              <a:rPr sz="950" b="0" i="0">
                <a:solidFill>
                  <a:srgbClr val="444444"/>
                </a:solidFill>
              </a:rPr>
              <a:t>Sebuah dialog konfirmasi akan muncul. Baca dengan seksama sebelum mengklik Konfirmasi.</a:t>
            </a:r>
          </a:p>
        </p:txBody>
      </p:sp>
      <p:sp>
        <p:nvSpPr>
          <p:cNvPr id="47" name="Rectangle 46"/>
          <p:cNvSpPr/>
          <p:nvPr/>
        </p:nvSpPr>
        <p:spPr>
          <a:xfrm>
            <a:off x="5532120" y="5532120"/>
            <a:ext cx="6400800" cy="71323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532120" y="5532120"/>
            <a:ext cx="457200" cy="713232"/>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532120" y="5669280"/>
            <a:ext cx="457200" cy="438912"/>
          </a:xfrm>
          <a:prstGeom prst="rect">
            <a:avLst/>
          </a:prstGeom>
          <a:noFill/>
        </p:spPr>
        <p:txBody>
          <a:bodyPr wrap="square">
            <a:spAutoFit/>
          </a:bodyPr>
          <a:lstStyle/>
          <a:p>
            <a:pPr algn="ctr"/>
            <a:r>
              <a:rPr sz="1800" b="1" i="0">
                <a:solidFill>
                  <a:srgbClr val="FFFFFF"/>
                </a:solidFill>
              </a:rPr>
              <a:t>4</a:t>
            </a:r>
          </a:p>
        </p:txBody>
      </p:sp>
      <p:sp>
        <p:nvSpPr>
          <p:cNvPr id="50" name="TextBox 49"/>
          <p:cNvSpPr txBox="1"/>
          <p:nvPr/>
        </p:nvSpPr>
        <p:spPr>
          <a:xfrm>
            <a:off x="6062472" y="5568696"/>
            <a:ext cx="5806440" cy="256032"/>
          </a:xfrm>
          <a:prstGeom prst="rect">
            <a:avLst/>
          </a:prstGeom>
          <a:noFill/>
        </p:spPr>
        <p:txBody>
          <a:bodyPr wrap="square">
            <a:spAutoFit/>
          </a:bodyPr>
          <a:lstStyle/>
          <a:p>
            <a:pPr algn="l"/>
            <a:r>
              <a:rPr sz="1050" b="1" i="0">
                <a:solidFill>
                  <a:srgbClr val="1A376C"/>
                </a:solidFill>
              </a:rPr>
              <a:t>Tunggu Notifikasi</a:t>
            </a:r>
          </a:p>
        </p:txBody>
      </p:sp>
      <p:sp>
        <p:nvSpPr>
          <p:cNvPr id="51" name="TextBox 50"/>
          <p:cNvSpPr txBox="1"/>
          <p:nvPr/>
        </p:nvSpPr>
        <p:spPr>
          <a:xfrm>
            <a:off x="6062472" y="5843016"/>
            <a:ext cx="5806440" cy="365760"/>
          </a:xfrm>
          <a:prstGeom prst="rect">
            <a:avLst/>
          </a:prstGeom>
          <a:noFill/>
        </p:spPr>
        <p:txBody>
          <a:bodyPr wrap="square">
            <a:spAutoFit/>
          </a:bodyPr>
          <a:lstStyle/>
          <a:p>
            <a:pPr algn="l"/>
            <a:r>
              <a:rPr sz="950" b="0" i="0">
                <a:solidFill>
                  <a:srgbClr val="444444"/>
                </a:solidFill>
              </a:rPr>
              <a:t>Setelah submit berhasil, status dokumen berubah menjadi 'Menunggu Persetujuan'.</a:t>
            </a:r>
          </a:p>
        </p:txBody>
      </p:sp>
      <p:sp>
        <p:nvSpPr>
          <p:cNvPr id="52" name="Rectangle 51"/>
          <p:cNvSpPr/>
          <p:nvPr/>
        </p:nvSpPr>
        <p:spPr>
          <a:xfrm>
            <a:off x="5532120" y="6309360"/>
            <a:ext cx="6400800" cy="502920"/>
          </a:xfrm>
          <a:prstGeom prst="rect">
            <a:avLst/>
          </a:prstGeom>
          <a:solidFill>
            <a:srgbClr val="FDEDEC"/>
          </a:solidFill>
          <a:ln w="127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669280" y="6327648"/>
            <a:ext cx="6126480" cy="466344"/>
          </a:xfrm>
          <a:prstGeom prst="rect">
            <a:avLst/>
          </a:prstGeom>
          <a:noFill/>
        </p:spPr>
        <p:txBody>
          <a:bodyPr wrap="square">
            <a:spAutoFit/>
          </a:bodyPr>
          <a:lstStyle/>
          <a:p>
            <a:pPr algn="l"/>
            <a:r>
              <a:rPr sz="900" b="0" i="0">
                <a:solidFill>
                  <a:srgbClr val="C0392B"/>
                </a:solidFill>
              </a:rPr>
              <a:t>⛔  Penting: Dokumen yang telah disubmit TIDAK DAPAT diedit. Pastikan semua data sudah benar sebelum menekan tombol Submit.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09728"/>
            <a:ext cx="11430000" cy="594360"/>
          </a:xfrm>
          <a:prstGeom prst="rect">
            <a:avLst/>
          </a:prstGeom>
          <a:noFill/>
        </p:spPr>
        <p:txBody>
          <a:bodyPr wrap="square">
            <a:spAutoFit/>
          </a:bodyPr>
          <a:lstStyle/>
          <a:p>
            <a:pPr algn="l"/>
            <a:r>
              <a:rPr sz="2600" b="1" i="0">
                <a:solidFill>
                  <a:srgbClr val="FFFFFF"/>
                </a:solidFill>
              </a:rPr>
              <a:t>09  |  Revisi &amp; Submit Ulang</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300" b="0" i="0">
                <a:solidFill>
                  <a:srgbClr val="C8D8F0"/>
                </a:solidFill>
              </a:rPr>
              <a:t>Prosedur jika dokumen dikembalikan oleh Kabag Umum</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Petunjuk Teknis Ketua Tim Kerja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10 / 11</a:t>
            </a:r>
          </a:p>
        </p:txBody>
      </p:sp>
      <p:sp>
        <p:nvSpPr>
          <p:cNvPr id="10" name="Rectangle 9"/>
          <p:cNvSpPr/>
          <p:nvPr/>
        </p:nvSpPr>
        <p:spPr>
          <a:xfrm>
            <a:off x="365760" y="1234440"/>
            <a:ext cx="11430000" cy="50292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261872"/>
            <a:ext cx="11155680" cy="411480"/>
          </a:xfrm>
          <a:prstGeom prst="rect">
            <a:avLst/>
          </a:prstGeom>
          <a:noFill/>
        </p:spPr>
        <p:txBody>
          <a:bodyPr wrap="square">
            <a:spAutoFit/>
          </a:bodyPr>
          <a:lstStyle/>
          <a:p>
            <a:pPr algn="l"/>
            <a:r>
              <a:rPr sz="1100" b="1" i="0">
                <a:solidFill>
                  <a:srgbClr val="1A376C"/>
                </a:solidFill>
              </a:rPr>
              <a:t>Alur Revisi Dokumen Rencana Aksi</a:t>
            </a:r>
          </a:p>
        </p:txBody>
      </p:sp>
      <p:sp>
        <p:nvSpPr>
          <p:cNvPr id="12" name="Rectangle 11"/>
          <p:cNvSpPr/>
          <p:nvPr/>
        </p:nvSpPr>
        <p:spPr>
          <a:xfrm>
            <a:off x="548640" y="1874519"/>
            <a:ext cx="2468880" cy="10058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965960"/>
            <a:ext cx="2286000" cy="822960"/>
          </a:xfrm>
          <a:prstGeom prst="rect">
            <a:avLst/>
          </a:prstGeom>
          <a:noFill/>
        </p:spPr>
        <p:txBody>
          <a:bodyPr wrap="square">
            <a:spAutoFit/>
          </a:bodyPr>
          <a:lstStyle/>
          <a:p>
            <a:pPr algn="ctr"/>
            <a:r>
              <a:rPr sz="1100" b="1" i="0">
                <a:solidFill>
                  <a:srgbClr val="FFFFFF"/>
                </a:solidFill>
              </a:rPr>
              <a:t>Dikembalikan
oleh Kabag</a:t>
            </a:r>
          </a:p>
        </p:txBody>
      </p:sp>
      <p:sp>
        <p:nvSpPr>
          <p:cNvPr id="14" name="TextBox 13"/>
          <p:cNvSpPr txBox="1"/>
          <p:nvPr/>
        </p:nvSpPr>
        <p:spPr>
          <a:xfrm>
            <a:off x="3044952" y="2240280"/>
            <a:ext cx="320040" cy="411480"/>
          </a:xfrm>
          <a:prstGeom prst="rect">
            <a:avLst/>
          </a:prstGeom>
          <a:noFill/>
        </p:spPr>
        <p:txBody>
          <a:bodyPr wrap="square">
            <a:spAutoFit/>
          </a:bodyPr>
          <a:lstStyle/>
          <a:p>
            <a:pPr algn="ctr"/>
            <a:r>
              <a:rPr sz="1400" b="0" i="0">
                <a:solidFill>
                  <a:srgbClr val="1E4D9B"/>
                </a:solidFill>
              </a:rPr>
              <a:t>▶</a:t>
            </a:r>
          </a:p>
        </p:txBody>
      </p:sp>
      <p:sp>
        <p:nvSpPr>
          <p:cNvPr id="15" name="Rectangle 14"/>
          <p:cNvSpPr/>
          <p:nvPr/>
        </p:nvSpPr>
        <p:spPr>
          <a:xfrm>
            <a:off x="3383280" y="1874519"/>
            <a:ext cx="2468880" cy="100584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0" y="1965960"/>
            <a:ext cx="2286000" cy="822960"/>
          </a:xfrm>
          <a:prstGeom prst="rect">
            <a:avLst/>
          </a:prstGeom>
          <a:noFill/>
        </p:spPr>
        <p:txBody>
          <a:bodyPr wrap="square">
            <a:spAutoFit/>
          </a:bodyPr>
          <a:lstStyle/>
          <a:p>
            <a:pPr algn="ctr"/>
            <a:r>
              <a:rPr sz="1100" b="1" i="0">
                <a:solidFill>
                  <a:srgbClr val="FFFFFF"/>
                </a:solidFill>
              </a:rPr>
              <a:t>Baca
Catatan
Revisi</a:t>
            </a:r>
          </a:p>
        </p:txBody>
      </p:sp>
      <p:sp>
        <p:nvSpPr>
          <p:cNvPr id="17" name="TextBox 16"/>
          <p:cNvSpPr txBox="1"/>
          <p:nvPr/>
        </p:nvSpPr>
        <p:spPr>
          <a:xfrm>
            <a:off x="5879592" y="2240280"/>
            <a:ext cx="320040" cy="411480"/>
          </a:xfrm>
          <a:prstGeom prst="rect">
            <a:avLst/>
          </a:prstGeom>
          <a:noFill/>
        </p:spPr>
        <p:txBody>
          <a:bodyPr wrap="square">
            <a:spAutoFit/>
          </a:bodyPr>
          <a:lstStyle/>
          <a:p>
            <a:pPr algn="ctr"/>
            <a:r>
              <a:rPr sz="1400" b="0" i="0">
                <a:solidFill>
                  <a:srgbClr val="1E4D9B"/>
                </a:solidFill>
              </a:rPr>
              <a:t>▶</a:t>
            </a:r>
          </a:p>
        </p:txBody>
      </p:sp>
      <p:sp>
        <p:nvSpPr>
          <p:cNvPr id="18" name="Rectangle 17"/>
          <p:cNvSpPr/>
          <p:nvPr/>
        </p:nvSpPr>
        <p:spPr>
          <a:xfrm>
            <a:off x="6217920" y="1874519"/>
            <a:ext cx="2468880"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59" y="1965960"/>
            <a:ext cx="2286000" cy="822960"/>
          </a:xfrm>
          <a:prstGeom prst="rect">
            <a:avLst/>
          </a:prstGeom>
          <a:noFill/>
        </p:spPr>
        <p:txBody>
          <a:bodyPr wrap="square">
            <a:spAutoFit/>
          </a:bodyPr>
          <a:lstStyle/>
          <a:p>
            <a:pPr algn="ctr"/>
            <a:r>
              <a:rPr sz="1100" b="1" i="0">
                <a:solidFill>
                  <a:srgbClr val="FFFFFF"/>
                </a:solidFill>
              </a:rPr>
              <a:t>Perbaiki
Data IKU</a:t>
            </a:r>
          </a:p>
        </p:txBody>
      </p:sp>
      <p:sp>
        <p:nvSpPr>
          <p:cNvPr id="20" name="TextBox 19"/>
          <p:cNvSpPr txBox="1"/>
          <p:nvPr/>
        </p:nvSpPr>
        <p:spPr>
          <a:xfrm>
            <a:off x="8714232" y="2240280"/>
            <a:ext cx="320040" cy="411480"/>
          </a:xfrm>
          <a:prstGeom prst="rect">
            <a:avLst/>
          </a:prstGeom>
          <a:noFill/>
        </p:spPr>
        <p:txBody>
          <a:bodyPr wrap="square">
            <a:spAutoFit/>
          </a:bodyPr>
          <a:lstStyle/>
          <a:p>
            <a:pPr algn="ctr"/>
            <a:r>
              <a:rPr sz="1400" b="0" i="0">
                <a:solidFill>
                  <a:srgbClr val="1E4D9B"/>
                </a:solidFill>
              </a:rPr>
              <a:t>▶</a:t>
            </a:r>
          </a:p>
        </p:txBody>
      </p:sp>
      <p:sp>
        <p:nvSpPr>
          <p:cNvPr id="21" name="Rectangle 20"/>
          <p:cNvSpPr/>
          <p:nvPr/>
        </p:nvSpPr>
        <p:spPr>
          <a:xfrm>
            <a:off x="9052560" y="1874519"/>
            <a:ext cx="2468880" cy="10058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0" y="1965960"/>
            <a:ext cx="2286000" cy="822960"/>
          </a:xfrm>
          <a:prstGeom prst="rect">
            <a:avLst/>
          </a:prstGeom>
          <a:noFill/>
        </p:spPr>
        <p:txBody>
          <a:bodyPr wrap="square">
            <a:spAutoFit/>
          </a:bodyPr>
          <a:lstStyle/>
          <a:p>
            <a:pPr algn="ctr"/>
            <a:r>
              <a:rPr sz="1100" b="1" i="0">
                <a:solidFill>
                  <a:srgbClr val="FFFFFF"/>
                </a:solidFill>
              </a:rPr>
              <a:t>Submit
Ulang</a:t>
            </a:r>
          </a:p>
        </p:txBody>
      </p:sp>
      <p:sp>
        <p:nvSpPr>
          <p:cNvPr id="23" name="Rectangle 22"/>
          <p:cNvSpPr/>
          <p:nvPr/>
        </p:nvSpPr>
        <p:spPr>
          <a:xfrm>
            <a:off x="365760" y="3063240"/>
            <a:ext cx="5486400" cy="338328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3063240"/>
            <a:ext cx="5486400" cy="384048"/>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3081528"/>
            <a:ext cx="5212080" cy="347472"/>
          </a:xfrm>
          <a:prstGeom prst="rect">
            <a:avLst/>
          </a:prstGeom>
          <a:noFill/>
        </p:spPr>
        <p:txBody>
          <a:bodyPr wrap="square">
            <a:spAutoFit/>
          </a:bodyPr>
          <a:lstStyle/>
          <a:p>
            <a:pPr algn="l"/>
            <a:r>
              <a:rPr sz="1100" b="1" i="0">
                <a:solidFill>
                  <a:srgbClr val="FFFFFF"/>
                </a:solidFill>
              </a:rPr>
              <a:t>Cara Memeriksa Status &amp; Catatan Revisi</a:t>
            </a:r>
          </a:p>
        </p:txBody>
      </p:sp>
      <p:sp>
        <p:nvSpPr>
          <p:cNvPr id="26" name="TextBox 25"/>
          <p:cNvSpPr txBox="1"/>
          <p:nvPr/>
        </p:nvSpPr>
        <p:spPr>
          <a:xfrm>
            <a:off x="502920" y="3593591"/>
            <a:ext cx="365760" cy="457200"/>
          </a:xfrm>
          <a:prstGeom prst="rect">
            <a:avLst/>
          </a:prstGeom>
          <a:noFill/>
        </p:spPr>
        <p:txBody>
          <a:bodyPr wrap="square">
            <a:spAutoFit/>
          </a:bodyPr>
          <a:lstStyle/>
          <a:p>
            <a:pPr algn="l"/>
            <a:r>
              <a:rPr sz="1400" b="1" i="0">
                <a:solidFill>
                  <a:srgbClr val="1E4D9B"/>
                </a:solidFill>
              </a:rPr>
              <a:t>01</a:t>
            </a:r>
          </a:p>
        </p:txBody>
      </p:sp>
      <p:sp>
        <p:nvSpPr>
          <p:cNvPr id="27" name="TextBox 26"/>
          <p:cNvSpPr txBox="1"/>
          <p:nvPr/>
        </p:nvSpPr>
        <p:spPr>
          <a:xfrm>
            <a:off x="914400" y="3547872"/>
            <a:ext cx="4846320" cy="640080"/>
          </a:xfrm>
          <a:prstGeom prst="rect">
            <a:avLst/>
          </a:prstGeom>
          <a:noFill/>
        </p:spPr>
        <p:txBody>
          <a:bodyPr wrap="square">
            <a:spAutoFit/>
          </a:bodyPr>
          <a:lstStyle/>
          <a:p>
            <a:pPr algn="l"/>
            <a:r>
              <a:rPr sz="1000" b="0" i="0">
                <a:solidFill>
                  <a:srgbClr val="444444"/>
                </a:solidFill>
              </a:rPr>
              <a:t>Buka halaman Perencanaan &gt; Rencana Aksi &gt; Penyusunan.</a:t>
            </a:r>
          </a:p>
        </p:txBody>
      </p:sp>
      <p:sp>
        <p:nvSpPr>
          <p:cNvPr id="28" name="TextBox 27"/>
          <p:cNvSpPr txBox="1"/>
          <p:nvPr/>
        </p:nvSpPr>
        <p:spPr>
          <a:xfrm>
            <a:off x="502920" y="4261103"/>
            <a:ext cx="365760" cy="457200"/>
          </a:xfrm>
          <a:prstGeom prst="rect">
            <a:avLst/>
          </a:prstGeom>
          <a:noFill/>
        </p:spPr>
        <p:txBody>
          <a:bodyPr wrap="square">
            <a:spAutoFit/>
          </a:bodyPr>
          <a:lstStyle/>
          <a:p>
            <a:pPr algn="l"/>
            <a:r>
              <a:rPr sz="1400" b="1" i="0">
                <a:solidFill>
                  <a:srgbClr val="1E4D9B"/>
                </a:solidFill>
              </a:rPr>
              <a:t>02</a:t>
            </a:r>
          </a:p>
        </p:txBody>
      </p:sp>
      <p:sp>
        <p:nvSpPr>
          <p:cNvPr id="29" name="TextBox 28"/>
          <p:cNvSpPr txBox="1"/>
          <p:nvPr/>
        </p:nvSpPr>
        <p:spPr>
          <a:xfrm>
            <a:off x="914400" y="4215383"/>
            <a:ext cx="4846320" cy="640080"/>
          </a:xfrm>
          <a:prstGeom prst="rect">
            <a:avLst/>
          </a:prstGeom>
          <a:noFill/>
        </p:spPr>
        <p:txBody>
          <a:bodyPr wrap="square">
            <a:spAutoFit/>
          </a:bodyPr>
          <a:lstStyle/>
          <a:p>
            <a:pPr algn="l"/>
            <a:r>
              <a:rPr sz="1000" b="0" i="0">
                <a:solidFill>
                  <a:srgbClr val="444444"/>
                </a:solidFill>
              </a:rPr>
              <a:t>Perhatikan status dokumen di bagian atas halaman.</a:t>
            </a:r>
          </a:p>
        </p:txBody>
      </p:sp>
      <p:sp>
        <p:nvSpPr>
          <p:cNvPr id="30" name="TextBox 29"/>
          <p:cNvSpPr txBox="1"/>
          <p:nvPr/>
        </p:nvSpPr>
        <p:spPr>
          <a:xfrm>
            <a:off x="502920" y="4928616"/>
            <a:ext cx="365760" cy="457200"/>
          </a:xfrm>
          <a:prstGeom prst="rect">
            <a:avLst/>
          </a:prstGeom>
          <a:noFill/>
        </p:spPr>
        <p:txBody>
          <a:bodyPr wrap="square">
            <a:spAutoFit/>
          </a:bodyPr>
          <a:lstStyle/>
          <a:p>
            <a:pPr algn="l"/>
            <a:r>
              <a:rPr sz="1400" b="1" i="0">
                <a:solidFill>
                  <a:srgbClr val="1E4D9B"/>
                </a:solidFill>
              </a:rPr>
              <a:t>03</a:t>
            </a:r>
          </a:p>
        </p:txBody>
      </p:sp>
      <p:sp>
        <p:nvSpPr>
          <p:cNvPr id="31" name="TextBox 30"/>
          <p:cNvSpPr txBox="1"/>
          <p:nvPr/>
        </p:nvSpPr>
        <p:spPr>
          <a:xfrm>
            <a:off x="914400" y="4882896"/>
            <a:ext cx="4846320" cy="640080"/>
          </a:xfrm>
          <a:prstGeom prst="rect">
            <a:avLst/>
          </a:prstGeom>
          <a:noFill/>
        </p:spPr>
        <p:txBody>
          <a:bodyPr wrap="square">
            <a:spAutoFit/>
          </a:bodyPr>
          <a:lstStyle/>
          <a:p>
            <a:pPr algn="l"/>
            <a:r>
              <a:rPr sz="1000" b="0" i="0">
                <a:solidFill>
                  <a:srgbClr val="444444"/>
                </a:solidFill>
              </a:rPr>
              <a:t>Jika status 'Dikembalikan', klik tombol Lihat Catatan untuk membaca keterangan dari Kabag Umum.</a:t>
            </a:r>
          </a:p>
        </p:txBody>
      </p:sp>
      <p:sp>
        <p:nvSpPr>
          <p:cNvPr id="32" name="TextBox 31"/>
          <p:cNvSpPr txBox="1"/>
          <p:nvPr/>
        </p:nvSpPr>
        <p:spPr>
          <a:xfrm>
            <a:off x="502920" y="5596128"/>
            <a:ext cx="365760" cy="457200"/>
          </a:xfrm>
          <a:prstGeom prst="rect">
            <a:avLst/>
          </a:prstGeom>
          <a:noFill/>
        </p:spPr>
        <p:txBody>
          <a:bodyPr wrap="square">
            <a:spAutoFit/>
          </a:bodyPr>
          <a:lstStyle/>
          <a:p>
            <a:pPr algn="l"/>
            <a:r>
              <a:rPr sz="1400" b="1" i="0">
                <a:solidFill>
                  <a:srgbClr val="1E4D9B"/>
                </a:solidFill>
              </a:rPr>
              <a:t>04</a:t>
            </a:r>
          </a:p>
        </p:txBody>
      </p:sp>
      <p:sp>
        <p:nvSpPr>
          <p:cNvPr id="33" name="TextBox 32"/>
          <p:cNvSpPr txBox="1"/>
          <p:nvPr/>
        </p:nvSpPr>
        <p:spPr>
          <a:xfrm>
            <a:off x="914400" y="5550408"/>
            <a:ext cx="4846320" cy="640080"/>
          </a:xfrm>
          <a:prstGeom prst="rect">
            <a:avLst/>
          </a:prstGeom>
          <a:noFill/>
        </p:spPr>
        <p:txBody>
          <a:bodyPr wrap="square">
            <a:spAutoFit/>
          </a:bodyPr>
          <a:lstStyle/>
          <a:p>
            <a:pPr algn="l"/>
            <a:r>
              <a:rPr sz="1000" b="0" i="0">
                <a:solidFill>
                  <a:srgbClr val="444444"/>
                </a:solidFill>
              </a:rPr>
              <a:t>Catat semua poin yang perlu diperbaiki sebelum melakukan perubahan.</a:t>
            </a:r>
          </a:p>
        </p:txBody>
      </p:sp>
      <p:sp>
        <p:nvSpPr>
          <p:cNvPr id="34" name="Rectangle 33"/>
          <p:cNvSpPr/>
          <p:nvPr/>
        </p:nvSpPr>
        <p:spPr>
          <a:xfrm>
            <a:off x="6309360" y="3063240"/>
            <a:ext cx="5532120" cy="338328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09360" y="3063240"/>
            <a:ext cx="5532120" cy="38404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46520" y="3081528"/>
            <a:ext cx="5212080" cy="347472"/>
          </a:xfrm>
          <a:prstGeom prst="rect">
            <a:avLst/>
          </a:prstGeom>
          <a:noFill/>
        </p:spPr>
        <p:txBody>
          <a:bodyPr wrap="square">
            <a:spAutoFit/>
          </a:bodyPr>
          <a:lstStyle/>
          <a:p>
            <a:pPr algn="l"/>
            <a:r>
              <a:rPr sz="1100" b="1" i="0">
                <a:solidFill>
                  <a:srgbClr val="FFFFFF"/>
                </a:solidFill>
              </a:rPr>
              <a:t>Langkah Perbaikan &amp; Submit Ulang</a:t>
            </a:r>
          </a:p>
        </p:txBody>
      </p:sp>
      <p:sp>
        <p:nvSpPr>
          <p:cNvPr id="37" name="Rectangle 36"/>
          <p:cNvSpPr/>
          <p:nvPr/>
        </p:nvSpPr>
        <p:spPr>
          <a:xfrm>
            <a:off x="6309360" y="3547872"/>
            <a:ext cx="411480" cy="5943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9360" y="3639312"/>
            <a:ext cx="411480" cy="411480"/>
          </a:xfrm>
          <a:prstGeom prst="rect">
            <a:avLst/>
          </a:prstGeom>
          <a:noFill/>
        </p:spPr>
        <p:txBody>
          <a:bodyPr wrap="square">
            <a:spAutoFit/>
          </a:bodyPr>
          <a:lstStyle/>
          <a:p>
            <a:pPr algn="ctr"/>
            <a:r>
              <a:rPr sz="1400" b="1" i="0">
                <a:solidFill>
                  <a:srgbClr val="FFFFFF"/>
                </a:solidFill>
              </a:rPr>
              <a:t>1</a:t>
            </a:r>
          </a:p>
        </p:txBody>
      </p:sp>
      <p:sp>
        <p:nvSpPr>
          <p:cNvPr id="39" name="TextBox 38"/>
          <p:cNvSpPr txBox="1"/>
          <p:nvPr/>
        </p:nvSpPr>
        <p:spPr>
          <a:xfrm>
            <a:off x="6793992" y="3547872"/>
            <a:ext cx="4937760" cy="640080"/>
          </a:xfrm>
          <a:prstGeom prst="rect">
            <a:avLst/>
          </a:prstGeom>
          <a:noFill/>
        </p:spPr>
        <p:txBody>
          <a:bodyPr wrap="square">
            <a:spAutoFit/>
          </a:bodyPr>
          <a:lstStyle/>
          <a:p>
            <a:pPr algn="l"/>
            <a:r>
              <a:rPr sz="1000" b="0" i="0">
                <a:solidFill>
                  <a:srgbClr val="444444"/>
                </a:solidFill>
              </a:rPr>
              <a:t>Klik ikon pensil (✏) pada IKU yang perlu diperbaiki.</a:t>
            </a:r>
          </a:p>
        </p:txBody>
      </p:sp>
      <p:sp>
        <p:nvSpPr>
          <p:cNvPr id="40" name="Rectangle 39"/>
          <p:cNvSpPr/>
          <p:nvPr/>
        </p:nvSpPr>
        <p:spPr>
          <a:xfrm>
            <a:off x="6309360" y="4215383"/>
            <a:ext cx="411480" cy="5943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09360" y="4306823"/>
            <a:ext cx="411480" cy="411480"/>
          </a:xfrm>
          <a:prstGeom prst="rect">
            <a:avLst/>
          </a:prstGeom>
          <a:noFill/>
        </p:spPr>
        <p:txBody>
          <a:bodyPr wrap="square">
            <a:spAutoFit/>
          </a:bodyPr>
          <a:lstStyle/>
          <a:p>
            <a:pPr algn="ctr"/>
            <a:r>
              <a:rPr sz="1400" b="1" i="0">
                <a:solidFill>
                  <a:srgbClr val="FFFFFF"/>
                </a:solidFill>
              </a:rPr>
              <a:t>2</a:t>
            </a:r>
          </a:p>
        </p:txBody>
      </p:sp>
      <p:sp>
        <p:nvSpPr>
          <p:cNvPr id="42" name="TextBox 41"/>
          <p:cNvSpPr txBox="1"/>
          <p:nvPr/>
        </p:nvSpPr>
        <p:spPr>
          <a:xfrm>
            <a:off x="6793992" y="4215383"/>
            <a:ext cx="4937760" cy="640080"/>
          </a:xfrm>
          <a:prstGeom prst="rect">
            <a:avLst/>
          </a:prstGeom>
          <a:noFill/>
        </p:spPr>
        <p:txBody>
          <a:bodyPr wrap="square">
            <a:spAutoFit/>
          </a:bodyPr>
          <a:lstStyle/>
          <a:p>
            <a:pPr algn="l"/>
            <a:r>
              <a:rPr sz="1000" b="0" i="0">
                <a:solidFill>
                  <a:srgbClr val="444444"/>
                </a:solidFill>
              </a:rPr>
              <a:t>Lakukan perubahan sesuai catatan revisi dari Kabag Umum.</a:t>
            </a:r>
          </a:p>
        </p:txBody>
      </p:sp>
      <p:sp>
        <p:nvSpPr>
          <p:cNvPr id="43" name="Rectangle 42"/>
          <p:cNvSpPr/>
          <p:nvPr/>
        </p:nvSpPr>
        <p:spPr>
          <a:xfrm>
            <a:off x="6309360" y="4882896"/>
            <a:ext cx="411480" cy="5943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09360" y="4974336"/>
            <a:ext cx="411480" cy="411480"/>
          </a:xfrm>
          <a:prstGeom prst="rect">
            <a:avLst/>
          </a:prstGeom>
          <a:noFill/>
        </p:spPr>
        <p:txBody>
          <a:bodyPr wrap="square">
            <a:spAutoFit/>
          </a:bodyPr>
          <a:lstStyle/>
          <a:p>
            <a:pPr algn="ctr"/>
            <a:r>
              <a:rPr sz="1400" b="1" i="0">
                <a:solidFill>
                  <a:srgbClr val="FFFFFF"/>
                </a:solidFill>
              </a:rPr>
              <a:t>3</a:t>
            </a:r>
          </a:p>
        </p:txBody>
      </p:sp>
      <p:sp>
        <p:nvSpPr>
          <p:cNvPr id="45" name="TextBox 44"/>
          <p:cNvSpPr txBox="1"/>
          <p:nvPr/>
        </p:nvSpPr>
        <p:spPr>
          <a:xfrm>
            <a:off x="6793992" y="4882896"/>
            <a:ext cx="4937760" cy="640080"/>
          </a:xfrm>
          <a:prstGeom prst="rect">
            <a:avLst/>
          </a:prstGeom>
          <a:noFill/>
        </p:spPr>
        <p:txBody>
          <a:bodyPr wrap="square">
            <a:spAutoFit/>
          </a:bodyPr>
          <a:lstStyle/>
          <a:p>
            <a:pPr algn="l"/>
            <a:r>
              <a:rPr sz="1000" b="0" i="0">
                <a:solidFill>
                  <a:srgbClr val="444444"/>
                </a:solidFill>
              </a:rPr>
              <a:t>Klik Simpan setelah setiap perubahan.</a:t>
            </a:r>
          </a:p>
        </p:txBody>
      </p:sp>
      <p:sp>
        <p:nvSpPr>
          <p:cNvPr id="46" name="Rectangle 45"/>
          <p:cNvSpPr/>
          <p:nvPr/>
        </p:nvSpPr>
        <p:spPr>
          <a:xfrm>
            <a:off x="6309360" y="5550408"/>
            <a:ext cx="411480" cy="5943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09360" y="5641848"/>
            <a:ext cx="411480" cy="411480"/>
          </a:xfrm>
          <a:prstGeom prst="rect">
            <a:avLst/>
          </a:prstGeom>
          <a:noFill/>
        </p:spPr>
        <p:txBody>
          <a:bodyPr wrap="square">
            <a:spAutoFit/>
          </a:bodyPr>
          <a:lstStyle/>
          <a:p>
            <a:pPr algn="ctr"/>
            <a:r>
              <a:rPr sz="1400" b="1" i="0">
                <a:solidFill>
                  <a:srgbClr val="FFFFFF"/>
                </a:solidFill>
              </a:rPr>
              <a:t>4</a:t>
            </a:r>
          </a:p>
        </p:txBody>
      </p:sp>
      <p:sp>
        <p:nvSpPr>
          <p:cNvPr id="48" name="TextBox 47"/>
          <p:cNvSpPr txBox="1"/>
          <p:nvPr/>
        </p:nvSpPr>
        <p:spPr>
          <a:xfrm>
            <a:off x="6793992" y="5550408"/>
            <a:ext cx="4937760" cy="640080"/>
          </a:xfrm>
          <a:prstGeom prst="rect">
            <a:avLst/>
          </a:prstGeom>
          <a:noFill/>
        </p:spPr>
        <p:txBody>
          <a:bodyPr wrap="square">
            <a:spAutoFit/>
          </a:bodyPr>
          <a:lstStyle/>
          <a:p>
            <a:pPr algn="l"/>
            <a:r>
              <a:rPr sz="1000" b="0" i="0">
                <a:solidFill>
                  <a:srgbClr val="444444"/>
                </a:solidFill>
              </a:rPr>
              <a:t>Setelah semua perbaikan selesai, klik kembali tombol "Submit ke Kabag Umum".</a:t>
            </a:r>
          </a:p>
        </p:txBody>
      </p:sp>
      <p:sp>
        <p:nvSpPr>
          <p:cNvPr id="49" name="Rectangle 48"/>
          <p:cNvSpPr/>
          <p:nvPr/>
        </p:nvSpPr>
        <p:spPr>
          <a:xfrm>
            <a:off x="365760" y="6400800"/>
            <a:ext cx="11430000" cy="502920"/>
          </a:xfrm>
          <a:prstGeom prst="rect">
            <a:avLst/>
          </a:prstGeom>
          <a:solidFill>
            <a:srgbClr val="FFF3CD"/>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48640" y="6419088"/>
            <a:ext cx="11155680" cy="466344"/>
          </a:xfrm>
          <a:prstGeom prst="rect">
            <a:avLst/>
          </a:prstGeom>
          <a:noFill/>
        </p:spPr>
        <p:txBody>
          <a:bodyPr wrap="square">
            <a:spAutoFit/>
          </a:bodyPr>
          <a:lstStyle/>
          <a:p>
            <a:pPr algn="l"/>
            <a:r>
              <a:rPr sz="950" b="0" i="0">
                <a:solidFill>
                  <a:srgbClr val="7D6008"/>
                </a:solidFill>
              </a:rPr>
              <a:t>⚠  Tidak ada batasan jumlah submit ulang. Namun, pastikan semua catatan revisi sudah ditangani agar persetujuan dapat diberikan.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09728"/>
            <a:ext cx="11430000" cy="594360"/>
          </a:xfrm>
          <a:prstGeom prst="rect">
            <a:avLst/>
          </a:prstGeom>
          <a:noFill/>
        </p:spPr>
        <p:txBody>
          <a:bodyPr wrap="square">
            <a:spAutoFit/>
          </a:bodyPr>
          <a:lstStyle/>
          <a:p>
            <a:pPr algn="l"/>
            <a:r>
              <a:rPr sz="2600" b="1" i="0">
                <a:solidFill>
                  <a:srgbClr val="FFFFFF"/>
                </a:solidFill>
              </a:rPr>
              <a:t>10  |  FAQ &amp; Penutup</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300" b="0" i="0">
                <a:solidFill>
                  <a:srgbClr val="C8D8F0"/>
                </a:solidFill>
              </a:rPr>
              <a:t>Pertanyaan yang Sering Diajukan</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Petunjuk Teknis Ketua Tim Kerja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11 / 11</a:t>
            </a:r>
          </a:p>
        </p:txBody>
      </p:sp>
      <p:sp>
        <p:nvSpPr>
          <p:cNvPr id="10" name="Rectangle 9"/>
          <p:cNvSpPr/>
          <p:nvPr/>
        </p:nvSpPr>
        <p:spPr>
          <a:xfrm>
            <a:off x="365760" y="1261872"/>
            <a:ext cx="5577840" cy="164592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61872"/>
            <a:ext cx="502920" cy="16459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 y="1856231"/>
            <a:ext cx="384048" cy="502920"/>
          </a:xfrm>
          <a:prstGeom prst="rect">
            <a:avLst/>
          </a:prstGeom>
          <a:noFill/>
        </p:spPr>
        <p:txBody>
          <a:bodyPr wrap="square">
            <a:spAutoFit/>
          </a:bodyPr>
          <a:lstStyle/>
          <a:p>
            <a:pPr algn="ctr"/>
            <a:r>
              <a:rPr sz="1800" b="1" i="0">
                <a:solidFill>
                  <a:srgbClr val="FFFFFF"/>
                </a:solidFill>
              </a:rPr>
              <a:t>Q</a:t>
            </a:r>
          </a:p>
        </p:txBody>
      </p:sp>
      <p:sp>
        <p:nvSpPr>
          <p:cNvPr id="13" name="TextBox 12"/>
          <p:cNvSpPr txBox="1"/>
          <p:nvPr/>
        </p:nvSpPr>
        <p:spPr>
          <a:xfrm>
            <a:off x="960120" y="1307592"/>
            <a:ext cx="4892040" cy="438912"/>
          </a:xfrm>
          <a:prstGeom prst="rect">
            <a:avLst/>
          </a:prstGeom>
          <a:noFill/>
        </p:spPr>
        <p:txBody>
          <a:bodyPr wrap="square">
            <a:spAutoFit/>
          </a:bodyPr>
          <a:lstStyle/>
          <a:p>
            <a:pPr algn="l"/>
            <a:r>
              <a:rPr sz="1000" b="1" i="0">
                <a:solidFill>
                  <a:srgbClr val="1A376C"/>
                </a:solidFill>
              </a:rPr>
              <a:t>Saya tidak bisa login. Apa yang harus dilakukan?</a:t>
            </a:r>
          </a:p>
        </p:txBody>
      </p:sp>
      <p:sp>
        <p:nvSpPr>
          <p:cNvPr id="14" name="Rectangle 13"/>
          <p:cNvSpPr/>
          <p:nvPr/>
        </p:nvSpPr>
        <p:spPr>
          <a:xfrm>
            <a:off x="960120" y="1755648"/>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1828800"/>
            <a:ext cx="4892040" cy="1005840"/>
          </a:xfrm>
          <a:prstGeom prst="rect">
            <a:avLst/>
          </a:prstGeom>
          <a:noFill/>
        </p:spPr>
        <p:txBody>
          <a:bodyPr wrap="square">
            <a:spAutoFit/>
          </a:bodyPr>
          <a:lstStyle/>
          <a:p>
            <a:pPr algn="l"/>
            <a:r>
              <a:rPr sz="950" b="0" i="0">
                <a:solidFill>
                  <a:srgbClr val="444444"/>
                </a:solidFill>
              </a:rPr>
              <a:t>Periksa username (ketua.xxx) dan password. Pastikan Caps Lock nonaktif. Jika tetap gagal, hubungi Admin Sistem untuk reset password atau aktivasi akun.</a:t>
            </a:r>
          </a:p>
        </p:txBody>
      </p:sp>
      <p:sp>
        <p:nvSpPr>
          <p:cNvPr id="16" name="Rectangle 15"/>
          <p:cNvSpPr/>
          <p:nvPr/>
        </p:nvSpPr>
        <p:spPr>
          <a:xfrm>
            <a:off x="6309360" y="1261872"/>
            <a:ext cx="5577840" cy="164592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09360" y="1261872"/>
            <a:ext cx="502920" cy="16459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3368" y="1856231"/>
            <a:ext cx="384048" cy="502920"/>
          </a:xfrm>
          <a:prstGeom prst="rect">
            <a:avLst/>
          </a:prstGeom>
          <a:noFill/>
        </p:spPr>
        <p:txBody>
          <a:bodyPr wrap="square">
            <a:spAutoFit/>
          </a:bodyPr>
          <a:lstStyle/>
          <a:p>
            <a:pPr algn="ctr"/>
            <a:r>
              <a:rPr sz="1800" b="1" i="0">
                <a:solidFill>
                  <a:srgbClr val="FFFFFF"/>
                </a:solidFill>
              </a:rPr>
              <a:t>Q</a:t>
            </a:r>
          </a:p>
        </p:txBody>
      </p:sp>
      <p:sp>
        <p:nvSpPr>
          <p:cNvPr id="19" name="TextBox 18"/>
          <p:cNvSpPr txBox="1"/>
          <p:nvPr/>
        </p:nvSpPr>
        <p:spPr>
          <a:xfrm>
            <a:off x="6903720" y="1307592"/>
            <a:ext cx="4892040" cy="438912"/>
          </a:xfrm>
          <a:prstGeom prst="rect">
            <a:avLst/>
          </a:prstGeom>
          <a:noFill/>
        </p:spPr>
        <p:txBody>
          <a:bodyPr wrap="square">
            <a:spAutoFit/>
          </a:bodyPr>
          <a:lstStyle/>
          <a:p>
            <a:pPr algn="l"/>
            <a:r>
              <a:rPr sz="1000" b="1" i="0">
                <a:solidFill>
                  <a:srgbClr val="1A376C"/>
                </a:solidFill>
              </a:rPr>
              <a:t>Mengapa tombol Submit tidak muncul/tidak aktif?</a:t>
            </a:r>
          </a:p>
        </p:txBody>
      </p:sp>
      <p:sp>
        <p:nvSpPr>
          <p:cNvPr id="20" name="Rectangle 19"/>
          <p:cNvSpPr/>
          <p:nvPr/>
        </p:nvSpPr>
        <p:spPr>
          <a:xfrm>
            <a:off x="6903720" y="1755648"/>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03720" y="1828800"/>
            <a:ext cx="4892040" cy="1005840"/>
          </a:xfrm>
          <a:prstGeom prst="rect">
            <a:avLst/>
          </a:prstGeom>
          <a:noFill/>
        </p:spPr>
        <p:txBody>
          <a:bodyPr wrap="square">
            <a:spAutoFit/>
          </a:bodyPr>
          <a:lstStyle/>
          <a:p>
            <a:pPr algn="l"/>
            <a:r>
              <a:rPr sz="950" b="0" i="0">
                <a:solidFill>
                  <a:srgbClr val="444444"/>
                </a:solidFill>
              </a:rPr>
              <a:t>Tombol Submit hanya aktif jika SEMUA IKU sudah diisi target TW I–IV dan minimal satu rencana kegiatan. Periksa apakah ada IKU yang belum diisi.</a:t>
            </a:r>
          </a:p>
        </p:txBody>
      </p:sp>
      <p:sp>
        <p:nvSpPr>
          <p:cNvPr id="22" name="Rectangle 21"/>
          <p:cNvSpPr/>
          <p:nvPr/>
        </p:nvSpPr>
        <p:spPr>
          <a:xfrm>
            <a:off x="365760" y="2980944"/>
            <a:ext cx="5577840" cy="164592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2980944"/>
            <a:ext cx="502920" cy="16459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9768" y="3575303"/>
            <a:ext cx="384048" cy="502920"/>
          </a:xfrm>
          <a:prstGeom prst="rect">
            <a:avLst/>
          </a:prstGeom>
          <a:noFill/>
        </p:spPr>
        <p:txBody>
          <a:bodyPr wrap="square">
            <a:spAutoFit/>
          </a:bodyPr>
          <a:lstStyle/>
          <a:p>
            <a:pPr algn="ctr"/>
            <a:r>
              <a:rPr sz="1800" b="1" i="0">
                <a:solidFill>
                  <a:srgbClr val="FFFFFF"/>
                </a:solidFill>
              </a:rPr>
              <a:t>Q</a:t>
            </a:r>
          </a:p>
        </p:txBody>
      </p:sp>
      <p:sp>
        <p:nvSpPr>
          <p:cNvPr id="25" name="TextBox 24"/>
          <p:cNvSpPr txBox="1"/>
          <p:nvPr/>
        </p:nvSpPr>
        <p:spPr>
          <a:xfrm>
            <a:off x="960120" y="3026663"/>
            <a:ext cx="4892040" cy="438912"/>
          </a:xfrm>
          <a:prstGeom prst="rect">
            <a:avLst/>
          </a:prstGeom>
          <a:noFill/>
        </p:spPr>
        <p:txBody>
          <a:bodyPr wrap="square">
            <a:spAutoFit/>
          </a:bodyPr>
          <a:lstStyle/>
          <a:p>
            <a:pPr algn="l"/>
            <a:r>
              <a:rPr sz="1000" b="1" i="0">
                <a:solidFill>
                  <a:srgbClr val="1A376C"/>
                </a:solidFill>
              </a:rPr>
              <a:t>Bisakah saya mengedit data setelah submit?</a:t>
            </a:r>
          </a:p>
        </p:txBody>
      </p:sp>
      <p:sp>
        <p:nvSpPr>
          <p:cNvPr id="26" name="Rectangle 25"/>
          <p:cNvSpPr/>
          <p:nvPr/>
        </p:nvSpPr>
        <p:spPr>
          <a:xfrm>
            <a:off x="960120" y="3474720"/>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3547872"/>
            <a:ext cx="4892040" cy="1005840"/>
          </a:xfrm>
          <a:prstGeom prst="rect">
            <a:avLst/>
          </a:prstGeom>
          <a:noFill/>
        </p:spPr>
        <p:txBody>
          <a:bodyPr wrap="square">
            <a:spAutoFit/>
          </a:bodyPr>
          <a:lstStyle/>
          <a:p>
            <a:pPr algn="l"/>
            <a:r>
              <a:rPr sz="950" b="0" i="0">
                <a:solidFill>
                  <a:srgbClr val="444444"/>
                </a:solidFill>
              </a:rPr>
              <a:t>Tidak. Dokumen yang telah disubmit dikunci secara otomatis. Pengeditan hanya bisa dilakukan jika Kabag Umum mengembalikan dokumen dengan catatan revisi.</a:t>
            </a:r>
          </a:p>
        </p:txBody>
      </p:sp>
      <p:sp>
        <p:nvSpPr>
          <p:cNvPr id="28" name="Rectangle 27"/>
          <p:cNvSpPr/>
          <p:nvPr/>
        </p:nvSpPr>
        <p:spPr>
          <a:xfrm>
            <a:off x="6309360" y="2980944"/>
            <a:ext cx="5577840" cy="164592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09360" y="2980944"/>
            <a:ext cx="502920" cy="16459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73368" y="3575303"/>
            <a:ext cx="384048" cy="502920"/>
          </a:xfrm>
          <a:prstGeom prst="rect">
            <a:avLst/>
          </a:prstGeom>
          <a:noFill/>
        </p:spPr>
        <p:txBody>
          <a:bodyPr wrap="square">
            <a:spAutoFit/>
          </a:bodyPr>
          <a:lstStyle/>
          <a:p>
            <a:pPr algn="ctr"/>
            <a:r>
              <a:rPr sz="1800" b="1" i="0">
                <a:solidFill>
                  <a:srgbClr val="FFFFFF"/>
                </a:solidFill>
              </a:rPr>
              <a:t>Q</a:t>
            </a:r>
          </a:p>
        </p:txBody>
      </p:sp>
      <p:sp>
        <p:nvSpPr>
          <p:cNvPr id="31" name="TextBox 30"/>
          <p:cNvSpPr txBox="1"/>
          <p:nvPr/>
        </p:nvSpPr>
        <p:spPr>
          <a:xfrm>
            <a:off x="6903720" y="3026663"/>
            <a:ext cx="4892040" cy="438912"/>
          </a:xfrm>
          <a:prstGeom prst="rect">
            <a:avLst/>
          </a:prstGeom>
          <a:noFill/>
        </p:spPr>
        <p:txBody>
          <a:bodyPr wrap="square">
            <a:spAutoFit/>
          </a:bodyPr>
          <a:lstStyle/>
          <a:p>
            <a:pPr algn="l"/>
            <a:r>
              <a:rPr sz="1000" b="1" i="0">
                <a:solidFill>
                  <a:srgbClr val="1A376C"/>
                </a:solidFill>
              </a:rPr>
              <a:t>Apa itu IKU Kolaborasi? Siapa yang mengisinya?</a:t>
            </a:r>
          </a:p>
        </p:txBody>
      </p:sp>
      <p:sp>
        <p:nvSpPr>
          <p:cNvPr id="32" name="Rectangle 31"/>
          <p:cNvSpPr/>
          <p:nvPr/>
        </p:nvSpPr>
        <p:spPr>
          <a:xfrm>
            <a:off x="6903720" y="3474720"/>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03720" y="3547872"/>
            <a:ext cx="4892040" cy="1005840"/>
          </a:xfrm>
          <a:prstGeom prst="rect">
            <a:avLst/>
          </a:prstGeom>
          <a:noFill/>
        </p:spPr>
        <p:txBody>
          <a:bodyPr wrap="square">
            <a:spAutoFit/>
          </a:bodyPr>
          <a:lstStyle/>
          <a:p>
            <a:pPr algn="l"/>
            <a:r>
              <a:rPr sz="950" b="0" i="0">
                <a:solidFill>
                  <a:srgbClr val="444444"/>
                </a:solidFill>
              </a:rPr>
              <a:t>IKU Kolaborasi adalah IKU yang dikerjakan bersama beberapa Tim Kerja. Setiap Tim Kerja mengisi rencana kegiatannya masing-masing pada IKU tersebut.</a:t>
            </a:r>
          </a:p>
        </p:txBody>
      </p:sp>
      <p:sp>
        <p:nvSpPr>
          <p:cNvPr id="34" name="Rectangle 33"/>
          <p:cNvSpPr/>
          <p:nvPr/>
        </p:nvSpPr>
        <p:spPr>
          <a:xfrm>
            <a:off x="365760" y="4700016"/>
            <a:ext cx="5577840" cy="164592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4700016"/>
            <a:ext cx="502920" cy="16459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9768" y="5294376"/>
            <a:ext cx="384048" cy="502920"/>
          </a:xfrm>
          <a:prstGeom prst="rect">
            <a:avLst/>
          </a:prstGeom>
          <a:noFill/>
        </p:spPr>
        <p:txBody>
          <a:bodyPr wrap="square">
            <a:spAutoFit/>
          </a:bodyPr>
          <a:lstStyle/>
          <a:p>
            <a:pPr algn="ctr"/>
            <a:r>
              <a:rPr sz="1800" b="1" i="0">
                <a:solidFill>
                  <a:srgbClr val="FFFFFF"/>
                </a:solidFill>
              </a:rPr>
              <a:t>Q</a:t>
            </a:r>
          </a:p>
        </p:txBody>
      </p:sp>
      <p:sp>
        <p:nvSpPr>
          <p:cNvPr id="37" name="TextBox 36"/>
          <p:cNvSpPr txBox="1"/>
          <p:nvPr/>
        </p:nvSpPr>
        <p:spPr>
          <a:xfrm>
            <a:off x="960120" y="4745736"/>
            <a:ext cx="4892040" cy="438912"/>
          </a:xfrm>
          <a:prstGeom prst="rect">
            <a:avLst/>
          </a:prstGeom>
          <a:noFill/>
        </p:spPr>
        <p:txBody>
          <a:bodyPr wrap="square">
            <a:spAutoFit/>
          </a:bodyPr>
          <a:lstStyle/>
          <a:p>
            <a:pPr algn="l"/>
            <a:r>
              <a:rPr sz="1000" b="1" i="0">
                <a:solidFill>
                  <a:srgbClr val="1A376C"/>
                </a:solidFill>
              </a:rPr>
              <a:t>Berapa lama proses persetujuan oleh Kabag Umum?</a:t>
            </a:r>
          </a:p>
        </p:txBody>
      </p:sp>
      <p:sp>
        <p:nvSpPr>
          <p:cNvPr id="38" name="Rectangle 37"/>
          <p:cNvSpPr/>
          <p:nvPr/>
        </p:nvSpPr>
        <p:spPr>
          <a:xfrm>
            <a:off x="960120" y="5193792"/>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0120" y="5266944"/>
            <a:ext cx="4892040" cy="1005840"/>
          </a:xfrm>
          <a:prstGeom prst="rect">
            <a:avLst/>
          </a:prstGeom>
          <a:noFill/>
        </p:spPr>
        <p:txBody>
          <a:bodyPr wrap="square">
            <a:spAutoFit/>
          </a:bodyPr>
          <a:lstStyle/>
          <a:p>
            <a:pPr algn="l"/>
            <a:r>
              <a:rPr sz="950" b="0" i="0">
                <a:solidFill>
                  <a:srgbClr val="444444"/>
                </a:solidFill>
              </a:rPr>
              <a:t>Proses persetujuan dilakukan oleh Kabag Umum sesuai jadwal yang ditetapkan. Pantau status dokumen secara berkala di halaman Penyusunan.</a:t>
            </a:r>
          </a:p>
        </p:txBody>
      </p:sp>
      <p:sp>
        <p:nvSpPr>
          <p:cNvPr id="40" name="Rectangle 39"/>
          <p:cNvSpPr/>
          <p:nvPr/>
        </p:nvSpPr>
        <p:spPr>
          <a:xfrm>
            <a:off x="6309360" y="4700016"/>
            <a:ext cx="5577840" cy="164592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09360" y="4700016"/>
            <a:ext cx="502920" cy="16459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73368" y="5294376"/>
            <a:ext cx="384048" cy="502920"/>
          </a:xfrm>
          <a:prstGeom prst="rect">
            <a:avLst/>
          </a:prstGeom>
          <a:noFill/>
        </p:spPr>
        <p:txBody>
          <a:bodyPr wrap="square">
            <a:spAutoFit/>
          </a:bodyPr>
          <a:lstStyle/>
          <a:p>
            <a:pPr algn="ctr"/>
            <a:r>
              <a:rPr sz="1800" b="1" i="0">
                <a:solidFill>
                  <a:srgbClr val="FFFFFF"/>
                </a:solidFill>
              </a:rPr>
              <a:t>Q</a:t>
            </a:r>
          </a:p>
        </p:txBody>
      </p:sp>
      <p:sp>
        <p:nvSpPr>
          <p:cNvPr id="43" name="TextBox 42"/>
          <p:cNvSpPr txBox="1"/>
          <p:nvPr/>
        </p:nvSpPr>
        <p:spPr>
          <a:xfrm>
            <a:off x="6903720" y="4745736"/>
            <a:ext cx="4892040" cy="438912"/>
          </a:xfrm>
          <a:prstGeom prst="rect">
            <a:avLst/>
          </a:prstGeom>
          <a:noFill/>
        </p:spPr>
        <p:txBody>
          <a:bodyPr wrap="square">
            <a:spAutoFit/>
          </a:bodyPr>
          <a:lstStyle/>
          <a:p>
            <a:pPr algn="l"/>
            <a:r>
              <a:rPr sz="1000" b="1" i="0">
                <a:solidFill>
                  <a:srgbClr val="1A376C"/>
                </a:solidFill>
              </a:rPr>
              <a:t>Data yang saya input hilang/tidak tersimpan. Apa yang terjadi?</a:t>
            </a:r>
          </a:p>
        </p:txBody>
      </p:sp>
      <p:sp>
        <p:nvSpPr>
          <p:cNvPr id="44" name="Rectangle 43"/>
          <p:cNvSpPr/>
          <p:nvPr/>
        </p:nvSpPr>
        <p:spPr>
          <a:xfrm>
            <a:off x="6903720" y="5193792"/>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903720" y="5266944"/>
            <a:ext cx="4892040" cy="1005840"/>
          </a:xfrm>
          <a:prstGeom prst="rect">
            <a:avLst/>
          </a:prstGeom>
          <a:noFill/>
        </p:spPr>
        <p:txBody>
          <a:bodyPr wrap="square">
            <a:spAutoFit/>
          </a:bodyPr>
          <a:lstStyle/>
          <a:p>
            <a:pPr algn="l"/>
            <a:r>
              <a:rPr sz="950" b="0" i="0">
                <a:solidFill>
                  <a:srgbClr val="444444"/>
                </a:solidFill>
              </a:rPr>
              <a:t>Pastikan Anda selalu menekan tombol Simpan setelah mengisi data. Data tidak tersimpan otomatis. Jika masalah berlanjut, hubungi Admin Sistem.</a:t>
            </a:r>
          </a:p>
        </p:txBody>
      </p:sp>
      <p:sp>
        <p:nvSpPr>
          <p:cNvPr id="46" name="Rectangle 45"/>
          <p:cNvSpPr/>
          <p:nvPr/>
        </p:nvSpPr>
        <p:spPr>
          <a:xfrm>
            <a:off x="365760" y="6446520"/>
            <a:ext cx="11430000" cy="41148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8640" y="6464808"/>
            <a:ext cx="11155680" cy="365760"/>
          </a:xfrm>
          <a:prstGeom prst="rect">
            <a:avLst/>
          </a:prstGeom>
          <a:noFill/>
        </p:spPr>
        <p:txBody>
          <a:bodyPr wrap="square">
            <a:spAutoFit/>
          </a:bodyPr>
          <a:lstStyle/>
          <a:p>
            <a:pPr algn="ctr"/>
            <a:r>
              <a:rPr sz="950" b="0" i="0">
                <a:solidFill>
                  <a:srgbClr val="FFFFFF"/>
                </a:solidFill>
              </a:rPr>
              <a:t>Untuk bantuan lebih lanjut, hubungi Admin Sistem SIPITUNG  |  LLDIKTI Wilayah III  |  Versi 1.0 — April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