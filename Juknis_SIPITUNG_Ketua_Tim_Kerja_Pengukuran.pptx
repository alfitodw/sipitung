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0"/>
            <a:ext cx="73152"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365760"/>
            <a:ext cx="3383280" cy="1463040"/>
          </a:xfrm>
          <a:prstGeom prst="rect">
            <a:avLst/>
          </a:prstGeom>
          <a:solidFill>
            <a:srgbClr val="1A376C"/>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365760"/>
            <a:ext cx="3383280" cy="1463040"/>
          </a:xfrm>
          <a:prstGeom prst="rect">
            <a:avLst/>
          </a:prstGeom>
          <a:noFill/>
        </p:spPr>
        <p:txBody>
          <a:bodyPr wrap="square">
            <a:spAutoFit/>
          </a:bodyPr>
          <a:lstStyle/>
          <a:p>
            <a:pPr algn="ctr"/>
            <a:r>
              <a:rPr sz="1100" b="0" i="0">
                <a:solidFill>
                  <a:srgbClr val="C8D8F0"/>
                </a:solidFill>
              </a:rPr>
              <a:t>[LOGO LLDIKTI
WILAYAH III]</a:t>
            </a:r>
          </a:p>
        </p:txBody>
      </p:sp>
      <p:sp>
        <p:nvSpPr>
          <p:cNvPr id="7" name="TextBox 6"/>
          <p:cNvSpPr txBox="1"/>
          <p:nvPr/>
        </p:nvSpPr>
        <p:spPr>
          <a:xfrm>
            <a:off x="274320" y="2103120"/>
            <a:ext cx="3566160" cy="502920"/>
          </a:xfrm>
          <a:prstGeom prst="rect">
            <a:avLst/>
          </a:prstGeom>
          <a:noFill/>
        </p:spPr>
        <p:txBody>
          <a:bodyPr wrap="square">
            <a:spAutoFit/>
          </a:bodyPr>
          <a:lstStyle/>
          <a:p>
            <a:pPr algn="l"/>
            <a:r>
              <a:rPr sz="1300" b="1" i="0">
                <a:solidFill>
                  <a:srgbClr val="F5A623"/>
                </a:solidFill>
              </a:rPr>
              <a:t>LLDIKTI WILAYAH III</a:t>
            </a:r>
          </a:p>
        </p:txBody>
      </p:sp>
      <p:sp>
        <p:nvSpPr>
          <p:cNvPr id="8" name="TextBox 7"/>
          <p:cNvSpPr txBox="1"/>
          <p:nvPr/>
        </p:nvSpPr>
        <p:spPr>
          <a:xfrm>
            <a:off x="274320" y="2560320"/>
            <a:ext cx="3566160" cy="640080"/>
          </a:xfrm>
          <a:prstGeom prst="rect">
            <a:avLst/>
          </a:prstGeom>
          <a:noFill/>
        </p:spPr>
        <p:txBody>
          <a:bodyPr wrap="square">
            <a:spAutoFit/>
          </a:bodyPr>
          <a:lstStyle/>
          <a:p>
            <a:pPr algn="l"/>
            <a:r>
              <a:rPr sz="1000" b="0" i="0">
                <a:solidFill>
                  <a:srgbClr val="C8D8F0"/>
                </a:solidFill>
              </a:rPr>
              <a:t>Kementerian Pendidikan Tinggi,
Sains dan Teknologi</a:t>
            </a:r>
          </a:p>
        </p:txBody>
      </p:sp>
      <p:sp>
        <p:nvSpPr>
          <p:cNvPr id="9" name="Rectangle 8"/>
          <p:cNvSpPr/>
          <p:nvPr/>
        </p:nvSpPr>
        <p:spPr>
          <a:xfrm>
            <a:off x="274320" y="3337560"/>
            <a:ext cx="35661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474720"/>
            <a:ext cx="3566160" cy="365760"/>
          </a:xfrm>
          <a:prstGeom prst="rect">
            <a:avLst/>
          </a:prstGeom>
          <a:noFill/>
        </p:spPr>
        <p:txBody>
          <a:bodyPr wrap="square">
            <a:spAutoFit/>
          </a:bodyPr>
          <a:lstStyle/>
          <a:p>
            <a:pPr algn="l"/>
            <a:r>
              <a:rPr sz="1100" b="1" i="0">
                <a:solidFill>
                  <a:srgbClr val="C8D8F0"/>
                </a:solidFill>
              </a:rPr>
              <a:t>PETUNJUK TEKNIS</a:t>
            </a:r>
          </a:p>
        </p:txBody>
      </p:sp>
      <p:sp>
        <p:nvSpPr>
          <p:cNvPr id="11" name="TextBox 10"/>
          <p:cNvSpPr txBox="1"/>
          <p:nvPr/>
        </p:nvSpPr>
        <p:spPr>
          <a:xfrm>
            <a:off x="274320" y="3840480"/>
            <a:ext cx="3566160" cy="822960"/>
          </a:xfrm>
          <a:prstGeom prst="rect">
            <a:avLst/>
          </a:prstGeom>
          <a:noFill/>
        </p:spPr>
        <p:txBody>
          <a:bodyPr wrap="square">
            <a:spAutoFit/>
          </a:bodyPr>
          <a:lstStyle/>
          <a:p>
            <a:pPr algn="l"/>
            <a:r>
              <a:rPr sz="1400" b="1" i="0">
                <a:solidFill>
                  <a:srgbClr val="FFFFFF"/>
                </a:solidFill>
              </a:rPr>
              <a:t>Penggunaan Aplikasi
SIPITUNG</a:t>
            </a:r>
          </a:p>
        </p:txBody>
      </p:sp>
      <p:sp>
        <p:nvSpPr>
          <p:cNvPr id="12" name="TextBox 11"/>
          <p:cNvSpPr txBox="1"/>
          <p:nvPr/>
        </p:nvSpPr>
        <p:spPr>
          <a:xfrm>
            <a:off x="274320" y="6309360"/>
            <a:ext cx="3566160" cy="365760"/>
          </a:xfrm>
          <a:prstGeom prst="rect">
            <a:avLst/>
          </a:prstGeom>
          <a:noFill/>
        </p:spPr>
        <p:txBody>
          <a:bodyPr wrap="square">
            <a:spAutoFit/>
          </a:bodyPr>
          <a:lstStyle/>
          <a:p>
            <a:pPr algn="l"/>
            <a:r>
              <a:rPr sz="900" b="0" i="0">
                <a:solidFill>
                  <a:srgbClr val="88A8D0"/>
                </a:solidFill>
              </a:rPr>
              <a:t>Versi 1.0  |  April 2026</a:t>
            </a:r>
          </a:p>
        </p:txBody>
      </p:sp>
      <p:sp>
        <p:nvSpPr>
          <p:cNvPr id="13" name="TextBox 12"/>
          <p:cNvSpPr txBox="1"/>
          <p:nvPr/>
        </p:nvSpPr>
        <p:spPr>
          <a:xfrm>
            <a:off x="4480560" y="1005840"/>
            <a:ext cx="7315200" cy="1280160"/>
          </a:xfrm>
          <a:prstGeom prst="rect">
            <a:avLst/>
          </a:prstGeom>
          <a:noFill/>
        </p:spPr>
        <p:txBody>
          <a:bodyPr wrap="square">
            <a:spAutoFit/>
          </a:bodyPr>
          <a:lstStyle/>
          <a:p>
            <a:pPr algn="l"/>
            <a:r>
              <a:rPr sz="5200" b="1" i="0">
                <a:solidFill>
                  <a:srgbClr val="FFFFFF"/>
                </a:solidFill>
              </a:rPr>
              <a:t>SIPITUNG</a:t>
            </a:r>
          </a:p>
        </p:txBody>
      </p:sp>
      <p:sp>
        <p:nvSpPr>
          <p:cNvPr id="14" name="TextBox 13"/>
          <p:cNvSpPr txBox="1"/>
          <p:nvPr/>
        </p:nvSpPr>
        <p:spPr>
          <a:xfrm>
            <a:off x="4480560" y="2240280"/>
            <a:ext cx="7315200" cy="457200"/>
          </a:xfrm>
          <a:prstGeom prst="rect">
            <a:avLst/>
          </a:prstGeom>
          <a:noFill/>
        </p:spPr>
        <p:txBody>
          <a:bodyPr wrap="square">
            <a:spAutoFit/>
          </a:bodyPr>
          <a:lstStyle/>
          <a:p>
            <a:pPr algn="l"/>
            <a:r>
              <a:rPr sz="1600" b="0" i="0">
                <a:solidFill>
                  <a:srgbClr val="F5A623"/>
                </a:solidFill>
              </a:rPr>
              <a:t>Sistem Informasi Perencanaan &amp; Kinerja</a:t>
            </a:r>
          </a:p>
        </p:txBody>
      </p:sp>
      <p:sp>
        <p:nvSpPr>
          <p:cNvPr id="15" name="Rectangle 14"/>
          <p:cNvSpPr/>
          <p:nvPr/>
        </p:nvSpPr>
        <p:spPr>
          <a:xfrm>
            <a:off x="4480560" y="2788920"/>
            <a:ext cx="7315200" cy="45720"/>
          </a:xfrm>
          <a:prstGeom prst="rect">
            <a:avLst/>
          </a:prstGeom>
          <a:solidFill>
            <a:srgbClr val="88A8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926080"/>
            <a:ext cx="7315200" cy="457200"/>
          </a:xfrm>
          <a:prstGeom prst="rect">
            <a:avLst/>
          </a:prstGeom>
          <a:noFill/>
        </p:spPr>
        <p:txBody>
          <a:bodyPr wrap="square">
            <a:spAutoFit/>
          </a:bodyPr>
          <a:lstStyle/>
          <a:p>
            <a:pPr algn="l"/>
            <a:r>
              <a:rPr sz="1500" b="1" i="0">
                <a:solidFill>
                  <a:srgbClr val="FFFFFF"/>
                </a:solidFill>
              </a:rPr>
              <a:t>Modul Pengukuran Kinerja</a:t>
            </a:r>
          </a:p>
        </p:txBody>
      </p:sp>
      <p:sp>
        <p:nvSpPr>
          <p:cNvPr id="17" name="TextBox 16"/>
          <p:cNvSpPr txBox="1"/>
          <p:nvPr/>
        </p:nvSpPr>
        <p:spPr>
          <a:xfrm>
            <a:off x="4480560" y="3429000"/>
            <a:ext cx="7315200" cy="731520"/>
          </a:xfrm>
          <a:prstGeom prst="rect">
            <a:avLst/>
          </a:prstGeom>
          <a:noFill/>
        </p:spPr>
        <p:txBody>
          <a:bodyPr wrap="square">
            <a:spAutoFit/>
          </a:bodyPr>
          <a:lstStyle/>
          <a:p>
            <a:pPr algn="l"/>
            <a:r>
              <a:rPr sz="1300" b="0" i="0">
                <a:solidFill>
                  <a:srgbClr val="C8D8F0"/>
                </a:solidFill>
              </a:rPr>
              <a:t>Panduan Pengisian Realisasi &amp; Pelaporan</a:t>
            </a:r>
          </a:p>
        </p:txBody>
      </p:sp>
      <p:sp>
        <p:nvSpPr>
          <p:cNvPr id="18" name="Rectangle 17"/>
          <p:cNvSpPr/>
          <p:nvPr/>
        </p:nvSpPr>
        <p:spPr>
          <a:xfrm>
            <a:off x="4480560" y="4297680"/>
            <a:ext cx="2194560" cy="594360"/>
          </a:xfrm>
          <a:prstGeom prst="rect">
            <a:avLst/>
          </a:prstGeom>
          <a:solidFill>
            <a:srgbClr val="1B6B35"/>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315968"/>
            <a:ext cx="2011680" cy="228600"/>
          </a:xfrm>
          <a:prstGeom prst="rect">
            <a:avLst/>
          </a:prstGeom>
          <a:noFill/>
        </p:spPr>
        <p:txBody>
          <a:bodyPr wrap="square">
            <a:spAutoFit/>
          </a:bodyPr>
          <a:lstStyle/>
          <a:p>
            <a:pPr algn="l"/>
            <a:r>
              <a:rPr sz="800" b="1" i="0">
                <a:solidFill>
                  <a:srgbClr val="F5A623"/>
                </a:solidFill>
              </a:rPr>
              <a:t>Pengguna</a:t>
            </a:r>
          </a:p>
        </p:txBody>
      </p:sp>
      <p:sp>
        <p:nvSpPr>
          <p:cNvPr id="20" name="TextBox 19"/>
          <p:cNvSpPr txBox="1"/>
          <p:nvPr/>
        </p:nvSpPr>
        <p:spPr>
          <a:xfrm>
            <a:off x="4572000" y="4544568"/>
            <a:ext cx="2011680" cy="274320"/>
          </a:xfrm>
          <a:prstGeom prst="rect">
            <a:avLst/>
          </a:prstGeom>
          <a:noFill/>
        </p:spPr>
        <p:txBody>
          <a:bodyPr wrap="square">
            <a:spAutoFit/>
          </a:bodyPr>
          <a:lstStyle/>
          <a:p>
            <a:pPr algn="l"/>
            <a:r>
              <a:rPr sz="1100" b="1" i="0">
                <a:solidFill>
                  <a:srgbClr val="FFFFFF"/>
                </a:solidFill>
              </a:rPr>
              <a:t>Ketua Tim Kerja</a:t>
            </a:r>
          </a:p>
        </p:txBody>
      </p:sp>
      <p:sp>
        <p:nvSpPr>
          <p:cNvPr id="21" name="Rectangle 20"/>
          <p:cNvSpPr/>
          <p:nvPr/>
        </p:nvSpPr>
        <p:spPr>
          <a:xfrm>
            <a:off x="6949440" y="4297680"/>
            <a:ext cx="2194560" cy="594360"/>
          </a:xfrm>
          <a:prstGeom prst="rect">
            <a:avLst/>
          </a:prstGeom>
          <a:solidFill>
            <a:srgbClr val="1B6B35"/>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4315968"/>
            <a:ext cx="2011680" cy="228600"/>
          </a:xfrm>
          <a:prstGeom prst="rect">
            <a:avLst/>
          </a:prstGeom>
          <a:noFill/>
        </p:spPr>
        <p:txBody>
          <a:bodyPr wrap="square">
            <a:spAutoFit/>
          </a:bodyPr>
          <a:lstStyle/>
          <a:p>
            <a:pPr algn="l"/>
            <a:r>
              <a:rPr sz="800" b="1" i="0">
                <a:solidFill>
                  <a:srgbClr val="F5A623"/>
                </a:solidFill>
              </a:rPr>
              <a:t>Tahun</a:t>
            </a:r>
          </a:p>
        </p:txBody>
      </p:sp>
      <p:sp>
        <p:nvSpPr>
          <p:cNvPr id="23" name="TextBox 22"/>
          <p:cNvSpPr txBox="1"/>
          <p:nvPr/>
        </p:nvSpPr>
        <p:spPr>
          <a:xfrm>
            <a:off x="7040880" y="4544568"/>
            <a:ext cx="2011680" cy="274320"/>
          </a:xfrm>
          <a:prstGeom prst="rect">
            <a:avLst/>
          </a:prstGeom>
          <a:noFill/>
        </p:spPr>
        <p:txBody>
          <a:bodyPr wrap="square">
            <a:spAutoFit/>
          </a:bodyPr>
          <a:lstStyle/>
          <a:p>
            <a:pPr algn="l"/>
            <a:r>
              <a:rPr sz="1100" b="1" i="0">
                <a:solidFill>
                  <a:srgbClr val="FFFFFF"/>
                </a:solidFill>
              </a:rPr>
              <a:t>2026</a:t>
            </a:r>
          </a:p>
        </p:txBody>
      </p:sp>
      <p:sp>
        <p:nvSpPr>
          <p:cNvPr id="24" name="Rectangle 23"/>
          <p:cNvSpPr/>
          <p:nvPr/>
        </p:nvSpPr>
        <p:spPr>
          <a:xfrm>
            <a:off x="9418320" y="4297680"/>
            <a:ext cx="2194560" cy="594360"/>
          </a:xfrm>
          <a:prstGeom prst="rect">
            <a:avLst/>
          </a:prstGeom>
          <a:solidFill>
            <a:srgbClr val="1B6B35"/>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4315968"/>
            <a:ext cx="2011680" cy="228600"/>
          </a:xfrm>
          <a:prstGeom prst="rect">
            <a:avLst/>
          </a:prstGeom>
          <a:noFill/>
        </p:spPr>
        <p:txBody>
          <a:bodyPr wrap="square">
            <a:spAutoFit/>
          </a:bodyPr>
          <a:lstStyle/>
          <a:p>
            <a:pPr algn="l"/>
            <a:r>
              <a:rPr sz="800" b="1" i="0">
                <a:solidFill>
                  <a:srgbClr val="F5A623"/>
                </a:solidFill>
              </a:rPr>
              <a:t>Status</a:t>
            </a:r>
          </a:p>
        </p:txBody>
      </p:sp>
      <p:sp>
        <p:nvSpPr>
          <p:cNvPr id="26" name="TextBox 25"/>
          <p:cNvSpPr txBox="1"/>
          <p:nvPr/>
        </p:nvSpPr>
        <p:spPr>
          <a:xfrm>
            <a:off x="9509760" y="4544568"/>
            <a:ext cx="2011680" cy="274320"/>
          </a:xfrm>
          <a:prstGeom prst="rect">
            <a:avLst/>
          </a:prstGeom>
          <a:noFill/>
        </p:spPr>
        <p:txBody>
          <a:bodyPr wrap="square">
            <a:spAutoFit/>
          </a:bodyPr>
          <a:lstStyle/>
          <a:p>
            <a:pPr algn="l"/>
            <a:r>
              <a:rPr sz="1100" b="1" i="0">
                <a:solidFill>
                  <a:srgbClr val="FFFFFF"/>
                </a:solidFill>
              </a:rPr>
              <a:t>Aktif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Daftar Isi — Juknis Pengukuran Kinerja</a:t>
            </a:r>
          </a:p>
        </p:txBody>
      </p:sp>
      <p:sp>
        <p:nvSpPr>
          <p:cNvPr id="6" name="Rectangle 5"/>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8" name="TextBox 7"/>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2 / 12</a:t>
            </a:r>
          </a:p>
        </p:txBody>
      </p:sp>
      <p:sp>
        <p:nvSpPr>
          <p:cNvPr id="9" name="Rectangle 8"/>
          <p:cNvSpPr/>
          <p:nvPr/>
        </p:nvSpPr>
        <p:spPr>
          <a:xfrm>
            <a:off x="365760" y="1234440"/>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234440"/>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417320"/>
            <a:ext cx="548640" cy="502920"/>
          </a:xfrm>
          <a:prstGeom prst="rect">
            <a:avLst/>
          </a:prstGeom>
          <a:noFill/>
        </p:spPr>
        <p:txBody>
          <a:bodyPr wrap="square">
            <a:spAutoFit/>
          </a:bodyPr>
          <a:lstStyle/>
          <a:p>
            <a:pPr algn="ctr"/>
            <a:r>
              <a:rPr sz="1600" b="1" i="0">
                <a:solidFill>
                  <a:srgbClr val="FFFFFF"/>
                </a:solidFill>
              </a:rPr>
              <a:t>01</a:t>
            </a:r>
          </a:p>
        </p:txBody>
      </p:sp>
      <p:sp>
        <p:nvSpPr>
          <p:cNvPr id="12" name="TextBox 11"/>
          <p:cNvSpPr txBox="1"/>
          <p:nvPr/>
        </p:nvSpPr>
        <p:spPr>
          <a:xfrm>
            <a:off x="1078992" y="1289304"/>
            <a:ext cx="4754880" cy="292608"/>
          </a:xfrm>
          <a:prstGeom prst="rect">
            <a:avLst/>
          </a:prstGeom>
          <a:noFill/>
        </p:spPr>
        <p:txBody>
          <a:bodyPr wrap="square">
            <a:spAutoFit/>
          </a:bodyPr>
          <a:lstStyle/>
          <a:p>
            <a:pPr algn="l"/>
            <a:r>
              <a:rPr sz="1100" b="1" i="0">
                <a:solidFill>
                  <a:srgbClr val="1A376C"/>
                </a:solidFill>
              </a:rPr>
              <a:t>Pendahuluan &amp; Tujuan</a:t>
            </a:r>
          </a:p>
        </p:txBody>
      </p:sp>
      <p:sp>
        <p:nvSpPr>
          <p:cNvPr id="13" name="TextBox 12"/>
          <p:cNvSpPr txBox="1"/>
          <p:nvPr/>
        </p:nvSpPr>
        <p:spPr>
          <a:xfrm>
            <a:off x="1078992" y="1581912"/>
            <a:ext cx="4754880" cy="502920"/>
          </a:xfrm>
          <a:prstGeom prst="rect">
            <a:avLst/>
          </a:prstGeom>
          <a:noFill/>
        </p:spPr>
        <p:txBody>
          <a:bodyPr wrap="square">
            <a:spAutoFit/>
          </a:bodyPr>
          <a:lstStyle/>
          <a:p>
            <a:pPr algn="l"/>
            <a:r>
              <a:rPr sz="900" b="0" i="0">
                <a:solidFill>
                  <a:srgbClr val="444444"/>
                </a:solidFill>
              </a:rPr>
              <a:t>Latar belakang modul Pengukuran Kinerja</a:t>
            </a:r>
          </a:p>
        </p:txBody>
      </p:sp>
      <p:sp>
        <p:nvSpPr>
          <p:cNvPr id="14" name="Rectangle 13"/>
          <p:cNvSpPr/>
          <p:nvPr/>
        </p:nvSpPr>
        <p:spPr>
          <a:xfrm>
            <a:off x="6309360" y="1234440"/>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234440"/>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417320"/>
            <a:ext cx="548640" cy="502920"/>
          </a:xfrm>
          <a:prstGeom prst="rect">
            <a:avLst/>
          </a:prstGeom>
          <a:noFill/>
        </p:spPr>
        <p:txBody>
          <a:bodyPr wrap="square">
            <a:spAutoFit/>
          </a:bodyPr>
          <a:lstStyle/>
          <a:p>
            <a:pPr algn="ctr"/>
            <a:r>
              <a:rPr sz="1600" b="1" i="0">
                <a:solidFill>
                  <a:srgbClr val="FFFFFF"/>
                </a:solidFill>
              </a:rPr>
              <a:t>02</a:t>
            </a:r>
          </a:p>
        </p:txBody>
      </p:sp>
      <p:sp>
        <p:nvSpPr>
          <p:cNvPr id="17" name="TextBox 16"/>
          <p:cNvSpPr txBox="1"/>
          <p:nvPr/>
        </p:nvSpPr>
        <p:spPr>
          <a:xfrm>
            <a:off x="7022592" y="1289304"/>
            <a:ext cx="4754880" cy="292608"/>
          </a:xfrm>
          <a:prstGeom prst="rect">
            <a:avLst/>
          </a:prstGeom>
          <a:noFill/>
        </p:spPr>
        <p:txBody>
          <a:bodyPr wrap="square">
            <a:spAutoFit/>
          </a:bodyPr>
          <a:lstStyle/>
          <a:p>
            <a:pPr algn="l"/>
            <a:r>
              <a:rPr sz="1100" b="1" i="0">
                <a:solidFill>
                  <a:srgbClr val="1A376C"/>
                </a:solidFill>
              </a:rPr>
              <a:t>Ketentuan Umum</a:t>
            </a:r>
          </a:p>
        </p:txBody>
      </p:sp>
      <p:sp>
        <p:nvSpPr>
          <p:cNvPr id="18" name="TextBox 17"/>
          <p:cNvSpPr txBox="1"/>
          <p:nvPr/>
        </p:nvSpPr>
        <p:spPr>
          <a:xfrm>
            <a:off x="7022592" y="1581912"/>
            <a:ext cx="4754880" cy="502920"/>
          </a:xfrm>
          <a:prstGeom prst="rect">
            <a:avLst/>
          </a:prstGeom>
          <a:noFill/>
        </p:spPr>
        <p:txBody>
          <a:bodyPr wrap="square">
            <a:spAutoFit/>
          </a:bodyPr>
          <a:lstStyle/>
          <a:p>
            <a:pPr algn="l"/>
            <a:r>
              <a:rPr sz="900" b="0" i="0">
                <a:solidFill>
                  <a:srgbClr val="444444"/>
                </a:solidFill>
              </a:rPr>
              <a:t>Aturan penting sebelum mengisi realisasi</a:t>
            </a:r>
          </a:p>
        </p:txBody>
      </p:sp>
      <p:sp>
        <p:nvSpPr>
          <p:cNvPr id="19" name="Rectangle 18"/>
          <p:cNvSpPr/>
          <p:nvPr/>
        </p:nvSpPr>
        <p:spPr>
          <a:xfrm>
            <a:off x="365760" y="2258568"/>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2258568"/>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441448"/>
            <a:ext cx="548640" cy="502920"/>
          </a:xfrm>
          <a:prstGeom prst="rect">
            <a:avLst/>
          </a:prstGeom>
          <a:noFill/>
        </p:spPr>
        <p:txBody>
          <a:bodyPr wrap="square">
            <a:spAutoFit/>
          </a:bodyPr>
          <a:lstStyle/>
          <a:p>
            <a:pPr algn="ctr"/>
            <a:r>
              <a:rPr sz="1600" b="1" i="0">
                <a:solidFill>
                  <a:srgbClr val="FFFFFF"/>
                </a:solidFill>
              </a:rPr>
              <a:t>03</a:t>
            </a:r>
          </a:p>
        </p:txBody>
      </p:sp>
      <p:sp>
        <p:nvSpPr>
          <p:cNvPr id="22" name="TextBox 21"/>
          <p:cNvSpPr txBox="1"/>
          <p:nvPr/>
        </p:nvSpPr>
        <p:spPr>
          <a:xfrm>
            <a:off x="1078992" y="2313432"/>
            <a:ext cx="4754880" cy="292608"/>
          </a:xfrm>
          <a:prstGeom prst="rect">
            <a:avLst/>
          </a:prstGeom>
          <a:noFill/>
        </p:spPr>
        <p:txBody>
          <a:bodyPr wrap="square">
            <a:spAutoFit/>
          </a:bodyPr>
          <a:lstStyle/>
          <a:p>
            <a:pPr algn="l"/>
            <a:r>
              <a:rPr sz="1100" b="1" i="0">
                <a:solidFill>
                  <a:srgbClr val="1A376C"/>
                </a:solidFill>
              </a:rPr>
              <a:t>Login &amp; Navigasi</a:t>
            </a:r>
          </a:p>
        </p:txBody>
      </p:sp>
      <p:sp>
        <p:nvSpPr>
          <p:cNvPr id="23" name="TextBox 22"/>
          <p:cNvSpPr txBox="1"/>
          <p:nvPr/>
        </p:nvSpPr>
        <p:spPr>
          <a:xfrm>
            <a:off x="1078992" y="2606040"/>
            <a:ext cx="4754880" cy="502920"/>
          </a:xfrm>
          <a:prstGeom prst="rect">
            <a:avLst/>
          </a:prstGeom>
          <a:noFill/>
        </p:spPr>
        <p:txBody>
          <a:bodyPr wrap="square">
            <a:spAutoFit/>
          </a:bodyPr>
          <a:lstStyle/>
          <a:p>
            <a:pPr algn="l"/>
            <a:r>
              <a:rPr sz="900" b="0" i="0">
                <a:solidFill>
                  <a:srgbClr val="444444"/>
                </a:solidFill>
              </a:rPr>
              <a:t>Masuk ke menu Pengukuran Kinerja</a:t>
            </a:r>
          </a:p>
        </p:txBody>
      </p:sp>
      <p:sp>
        <p:nvSpPr>
          <p:cNvPr id="24" name="Rectangle 23"/>
          <p:cNvSpPr/>
          <p:nvPr/>
        </p:nvSpPr>
        <p:spPr>
          <a:xfrm>
            <a:off x="6309360" y="2258568"/>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2258568"/>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2441448"/>
            <a:ext cx="548640" cy="502920"/>
          </a:xfrm>
          <a:prstGeom prst="rect">
            <a:avLst/>
          </a:prstGeom>
          <a:noFill/>
        </p:spPr>
        <p:txBody>
          <a:bodyPr wrap="square">
            <a:spAutoFit/>
          </a:bodyPr>
          <a:lstStyle/>
          <a:p>
            <a:pPr algn="ctr"/>
            <a:r>
              <a:rPr sz="1600" b="1" i="0">
                <a:solidFill>
                  <a:srgbClr val="FFFFFF"/>
                </a:solidFill>
              </a:rPr>
              <a:t>04</a:t>
            </a:r>
          </a:p>
        </p:txBody>
      </p:sp>
      <p:sp>
        <p:nvSpPr>
          <p:cNvPr id="27" name="TextBox 26"/>
          <p:cNvSpPr txBox="1"/>
          <p:nvPr/>
        </p:nvSpPr>
        <p:spPr>
          <a:xfrm>
            <a:off x="7022592" y="2313432"/>
            <a:ext cx="4754880" cy="292608"/>
          </a:xfrm>
          <a:prstGeom prst="rect">
            <a:avLst/>
          </a:prstGeom>
          <a:noFill/>
        </p:spPr>
        <p:txBody>
          <a:bodyPr wrap="square">
            <a:spAutoFit/>
          </a:bodyPr>
          <a:lstStyle/>
          <a:p>
            <a:pPr algn="l"/>
            <a:r>
              <a:rPr sz="1100" b="1" i="0">
                <a:solidFill>
                  <a:srgbClr val="1A376C"/>
                </a:solidFill>
              </a:rPr>
              <a:t>Memahami Halaman Utama</a:t>
            </a:r>
          </a:p>
        </p:txBody>
      </p:sp>
      <p:sp>
        <p:nvSpPr>
          <p:cNvPr id="28" name="TextBox 27"/>
          <p:cNvSpPr txBox="1"/>
          <p:nvPr/>
        </p:nvSpPr>
        <p:spPr>
          <a:xfrm>
            <a:off x="7022592" y="2606040"/>
            <a:ext cx="4754880" cy="502920"/>
          </a:xfrm>
          <a:prstGeom prst="rect">
            <a:avLst/>
          </a:prstGeom>
          <a:noFill/>
        </p:spPr>
        <p:txBody>
          <a:bodyPr wrap="square">
            <a:spAutoFit/>
          </a:bodyPr>
          <a:lstStyle/>
          <a:p>
            <a:pPr algn="l"/>
            <a:r>
              <a:rPr sz="900" b="0" i="0">
                <a:solidFill>
                  <a:srgbClr val="444444"/>
                </a:solidFill>
              </a:rPr>
              <a:t>Struktur tabel IKU dan kolom realisasi</a:t>
            </a:r>
          </a:p>
        </p:txBody>
      </p:sp>
      <p:sp>
        <p:nvSpPr>
          <p:cNvPr id="29" name="Rectangle 28"/>
          <p:cNvSpPr/>
          <p:nvPr/>
        </p:nvSpPr>
        <p:spPr>
          <a:xfrm>
            <a:off x="365760" y="3282696"/>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3282696"/>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465576"/>
            <a:ext cx="548640" cy="502920"/>
          </a:xfrm>
          <a:prstGeom prst="rect">
            <a:avLst/>
          </a:prstGeom>
          <a:noFill/>
        </p:spPr>
        <p:txBody>
          <a:bodyPr wrap="square">
            <a:spAutoFit/>
          </a:bodyPr>
          <a:lstStyle/>
          <a:p>
            <a:pPr algn="ctr"/>
            <a:r>
              <a:rPr sz="1600" b="1" i="0">
                <a:solidFill>
                  <a:srgbClr val="FFFFFF"/>
                </a:solidFill>
              </a:rPr>
              <a:t>05</a:t>
            </a:r>
          </a:p>
        </p:txBody>
      </p:sp>
      <p:sp>
        <p:nvSpPr>
          <p:cNvPr id="32" name="TextBox 31"/>
          <p:cNvSpPr txBox="1"/>
          <p:nvPr/>
        </p:nvSpPr>
        <p:spPr>
          <a:xfrm>
            <a:off x="1078992" y="3337560"/>
            <a:ext cx="4754880" cy="292608"/>
          </a:xfrm>
          <a:prstGeom prst="rect">
            <a:avLst/>
          </a:prstGeom>
          <a:noFill/>
        </p:spPr>
        <p:txBody>
          <a:bodyPr wrap="square">
            <a:spAutoFit/>
          </a:bodyPr>
          <a:lstStyle/>
          <a:p>
            <a:pPr algn="l"/>
            <a:r>
              <a:rPr sz="1100" b="1" i="0">
                <a:solidFill>
                  <a:srgbClr val="1A376C"/>
                </a:solidFill>
              </a:rPr>
              <a:t>Mengisi Data Realisasi</a:t>
            </a:r>
          </a:p>
        </p:txBody>
      </p:sp>
      <p:sp>
        <p:nvSpPr>
          <p:cNvPr id="33" name="TextBox 32"/>
          <p:cNvSpPr txBox="1"/>
          <p:nvPr/>
        </p:nvSpPr>
        <p:spPr>
          <a:xfrm>
            <a:off x="1078992" y="3630168"/>
            <a:ext cx="4754880" cy="502920"/>
          </a:xfrm>
          <a:prstGeom prst="rect">
            <a:avLst/>
          </a:prstGeom>
          <a:noFill/>
        </p:spPr>
        <p:txBody>
          <a:bodyPr wrap="square">
            <a:spAutoFit/>
          </a:bodyPr>
          <a:lstStyle/>
          <a:p>
            <a:pPr algn="l"/>
            <a:r>
              <a:rPr sz="900" b="0" i="0">
                <a:solidFill>
                  <a:srgbClr val="444444"/>
                </a:solidFill>
              </a:rPr>
              <a:t>Cara mengisi nilai realisasi per IKU</a:t>
            </a:r>
          </a:p>
        </p:txBody>
      </p:sp>
      <p:sp>
        <p:nvSpPr>
          <p:cNvPr id="34" name="Rectangle 33"/>
          <p:cNvSpPr/>
          <p:nvPr/>
        </p:nvSpPr>
        <p:spPr>
          <a:xfrm>
            <a:off x="6309360" y="3282696"/>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3282696"/>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3465576"/>
            <a:ext cx="548640" cy="502920"/>
          </a:xfrm>
          <a:prstGeom prst="rect">
            <a:avLst/>
          </a:prstGeom>
          <a:noFill/>
        </p:spPr>
        <p:txBody>
          <a:bodyPr wrap="square">
            <a:spAutoFit/>
          </a:bodyPr>
          <a:lstStyle/>
          <a:p>
            <a:pPr algn="ctr"/>
            <a:r>
              <a:rPr sz="1600" b="1" i="0">
                <a:solidFill>
                  <a:srgbClr val="FFFFFF"/>
                </a:solidFill>
              </a:rPr>
              <a:t>06</a:t>
            </a:r>
          </a:p>
        </p:txBody>
      </p:sp>
      <p:sp>
        <p:nvSpPr>
          <p:cNvPr id="37" name="TextBox 36"/>
          <p:cNvSpPr txBox="1"/>
          <p:nvPr/>
        </p:nvSpPr>
        <p:spPr>
          <a:xfrm>
            <a:off x="7022592" y="3337560"/>
            <a:ext cx="4754880" cy="292608"/>
          </a:xfrm>
          <a:prstGeom prst="rect">
            <a:avLst/>
          </a:prstGeom>
          <a:noFill/>
        </p:spPr>
        <p:txBody>
          <a:bodyPr wrap="square">
            <a:spAutoFit/>
          </a:bodyPr>
          <a:lstStyle/>
          <a:p>
            <a:pPr algn="l"/>
            <a:r>
              <a:rPr sz="1100" b="1" i="0">
                <a:solidFill>
                  <a:srgbClr val="1A376C"/>
                </a:solidFill>
              </a:rPr>
              <a:t>IKU Kolaborasi (Co-PIC)</a:t>
            </a:r>
          </a:p>
        </p:txBody>
      </p:sp>
      <p:sp>
        <p:nvSpPr>
          <p:cNvPr id="38" name="TextBox 37"/>
          <p:cNvSpPr txBox="1"/>
          <p:nvPr/>
        </p:nvSpPr>
        <p:spPr>
          <a:xfrm>
            <a:off x="7022592" y="3630168"/>
            <a:ext cx="4754880" cy="502920"/>
          </a:xfrm>
          <a:prstGeom prst="rect">
            <a:avLst/>
          </a:prstGeom>
          <a:noFill/>
        </p:spPr>
        <p:txBody>
          <a:bodyPr wrap="square">
            <a:spAutoFit/>
          </a:bodyPr>
          <a:lstStyle/>
          <a:p>
            <a:pPr algn="l"/>
            <a:r>
              <a:rPr sz="900" b="0" i="0">
                <a:solidFill>
                  <a:srgbClr val="444444"/>
                </a:solidFill>
              </a:rPr>
              <a:t>Koordinasi pengisian bersama tim lain</a:t>
            </a:r>
          </a:p>
        </p:txBody>
      </p:sp>
      <p:sp>
        <p:nvSpPr>
          <p:cNvPr id="39" name="Rectangle 38"/>
          <p:cNvSpPr/>
          <p:nvPr/>
        </p:nvSpPr>
        <p:spPr>
          <a:xfrm>
            <a:off x="365760" y="4306824"/>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4306824"/>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4489704"/>
            <a:ext cx="548640" cy="502920"/>
          </a:xfrm>
          <a:prstGeom prst="rect">
            <a:avLst/>
          </a:prstGeom>
          <a:noFill/>
        </p:spPr>
        <p:txBody>
          <a:bodyPr wrap="square">
            <a:spAutoFit/>
          </a:bodyPr>
          <a:lstStyle/>
          <a:p>
            <a:pPr algn="ctr"/>
            <a:r>
              <a:rPr sz="1600" b="1" i="0">
                <a:solidFill>
                  <a:srgbClr val="FFFFFF"/>
                </a:solidFill>
              </a:rPr>
              <a:t>07</a:t>
            </a:r>
          </a:p>
        </p:txBody>
      </p:sp>
      <p:sp>
        <p:nvSpPr>
          <p:cNvPr id="42" name="TextBox 41"/>
          <p:cNvSpPr txBox="1"/>
          <p:nvPr/>
        </p:nvSpPr>
        <p:spPr>
          <a:xfrm>
            <a:off x="1078992" y="4361688"/>
            <a:ext cx="4754880" cy="292608"/>
          </a:xfrm>
          <a:prstGeom prst="rect">
            <a:avLst/>
          </a:prstGeom>
          <a:noFill/>
        </p:spPr>
        <p:txBody>
          <a:bodyPr wrap="square">
            <a:spAutoFit/>
          </a:bodyPr>
          <a:lstStyle/>
          <a:p>
            <a:pPr algn="l"/>
            <a:r>
              <a:rPr sz="1100" b="1" i="0">
                <a:solidFill>
                  <a:srgbClr val="1A376C"/>
                </a:solidFill>
              </a:rPr>
              <a:t>Submit Laporan ke Kabag</a:t>
            </a:r>
          </a:p>
        </p:txBody>
      </p:sp>
      <p:sp>
        <p:nvSpPr>
          <p:cNvPr id="43" name="TextBox 42"/>
          <p:cNvSpPr txBox="1"/>
          <p:nvPr/>
        </p:nvSpPr>
        <p:spPr>
          <a:xfrm>
            <a:off x="1078992" y="4654296"/>
            <a:ext cx="4754880" cy="502920"/>
          </a:xfrm>
          <a:prstGeom prst="rect">
            <a:avLst/>
          </a:prstGeom>
          <a:noFill/>
        </p:spPr>
        <p:txBody>
          <a:bodyPr wrap="square">
            <a:spAutoFit/>
          </a:bodyPr>
          <a:lstStyle/>
          <a:p>
            <a:pPr algn="l"/>
            <a:r>
              <a:rPr sz="900" b="0" i="0">
                <a:solidFill>
                  <a:srgbClr val="444444"/>
                </a:solidFill>
              </a:rPr>
              <a:t>Cara mengirim laporan triwulan</a:t>
            </a:r>
          </a:p>
        </p:txBody>
      </p:sp>
      <p:sp>
        <p:nvSpPr>
          <p:cNvPr id="44" name="Rectangle 43"/>
          <p:cNvSpPr/>
          <p:nvPr/>
        </p:nvSpPr>
        <p:spPr>
          <a:xfrm>
            <a:off x="6309360" y="4306824"/>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4306824"/>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4489704"/>
            <a:ext cx="548640" cy="502920"/>
          </a:xfrm>
          <a:prstGeom prst="rect">
            <a:avLst/>
          </a:prstGeom>
          <a:noFill/>
        </p:spPr>
        <p:txBody>
          <a:bodyPr wrap="square">
            <a:spAutoFit/>
          </a:bodyPr>
          <a:lstStyle/>
          <a:p>
            <a:pPr algn="ctr"/>
            <a:r>
              <a:rPr sz="1600" b="1" i="0">
                <a:solidFill>
                  <a:srgbClr val="FFFFFF"/>
                </a:solidFill>
              </a:rPr>
              <a:t>08</a:t>
            </a:r>
          </a:p>
        </p:txBody>
      </p:sp>
      <p:sp>
        <p:nvSpPr>
          <p:cNvPr id="47" name="TextBox 46"/>
          <p:cNvSpPr txBox="1"/>
          <p:nvPr/>
        </p:nvSpPr>
        <p:spPr>
          <a:xfrm>
            <a:off x="7022592" y="4361688"/>
            <a:ext cx="4754880" cy="292608"/>
          </a:xfrm>
          <a:prstGeom prst="rect">
            <a:avLst/>
          </a:prstGeom>
          <a:noFill/>
        </p:spPr>
        <p:txBody>
          <a:bodyPr wrap="square">
            <a:spAutoFit/>
          </a:bodyPr>
          <a:lstStyle/>
          <a:p>
            <a:pPr algn="l"/>
            <a:r>
              <a:rPr sz="1100" b="1" i="0">
                <a:solidFill>
                  <a:srgbClr val="1A376C"/>
                </a:solidFill>
              </a:rPr>
              <a:t>Revisi &amp; Submit Ulang</a:t>
            </a:r>
          </a:p>
        </p:txBody>
      </p:sp>
      <p:sp>
        <p:nvSpPr>
          <p:cNvPr id="48" name="TextBox 47"/>
          <p:cNvSpPr txBox="1"/>
          <p:nvPr/>
        </p:nvSpPr>
        <p:spPr>
          <a:xfrm>
            <a:off x="7022592" y="4654296"/>
            <a:ext cx="4754880" cy="502920"/>
          </a:xfrm>
          <a:prstGeom prst="rect">
            <a:avLst/>
          </a:prstGeom>
          <a:noFill/>
        </p:spPr>
        <p:txBody>
          <a:bodyPr wrap="square">
            <a:spAutoFit/>
          </a:bodyPr>
          <a:lstStyle/>
          <a:p>
            <a:pPr algn="l"/>
            <a:r>
              <a:rPr sz="900" b="0" i="0">
                <a:solidFill>
                  <a:srgbClr val="444444"/>
                </a:solidFill>
              </a:rPr>
              <a:t>Prosedur jika laporan dikembalikan</a:t>
            </a:r>
          </a:p>
        </p:txBody>
      </p:sp>
      <p:sp>
        <p:nvSpPr>
          <p:cNvPr id="49" name="Rectangle 48"/>
          <p:cNvSpPr/>
          <p:nvPr/>
        </p:nvSpPr>
        <p:spPr>
          <a:xfrm>
            <a:off x="365760" y="5330952"/>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5760" y="5330952"/>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1480" y="5513832"/>
            <a:ext cx="548640" cy="502920"/>
          </a:xfrm>
          <a:prstGeom prst="rect">
            <a:avLst/>
          </a:prstGeom>
          <a:noFill/>
        </p:spPr>
        <p:txBody>
          <a:bodyPr wrap="square">
            <a:spAutoFit/>
          </a:bodyPr>
          <a:lstStyle/>
          <a:p>
            <a:pPr algn="ctr"/>
            <a:r>
              <a:rPr sz="1600" b="1" i="0">
                <a:solidFill>
                  <a:srgbClr val="FFFFFF"/>
                </a:solidFill>
              </a:rPr>
              <a:t>09</a:t>
            </a:r>
          </a:p>
        </p:txBody>
      </p:sp>
      <p:sp>
        <p:nvSpPr>
          <p:cNvPr id="52" name="TextBox 51"/>
          <p:cNvSpPr txBox="1"/>
          <p:nvPr/>
        </p:nvSpPr>
        <p:spPr>
          <a:xfrm>
            <a:off x="1078992" y="5385816"/>
            <a:ext cx="4754880" cy="292608"/>
          </a:xfrm>
          <a:prstGeom prst="rect">
            <a:avLst/>
          </a:prstGeom>
          <a:noFill/>
        </p:spPr>
        <p:txBody>
          <a:bodyPr wrap="square">
            <a:spAutoFit/>
          </a:bodyPr>
          <a:lstStyle/>
          <a:p>
            <a:pPr algn="l"/>
            <a:r>
              <a:rPr sz="1100" b="1" i="0">
                <a:solidFill>
                  <a:srgbClr val="1A376C"/>
                </a:solidFill>
              </a:rPr>
              <a:t>Status &amp; Notifikasi</a:t>
            </a:r>
          </a:p>
        </p:txBody>
      </p:sp>
      <p:sp>
        <p:nvSpPr>
          <p:cNvPr id="53" name="TextBox 52"/>
          <p:cNvSpPr txBox="1"/>
          <p:nvPr/>
        </p:nvSpPr>
        <p:spPr>
          <a:xfrm>
            <a:off x="1078992" y="5678424"/>
            <a:ext cx="4754880" cy="502920"/>
          </a:xfrm>
          <a:prstGeom prst="rect">
            <a:avLst/>
          </a:prstGeom>
          <a:noFill/>
        </p:spPr>
        <p:txBody>
          <a:bodyPr wrap="square">
            <a:spAutoFit/>
          </a:bodyPr>
          <a:lstStyle/>
          <a:p>
            <a:pPr algn="l"/>
            <a:r>
              <a:rPr sz="900" b="0" i="0">
                <a:solidFill>
                  <a:srgbClr val="444444"/>
                </a:solidFill>
              </a:rPr>
              <a:t>Memantau status persetujuan laporan</a:t>
            </a:r>
          </a:p>
        </p:txBody>
      </p:sp>
      <p:sp>
        <p:nvSpPr>
          <p:cNvPr id="54" name="Rectangle 53"/>
          <p:cNvSpPr/>
          <p:nvPr/>
        </p:nvSpPr>
        <p:spPr>
          <a:xfrm>
            <a:off x="6309360" y="5330952"/>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09360" y="5330952"/>
            <a:ext cx="64008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55080" y="5513832"/>
            <a:ext cx="548640" cy="502920"/>
          </a:xfrm>
          <a:prstGeom prst="rect">
            <a:avLst/>
          </a:prstGeom>
          <a:noFill/>
        </p:spPr>
        <p:txBody>
          <a:bodyPr wrap="square">
            <a:spAutoFit/>
          </a:bodyPr>
          <a:lstStyle/>
          <a:p>
            <a:pPr algn="ctr"/>
            <a:r>
              <a:rPr sz="1600" b="1" i="0">
                <a:solidFill>
                  <a:srgbClr val="FFFFFF"/>
                </a:solidFill>
              </a:rPr>
              <a:t>10</a:t>
            </a:r>
          </a:p>
        </p:txBody>
      </p:sp>
      <p:sp>
        <p:nvSpPr>
          <p:cNvPr id="57" name="TextBox 56"/>
          <p:cNvSpPr txBox="1"/>
          <p:nvPr/>
        </p:nvSpPr>
        <p:spPr>
          <a:xfrm>
            <a:off x="7022592" y="5385816"/>
            <a:ext cx="4754880" cy="292608"/>
          </a:xfrm>
          <a:prstGeom prst="rect">
            <a:avLst/>
          </a:prstGeom>
          <a:noFill/>
        </p:spPr>
        <p:txBody>
          <a:bodyPr wrap="square">
            <a:spAutoFit/>
          </a:bodyPr>
          <a:lstStyle/>
          <a:p>
            <a:pPr algn="l"/>
            <a:r>
              <a:rPr sz="1100" b="1" i="0">
                <a:solidFill>
                  <a:srgbClr val="1A376C"/>
                </a:solidFill>
              </a:rPr>
              <a:t>FAQ</a:t>
            </a:r>
          </a:p>
        </p:txBody>
      </p:sp>
      <p:sp>
        <p:nvSpPr>
          <p:cNvPr id="58" name="TextBox 57"/>
          <p:cNvSpPr txBox="1"/>
          <p:nvPr/>
        </p:nvSpPr>
        <p:spPr>
          <a:xfrm>
            <a:off x="7022592" y="5678424"/>
            <a:ext cx="4754880" cy="502920"/>
          </a:xfrm>
          <a:prstGeom prst="rect">
            <a:avLst/>
          </a:prstGeom>
          <a:noFill/>
        </p:spPr>
        <p:txBody>
          <a:bodyPr wrap="square">
            <a:spAutoFit/>
          </a:bodyPr>
          <a:lstStyle/>
          <a:p>
            <a:pPr algn="l"/>
            <a:r>
              <a:rPr sz="900" b="0" i="0">
                <a:solidFill>
                  <a:srgbClr val="444444"/>
                </a:solidFill>
              </a:rPr>
              <a:t>Pertanyaan yang sering diajukan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01  |  Pendahuluan &amp; Tujuan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Konteks dan maksud modul Pengukuran Kinerja</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3 / 12</a:t>
            </a:r>
          </a:p>
        </p:txBody>
      </p:sp>
      <p:sp>
        <p:nvSpPr>
          <p:cNvPr id="10" name="TextBox 9"/>
          <p:cNvSpPr txBox="1"/>
          <p:nvPr/>
        </p:nvSpPr>
        <p:spPr>
          <a:xfrm>
            <a:off x="365760" y="1261872"/>
            <a:ext cx="5486400" cy="347472"/>
          </a:xfrm>
          <a:prstGeom prst="rect">
            <a:avLst/>
          </a:prstGeom>
          <a:noFill/>
        </p:spPr>
        <p:txBody>
          <a:bodyPr wrap="square">
            <a:spAutoFit/>
          </a:bodyPr>
          <a:lstStyle/>
          <a:p>
            <a:pPr algn="l"/>
            <a:r>
              <a:rPr sz="1300" b="1" i="0">
                <a:solidFill>
                  <a:srgbClr val="1A376C"/>
                </a:solidFill>
              </a:rPr>
              <a:t>Tentang Modul Pengukuran Kinerja</a:t>
            </a:r>
          </a:p>
        </p:txBody>
      </p:sp>
      <p:sp>
        <p:nvSpPr>
          <p:cNvPr id="11" name="Rectangle 10"/>
          <p:cNvSpPr/>
          <p:nvPr/>
        </p:nvSpPr>
        <p:spPr>
          <a:xfrm>
            <a:off x="365760" y="1261872"/>
            <a:ext cx="54864"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691640"/>
            <a:ext cx="5394960" cy="1371600"/>
          </a:xfrm>
          <a:prstGeom prst="rect">
            <a:avLst/>
          </a:prstGeom>
          <a:noFill/>
        </p:spPr>
        <p:txBody>
          <a:bodyPr wrap="square">
            <a:spAutoFit/>
          </a:bodyPr>
          <a:lstStyle/>
          <a:p>
            <a:pPr algn="l"/>
            <a:r>
              <a:rPr sz="1050" b="0" i="0">
                <a:solidFill>
                  <a:srgbClr val="444444"/>
                </a:solidFill>
              </a:rPr>
              <a:t>Modul Pengukuran Kinerja memungkinkan setiap Ketua Tim Kerja untuk mengisi data realisasi capaian Indikator Kinerja Utama (IKU) per triwulan. Data ini menjadi dasar evaluasi kinerja dan pelaporan kepada Kabag Umum. Pengisian dilakukan setelah Admin Sistem mengaktifkan periode triwulan yang bersangkutan.</a:t>
            </a:r>
          </a:p>
        </p:txBody>
      </p:sp>
      <p:sp>
        <p:nvSpPr>
          <p:cNvPr id="13" name="TextBox 12"/>
          <p:cNvSpPr txBox="1"/>
          <p:nvPr/>
        </p:nvSpPr>
        <p:spPr>
          <a:xfrm>
            <a:off x="365760" y="3200400"/>
            <a:ext cx="5486400" cy="347472"/>
          </a:xfrm>
          <a:prstGeom prst="rect">
            <a:avLst/>
          </a:prstGeom>
          <a:noFill/>
        </p:spPr>
        <p:txBody>
          <a:bodyPr wrap="square">
            <a:spAutoFit/>
          </a:bodyPr>
          <a:lstStyle/>
          <a:p>
            <a:pPr algn="l"/>
            <a:r>
              <a:rPr sz="1300" b="1" i="0">
                <a:solidFill>
                  <a:srgbClr val="1A376C"/>
                </a:solidFill>
              </a:rPr>
              <a:t>Tujuan</a:t>
            </a:r>
          </a:p>
        </p:txBody>
      </p:sp>
      <p:sp>
        <p:nvSpPr>
          <p:cNvPr id="14" name="Rectangle 13"/>
          <p:cNvSpPr/>
          <p:nvPr/>
        </p:nvSpPr>
        <p:spPr>
          <a:xfrm>
            <a:off x="365760" y="3200400"/>
            <a:ext cx="54864"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721608"/>
            <a:ext cx="219456" cy="21945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694176"/>
            <a:ext cx="219456" cy="256032"/>
          </a:xfrm>
          <a:prstGeom prst="rect">
            <a:avLst/>
          </a:prstGeom>
          <a:noFill/>
        </p:spPr>
        <p:txBody>
          <a:bodyPr wrap="square">
            <a:spAutoFit/>
          </a:bodyPr>
          <a:lstStyle/>
          <a:p>
            <a:pPr algn="ctr"/>
            <a:r>
              <a:rPr sz="900" b="1" i="0">
                <a:solidFill>
                  <a:srgbClr val="FFFFFF"/>
                </a:solidFill>
              </a:rPr>
              <a:t>1</a:t>
            </a:r>
          </a:p>
        </p:txBody>
      </p:sp>
      <p:sp>
        <p:nvSpPr>
          <p:cNvPr id="17" name="TextBox 16"/>
          <p:cNvSpPr txBox="1"/>
          <p:nvPr/>
        </p:nvSpPr>
        <p:spPr>
          <a:xfrm>
            <a:off x="749808" y="3657600"/>
            <a:ext cx="5120640" cy="457200"/>
          </a:xfrm>
          <a:prstGeom prst="rect">
            <a:avLst/>
          </a:prstGeom>
          <a:noFill/>
        </p:spPr>
        <p:txBody>
          <a:bodyPr wrap="square">
            <a:spAutoFit/>
          </a:bodyPr>
          <a:lstStyle/>
          <a:p>
            <a:pPr algn="l"/>
            <a:r>
              <a:rPr sz="1050" b="0" i="0">
                <a:solidFill>
                  <a:srgbClr val="444444"/>
                </a:solidFill>
              </a:rPr>
              <a:t>Memandu Ketua Tim Kerja dalam mengisi data realisasi IKU per triwulan.</a:t>
            </a:r>
          </a:p>
        </p:txBody>
      </p:sp>
      <p:sp>
        <p:nvSpPr>
          <p:cNvPr id="18" name="Rectangle 17"/>
          <p:cNvSpPr/>
          <p:nvPr/>
        </p:nvSpPr>
        <p:spPr>
          <a:xfrm>
            <a:off x="457200" y="4215384"/>
            <a:ext cx="219456" cy="21945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187952"/>
            <a:ext cx="219456" cy="256032"/>
          </a:xfrm>
          <a:prstGeom prst="rect">
            <a:avLst/>
          </a:prstGeom>
          <a:noFill/>
        </p:spPr>
        <p:txBody>
          <a:bodyPr wrap="square">
            <a:spAutoFit/>
          </a:bodyPr>
          <a:lstStyle/>
          <a:p>
            <a:pPr algn="ctr"/>
            <a:r>
              <a:rPr sz="900" b="1" i="0">
                <a:solidFill>
                  <a:srgbClr val="FFFFFF"/>
                </a:solidFill>
              </a:rPr>
              <a:t>2</a:t>
            </a:r>
          </a:p>
        </p:txBody>
      </p:sp>
      <p:sp>
        <p:nvSpPr>
          <p:cNvPr id="20" name="TextBox 19"/>
          <p:cNvSpPr txBox="1"/>
          <p:nvPr/>
        </p:nvSpPr>
        <p:spPr>
          <a:xfrm>
            <a:off x="749808" y="4151376"/>
            <a:ext cx="5120640" cy="457200"/>
          </a:xfrm>
          <a:prstGeom prst="rect">
            <a:avLst/>
          </a:prstGeom>
          <a:noFill/>
        </p:spPr>
        <p:txBody>
          <a:bodyPr wrap="square">
            <a:spAutoFit/>
          </a:bodyPr>
          <a:lstStyle/>
          <a:p>
            <a:pPr algn="l"/>
            <a:r>
              <a:rPr sz="1050" b="0" i="0">
                <a:solidFill>
                  <a:srgbClr val="444444"/>
                </a:solidFill>
              </a:rPr>
              <a:t>Memastikan data capaian kinerja tercatat secara akurat dan tepat waktu.</a:t>
            </a:r>
          </a:p>
        </p:txBody>
      </p:sp>
      <p:sp>
        <p:nvSpPr>
          <p:cNvPr id="21" name="Rectangle 20"/>
          <p:cNvSpPr/>
          <p:nvPr/>
        </p:nvSpPr>
        <p:spPr>
          <a:xfrm>
            <a:off x="457200" y="4709160"/>
            <a:ext cx="219456" cy="21945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681728"/>
            <a:ext cx="219456" cy="256032"/>
          </a:xfrm>
          <a:prstGeom prst="rect">
            <a:avLst/>
          </a:prstGeom>
          <a:noFill/>
        </p:spPr>
        <p:txBody>
          <a:bodyPr wrap="square">
            <a:spAutoFit/>
          </a:bodyPr>
          <a:lstStyle/>
          <a:p>
            <a:pPr algn="ctr"/>
            <a:r>
              <a:rPr sz="900" b="1" i="0">
                <a:solidFill>
                  <a:srgbClr val="FFFFFF"/>
                </a:solidFill>
              </a:rPr>
              <a:t>3</a:t>
            </a:r>
          </a:p>
        </p:txBody>
      </p:sp>
      <p:sp>
        <p:nvSpPr>
          <p:cNvPr id="23" name="TextBox 22"/>
          <p:cNvSpPr txBox="1"/>
          <p:nvPr/>
        </p:nvSpPr>
        <p:spPr>
          <a:xfrm>
            <a:off x="749808" y="4645152"/>
            <a:ext cx="5120640" cy="457200"/>
          </a:xfrm>
          <a:prstGeom prst="rect">
            <a:avLst/>
          </a:prstGeom>
          <a:noFill/>
        </p:spPr>
        <p:txBody>
          <a:bodyPr wrap="square">
            <a:spAutoFit/>
          </a:bodyPr>
          <a:lstStyle/>
          <a:p>
            <a:pPr algn="l"/>
            <a:r>
              <a:rPr sz="1050" b="0" i="0">
                <a:solidFill>
                  <a:srgbClr val="444444"/>
                </a:solidFill>
              </a:rPr>
              <a:t>Menjelaskan alur koordinasi untuk IKU yang dikerjakan bersama (Co-PIC).</a:t>
            </a:r>
          </a:p>
        </p:txBody>
      </p:sp>
      <p:sp>
        <p:nvSpPr>
          <p:cNvPr id="24" name="Rectangle 23"/>
          <p:cNvSpPr/>
          <p:nvPr/>
        </p:nvSpPr>
        <p:spPr>
          <a:xfrm>
            <a:off x="457200" y="5202936"/>
            <a:ext cx="219456" cy="21945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175504"/>
            <a:ext cx="219456" cy="256032"/>
          </a:xfrm>
          <a:prstGeom prst="rect">
            <a:avLst/>
          </a:prstGeom>
          <a:noFill/>
        </p:spPr>
        <p:txBody>
          <a:bodyPr wrap="square">
            <a:spAutoFit/>
          </a:bodyPr>
          <a:lstStyle/>
          <a:p>
            <a:pPr algn="ctr"/>
            <a:r>
              <a:rPr sz="900" b="1" i="0">
                <a:solidFill>
                  <a:srgbClr val="FFFFFF"/>
                </a:solidFill>
              </a:rPr>
              <a:t>4</a:t>
            </a:r>
          </a:p>
        </p:txBody>
      </p:sp>
      <p:sp>
        <p:nvSpPr>
          <p:cNvPr id="26" name="TextBox 25"/>
          <p:cNvSpPr txBox="1"/>
          <p:nvPr/>
        </p:nvSpPr>
        <p:spPr>
          <a:xfrm>
            <a:off x="749808" y="5138928"/>
            <a:ext cx="5120640" cy="457200"/>
          </a:xfrm>
          <a:prstGeom prst="rect">
            <a:avLst/>
          </a:prstGeom>
          <a:noFill/>
        </p:spPr>
        <p:txBody>
          <a:bodyPr wrap="square">
            <a:spAutoFit/>
          </a:bodyPr>
          <a:lstStyle/>
          <a:p>
            <a:pPr algn="l"/>
            <a:r>
              <a:rPr sz="1050" b="0" i="0">
                <a:solidFill>
                  <a:srgbClr val="444444"/>
                </a:solidFill>
              </a:rPr>
              <a:t>Menjadi panduan dalam proses submit laporan hingga mendapat persetujuan.</a:t>
            </a:r>
          </a:p>
        </p:txBody>
      </p:sp>
      <p:sp>
        <p:nvSpPr>
          <p:cNvPr id="27" name="Rectangle 26"/>
          <p:cNvSpPr/>
          <p:nvPr/>
        </p:nvSpPr>
        <p:spPr>
          <a:xfrm>
            <a:off x="6400800" y="1234440"/>
            <a:ext cx="5486400" cy="521208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1234440"/>
            <a:ext cx="5486400" cy="411480"/>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1252728"/>
            <a:ext cx="5212080" cy="365760"/>
          </a:xfrm>
          <a:prstGeom prst="rect">
            <a:avLst/>
          </a:prstGeom>
          <a:noFill/>
        </p:spPr>
        <p:txBody>
          <a:bodyPr wrap="square">
            <a:spAutoFit/>
          </a:bodyPr>
          <a:lstStyle/>
          <a:p>
            <a:pPr algn="l"/>
            <a:r>
              <a:rPr sz="1100" b="1" i="0">
                <a:solidFill>
                  <a:srgbClr val="FFFFFF"/>
                </a:solidFill>
              </a:rPr>
              <a:t>Siklus Pengukuran Kinerja Per Tahun</a:t>
            </a:r>
          </a:p>
        </p:txBody>
      </p:sp>
      <p:sp>
        <p:nvSpPr>
          <p:cNvPr id="30" name="Rectangle 29"/>
          <p:cNvSpPr/>
          <p:nvPr/>
        </p:nvSpPr>
        <p:spPr>
          <a:xfrm>
            <a:off x="6400800" y="1783080"/>
            <a:ext cx="5486400" cy="1078992"/>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1783080"/>
            <a:ext cx="914400" cy="10789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2103120"/>
            <a:ext cx="914400" cy="457200"/>
          </a:xfrm>
          <a:prstGeom prst="rect">
            <a:avLst/>
          </a:prstGeom>
          <a:noFill/>
        </p:spPr>
        <p:txBody>
          <a:bodyPr wrap="square">
            <a:spAutoFit/>
          </a:bodyPr>
          <a:lstStyle/>
          <a:p>
            <a:pPr algn="ctr"/>
            <a:r>
              <a:rPr sz="1300" b="1" i="0">
                <a:solidFill>
                  <a:srgbClr val="FFFFFF"/>
                </a:solidFill>
              </a:rPr>
              <a:t>TW I</a:t>
            </a:r>
          </a:p>
        </p:txBody>
      </p:sp>
      <p:sp>
        <p:nvSpPr>
          <p:cNvPr id="33" name="TextBox 32"/>
          <p:cNvSpPr txBox="1"/>
          <p:nvPr/>
        </p:nvSpPr>
        <p:spPr>
          <a:xfrm>
            <a:off x="7406640" y="1874519"/>
            <a:ext cx="4297680" cy="320040"/>
          </a:xfrm>
          <a:prstGeom prst="rect">
            <a:avLst/>
          </a:prstGeom>
          <a:noFill/>
        </p:spPr>
        <p:txBody>
          <a:bodyPr wrap="square">
            <a:spAutoFit/>
          </a:bodyPr>
          <a:lstStyle/>
          <a:p>
            <a:pPr algn="l"/>
            <a:r>
              <a:rPr sz="1100" b="1" i="0">
                <a:solidFill>
                  <a:srgbClr val="1A376C"/>
                </a:solidFill>
              </a:rPr>
              <a:t>Januari – Maret</a:t>
            </a:r>
          </a:p>
        </p:txBody>
      </p:sp>
      <p:sp>
        <p:nvSpPr>
          <p:cNvPr id="34" name="TextBox 33"/>
          <p:cNvSpPr txBox="1"/>
          <p:nvPr/>
        </p:nvSpPr>
        <p:spPr>
          <a:xfrm>
            <a:off x="7406640" y="2221991"/>
            <a:ext cx="4297680" cy="548640"/>
          </a:xfrm>
          <a:prstGeom prst="rect">
            <a:avLst/>
          </a:prstGeom>
          <a:noFill/>
        </p:spPr>
        <p:txBody>
          <a:bodyPr wrap="square">
            <a:spAutoFit/>
          </a:bodyPr>
          <a:lstStyle/>
          <a:p>
            <a:pPr algn="l"/>
            <a:r>
              <a:rPr sz="950" b="0" i="0">
                <a:solidFill>
                  <a:srgbClr val="444444"/>
                </a:solidFill>
              </a:rPr>
              <a:t>Laporan capaian Q1</a:t>
            </a:r>
          </a:p>
        </p:txBody>
      </p:sp>
      <p:sp>
        <p:nvSpPr>
          <p:cNvPr id="35" name="Rectangle 34"/>
          <p:cNvSpPr/>
          <p:nvPr/>
        </p:nvSpPr>
        <p:spPr>
          <a:xfrm>
            <a:off x="6400800" y="2898648"/>
            <a:ext cx="548640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2898648"/>
            <a:ext cx="914400" cy="107899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3218688"/>
            <a:ext cx="914400" cy="457200"/>
          </a:xfrm>
          <a:prstGeom prst="rect">
            <a:avLst/>
          </a:prstGeom>
          <a:noFill/>
        </p:spPr>
        <p:txBody>
          <a:bodyPr wrap="square">
            <a:spAutoFit/>
          </a:bodyPr>
          <a:lstStyle/>
          <a:p>
            <a:pPr algn="ctr"/>
            <a:r>
              <a:rPr sz="1300" b="1" i="0">
                <a:solidFill>
                  <a:srgbClr val="FFFFFF"/>
                </a:solidFill>
              </a:rPr>
              <a:t>TW II</a:t>
            </a:r>
          </a:p>
        </p:txBody>
      </p:sp>
      <p:sp>
        <p:nvSpPr>
          <p:cNvPr id="38" name="TextBox 37"/>
          <p:cNvSpPr txBox="1"/>
          <p:nvPr/>
        </p:nvSpPr>
        <p:spPr>
          <a:xfrm>
            <a:off x="7406640" y="2990088"/>
            <a:ext cx="4297680" cy="320040"/>
          </a:xfrm>
          <a:prstGeom prst="rect">
            <a:avLst/>
          </a:prstGeom>
          <a:noFill/>
        </p:spPr>
        <p:txBody>
          <a:bodyPr wrap="square">
            <a:spAutoFit/>
          </a:bodyPr>
          <a:lstStyle/>
          <a:p>
            <a:pPr algn="l"/>
            <a:r>
              <a:rPr sz="1100" b="1" i="0">
                <a:solidFill>
                  <a:srgbClr val="1A376C"/>
                </a:solidFill>
              </a:rPr>
              <a:t>April – Juni</a:t>
            </a:r>
          </a:p>
        </p:txBody>
      </p:sp>
      <p:sp>
        <p:nvSpPr>
          <p:cNvPr id="39" name="TextBox 38"/>
          <p:cNvSpPr txBox="1"/>
          <p:nvPr/>
        </p:nvSpPr>
        <p:spPr>
          <a:xfrm>
            <a:off x="7406640" y="3337560"/>
            <a:ext cx="4297680" cy="548640"/>
          </a:xfrm>
          <a:prstGeom prst="rect">
            <a:avLst/>
          </a:prstGeom>
          <a:noFill/>
        </p:spPr>
        <p:txBody>
          <a:bodyPr wrap="square">
            <a:spAutoFit/>
          </a:bodyPr>
          <a:lstStyle/>
          <a:p>
            <a:pPr algn="l"/>
            <a:r>
              <a:rPr sz="950" b="0" i="0">
                <a:solidFill>
                  <a:srgbClr val="444444"/>
                </a:solidFill>
              </a:rPr>
              <a:t>Laporan capaian Q2</a:t>
            </a:r>
          </a:p>
        </p:txBody>
      </p:sp>
      <p:sp>
        <p:nvSpPr>
          <p:cNvPr id="40" name="Rectangle 39"/>
          <p:cNvSpPr/>
          <p:nvPr/>
        </p:nvSpPr>
        <p:spPr>
          <a:xfrm>
            <a:off x="6400800" y="4014215"/>
            <a:ext cx="5486400" cy="1078992"/>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4014215"/>
            <a:ext cx="914400" cy="10789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4334255"/>
            <a:ext cx="914400" cy="457200"/>
          </a:xfrm>
          <a:prstGeom prst="rect">
            <a:avLst/>
          </a:prstGeom>
          <a:noFill/>
        </p:spPr>
        <p:txBody>
          <a:bodyPr wrap="square">
            <a:spAutoFit/>
          </a:bodyPr>
          <a:lstStyle/>
          <a:p>
            <a:pPr algn="ctr"/>
            <a:r>
              <a:rPr sz="1300" b="1" i="0">
                <a:solidFill>
                  <a:srgbClr val="FFFFFF"/>
                </a:solidFill>
              </a:rPr>
              <a:t>TW III</a:t>
            </a:r>
          </a:p>
        </p:txBody>
      </p:sp>
      <p:sp>
        <p:nvSpPr>
          <p:cNvPr id="43" name="TextBox 42"/>
          <p:cNvSpPr txBox="1"/>
          <p:nvPr/>
        </p:nvSpPr>
        <p:spPr>
          <a:xfrm>
            <a:off x="7406640" y="4105655"/>
            <a:ext cx="4297680" cy="320040"/>
          </a:xfrm>
          <a:prstGeom prst="rect">
            <a:avLst/>
          </a:prstGeom>
          <a:noFill/>
        </p:spPr>
        <p:txBody>
          <a:bodyPr wrap="square">
            <a:spAutoFit/>
          </a:bodyPr>
          <a:lstStyle/>
          <a:p>
            <a:pPr algn="l"/>
            <a:r>
              <a:rPr sz="1100" b="1" i="0">
                <a:solidFill>
                  <a:srgbClr val="1A376C"/>
                </a:solidFill>
              </a:rPr>
              <a:t>Juli – September</a:t>
            </a:r>
          </a:p>
        </p:txBody>
      </p:sp>
      <p:sp>
        <p:nvSpPr>
          <p:cNvPr id="44" name="TextBox 43"/>
          <p:cNvSpPr txBox="1"/>
          <p:nvPr/>
        </p:nvSpPr>
        <p:spPr>
          <a:xfrm>
            <a:off x="7406640" y="4453127"/>
            <a:ext cx="4297680" cy="548640"/>
          </a:xfrm>
          <a:prstGeom prst="rect">
            <a:avLst/>
          </a:prstGeom>
          <a:noFill/>
        </p:spPr>
        <p:txBody>
          <a:bodyPr wrap="square">
            <a:spAutoFit/>
          </a:bodyPr>
          <a:lstStyle/>
          <a:p>
            <a:pPr algn="l"/>
            <a:r>
              <a:rPr sz="950" b="0" i="0">
                <a:solidFill>
                  <a:srgbClr val="444444"/>
                </a:solidFill>
              </a:rPr>
              <a:t>Laporan capaian Q3</a:t>
            </a:r>
          </a:p>
        </p:txBody>
      </p:sp>
      <p:sp>
        <p:nvSpPr>
          <p:cNvPr id="45" name="Rectangle 44"/>
          <p:cNvSpPr/>
          <p:nvPr/>
        </p:nvSpPr>
        <p:spPr>
          <a:xfrm>
            <a:off x="6400800" y="5129784"/>
            <a:ext cx="548640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00800" y="5129784"/>
            <a:ext cx="914400" cy="107899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5449824"/>
            <a:ext cx="914400" cy="457200"/>
          </a:xfrm>
          <a:prstGeom prst="rect">
            <a:avLst/>
          </a:prstGeom>
          <a:noFill/>
        </p:spPr>
        <p:txBody>
          <a:bodyPr wrap="square">
            <a:spAutoFit/>
          </a:bodyPr>
          <a:lstStyle/>
          <a:p>
            <a:pPr algn="ctr"/>
            <a:r>
              <a:rPr sz="1300" b="1" i="0">
                <a:solidFill>
                  <a:srgbClr val="FFFFFF"/>
                </a:solidFill>
              </a:rPr>
              <a:t>TW IV</a:t>
            </a:r>
          </a:p>
        </p:txBody>
      </p:sp>
      <p:sp>
        <p:nvSpPr>
          <p:cNvPr id="48" name="TextBox 47"/>
          <p:cNvSpPr txBox="1"/>
          <p:nvPr/>
        </p:nvSpPr>
        <p:spPr>
          <a:xfrm>
            <a:off x="7406640" y="5221224"/>
            <a:ext cx="4297680" cy="320040"/>
          </a:xfrm>
          <a:prstGeom prst="rect">
            <a:avLst/>
          </a:prstGeom>
          <a:noFill/>
        </p:spPr>
        <p:txBody>
          <a:bodyPr wrap="square">
            <a:spAutoFit/>
          </a:bodyPr>
          <a:lstStyle/>
          <a:p>
            <a:pPr algn="l"/>
            <a:r>
              <a:rPr sz="1100" b="1" i="0">
                <a:solidFill>
                  <a:srgbClr val="1A376C"/>
                </a:solidFill>
              </a:rPr>
              <a:t>Oktober – Desember</a:t>
            </a:r>
          </a:p>
        </p:txBody>
      </p:sp>
      <p:sp>
        <p:nvSpPr>
          <p:cNvPr id="49" name="TextBox 48"/>
          <p:cNvSpPr txBox="1"/>
          <p:nvPr/>
        </p:nvSpPr>
        <p:spPr>
          <a:xfrm>
            <a:off x="7406640" y="5568696"/>
            <a:ext cx="4297680" cy="548640"/>
          </a:xfrm>
          <a:prstGeom prst="rect">
            <a:avLst/>
          </a:prstGeom>
          <a:noFill/>
        </p:spPr>
        <p:txBody>
          <a:bodyPr wrap="square">
            <a:spAutoFit/>
          </a:bodyPr>
          <a:lstStyle/>
          <a:p>
            <a:pPr algn="l"/>
            <a:r>
              <a:rPr sz="950" b="0" i="0">
                <a:solidFill>
                  <a:srgbClr val="444444"/>
                </a:solidFill>
              </a:rPr>
              <a:t>Laporan capaian Q4 + evaluasi akhir tahun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02  |  Ketentuan Umum</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Aturan yang wajib dipahami sebelum mengisi data</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4 / 12</a:t>
            </a:r>
          </a:p>
        </p:txBody>
      </p:sp>
      <p:sp>
        <p:nvSpPr>
          <p:cNvPr id="10" name="Rectangle 9"/>
          <p:cNvSpPr/>
          <p:nvPr/>
        </p:nvSpPr>
        <p:spPr>
          <a:xfrm>
            <a:off x="3657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61872"/>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335024"/>
            <a:ext cx="502920"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1810512"/>
            <a:ext cx="365760" cy="502920"/>
          </a:xfrm>
          <a:prstGeom prst="rect">
            <a:avLst/>
          </a:prstGeom>
          <a:noFill/>
        </p:spPr>
        <p:txBody>
          <a:bodyPr wrap="square">
            <a:spAutoFit/>
          </a:bodyPr>
          <a:lstStyle/>
          <a:p>
            <a:pPr algn="ctr"/>
            <a:r>
              <a:rPr sz="2200" b="1" i="0">
                <a:solidFill>
                  <a:srgbClr val="1B6B35"/>
                </a:solidFill>
              </a:rPr>
              <a:t>1</a:t>
            </a:r>
          </a:p>
        </p:txBody>
      </p:sp>
      <p:sp>
        <p:nvSpPr>
          <p:cNvPr id="14" name="TextBox 13"/>
          <p:cNvSpPr txBox="1"/>
          <p:nvPr/>
        </p:nvSpPr>
        <p:spPr>
          <a:xfrm>
            <a:off x="960120" y="1371600"/>
            <a:ext cx="4846320" cy="292608"/>
          </a:xfrm>
          <a:prstGeom prst="rect">
            <a:avLst/>
          </a:prstGeom>
          <a:noFill/>
        </p:spPr>
        <p:txBody>
          <a:bodyPr wrap="square">
            <a:spAutoFit/>
          </a:bodyPr>
          <a:lstStyle/>
          <a:p>
            <a:pPr algn="l"/>
            <a:r>
              <a:rPr sz="1100" b="1" i="0">
                <a:solidFill>
                  <a:srgbClr val="1A376C"/>
                </a:solidFill>
              </a:rPr>
              <a:t>Periode Aktif</a:t>
            </a:r>
          </a:p>
        </p:txBody>
      </p:sp>
      <p:sp>
        <p:nvSpPr>
          <p:cNvPr id="15" name="Rectangle 14"/>
          <p:cNvSpPr/>
          <p:nvPr/>
        </p:nvSpPr>
        <p:spPr>
          <a:xfrm>
            <a:off x="960120" y="1682495"/>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737360"/>
            <a:ext cx="4892040" cy="1152144"/>
          </a:xfrm>
          <a:prstGeom prst="rect">
            <a:avLst/>
          </a:prstGeom>
          <a:noFill/>
        </p:spPr>
        <p:txBody>
          <a:bodyPr wrap="square">
            <a:spAutoFit/>
          </a:bodyPr>
          <a:lstStyle/>
          <a:p>
            <a:pPr algn="l"/>
            <a:r>
              <a:rPr sz="950" b="0" i="0">
                <a:solidFill>
                  <a:srgbClr val="444444"/>
                </a:solidFill>
              </a:rPr>
              <a:t>Pengisian realisasi hanya bisa dilakukan saat Admin Sistem telah mengaktifkan periode triwulan yang bersangkutan. Jika tabel IKU tidak tampil, kemungkinan periode belum diaktifkan.</a:t>
            </a:r>
          </a:p>
        </p:txBody>
      </p:sp>
      <p:sp>
        <p:nvSpPr>
          <p:cNvPr id="17" name="Rectangle 16"/>
          <p:cNvSpPr/>
          <p:nvPr/>
        </p:nvSpPr>
        <p:spPr>
          <a:xfrm>
            <a:off x="63093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261872"/>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335024"/>
            <a:ext cx="502920"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1810512"/>
            <a:ext cx="365760" cy="502920"/>
          </a:xfrm>
          <a:prstGeom prst="rect">
            <a:avLst/>
          </a:prstGeom>
          <a:noFill/>
        </p:spPr>
        <p:txBody>
          <a:bodyPr wrap="square">
            <a:spAutoFit/>
          </a:bodyPr>
          <a:lstStyle/>
          <a:p>
            <a:pPr algn="ctr"/>
            <a:r>
              <a:rPr sz="2200" b="1" i="0">
                <a:solidFill>
                  <a:srgbClr val="1B6B35"/>
                </a:solidFill>
              </a:rPr>
              <a:t>2</a:t>
            </a:r>
          </a:p>
        </p:txBody>
      </p:sp>
      <p:sp>
        <p:nvSpPr>
          <p:cNvPr id="21" name="TextBox 20"/>
          <p:cNvSpPr txBox="1"/>
          <p:nvPr/>
        </p:nvSpPr>
        <p:spPr>
          <a:xfrm>
            <a:off x="6903720" y="1371600"/>
            <a:ext cx="4846320" cy="292608"/>
          </a:xfrm>
          <a:prstGeom prst="rect">
            <a:avLst/>
          </a:prstGeom>
          <a:noFill/>
        </p:spPr>
        <p:txBody>
          <a:bodyPr wrap="square">
            <a:spAutoFit/>
          </a:bodyPr>
          <a:lstStyle/>
          <a:p>
            <a:pPr algn="l"/>
            <a:r>
              <a:rPr sz="1100" b="1" i="0">
                <a:solidFill>
                  <a:srgbClr val="1A376C"/>
                </a:solidFill>
              </a:rPr>
              <a:t>IKU yang Tampil</a:t>
            </a:r>
          </a:p>
        </p:txBody>
      </p:sp>
      <p:sp>
        <p:nvSpPr>
          <p:cNvPr id="22" name="Rectangle 21"/>
          <p:cNvSpPr/>
          <p:nvPr/>
        </p:nvSpPr>
        <p:spPr>
          <a:xfrm>
            <a:off x="6903720" y="1682495"/>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1737360"/>
            <a:ext cx="4892040" cy="1152144"/>
          </a:xfrm>
          <a:prstGeom prst="rect">
            <a:avLst/>
          </a:prstGeom>
          <a:noFill/>
        </p:spPr>
        <p:txBody>
          <a:bodyPr wrap="square">
            <a:spAutoFit/>
          </a:bodyPr>
          <a:lstStyle/>
          <a:p>
            <a:pPr algn="l"/>
            <a:r>
              <a:rPr sz="950" b="0" i="0">
                <a:solidFill>
                  <a:srgbClr val="444444"/>
                </a:solidFill>
              </a:rPr>
              <a:t>Hanya IKU di mana Tim Kerja Anda tercatat sebagai PIC (primary atau co-PIC) yang akan tampil di halaman Pengukuran Kinerja.</a:t>
            </a:r>
          </a:p>
        </p:txBody>
      </p:sp>
      <p:sp>
        <p:nvSpPr>
          <p:cNvPr id="24" name="Rectangle 23"/>
          <p:cNvSpPr/>
          <p:nvPr/>
        </p:nvSpPr>
        <p:spPr>
          <a:xfrm>
            <a:off x="3657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017520"/>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090672"/>
            <a:ext cx="502920"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 y="3566160"/>
            <a:ext cx="365760" cy="502920"/>
          </a:xfrm>
          <a:prstGeom prst="rect">
            <a:avLst/>
          </a:prstGeom>
          <a:noFill/>
        </p:spPr>
        <p:txBody>
          <a:bodyPr wrap="square">
            <a:spAutoFit/>
          </a:bodyPr>
          <a:lstStyle/>
          <a:p>
            <a:pPr algn="ctr"/>
            <a:r>
              <a:rPr sz="2200" b="1" i="0">
                <a:solidFill>
                  <a:srgbClr val="1B6B35"/>
                </a:solidFill>
              </a:rPr>
              <a:t>3</a:t>
            </a:r>
          </a:p>
        </p:txBody>
      </p:sp>
      <p:sp>
        <p:nvSpPr>
          <p:cNvPr id="28" name="TextBox 27"/>
          <p:cNvSpPr txBox="1"/>
          <p:nvPr/>
        </p:nvSpPr>
        <p:spPr>
          <a:xfrm>
            <a:off x="960120" y="3127248"/>
            <a:ext cx="4846320" cy="292608"/>
          </a:xfrm>
          <a:prstGeom prst="rect">
            <a:avLst/>
          </a:prstGeom>
          <a:noFill/>
        </p:spPr>
        <p:txBody>
          <a:bodyPr wrap="square">
            <a:spAutoFit/>
          </a:bodyPr>
          <a:lstStyle/>
          <a:p>
            <a:pPr algn="l"/>
            <a:r>
              <a:rPr sz="1100" b="1" i="0">
                <a:solidFill>
                  <a:srgbClr val="1A376C"/>
                </a:solidFill>
              </a:rPr>
              <a:t>IKU Kolaborasi</a:t>
            </a:r>
          </a:p>
        </p:txBody>
      </p:sp>
      <p:sp>
        <p:nvSpPr>
          <p:cNvPr id="29" name="Rectangle 28"/>
          <p:cNvSpPr/>
          <p:nvPr/>
        </p:nvSpPr>
        <p:spPr>
          <a:xfrm>
            <a:off x="960120" y="3438144"/>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3493008"/>
            <a:ext cx="4892040" cy="1152144"/>
          </a:xfrm>
          <a:prstGeom prst="rect">
            <a:avLst/>
          </a:prstGeom>
          <a:noFill/>
        </p:spPr>
        <p:txBody>
          <a:bodyPr wrap="square">
            <a:spAutoFit/>
          </a:bodyPr>
          <a:lstStyle/>
          <a:p>
            <a:pPr algn="l"/>
            <a:r>
              <a:rPr sz="950" b="0" i="0">
                <a:solidFill>
                  <a:srgbClr val="444444"/>
                </a:solidFill>
              </a:rPr>
              <a:t>Untuk IKU yang dimiliki bersama tim lain (co-PIC), semua PIC dapat mengisi dan mengedit realisasi. Data terakhir yang disimpan akan menjadi nilai yang tersimpan (last-save-wins).</a:t>
            </a:r>
          </a:p>
        </p:txBody>
      </p:sp>
      <p:sp>
        <p:nvSpPr>
          <p:cNvPr id="31" name="Rectangle 30"/>
          <p:cNvSpPr/>
          <p:nvPr/>
        </p:nvSpPr>
        <p:spPr>
          <a:xfrm>
            <a:off x="63093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017520"/>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3090672"/>
            <a:ext cx="502920"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73368" y="3566160"/>
            <a:ext cx="365760" cy="502920"/>
          </a:xfrm>
          <a:prstGeom prst="rect">
            <a:avLst/>
          </a:prstGeom>
          <a:noFill/>
        </p:spPr>
        <p:txBody>
          <a:bodyPr wrap="square">
            <a:spAutoFit/>
          </a:bodyPr>
          <a:lstStyle/>
          <a:p>
            <a:pPr algn="ctr"/>
            <a:r>
              <a:rPr sz="2200" b="1" i="0">
                <a:solidFill>
                  <a:srgbClr val="1B6B35"/>
                </a:solidFill>
              </a:rPr>
              <a:t>4</a:t>
            </a:r>
          </a:p>
        </p:txBody>
      </p:sp>
      <p:sp>
        <p:nvSpPr>
          <p:cNvPr id="35" name="TextBox 34"/>
          <p:cNvSpPr txBox="1"/>
          <p:nvPr/>
        </p:nvSpPr>
        <p:spPr>
          <a:xfrm>
            <a:off x="6903720" y="3127248"/>
            <a:ext cx="4846320" cy="292608"/>
          </a:xfrm>
          <a:prstGeom prst="rect">
            <a:avLst/>
          </a:prstGeom>
          <a:noFill/>
        </p:spPr>
        <p:txBody>
          <a:bodyPr wrap="square">
            <a:spAutoFit/>
          </a:bodyPr>
          <a:lstStyle/>
          <a:p>
            <a:pPr algn="l"/>
            <a:r>
              <a:rPr sz="1100" b="1" i="0">
                <a:solidFill>
                  <a:srgbClr val="1A376C"/>
                </a:solidFill>
              </a:rPr>
              <a:t>Submit Laporan</a:t>
            </a:r>
          </a:p>
        </p:txBody>
      </p:sp>
      <p:sp>
        <p:nvSpPr>
          <p:cNvPr id="36" name="Rectangle 35"/>
          <p:cNvSpPr/>
          <p:nvPr/>
        </p:nvSpPr>
        <p:spPr>
          <a:xfrm>
            <a:off x="6903720" y="3438144"/>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03720" y="3493008"/>
            <a:ext cx="4892040" cy="1152144"/>
          </a:xfrm>
          <a:prstGeom prst="rect">
            <a:avLst/>
          </a:prstGeom>
          <a:noFill/>
        </p:spPr>
        <p:txBody>
          <a:bodyPr wrap="square">
            <a:spAutoFit/>
          </a:bodyPr>
          <a:lstStyle/>
          <a:p>
            <a:pPr algn="l"/>
            <a:r>
              <a:rPr sz="950" b="0" i="0">
                <a:solidFill>
                  <a:srgbClr val="444444"/>
                </a:solidFill>
              </a:rPr>
              <a:t>Setelah semua IKU terisi, ajukan laporan ke Kabag Umum. Hanya SATU tim yang dapat submit untuk IKU kolaborasi — tim lain tidak perlu submit ulang untuk IKU yang sama.</a:t>
            </a:r>
          </a:p>
        </p:txBody>
      </p:sp>
      <p:sp>
        <p:nvSpPr>
          <p:cNvPr id="38" name="Rectangle 37"/>
          <p:cNvSpPr/>
          <p:nvPr/>
        </p:nvSpPr>
        <p:spPr>
          <a:xfrm>
            <a:off x="3657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4773168"/>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4846320"/>
            <a:ext cx="502920"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9768" y="5321807"/>
            <a:ext cx="365760" cy="502920"/>
          </a:xfrm>
          <a:prstGeom prst="rect">
            <a:avLst/>
          </a:prstGeom>
          <a:noFill/>
        </p:spPr>
        <p:txBody>
          <a:bodyPr wrap="square">
            <a:spAutoFit/>
          </a:bodyPr>
          <a:lstStyle/>
          <a:p>
            <a:pPr algn="ctr"/>
            <a:r>
              <a:rPr sz="2200" b="1" i="0">
                <a:solidFill>
                  <a:srgbClr val="1B6B35"/>
                </a:solidFill>
              </a:rPr>
              <a:t>5</a:t>
            </a:r>
          </a:p>
        </p:txBody>
      </p:sp>
      <p:sp>
        <p:nvSpPr>
          <p:cNvPr id="42" name="TextBox 41"/>
          <p:cNvSpPr txBox="1"/>
          <p:nvPr/>
        </p:nvSpPr>
        <p:spPr>
          <a:xfrm>
            <a:off x="960120" y="4882896"/>
            <a:ext cx="4846320" cy="292608"/>
          </a:xfrm>
          <a:prstGeom prst="rect">
            <a:avLst/>
          </a:prstGeom>
          <a:noFill/>
        </p:spPr>
        <p:txBody>
          <a:bodyPr wrap="square">
            <a:spAutoFit/>
          </a:bodyPr>
          <a:lstStyle/>
          <a:p>
            <a:pPr algn="l"/>
            <a:r>
              <a:rPr sz="1100" b="1" i="0">
                <a:solidFill>
                  <a:srgbClr val="1A376C"/>
                </a:solidFill>
              </a:rPr>
              <a:t>Laporan Tersubmit</a:t>
            </a:r>
          </a:p>
        </p:txBody>
      </p:sp>
      <p:sp>
        <p:nvSpPr>
          <p:cNvPr id="43" name="Rectangle 42"/>
          <p:cNvSpPr/>
          <p:nvPr/>
        </p:nvSpPr>
        <p:spPr>
          <a:xfrm>
            <a:off x="960120" y="519379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5248656"/>
            <a:ext cx="4892040" cy="1152144"/>
          </a:xfrm>
          <a:prstGeom prst="rect">
            <a:avLst/>
          </a:prstGeom>
          <a:noFill/>
        </p:spPr>
        <p:txBody>
          <a:bodyPr wrap="square">
            <a:spAutoFit/>
          </a:bodyPr>
          <a:lstStyle/>
          <a:p>
            <a:pPr algn="l"/>
            <a:r>
              <a:rPr sz="950" b="0" i="0">
                <a:solidFill>
                  <a:srgbClr val="444444"/>
                </a:solidFill>
              </a:rPr>
              <a:t>Laporan yang sudah disubmit tidak dapat diubah kecuali dikembalikan oleh Kabag Umum.</a:t>
            </a:r>
          </a:p>
        </p:txBody>
      </p:sp>
      <p:sp>
        <p:nvSpPr>
          <p:cNvPr id="45" name="Rectangle 44"/>
          <p:cNvSpPr/>
          <p:nvPr/>
        </p:nvSpPr>
        <p:spPr>
          <a:xfrm>
            <a:off x="63093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4773168"/>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4846320"/>
            <a:ext cx="502920"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5321807"/>
            <a:ext cx="365760" cy="502920"/>
          </a:xfrm>
          <a:prstGeom prst="rect">
            <a:avLst/>
          </a:prstGeom>
          <a:noFill/>
        </p:spPr>
        <p:txBody>
          <a:bodyPr wrap="square">
            <a:spAutoFit/>
          </a:bodyPr>
          <a:lstStyle/>
          <a:p>
            <a:pPr algn="ctr"/>
            <a:r>
              <a:rPr sz="2200" b="1" i="0">
                <a:solidFill>
                  <a:srgbClr val="1B6B35"/>
                </a:solidFill>
              </a:rPr>
              <a:t>6</a:t>
            </a:r>
          </a:p>
        </p:txBody>
      </p:sp>
      <p:sp>
        <p:nvSpPr>
          <p:cNvPr id="49" name="TextBox 48"/>
          <p:cNvSpPr txBox="1"/>
          <p:nvPr/>
        </p:nvSpPr>
        <p:spPr>
          <a:xfrm>
            <a:off x="6903720" y="4882896"/>
            <a:ext cx="4846320" cy="292608"/>
          </a:xfrm>
          <a:prstGeom prst="rect">
            <a:avLst/>
          </a:prstGeom>
          <a:noFill/>
        </p:spPr>
        <p:txBody>
          <a:bodyPr wrap="square">
            <a:spAutoFit/>
          </a:bodyPr>
          <a:lstStyle/>
          <a:p>
            <a:pPr algn="l"/>
            <a:r>
              <a:rPr sz="1100" b="1" i="0">
                <a:solidFill>
                  <a:srgbClr val="1A376C"/>
                </a:solidFill>
              </a:rPr>
              <a:t>Kelengkapan Isian</a:t>
            </a:r>
          </a:p>
        </p:txBody>
      </p:sp>
      <p:sp>
        <p:nvSpPr>
          <p:cNvPr id="50" name="Rectangle 49"/>
          <p:cNvSpPr/>
          <p:nvPr/>
        </p:nvSpPr>
        <p:spPr>
          <a:xfrm>
            <a:off x="6903720" y="519379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03720" y="5248656"/>
            <a:ext cx="4892040" cy="1152144"/>
          </a:xfrm>
          <a:prstGeom prst="rect">
            <a:avLst/>
          </a:prstGeom>
          <a:noFill/>
        </p:spPr>
        <p:txBody>
          <a:bodyPr wrap="square">
            <a:spAutoFit/>
          </a:bodyPr>
          <a:lstStyle/>
          <a:p>
            <a:pPr algn="l"/>
            <a:r>
              <a:rPr sz="950" b="0" i="0">
                <a:solidFill>
                  <a:srgbClr val="444444"/>
                </a:solidFill>
              </a:rPr>
              <a:t>Untuk setiap IKU, setidaknya nilai realisasi wajib diisi. Kolom progress kegiatan, kendala, dan strategi tindak lanjut sangat dianjurkan untuk diisi secara lengkap.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03  |  Login &amp; Navigasi ke Pengukuran Kinerja</a:t>
            </a:r>
          </a:p>
        </p:txBody>
      </p:sp>
      <p:sp>
        <p:nvSpPr>
          <p:cNvPr id="6" name="Rectangle 5"/>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8" name="TextBox 7"/>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5 / 12</a:t>
            </a:r>
          </a:p>
        </p:txBody>
      </p:sp>
      <p:sp>
        <p:nvSpPr>
          <p:cNvPr id="9" name="Rectangle 8"/>
          <p:cNvSpPr/>
          <p:nvPr/>
        </p:nvSpPr>
        <p:spPr>
          <a:xfrm>
            <a:off x="365760" y="1234440"/>
            <a:ext cx="11430000" cy="47548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261872"/>
            <a:ext cx="2560320" cy="420624"/>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289304"/>
            <a:ext cx="2377440" cy="365760"/>
          </a:xfrm>
          <a:prstGeom prst="rect">
            <a:avLst/>
          </a:prstGeom>
          <a:noFill/>
        </p:spPr>
        <p:txBody>
          <a:bodyPr wrap="square">
            <a:spAutoFit/>
          </a:bodyPr>
          <a:lstStyle/>
          <a:p>
            <a:pPr algn="l"/>
            <a:r>
              <a:rPr sz="1000" b="0" i="0">
                <a:solidFill>
                  <a:srgbClr val="1A376C"/>
                </a:solidFill>
              </a:rPr>
              <a:t>Dashboard</a:t>
            </a:r>
          </a:p>
        </p:txBody>
      </p:sp>
      <p:sp>
        <p:nvSpPr>
          <p:cNvPr id="12" name="Rectangle 11"/>
          <p:cNvSpPr/>
          <p:nvPr/>
        </p:nvSpPr>
        <p:spPr>
          <a:xfrm>
            <a:off x="3291840" y="1261872"/>
            <a:ext cx="2560320" cy="420624"/>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289304"/>
            <a:ext cx="2377440" cy="365760"/>
          </a:xfrm>
          <a:prstGeom prst="rect">
            <a:avLst/>
          </a:prstGeom>
          <a:noFill/>
        </p:spPr>
        <p:txBody>
          <a:bodyPr wrap="square">
            <a:spAutoFit/>
          </a:bodyPr>
          <a:lstStyle/>
          <a:p>
            <a:pPr algn="l"/>
            <a:r>
              <a:rPr sz="1000" b="1" i="0">
                <a:solidFill>
                  <a:srgbClr val="FFFFFF"/>
                </a:solidFill>
              </a:rPr>
              <a:t>▶  Pengukuran Kinerja</a:t>
            </a:r>
          </a:p>
        </p:txBody>
      </p:sp>
      <p:sp>
        <p:nvSpPr>
          <p:cNvPr id="14" name="Rectangle 13"/>
          <p:cNvSpPr/>
          <p:nvPr/>
        </p:nvSpPr>
        <p:spPr>
          <a:xfrm>
            <a:off x="365760" y="1828800"/>
            <a:ext cx="4114800" cy="45720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1828800"/>
            <a:ext cx="41148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847088"/>
            <a:ext cx="3931920" cy="320040"/>
          </a:xfrm>
          <a:prstGeom prst="rect">
            <a:avLst/>
          </a:prstGeom>
          <a:noFill/>
        </p:spPr>
        <p:txBody>
          <a:bodyPr wrap="square">
            <a:spAutoFit/>
          </a:bodyPr>
          <a:lstStyle/>
          <a:p>
            <a:pPr algn="l"/>
            <a:r>
              <a:rPr sz="1000" b="1" i="0">
                <a:solidFill>
                  <a:srgbClr val="FFFFFF"/>
                </a:solidFill>
              </a:rPr>
              <a:t>Tampilan Menu Sidebar Pengukuran</a:t>
            </a:r>
          </a:p>
        </p:txBody>
      </p:sp>
      <p:sp>
        <p:nvSpPr>
          <p:cNvPr id="17" name="TextBox 16"/>
          <p:cNvSpPr txBox="1"/>
          <p:nvPr/>
        </p:nvSpPr>
        <p:spPr>
          <a:xfrm>
            <a:off x="640080" y="2331720"/>
            <a:ext cx="3703320" cy="3931920"/>
          </a:xfrm>
          <a:prstGeom prst="rect">
            <a:avLst/>
          </a:prstGeom>
          <a:noFill/>
        </p:spPr>
        <p:txBody>
          <a:bodyPr wrap="square">
            <a:spAutoFit/>
          </a:bodyPr>
          <a:lstStyle/>
          <a:p>
            <a:pPr algn="ctr"/>
            <a:r>
              <a:rPr sz="1000" b="0" i="1">
                <a:solidFill>
                  <a:srgbClr val="2E75B6"/>
                </a:solidFill>
              </a:rPr>
              <a:t>[ SCREENSHOT MENU SIDEBAR PENGUKURAN ]
Tambahkan screenshot di sini</a:t>
            </a:r>
          </a:p>
        </p:txBody>
      </p:sp>
      <p:sp>
        <p:nvSpPr>
          <p:cNvPr id="18" name="TextBox 17"/>
          <p:cNvSpPr txBox="1"/>
          <p:nvPr/>
        </p:nvSpPr>
        <p:spPr>
          <a:xfrm>
            <a:off x="4800600" y="1828800"/>
            <a:ext cx="7040880" cy="347472"/>
          </a:xfrm>
          <a:prstGeom prst="rect">
            <a:avLst/>
          </a:prstGeom>
          <a:noFill/>
        </p:spPr>
        <p:txBody>
          <a:bodyPr wrap="square">
            <a:spAutoFit/>
          </a:bodyPr>
          <a:lstStyle/>
          <a:p>
            <a:pPr algn="l"/>
            <a:r>
              <a:rPr sz="1300" b="1" i="0">
                <a:solidFill>
                  <a:srgbClr val="1A376C"/>
                </a:solidFill>
              </a:rPr>
              <a:t>Langkah Login &amp; Navigasi</a:t>
            </a:r>
          </a:p>
        </p:txBody>
      </p:sp>
      <p:sp>
        <p:nvSpPr>
          <p:cNvPr id="19" name="Rectangle 18"/>
          <p:cNvSpPr/>
          <p:nvPr/>
        </p:nvSpPr>
        <p:spPr>
          <a:xfrm>
            <a:off x="4800600" y="1828800"/>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2286000"/>
            <a:ext cx="7040880" cy="77724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00600" y="2286000"/>
            <a:ext cx="457200" cy="777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2473451"/>
            <a:ext cx="457200" cy="402336"/>
          </a:xfrm>
          <a:prstGeom prst="rect">
            <a:avLst/>
          </a:prstGeom>
          <a:noFill/>
        </p:spPr>
        <p:txBody>
          <a:bodyPr wrap="square">
            <a:spAutoFit/>
          </a:bodyPr>
          <a:lstStyle/>
          <a:p>
            <a:pPr algn="ctr"/>
            <a:r>
              <a:rPr sz="1700" b="1" i="0">
                <a:solidFill>
                  <a:srgbClr val="FFFFFF"/>
                </a:solidFill>
              </a:rPr>
              <a:t>1</a:t>
            </a:r>
          </a:p>
        </p:txBody>
      </p:sp>
      <p:sp>
        <p:nvSpPr>
          <p:cNvPr id="23" name="TextBox 22"/>
          <p:cNvSpPr txBox="1"/>
          <p:nvPr/>
        </p:nvSpPr>
        <p:spPr>
          <a:xfrm>
            <a:off x="5330952" y="2331720"/>
            <a:ext cx="6446520" cy="274320"/>
          </a:xfrm>
          <a:prstGeom prst="rect">
            <a:avLst/>
          </a:prstGeom>
          <a:noFill/>
        </p:spPr>
        <p:txBody>
          <a:bodyPr wrap="square">
            <a:spAutoFit/>
          </a:bodyPr>
          <a:lstStyle/>
          <a:p>
            <a:pPr algn="l"/>
            <a:r>
              <a:rPr sz="1050" b="1" i="0">
                <a:solidFill>
                  <a:srgbClr val="1A376C"/>
                </a:solidFill>
              </a:rPr>
              <a:t>Buka Aplikasi &amp; Login</a:t>
            </a:r>
          </a:p>
        </p:txBody>
      </p:sp>
      <p:sp>
        <p:nvSpPr>
          <p:cNvPr id="24" name="TextBox 23"/>
          <p:cNvSpPr txBox="1"/>
          <p:nvPr/>
        </p:nvSpPr>
        <p:spPr>
          <a:xfrm>
            <a:off x="5330952" y="2615184"/>
            <a:ext cx="6446520" cy="393192"/>
          </a:xfrm>
          <a:prstGeom prst="rect">
            <a:avLst/>
          </a:prstGeom>
          <a:noFill/>
        </p:spPr>
        <p:txBody>
          <a:bodyPr wrap="square">
            <a:spAutoFit/>
          </a:bodyPr>
          <a:lstStyle/>
          <a:p>
            <a:pPr algn="l"/>
            <a:r>
              <a:rPr sz="950" b="0" i="0">
                <a:solidFill>
                  <a:srgbClr val="444444"/>
                </a:solidFill>
              </a:rPr>
              <a:t>Buka browser, akses URL SIPITUNG. Masukkan username (contoh: ketua.pk) dan password, lalu klik "Masuk".</a:t>
            </a:r>
          </a:p>
        </p:txBody>
      </p:sp>
      <p:sp>
        <p:nvSpPr>
          <p:cNvPr id="25" name="Rectangle 24"/>
          <p:cNvSpPr/>
          <p:nvPr/>
        </p:nvSpPr>
        <p:spPr>
          <a:xfrm>
            <a:off x="4800600" y="3127248"/>
            <a:ext cx="7040880" cy="77724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00600" y="3127248"/>
            <a:ext cx="457200" cy="777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3314699"/>
            <a:ext cx="457200" cy="402336"/>
          </a:xfrm>
          <a:prstGeom prst="rect">
            <a:avLst/>
          </a:prstGeom>
          <a:noFill/>
        </p:spPr>
        <p:txBody>
          <a:bodyPr wrap="square">
            <a:spAutoFit/>
          </a:bodyPr>
          <a:lstStyle/>
          <a:p>
            <a:pPr algn="ctr"/>
            <a:r>
              <a:rPr sz="1700" b="1" i="0">
                <a:solidFill>
                  <a:srgbClr val="FFFFFF"/>
                </a:solidFill>
              </a:rPr>
              <a:t>2</a:t>
            </a:r>
          </a:p>
        </p:txBody>
      </p:sp>
      <p:sp>
        <p:nvSpPr>
          <p:cNvPr id="28" name="TextBox 27"/>
          <p:cNvSpPr txBox="1"/>
          <p:nvPr/>
        </p:nvSpPr>
        <p:spPr>
          <a:xfrm>
            <a:off x="5330952" y="3172968"/>
            <a:ext cx="6446520" cy="274320"/>
          </a:xfrm>
          <a:prstGeom prst="rect">
            <a:avLst/>
          </a:prstGeom>
          <a:noFill/>
        </p:spPr>
        <p:txBody>
          <a:bodyPr wrap="square">
            <a:spAutoFit/>
          </a:bodyPr>
          <a:lstStyle/>
          <a:p>
            <a:pPr algn="l"/>
            <a:r>
              <a:rPr sz="1050" b="1" i="0">
                <a:solidFill>
                  <a:srgbClr val="1A376C"/>
                </a:solidFill>
              </a:rPr>
              <a:t>Pilih Menu Pengukuran Kinerja</a:t>
            </a:r>
          </a:p>
        </p:txBody>
      </p:sp>
      <p:sp>
        <p:nvSpPr>
          <p:cNvPr id="29" name="TextBox 28"/>
          <p:cNvSpPr txBox="1"/>
          <p:nvPr/>
        </p:nvSpPr>
        <p:spPr>
          <a:xfrm>
            <a:off x="5330952" y="3456432"/>
            <a:ext cx="6446520" cy="393192"/>
          </a:xfrm>
          <a:prstGeom prst="rect">
            <a:avLst/>
          </a:prstGeom>
          <a:noFill/>
        </p:spPr>
        <p:txBody>
          <a:bodyPr wrap="square">
            <a:spAutoFit/>
          </a:bodyPr>
          <a:lstStyle/>
          <a:p>
            <a:pPr algn="l"/>
            <a:r>
              <a:rPr sz="950" b="0" i="0">
                <a:solidFill>
                  <a:srgbClr val="444444"/>
                </a:solidFill>
              </a:rPr>
              <a:t>Pada sidebar kiri, klik menu 'Pengukuran Kinerja' (ikon grafik batang). Menu ini langsung mengarah ke halaman pengisian.</a:t>
            </a:r>
          </a:p>
        </p:txBody>
      </p:sp>
      <p:sp>
        <p:nvSpPr>
          <p:cNvPr id="30" name="Rectangle 29"/>
          <p:cNvSpPr/>
          <p:nvPr/>
        </p:nvSpPr>
        <p:spPr>
          <a:xfrm>
            <a:off x="4800600" y="3968496"/>
            <a:ext cx="7040880" cy="77724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00600" y="3968496"/>
            <a:ext cx="457200" cy="777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0600" y="4155948"/>
            <a:ext cx="457200" cy="402336"/>
          </a:xfrm>
          <a:prstGeom prst="rect">
            <a:avLst/>
          </a:prstGeom>
          <a:noFill/>
        </p:spPr>
        <p:txBody>
          <a:bodyPr wrap="square">
            <a:spAutoFit/>
          </a:bodyPr>
          <a:lstStyle/>
          <a:p>
            <a:pPr algn="ctr"/>
            <a:r>
              <a:rPr sz="1700" b="1" i="0">
                <a:solidFill>
                  <a:srgbClr val="FFFFFF"/>
                </a:solidFill>
              </a:rPr>
              <a:t>3</a:t>
            </a:r>
          </a:p>
        </p:txBody>
      </p:sp>
      <p:sp>
        <p:nvSpPr>
          <p:cNvPr id="33" name="TextBox 32"/>
          <p:cNvSpPr txBox="1"/>
          <p:nvPr/>
        </p:nvSpPr>
        <p:spPr>
          <a:xfrm>
            <a:off x="5330952" y="4014215"/>
            <a:ext cx="6446520" cy="274320"/>
          </a:xfrm>
          <a:prstGeom prst="rect">
            <a:avLst/>
          </a:prstGeom>
          <a:noFill/>
        </p:spPr>
        <p:txBody>
          <a:bodyPr wrap="square">
            <a:spAutoFit/>
          </a:bodyPr>
          <a:lstStyle/>
          <a:p>
            <a:pPr algn="l"/>
            <a:r>
              <a:rPr sz="1050" b="1" i="0">
                <a:solidFill>
                  <a:srgbClr val="1A376C"/>
                </a:solidFill>
              </a:rPr>
              <a:t>Pilih Periode Aktif</a:t>
            </a:r>
          </a:p>
        </p:txBody>
      </p:sp>
      <p:sp>
        <p:nvSpPr>
          <p:cNvPr id="34" name="TextBox 33"/>
          <p:cNvSpPr txBox="1"/>
          <p:nvPr/>
        </p:nvSpPr>
        <p:spPr>
          <a:xfrm>
            <a:off x="5330952" y="4297680"/>
            <a:ext cx="6446520" cy="393192"/>
          </a:xfrm>
          <a:prstGeom prst="rect">
            <a:avLst/>
          </a:prstGeom>
          <a:noFill/>
        </p:spPr>
        <p:txBody>
          <a:bodyPr wrap="square">
            <a:spAutoFit/>
          </a:bodyPr>
          <a:lstStyle/>
          <a:p>
            <a:pPr algn="l"/>
            <a:r>
              <a:rPr sz="950" b="0" i="0">
                <a:solidFill>
                  <a:srgbClr val="444444"/>
                </a:solidFill>
              </a:rPr>
              <a:t>Di halaman Pengukuran, pilih periode triwulan yang aktif dari dropdown periode (contoh: Triwulan I 2026).</a:t>
            </a:r>
          </a:p>
        </p:txBody>
      </p:sp>
      <p:sp>
        <p:nvSpPr>
          <p:cNvPr id="35" name="Rectangle 34"/>
          <p:cNvSpPr/>
          <p:nvPr/>
        </p:nvSpPr>
        <p:spPr>
          <a:xfrm>
            <a:off x="4800600" y="4809744"/>
            <a:ext cx="7040880" cy="77724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800600" y="4809744"/>
            <a:ext cx="457200" cy="777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00600" y="4997196"/>
            <a:ext cx="457200" cy="402336"/>
          </a:xfrm>
          <a:prstGeom prst="rect">
            <a:avLst/>
          </a:prstGeom>
          <a:noFill/>
        </p:spPr>
        <p:txBody>
          <a:bodyPr wrap="square">
            <a:spAutoFit/>
          </a:bodyPr>
          <a:lstStyle/>
          <a:p>
            <a:pPr algn="ctr"/>
            <a:r>
              <a:rPr sz="1700" b="1" i="0">
                <a:solidFill>
                  <a:srgbClr val="FFFFFF"/>
                </a:solidFill>
              </a:rPr>
              <a:t>4</a:t>
            </a:r>
          </a:p>
        </p:txBody>
      </p:sp>
      <p:sp>
        <p:nvSpPr>
          <p:cNvPr id="38" name="TextBox 37"/>
          <p:cNvSpPr txBox="1"/>
          <p:nvPr/>
        </p:nvSpPr>
        <p:spPr>
          <a:xfrm>
            <a:off x="5330952" y="4855464"/>
            <a:ext cx="6446520" cy="274320"/>
          </a:xfrm>
          <a:prstGeom prst="rect">
            <a:avLst/>
          </a:prstGeom>
          <a:noFill/>
        </p:spPr>
        <p:txBody>
          <a:bodyPr wrap="square">
            <a:spAutoFit/>
          </a:bodyPr>
          <a:lstStyle/>
          <a:p>
            <a:pPr algn="l"/>
            <a:r>
              <a:rPr sz="1050" b="1" i="0">
                <a:solidFill>
                  <a:srgbClr val="1A376C"/>
                </a:solidFill>
              </a:rPr>
              <a:t>Verifikasi Daftar IKU</a:t>
            </a:r>
          </a:p>
        </p:txBody>
      </p:sp>
      <p:sp>
        <p:nvSpPr>
          <p:cNvPr id="39" name="TextBox 38"/>
          <p:cNvSpPr txBox="1"/>
          <p:nvPr/>
        </p:nvSpPr>
        <p:spPr>
          <a:xfrm>
            <a:off x="5330952" y="5138928"/>
            <a:ext cx="6446520" cy="393192"/>
          </a:xfrm>
          <a:prstGeom prst="rect">
            <a:avLst/>
          </a:prstGeom>
          <a:noFill/>
        </p:spPr>
        <p:txBody>
          <a:bodyPr wrap="square">
            <a:spAutoFit/>
          </a:bodyPr>
          <a:lstStyle/>
          <a:p>
            <a:pPr algn="l"/>
            <a:r>
              <a:rPr sz="950" b="0" i="0">
                <a:solidFill>
                  <a:srgbClr val="444444"/>
                </a:solidFill>
              </a:rPr>
              <a:t>Pastikan daftar IKU Tim Kerja Anda tampil dengan benar. Jika kosong, kemungkinan periode belum diaktifkan atau belum ada IKU yang di-assign ke Tim Anda.</a:t>
            </a:r>
          </a:p>
        </p:txBody>
      </p:sp>
      <p:sp>
        <p:nvSpPr>
          <p:cNvPr id="40" name="Rectangle 39"/>
          <p:cNvSpPr/>
          <p:nvPr/>
        </p:nvSpPr>
        <p:spPr>
          <a:xfrm>
            <a:off x="4800600" y="5650992"/>
            <a:ext cx="7040880" cy="77724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800600" y="5650992"/>
            <a:ext cx="457200" cy="7772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00600" y="5838444"/>
            <a:ext cx="457200" cy="402336"/>
          </a:xfrm>
          <a:prstGeom prst="rect">
            <a:avLst/>
          </a:prstGeom>
          <a:noFill/>
        </p:spPr>
        <p:txBody>
          <a:bodyPr wrap="square">
            <a:spAutoFit/>
          </a:bodyPr>
          <a:lstStyle/>
          <a:p>
            <a:pPr algn="ctr"/>
            <a:r>
              <a:rPr sz="1700" b="1" i="0">
                <a:solidFill>
                  <a:srgbClr val="FFFFFF"/>
                </a:solidFill>
              </a:rPr>
              <a:t>5</a:t>
            </a:r>
          </a:p>
        </p:txBody>
      </p:sp>
      <p:sp>
        <p:nvSpPr>
          <p:cNvPr id="43" name="TextBox 42"/>
          <p:cNvSpPr txBox="1"/>
          <p:nvPr/>
        </p:nvSpPr>
        <p:spPr>
          <a:xfrm>
            <a:off x="5330952" y="5696712"/>
            <a:ext cx="6446520" cy="274320"/>
          </a:xfrm>
          <a:prstGeom prst="rect">
            <a:avLst/>
          </a:prstGeom>
          <a:noFill/>
        </p:spPr>
        <p:txBody>
          <a:bodyPr wrap="square">
            <a:spAutoFit/>
          </a:bodyPr>
          <a:lstStyle/>
          <a:p>
            <a:pPr algn="l"/>
            <a:r>
              <a:rPr sz="1050" b="1" i="0">
                <a:solidFill>
                  <a:srgbClr val="1A376C"/>
                </a:solidFill>
              </a:rPr>
              <a:t>Mulai Isi Realisasi</a:t>
            </a:r>
          </a:p>
        </p:txBody>
      </p:sp>
      <p:sp>
        <p:nvSpPr>
          <p:cNvPr id="44" name="TextBox 43"/>
          <p:cNvSpPr txBox="1"/>
          <p:nvPr/>
        </p:nvSpPr>
        <p:spPr>
          <a:xfrm>
            <a:off x="5330952" y="5980176"/>
            <a:ext cx="6446520" cy="393192"/>
          </a:xfrm>
          <a:prstGeom prst="rect">
            <a:avLst/>
          </a:prstGeom>
          <a:noFill/>
        </p:spPr>
        <p:txBody>
          <a:bodyPr wrap="square">
            <a:spAutoFit/>
          </a:bodyPr>
          <a:lstStyle/>
          <a:p>
            <a:pPr algn="l"/>
            <a:r>
              <a:rPr sz="950" b="0" i="0">
                <a:solidFill>
                  <a:srgbClr val="444444"/>
                </a:solidFill>
              </a:rPr>
              <a:t>Tabel siap diisi. Lanjutkan ke langkah berikutnya untuk cara mengisi nilai realisasi.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04  |  Memahami Halaman Pengukuran Kinerja</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Penjelasan setiap kolom dan tombol yang tersedia</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6 / 12</a:t>
            </a:r>
          </a:p>
        </p:txBody>
      </p:sp>
      <p:sp>
        <p:nvSpPr>
          <p:cNvPr id="10" name="Rectangle 9"/>
          <p:cNvSpPr/>
          <p:nvPr/>
        </p:nvSpPr>
        <p:spPr>
          <a:xfrm>
            <a:off x="365760" y="1234440"/>
            <a:ext cx="475488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75488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572000" cy="320040"/>
          </a:xfrm>
          <a:prstGeom prst="rect">
            <a:avLst/>
          </a:prstGeom>
          <a:noFill/>
        </p:spPr>
        <p:txBody>
          <a:bodyPr wrap="square">
            <a:spAutoFit/>
          </a:bodyPr>
          <a:lstStyle/>
          <a:p>
            <a:pPr algn="l"/>
            <a:r>
              <a:rPr sz="1000" b="1" i="0">
                <a:solidFill>
                  <a:srgbClr val="FFFFFF"/>
                </a:solidFill>
              </a:rPr>
              <a:t>Tampilan Halaman Utama Pengukuran</a:t>
            </a:r>
          </a:p>
        </p:txBody>
      </p:sp>
      <p:sp>
        <p:nvSpPr>
          <p:cNvPr id="13" name="TextBox 12"/>
          <p:cNvSpPr txBox="1"/>
          <p:nvPr/>
        </p:nvSpPr>
        <p:spPr>
          <a:xfrm>
            <a:off x="640080" y="1737360"/>
            <a:ext cx="4343400" cy="4617720"/>
          </a:xfrm>
          <a:prstGeom prst="rect">
            <a:avLst/>
          </a:prstGeom>
          <a:noFill/>
        </p:spPr>
        <p:txBody>
          <a:bodyPr wrap="square">
            <a:spAutoFit/>
          </a:bodyPr>
          <a:lstStyle/>
          <a:p>
            <a:pPr algn="ctr"/>
            <a:r>
              <a:rPr sz="1000" b="0" i="1">
                <a:solidFill>
                  <a:srgbClr val="2E75B6"/>
                </a:solidFill>
              </a:rPr>
              <a:t>[ SCREENSHOT HALAMAN UTAMA PENGUKURAN ]
Tambahkan screenshot di sini</a:t>
            </a:r>
          </a:p>
        </p:txBody>
      </p:sp>
      <p:sp>
        <p:nvSpPr>
          <p:cNvPr id="14" name="TextBox 13"/>
          <p:cNvSpPr txBox="1"/>
          <p:nvPr/>
        </p:nvSpPr>
        <p:spPr>
          <a:xfrm>
            <a:off x="5440680" y="1261872"/>
            <a:ext cx="6492240" cy="347472"/>
          </a:xfrm>
          <a:prstGeom prst="rect">
            <a:avLst/>
          </a:prstGeom>
          <a:noFill/>
        </p:spPr>
        <p:txBody>
          <a:bodyPr wrap="square">
            <a:spAutoFit/>
          </a:bodyPr>
          <a:lstStyle/>
          <a:p>
            <a:pPr algn="l"/>
            <a:r>
              <a:rPr sz="1300" b="1" i="0">
                <a:solidFill>
                  <a:srgbClr val="1A376C"/>
                </a:solidFill>
              </a:rPr>
              <a:t>Penjelasan Kolom Tabel</a:t>
            </a:r>
          </a:p>
        </p:txBody>
      </p:sp>
      <p:sp>
        <p:nvSpPr>
          <p:cNvPr id="15" name="Rectangle 14"/>
          <p:cNvSpPr/>
          <p:nvPr/>
        </p:nvSpPr>
        <p:spPr>
          <a:xfrm>
            <a:off x="544068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1737360"/>
            <a:ext cx="6492240" cy="521207"/>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77840" y="1792224"/>
            <a:ext cx="1463040" cy="384048"/>
          </a:xfrm>
          <a:prstGeom prst="rect">
            <a:avLst/>
          </a:prstGeom>
          <a:noFill/>
        </p:spPr>
        <p:txBody>
          <a:bodyPr wrap="square">
            <a:spAutoFit/>
          </a:bodyPr>
          <a:lstStyle/>
          <a:p>
            <a:pPr algn="l"/>
            <a:r>
              <a:rPr sz="1000" b="1" i="0">
                <a:solidFill>
                  <a:srgbClr val="1A376C"/>
                </a:solidFill>
              </a:rPr>
              <a:t>Sasaran</a:t>
            </a:r>
          </a:p>
        </p:txBody>
      </p:sp>
      <p:sp>
        <p:nvSpPr>
          <p:cNvPr id="18" name="Rectangle 17"/>
          <p:cNvSpPr/>
          <p:nvPr/>
        </p:nvSpPr>
        <p:spPr>
          <a:xfrm>
            <a:off x="7022592" y="1828800"/>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4032" y="1792224"/>
            <a:ext cx="4754880" cy="438912"/>
          </a:xfrm>
          <a:prstGeom prst="rect">
            <a:avLst/>
          </a:prstGeom>
          <a:noFill/>
        </p:spPr>
        <p:txBody>
          <a:bodyPr wrap="square">
            <a:spAutoFit/>
          </a:bodyPr>
          <a:lstStyle/>
          <a:p>
            <a:pPr algn="l"/>
            <a:r>
              <a:rPr sz="950" b="0" i="0">
                <a:solidFill>
                  <a:srgbClr val="444444"/>
                </a:solidFill>
              </a:rPr>
              <a:t>Nama sasaran strategis yang menjadi kelompok IKU (color-coded per sasaran).</a:t>
            </a:r>
          </a:p>
        </p:txBody>
      </p:sp>
      <p:sp>
        <p:nvSpPr>
          <p:cNvPr id="20" name="Rectangle 19"/>
          <p:cNvSpPr/>
          <p:nvPr/>
        </p:nvSpPr>
        <p:spPr>
          <a:xfrm>
            <a:off x="5440680" y="2276856"/>
            <a:ext cx="6492240"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7840" y="2331720"/>
            <a:ext cx="1463040" cy="384048"/>
          </a:xfrm>
          <a:prstGeom prst="rect">
            <a:avLst/>
          </a:prstGeom>
          <a:noFill/>
        </p:spPr>
        <p:txBody>
          <a:bodyPr wrap="square">
            <a:spAutoFit/>
          </a:bodyPr>
          <a:lstStyle/>
          <a:p>
            <a:pPr algn="l"/>
            <a:r>
              <a:rPr sz="1000" b="1" i="0">
                <a:solidFill>
                  <a:srgbClr val="1A376C"/>
                </a:solidFill>
              </a:rPr>
              <a:t>Indikator</a:t>
            </a:r>
          </a:p>
        </p:txBody>
      </p:sp>
      <p:sp>
        <p:nvSpPr>
          <p:cNvPr id="22" name="Rectangle 21"/>
          <p:cNvSpPr/>
          <p:nvPr/>
        </p:nvSpPr>
        <p:spPr>
          <a:xfrm>
            <a:off x="7022592" y="2368296"/>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2" y="2331720"/>
            <a:ext cx="4754880" cy="438912"/>
          </a:xfrm>
          <a:prstGeom prst="rect">
            <a:avLst/>
          </a:prstGeom>
          <a:noFill/>
        </p:spPr>
        <p:txBody>
          <a:bodyPr wrap="square">
            <a:spAutoFit/>
          </a:bodyPr>
          <a:lstStyle/>
          <a:p>
            <a:pPr algn="l"/>
            <a:r>
              <a:rPr sz="950" b="0" i="0">
                <a:solidFill>
                  <a:srgbClr val="444444"/>
                </a:solidFill>
              </a:rPr>
              <a:t>Nama dan kode IKU. Ikon 👥 muncul jika IKU dimiliki bersama tim lain (Co-PIC).</a:t>
            </a:r>
          </a:p>
        </p:txBody>
      </p:sp>
      <p:sp>
        <p:nvSpPr>
          <p:cNvPr id="24" name="Rectangle 23"/>
          <p:cNvSpPr/>
          <p:nvPr/>
        </p:nvSpPr>
        <p:spPr>
          <a:xfrm>
            <a:off x="5440680" y="2816352"/>
            <a:ext cx="6492240" cy="521207"/>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0" y="2871216"/>
            <a:ext cx="1463040" cy="384048"/>
          </a:xfrm>
          <a:prstGeom prst="rect">
            <a:avLst/>
          </a:prstGeom>
          <a:noFill/>
        </p:spPr>
        <p:txBody>
          <a:bodyPr wrap="square">
            <a:spAutoFit/>
          </a:bodyPr>
          <a:lstStyle/>
          <a:p>
            <a:pPr algn="l"/>
            <a:r>
              <a:rPr sz="1000" b="1" i="0">
                <a:solidFill>
                  <a:srgbClr val="1A376C"/>
                </a:solidFill>
              </a:rPr>
              <a:t>PIC</a:t>
            </a:r>
          </a:p>
        </p:txBody>
      </p:sp>
      <p:sp>
        <p:nvSpPr>
          <p:cNvPr id="26" name="Rectangle 25"/>
          <p:cNvSpPr/>
          <p:nvPr/>
        </p:nvSpPr>
        <p:spPr>
          <a:xfrm>
            <a:off x="7022592" y="2907792"/>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2" y="2871216"/>
            <a:ext cx="4754880" cy="438912"/>
          </a:xfrm>
          <a:prstGeom prst="rect">
            <a:avLst/>
          </a:prstGeom>
          <a:noFill/>
        </p:spPr>
        <p:txBody>
          <a:bodyPr wrap="square">
            <a:spAutoFit/>
          </a:bodyPr>
          <a:lstStyle/>
          <a:p>
            <a:pPr algn="l"/>
            <a:r>
              <a:rPr sz="950" b="0" i="0">
                <a:solidFill>
                  <a:srgbClr val="444444"/>
                </a:solidFill>
              </a:rPr>
              <a:t>Tim Kerja penanggung jawab utama IKU. Badge biru = primer, abu = co-PIC.</a:t>
            </a:r>
          </a:p>
        </p:txBody>
      </p:sp>
      <p:sp>
        <p:nvSpPr>
          <p:cNvPr id="28" name="Rectangle 27"/>
          <p:cNvSpPr/>
          <p:nvPr/>
        </p:nvSpPr>
        <p:spPr>
          <a:xfrm>
            <a:off x="5440680" y="3355848"/>
            <a:ext cx="6492240"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77840" y="3410712"/>
            <a:ext cx="1463040" cy="384048"/>
          </a:xfrm>
          <a:prstGeom prst="rect">
            <a:avLst/>
          </a:prstGeom>
          <a:noFill/>
        </p:spPr>
        <p:txBody>
          <a:bodyPr wrap="square">
            <a:spAutoFit/>
          </a:bodyPr>
          <a:lstStyle/>
          <a:p>
            <a:pPr algn="l"/>
            <a:r>
              <a:rPr sz="1000" b="1" i="0">
                <a:solidFill>
                  <a:srgbClr val="1A376C"/>
                </a:solidFill>
              </a:rPr>
              <a:t>Satuan</a:t>
            </a:r>
          </a:p>
        </p:txBody>
      </p:sp>
      <p:sp>
        <p:nvSpPr>
          <p:cNvPr id="30" name="Rectangle 29"/>
          <p:cNvSpPr/>
          <p:nvPr/>
        </p:nvSpPr>
        <p:spPr>
          <a:xfrm>
            <a:off x="7022592" y="3447288"/>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14032" y="3410712"/>
            <a:ext cx="4754880" cy="438912"/>
          </a:xfrm>
          <a:prstGeom prst="rect">
            <a:avLst/>
          </a:prstGeom>
          <a:noFill/>
        </p:spPr>
        <p:txBody>
          <a:bodyPr wrap="square">
            <a:spAutoFit/>
          </a:bodyPr>
          <a:lstStyle/>
          <a:p>
            <a:pPr algn="l"/>
            <a:r>
              <a:rPr sz="950" b="0" i="0">
                <a:solidFill>
                  <a:srgbClr val="444444"/>
                </a:solidFill>
              </a:rPr>
              <a:t>Satuan pengukuran IKU (%, orang, dokumen, dsb.).</a:t>
            </a:r>
          </a:p>
        </p:txBody>
      </p:sp>
      <p:sp>
        <p:nvSpPr>
          <p:cNvPr id="32" name="Rectangle 31"/>
          <p:cNvSpPr/>
          <p:nvPr/>
        </p:nvSpPr>
        <p:spPr>
          <a:xfrm>
            <a:off x="5440680" y="3895344"/>
            <a:ext cx="6492240" cy="521207"/>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77840" y="3950207"/>
            <a:ext cx="1463040" cy="384048"/>
          </a:xfrm>
          <a:prstGeom prst="rect">
            <a:avLst/>
          </a:prstGeom>
          <a:noFill/>
        </p:spPr>
        <p:txBody>
          <a:bodyPr wrap="square">
            <a:spAutoFit/>
          </a:bodyPr>
          <a:lstStyle/>
          <a:p>
            <a:pPr algn="l"/>
            <a:r>
              <a:rPr sz="1000" b="1" i="0">
                <a:solidFill>
                  <a:srgbClr val="1A376C"/>
                </a:solidFill>
              </a:rPr>
              <a:t>Target PK</a:t>
            </a:r>
          </a:p>
        </p:txBody>
      </p:sp>
      <p:sp>
        <p:nvSpPr>
          <p:cNvPr id="34" name="Rectangle 33"/>
          <p:cNvSpPr/>
          <p:nvPr/>
        </p:nvSpPr>
        <p:spPr>
          <a:xfrm>
            <a:off x="7022592" y="3986783"/>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14032" y="3950207"/>
            <a:ext cx="4754880" cy="438912"/>
          </a:xfrm>
          <a:prstGeom prst="rect">
            <a:avLst/>
          </a:prstGeom>
          <a:noFill/>
        </p:spPr>
        <p:txBody>
          <a:bodyPr wrap="square">
            <a:spAutoFit/>
          </a:bodyPr>
          <a:lstStyle/>
          <a:p>
            <a:pPr algn="l"/>
            <a:r>
              <a:rPr sz="950" b="0" i="0">
                <a:solidFill>
                  <a:srgbClr val="444444"/>
                </a:solidFill>
              </a:rPr>
              <a:t>Target tahunan sesuai Perjanjian Kinerja.</a:t>
            </a:r>
          </a:p>
        </p:txBody>
      </p:sp>
      <p:sp>
        <p:nvSpPr>
          <p:cNvPr id="36" name="Rectangle 35"/>
          <p:cNvSpPr/>
          <p:nvPr/>
        </p:nvSpPr>
        <p:spPr>
          <a:xfrm>
            <a:off x="5440680" y="4434840"/>
            <a:ext cx="6492240"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77840" y="4489703"/>
            <a:ext cx="1463040" cy="384048"/>
          </a:xfrm>
          <a:prstGeom prst="rect">
            <a:avLst/>
          </a:prstGeom>
          <a:noFill/>
        </p:spPr>
        <p:txBody>
          <a:bodyPr wrap="square">
            <a:spAutoFit/>
          </a:bodyPr>
          <a:lstStyle/>
          <a:p>
            <a:pPr algn="l"/>
            <a:r>
              <a:rPr sz="1000" b="1" i="0">
                <a:solidFill>
                  <a:srgbClr val="1A376C"/>
                </a:solidFill>
              </a:rPr>
              <a:t>Target TW</a:t>
            </a:r>
          </a:p>
        </p:txBody>
      </p:sp>
      <p:sp>
        <p:nvSpPr>
          <p:cNvPr id="38" name="Rectangle 37"/>
          <p:cNvSpPr/>
          <p:nvPr/>
        </p:nvSpPr>
        <p:spPr>
          <a:xfrm>
            <a:off x="7022592" y="4526279"/>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14032" y="4489703"/>
            <a:ext cx="4754880" cy="438912"/>
          </a:xfrm>
          <a:prstGeom prst="rect">
            <a:avLst/>
          </a:prstGeom>
          <a:noFill/>
        </p:spPr>
        <p:txBody>
          <a:bodyPr wrap="square">
            <a:spAutoFit/>
          </a:bodyPr>
          <a:lstStyle/>
          <a:p>
            <a:pPr algn="l"/>
            <a:r>
              <a:rPr sz="950" b="0" i="0">
                <a:solidFill>
                  <a:srgbClr val="444444"/>
                </a:solidFill>
              </a:rPr>
              <a:t>Target triwulan sesuai Rencana Aksi yang telah disetujui.</a:t>
            </a:r>
          </a:p>
        </p:txBody>
      </p:sp>
      <p:sp>
        <p:nvSpPr>
          <p:cNvPr id="40" name="Rectangle 39"/>
          <p:cNvSpPr/>
          <p:nvPr/>
        </p:nvSpPr>
        <p:spPr>
          <a:xfrm>
            <a:off x="5440680" y="4974336"/>
            <a:ext cx="6492240" cy="521207"/>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77840" y="5029199"/>
            <a:ext cx="1463040" cy="384048"/>
          </a:xfrm>
          <a:prstGeom prst="rect">
            <a:avLst/>
          </a:prstGeom>
          <a:noFill/>
        </p:spPr>
        <p:txBody>
          <a:bodyPr wrap="square">
            <a:spAutoFit/>
          </a:bodyPr>
          <a:lstStyle/>
          <a:p>
            <a:pPr algn="l"/>
            <a:r>
              <a:rPr sz="1000" b="1" i="0">
                <a:solidFill>
                  <a:srgbClr val="1A376C"/>
                </a:solidFill>
              </a:rPr>
              <a:t>Realisasi</a:t>
            </a:r>
          </a:p>
        </p:txBody>
      </p:sp>
      <p:sp>
        <p:nvSpPr>
          <p:cNvPr id="42" name="Rectangle 41"/>
          <p:cNvSpPr/>
          <p:nvPr/>
        </p:nvSpPr>
        <p:spPr>
          <a:xfrm>
            <a:off x="7022592" y="5065775"/>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14032" y="5029199"/>
            <a:ext cx="4754880" cy="438912"/>
          </a:xfrm>
          <a:prstGeom prst="rect">
            <a:avLst/>
          </a:prstGeom>
          <a:noFill/>
        </p:spPr>
        <p:txBody>
          <a:bodyPr wrap="square">
            <a:spAutoFit/>
          </a:bodyPr>
          <a:lstStyle/>
          <a:p>
            <a:pPr algn="l"/>
            <a:r>
              <a:rPr sz="950" b="0" i="0">
                <a:solidFill>
                  <a:srgbClr val="444444"/>
                </a:solidFill>
              </a:rPr>
              <a:t>Nilai capaian aktual yang Anda isi. Klik tombol 'Isi' atau 'Edit' untuk mengisi.</a:t>
            </a:r>
          </a:p>
        </p:txBody>
      </p:sp>
      <p:sp>
        <p:nvSpPr>
          <p:cNvPr id="44" name="Rectangle 43"/>
          <p:cNvSpPr/>
          <p:nvPr/>
        </p:nvSpPr>
        <p:spPr>
          <a:xfrm>
            <a:off x="5440680" y="5513831"/>
            <a:ext cx="6492240"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77840" y="5568695"/>
            <a:ext cx="1463040" cy="384048"/>
          </a:xfrm>
          <a:prstGeom prst="rect">
            <a:avLst/>
          </a:prstGeom>
          <a:noFill/>
        </p:spPr>
        <p:txBody>
          <a:bodyPr wrap="square">
            <a:spAutoFit/>
          </a:bodyPr>
          <a:lstStyle/>
          <a:p>
            <a:pPr algn="l"/>
            <a:r>
              <a:rPr sz="1000" b="1" i="0">
                <a:solidFill>
                  <a:srgbClr val="1A376C"/>
                </a:solidFill>
              </a:rPr>
              <a:t>Status</a:t>
            </a:r>
          </a:p>
        </p:txBody>
      </p:sp>
      <p:sp>
        <p:nvSpPr>
          <p:cNvPr id="46" name="Rectangle 45"/>
          <p:cNvSpPr/>
          <p:nvPr/>
        </p:nvSpPr>
        <p:spPr>
          <a:xfrm>
            <a:off x="7022592" y="5605271"/>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14032" y="5568695"/>
            <a:ext cx="4754880" cy="438912"/>
          </a:xfrm>
          <a:prstGeom prst="rect">
            <a:avLst/>
          </a:prstGeom>
          <a:noFill/>
        </p:spPr>
        <p:txBody>
          <a:bodyPr wrap="square">
            <a:spAutoFit/>
          </a:bodyPr>
          <a:lstStyle/>
          <a:p>
            <a:pPr algn="l"/>
            <a:r>
              <a:rPr sz="950" b="0" i="0">
                <a:solidFill>
                  <a:srgbClr val="444444"/>
                </a:solidFill>
              </a:rPr>
              <a:t>Menunjukkan apakah realisasi sudah diisi (✓ Terisi) atau belum (○ Belum).</a:t>
            </a:r>
          </a:p>
        </p:txBody>
      </p:sp>
      <p:sp>
        <p:nvSpPr>
          <p:cNvPr id="48" name="Rectangle 47"/>
          <p:cNvSpPr/>
          <p:nvPr/>
        </p:nvSpPr>
        <p:spPr>
          <a:xfrm>
            <a:off x="5440680" y="6053327"/>
            <a:ext cx="6492240" cy="521207"/>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77840" y="6108191"/>
            <a:ext cx="1463040" cy="384048"/>
          </a:xfrm>
          <a:prstGeom prst="rect">
            <a:avLst/>
          </a:prstGeom>
          <a:noFill/>
        </p:spPr>
        <p:txBody>
          <a:bodyPr wrap="square">
            <a:spAutoFit/>
          </a:bodyPr>
          <a:lstStyle/>
          <a:p>
            <a:pPr algn="l"/>
            <a:r>
              <a:rPr sz="1000" b="1" i="0">
                <a:solidFill>
                  <a:srgbClr val="1A376C"/>
                </a:solidFill>
              </a:rPr>
              <a:t>Aksi</a:t>
            </a:r>
          </a:p>
        </p:txBody>
      </p:sp>
      <p:sp>
        <p:nvSpPr>
          <p:cNvPr id="50" name="Rectangle 49"/>
          <p:cNvSpPr/>
          <p:nvPr/>
        </p:nvSpPr>
        <p:spPr>
          <a:xfrm>
            <a:off x="7022592" y="6144767"/>
            <a:ext cx="27432" cy="347472"/>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14032" y="6108191"/>
            <a:ext cx="4754880" cy="438912"/>
          </a:xfrm>
          <a:prstGeom prst="rect">
            <a:avLst/>
          </a:prstGeom>
          <a:noFill/>
        </p:spPr>
        <p:txBody>
          <a:bodyPr wrap="square">
            <a:spAutoFit/>
          </a:bodyPr>
          <a:lstStyle/>
          <a:p>
            <a:pPr algn="l"/>
            <a:r>
              <a:rPr sz="950" b="0" i="0">
                <a:solidFill>
                  <a:srgbClr val="444444"/>
                </a:solidFill>
              </a:rPr>
              <a:t>Tombol 'Isi' (data belum ada) atau 'Edit' (data sudah ada) untuk membuka form isian.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05  |  Mengisi Data Realisasi IKU</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Klik tombol Isi/Edit pada setiap baris IKU untuk membuka form isian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7 / 12</a:t>
            </a:r>
          </a:p>
        </p:txBody>
      </p:sp>
      <p:sp>
        <p:nvSpPr>
          <p:cNvPr id="10" name="Rectangle 9"/>
          <p:cNvSpPr/>
          <p:nvPr/>
        </p:nvSpPr>
        <p:spPr>
          <a:xfrm>
            <a:off x="365760" y="1234440"/>
            <a:ext cx="475488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75488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572000" cy="320040"/>
          </a:xfrm>
          <a:prstGeom prst="rect">
            <a:avLst/>
          </a:prstGeom>
          <a:noFill/>
        </p:spPr>
        <p:txBody>
          <a:bodyPr wrap="square">
            <a:spAutoFit/>
          </a:bodyPr>
          <a:lstStyle/>
          <a:p>
            <a:pPr algn="l"/>
            <a:r>
              <a:rPr sz="1000" b="1" i="0">
                <a:solidFill>
                  <a:srgbClr val="FFFFFF"/>
                </a:solidFill>
              </a:rPr>
              <a:t>Tampilan Form Isian Realisasi</a:t>
            </a:r>
          </a:p>
        </p:txBody>
      </p:sp>
      <p:sp>
        <p:nvSpPr>
          <p:cNvPr id="13" name="TextBox 12"/>
          <p:cNvSpPr txBox="1"/>
          <p:nvPr/>
        </p:nvSpPr>
        <p:spPr>
          <a:xfrm>
            <a:off x="640080" y="1737360"/>
            <a:ext cx="4343400" cy="4617720"/>
          </a:xfrm>
          <a:prstGeom prst="rect">
            <a:avLst/>
          </a:prstGeom>
          <a:noFill/>
        </p:spPr>
        <p:txBody>
          <a:bodyPr wrap="square">
            <a:spAutoFit/>
          </a:bodyPr>
          <a:lstStyle/>
          <a:p>
            <a:pPr algn="ctr"/>
            <a:r>
              <a:rPr sz="1000" b="0" i="1">
                <a:solidFill>
                  <a:srgbClr val="2E75B6"/>
                </a:solidFill>
              </a:rPr>
              <a:t>[ SCREENSHOT FORM ISIAN REALISASI ]
Tambahkan screenshot di sini</a:t>
            </a:r>
          </a:p>
        </p:txBody>
      </p:sp>
      <p:sp>
        <p:nvSpPr>
          <p:cNvPr id="14" name="TextBox 13"/>
          <p:cNvSpPr txBox="1"/>
          <p:nvPr/>
        </p:nvSpPr>
        <p:spPr>
          <a:xfrm>
            <a:off x="5440680" y="1261872"/>
            <a:ext cx="6492240" cy="347472"/>
          </a:xfrm>
          <a:prstGeom prst="rect">
            <a:avLst/>
          </a:prstGeom>
          <a:noFill/>
        </p:spPr>
        <p:txBody>
          <a:bodyPr wrap="square">
            <a:spAutoFit/>
          </a:bodyPr>
          <a:lstStyle/>
          <a:p>
            <a:pPr algn="l"/>
            <a:r>
              <a:rPr sz="1300" b="1" i="0">
                <a:solidFill>
                  <a:srgbClr val="1A376C"/>
                </a:solidFill>
              </a:rPr>
              <a:t>Cara Mengisi Data Realisasi</a:t>
            </a:r>
          </a:p>
        </p:txBody>
      </p:sp>
      <p:sp>
        <p:nvSpPr>
          <p:cNvPr id="15" name="Rectangle 14"/>
          <p:cNvSpPr/>
          <p:nvPr/>
        </p:nvSpPr>
        <p:spPr>
          <a:xfrm>
            <a:off x="544068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1737360"/>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40680" y="1737360"/>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1892807"/>
            <a:ext cx="457200" cy="402336"/>
          </a:xfrm>
          <a:prstGeom prst="rect">
            <a:avLst/>
          </a:prstGeom>
          <a:noFill/>
        </p:spPr>
        <p:txBody>
          <a:bodyPr wrap="square">
            <a:spAutoFit/>
          </a:bodyPr>
          <a:lstStyle/>
          <a:p>
            <a:pPr algn="ctr"/>
            <a:r>
              <a:rPr sz="1700" b="1" i="0">
                <a:solidFill>
                  <a:srgbClr val="FFFFFF"/>
                </a:solidFill>
              </a:rPr>
              <a:t>1</a:t>
            </a:r>
          </a:p>
        </p:txBody>
      </p:sp>
      <p:sp>
        <p:nvSpPr>
          <p:cNvPr id="19" name="TextBox 18"/>
          <p:cNvSpPr txBox="1"/>
          <p:nvPr/>
        </p:nvSpPr>
        <p:spPr>
          <a:xfrm>
            <a:off x="5971032" y="1783080"/>
            <a:ext cx="5897879" cy="274320"/>
          </a:xfrm>
          <a:prstGeom prst="rect">
            <a:avLst/>
          </a:prstGeom>
          <a:noFill/>
        </p:spPr>
        <p:txBody>
          <a:bodyPr wrap="square">
            <a:spAutoFit/>
          </a:bodyPr>
          <a:lstStyle/>
          <a:p>
            <a:pPr algn="l"/>
            <a:r>
              <a:rPr sz="1050" b="1" i="0">
                <a:solidFill>
                  <a:srgbClr val="1A376C"/>
                </a:solidFill>
              </a:rPr>
              <a:t>Klik Tombol 'Isi' atau 'Edit'</a:t>
            </a:r>
          </a:p>
        </p:txBody>
      </p:sp>
      <p:sp>
        <p:nvSpPr>
          <p:cNvPr id="20" name="TextBox 19"/>
          <p:cNvSpPr txBox="1"/>
          <p:nvPr/>
        </p:nvSpPr>
        <p:spPr>
          <a:xfrm>
            <a:off x="5971032" y="2066543"/>
            <a:ext cx="5897879" cy="329184"/>
          </a:xfrm>
          <a:prstGeom prst="rect">
            <a:avLst/>
          </a:prstGeom>
          <a:noFill/>
        </p:spPr>
        <p:txBody>
          <a:bodyPr wrap="square">
            <a:spAutoFit/>
          </a:bodyPr>
          <a:lstStyle/>
          <a:p>
            <a:pPr algn="l"/>
            <a:r>
              <a:rPr sz="950" b="0" i="0">
                <a:solidFill>
                  <a:srgbClr val="444444"/>
                </a:solidFill>
              </a:rPr>
              <a:t>Pada baris IKU yang ingin diisi, klik tombol 'Isi' (data belum ada) atau 'Edit' (data sudah ada). Form dialog akan terbuka.</a:t>
            </a:r>
          </a:p>
        </p:txBody>
      </p:sp>
      <p:sp>
        <p:nvSpPr>
          <p:cNvPr id="21" name="Rectangle 20"/>
          <p:cNvSpPr/>
          <p:nvPr/>
        </p:nvSpPr>
        <p:spPr>
          <a:xfrm>
            <a:off x="5440680" y="2514600"/>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2514600"/>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40680" y="2670048"/>
            <a:ext cx="457200" cy="402336"/>
          </a:xfrm>
          <a:prstGeom prst="rect">
            <a:avLst/>
          </a:prstGeom>
          <a:noFill/>
        </p:spPr>
        <p:txBody>
          <a:bodyPr wrap="square">
            <a:spAutoFit/>
          </a:bodyPr>
          <a:lstStyle/>
          <a:p>
            <a:pPr algn="ctr"/>
            <a:r>
              <a:rPr sz="1700" b="1" i="0">
                <a:solidFill>
                  <a:srgbClr val="FFFFFF"/>
                </a:solidFill>
              </a:rPr>
              <a:t>2</a:t>
            </a:r>
          </a:p>
        </p:txBody>
      </p:sp>
      <p:sp>
        <p:nvSpPr>
          <p:cNvPr id="24" name="TextBox 23"/>
          <p:cNvSpPr txBox="1"/>
          <p:nvPr/>
        </p:nvSpPr>
        <p:spPr>
          <a:xfrm>
            <a:off x="5971032" y="2560320"/>
            <a:ext cx="5897879" cy="274320"/>
          </a:xfrm>
          <a:prstGeom prst="rect">
            <a:avLst/>
          </a:prstGeom>
          <a:noFill/>
        </p:spPr>
        <p:txBody>
          <a:bodyPr wrap="square">
            <a:spAutoFit/>
          </a:bodyPr>
          <a:lstStyle/>
          <a:p>
            <a:pPr algn="l"/>
            <a:r>
              <a:rPr sz="1050" b="1" i="0">
                <a:solidFill>
                  <a:srgbClr val="1A376C"/>
                </a:solidFill>
              </a:rPr>
              <a:t>Isi Nilai Realisasi (Wajib)</a:t>
            </a:r>
          </a:p>
        </p:txBody>
      </p:sp>
      <p:sp>
        <p:nvSpPr>
          <p:cNvPr id="25" name="TextBox 24"/>
          <p:cNvSpPr txBox="1"/>
          <p:nvPr/>
        </p:nvSpPr>
        <p:spPr>
          <a:xfrm>
            <a:off x="5971032" y="2843784"/>
            <a:ext cx="5897879" cy="329184"/>
          </a:xfrm>
          <a:prstGeom prst="rect">
            <a:avLst/>
          </a:prstGeom>
          <a:noFill/>
        </p:spPr>
        <p:txBody>
          <a:bodyPr wrap="square">
            <a:spAutoFit/>
          </a:bodyPr>
          <a:lstStyle/>
          <a:p>
            <a:pPr algn="l"/>
            <a:r>
              <a:rPr sz="950" b="0" i="0">
                <a:solidFill>
                  <a:srgbClr val="444444"/>
                </a:solidFill>
              </a:rPr>
              <a:t>Masukkan nilai capaian aktual untuk periode ini. Gunakan angka sesuai satuan IKU (contoh: 85 untuk 85%).</a:t>
            </a:r>
          </a:p>
        </p:txBody>
      </p:sp>
      <p:sp>
        <p:nvSpPr>
          <p:cNvPr id="26" name="Rectangle 25"/>
          <p:cNvSpPr/>
          <p:nvPr/>
        </p:nvSpPr>
        <p:spPr>
          <a:xfrm>
            <a:off x="5440680" y="3291839"/>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40680" y="3291839"/>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40680" y="3447287"/>
            <a:ext cx="457200" cy="402336"/>
          </a:xfrm>
          <a:prstGeom prst="rect">
            <a:avLst/>
          </a:prstGeom>
          <a:noFill/>
        </p:spPr>
        <p:txBody>
          <a:bodyPr wrap="square">
            <a:spAutoFit/>
          </a:bodyPr>
          <a:lstStyle/>
          <a:p>
            <a:pPr algn="ctr"/>
            <a:r>
              <a:rPr sz="1700" b="1" i="0">
                <a:solidFill>
                  <a:srgbClr val="FFFFFF"/>
                </a:solidFill>
              </a:rPr>
              <a:t>3</a:t>
            </a:r>
          </a:p>
        </p:txBody>
      </p:sp>
      <p:sp>
        <p:nvSpPr>
          <p:cNvPr id="29" name="TextBox 28"/>
          <p:cNvSpPr txBox="1"/>
          <p:nvPr/>
        </p:nvSpPr>
        <p:spPr>
          <a:xfrm>
            <a:off x="5971032" y="3337559"/>
            <a:ext cx="5897879" cy="274320"/>
          </a:xfrm>
          <a:prstGeom prst="rect">
            <a:avLst/>
          </a:prstGeom>
          <a:noFill/>
        </p:spPr>
        <p:txBody>
          <a:bodyPr wrap="square">
            <a:spAutoFit/>
          </a:bodyPr>
          <a:lstStyle/>
          <a:p>
            <a:pPr algn="l"/>
            <a:r>
              <a:rPr sz="1050" b="1" i="0">
                <a:solidFill>
                  <a:srgbClr val="1A376C"/>
                </a:solidFill>
              </a:rPr>
              <a:t>Isi Progress Kegiatan</a:t>
            </a:r>
          </a:p>
        </p:txBody>
      </p:sp>
      <p:sp>
        <p:nvSpPr>
          <p:cNvPr id="30" name="TextBox 29"/>
          <p:cNvSpPr txBox="1"/>
          <p:nvPr/>
        </p:nvSpPr>
        <p:spPr>
          <a:xfrm>
            <a:off x="5971032" y="3621023"/>
            <a:ext cx="5897879" cy="329184"/>
          </a:xfrm>
          <a:prstGeom prst="rect">
            <a:avLst/>
          </a:prstGeom>
          <a:noFill/>
        </p:spPr>
        <p:txBody>
          <a:bodyPr wrap="square">
            <a:spAutoFit/>
          </a:bodyPr>
          <a:lstStyle/>
          <a:p>
            <a:pPr algn="l"/>
            <a:r>
              <a:rPr sz="950" b="0" i="0">
                <a:solidFill>
                  <a:srgbClr val="444444"/>
                </a:solidFill>
              </a:rPr>
              <a:t>Tuliskan deskripsi singkat progres kegiatan yang telah dilaksanakan dalam triwulan ini.</a:t>
            </a:r>
          </a:p>
        </p:txBody>
      </p:sp>
      <p:sp>
        <p:nvSpPr>
          <p:cNvPr id="31" name="Rectangle 30"/>
          <p:cNvSpPr/>
          <p:nvPr/>
        </p:nvSpPr>
        <p:spPr>
          <a:xfrm>
            <a:off x="5440680" y="4069079"/>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40680" y="4069079"/>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40680" y="4224527"/>
            <a:ext cx="457200" cy="402336"/>
          </a:xfrm>
          <a:prstGeom prst="rect">
            <a:avLst/>
          </a:prstGeom>
          <a:noFill/>
        </p:spPr>
        <p:txBody>
          <a:bodyPr wrap="square">
            <a:spAutoFit/>
          </a:bodyPr>
          <a:lstStyle/>
          <a:p>
            <a:pPr algn="ctr"/>
            <a:r>
              <a:rPr sz="1700" b="1" i="0">
                <a:solidFill>
                  <a:srgbClr val="FFFFFF"/>
                </a:solidFill>
              </a:rPr>
              <a:t>4</a:t>
            </a:r>
          </a:p>
        </p:txBody>
      </p:sp>
      <p:sp>
        <p:nvSpPr>
          <p:cNvPr id="34" name="TextBox 33"/>
          <p:cNvSpPr txBox="1"/>
          <p:nvPr/>
        </p:nvSpPr>
        <p:spPr>
          <a:xfrm>
            <a:off x="5971032" y="4114799"/>
            <a:ext cx="5897879" cy="274320"/>
          </a:xfrm>
          <a:prstGeom prst="rect">
            <a:avLst/>
          </a:prstGeom>
          <a:noFill/>
        </p:spPr>
        <p:txBody>
          <a:bodyPr wrap="square">
            <a:spAutoFit/>
          </a:bodyPr>
          <a:lstStyle/>
          <a:p>
            <a:pPr algn="l"/>
            <a:r>
              <a:rPr sz="1050" b="1" i="0">
                <a:solidFill>
                  <a:srgbClr val="1A376C"/>
                </a:solidFill>
              </a:rPr>
              <a:t>Isi Kendala (jika ada)</a:t>
            </a:r>
          </a:p>
        </p:txBody>
      </p:sp>
      <p:sp>
        <p:nvSpPr>
          <p:cNvPr id="35" name="TextBox 34"/>
          <p:cNvSpPr txBox="1"/>
          <p:nvPr/>
        </p:nvSpPr>
        <p:spPr>
          <a:xfrm>
            <a:off x="5971032" y="4398264"/>
            <a:ext cx="5897879" cy="329184"/>
          </a:xfrm>
          <a:prstGeom prst="rect">
            <a:avLst/>
          </a:prstGeom>
          <a:noFill/>
        </p:spPr>
        <p:txBody>
          <a:bodyPr wrap="square">
            <a:spAutoFit/>
          </a:bodyPr>
          <a:lstStyle/>
          <a:p>
            <a:pPr algn="l"/>
            <a:r>
              <a:rPr sz="950" b="0" i="0">
                <a:solidFill>
                  <a:srgbClr val="444444"/>
                </a:solidFill>
              </a:rPr>
              <a:t>Jika ada hambatan dalam pencapaian target, tuliskan secara singkat dan jelas.</a:t>
            </a:r>
          </a:p>
        </p:txBody>
      </p:sp>
      <p:sp>
        <p:nvSpPr>
          <p:cNvPr id="36" name="Rectangle 35"/>
          <p:cNvSpPr/>
          <p:nvPr/>
        </p:nvSpPr>
        <p:spPr>
          <a:xfrm>
            <a:off x="5440680" y="4846320"/>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40680" y="4846320"/>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40680" y="5001768"/>
            <a:ext cx="457200" cy="402336"/>
          </a:xfrm>
          <a:prstGeom prst="rect">
            <a:avLst/>
          </a:prstGeom>
          <a:noFill/>
        </p:spPr>
        <p:txBody>
          <a:bodyPr wrap="square">
            <a:spAutoFit/>
          </a:bodyPr>
          <a:lstStyle/>
          <a:p>
            <a:pPr algn="ctr"/>
            <a:r>
              <a:rPr sz="1700" b="1" i="0">
                <a:solidFill>
                  <a:srgbClr val="FFFFFF"/>
                </a:solidFill>
              </a:rPr>
              <a:t>5</a:t>
            </a:r>
          </a:p>
        </p:txBody>
      </p:sp>
      <p:sp>
        <p:nvSpPr>
          <p:cNvPr id="39" name="TextBox 38"/>
          <p:cNvSpPr txBox="1"/>
          <p:nvPr/>
        </p:nvSpPr>
        <p:spPr>
          <a:xfrm>
            <a:off x="5971032" y="4892040"/>
            <a:ext cx="5897879" cy="274320"/>
          </a:xfrm>
          <a:prstGeom prst="rect">
            <a:avLst/>
          </a:prstGeom>
          <a:noFill/>
        </p:spPr>
        <p:txBody>
          <a:bodyPr wrap="square">
            <a:spAutoFit/>
          </a:bodyPr>
          <a:lstStyle/>
          <a:p>
            <a:pPr algn="l"/>
            <a:r>
              <a:rPr sz="1050" b="1" i="0">
                <a:solidFill>
                  <a:srgbClr val="1A376C"/>
                </a:solidFill>
              </a:rPr>
              <a:t>Isi Strategi Tindak Lanjut</a:t>
            </a:r>
          </a:p>
        </p:txBody>
      </p:sp>
      <p:sp>
        <p:nvSpPr>
          <p:cNvPr id="40" name="TextBox 39"/>
          <p:cNvSpPr txBox="1"/>
          <p:nvPr/>
        </p:nvSpPr>
        <p:spPr>
          <a:xfrm>
            <a:off x="5971032" y="5175504"/>
            <a:ext cx="5897879" cy="329184"/>
          </a:xfrm>
          <a:prstGeom prst="rect">
            <a:avLst/>
          </a:prstGeom>
          <a:noFill/>
        </p:spPr>
        <p:txBody>
          <a:bodyPr wrap="square">
            <a:spAutoFit/>
          </a:bodyPr>
          <a:lstStyle/>
          <a:p>
            <a:pPr algn="l"/>
            <a:r>
              <a:rPr sz="950" b="0" i="0">
                <a:solidFill>
                  <a:srgbClr val="444444"/>
                </a:solidFill>
              </a:rPr>
              <a:t>Tuliskan rencana tindakan untuk mengatasi kendala atau meningkatkan capaian di triwulan berikutnya.</a:t>
            </a:r>
          </a:p>
        </p:txBody>
      </p:sp>
      <p:sp>
        <p:nvSpPr>
          <p:cNvPr id="41" name="Rectangle 40"/>
          <p:cNvSpPr/>
          <p:nvPr/>
        </p:nvSpPr>
        <p:spPr>
          <a:xfrm>
            <a:off x="5440680" y="5623560"/>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40680" y="5623560"/>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40680" y="5779008"/>
            <a:ext cx="457200" cy="402336"/>
          </a:xfrm>
          <a:prstGeom prst="rect">
            <a:avLst/>
          </a:prstGeom>
          <a:noFill/>
        </p:spPr>
        <p:txBody>
          <a:bodyPr wrap="square">
            <a:spAutoFit/>
          </a:bodyPr>
          <a:lstStyle/>
          <a:p>
            <a:pPr algn="ctr"/>
            <a:r>
              <a:rPr sz="1700" b="1" i="0">
                <a:solidFill>
                  <a:srgbClr val="FFFFFF"/>
                </a:solidFill>
              </a:rPr>
              <a:t>6</a:t>
            </a:r>
          </a:p>
        </p:txBody>
      </p:sp>
      <p:sp>
        <p:nvSpPr>
          <p:cNvPr id="44" name="TextBox 43"/>
          <p:cNvSpPr txBox="1"/>
          <p:nvPr/>
        </p:nvSpPr>
        <p:spPr>
          <a:xfrm>
            <a:off x="5971032" y="5669280"/>
            <a:ext cx="5897879" cy="274320"/>
          </a:xfrm>
          <a:prstGeom prst="rect">
            <a:avLst/>
          </a:prstGeom>
          <a:noFill/>
        </p:spPr>
        <p:txBody>
          <a:bodyPr wrap="square">
            <a:spAutoFit/>
          </a:bodyPr>
          <a:lstStyle/>
          <a:p>
            <a:pPr algn="l"/>
            <a:r>
              <a:rPr sz="1050" b="1" i="0">
                <a:solidFill>
                  <a:srgbClr val="1A376C"/>
                </a:solidFill>
              </a:rPr>
              <a:t>Klik Simpan</a:t>
            </a:r>
          </a:p>
        </p:txBody>
      </p:sp>
      <p:sp>
        <p:nvSpPr>
          <p:cNvPr id="45" name="TextBox 44"/>
          <p:cNvSpPr txBox="1"/>
          <p:nvPr/>
        </p:nvSpPr>
        <p:spPr>
          <a:xfrm>
            <a:off x="5971032" y="5952744"/>
            <a:ext cx="5897879" cy="329184"/>
          </a:xfrm>
          <a:prstGeom prst="rect">
            <a:avLst/>
          </a:prstGeom>
          <a:noFill/>
        </p:spPr>
        <p:txBody>
          <a:bodyPr wrap="square">
            <a:spAutoFit/>
          </a:bodyPr>
          <a:lstStyle/>
          <a:p>
            <a:pPr algn="l"/>
            <a:r>
              <a:rPr sz="950" b="0" i="0">
                <a:solidFill>
                  <a:srgbClr val="444444"/>
                </a:solidFill>
              </a:rPr>
              <a:t>Klik tombol "Simpan". Data tersimpan dan status IKU berubah menjadi ✓ Terisi. Ulangi untuk semua IKU.</a:t>
            </a:r>
          </a:p>
        </p:txBody>
      </p:sp>
      <p:sp>
        <p:nvSpPr>
          <p:cNvPr id="46" name="Rectangle 45"/>
          <p:cNvSpPr/>
          <p:nvPr/>
        </p:nvSpPr>
        <p:spPr>
          <a:xfrm>
            <a:off x="5440680" y="6355080"/>
            <a:ext cx="6492240" cy="502920"/>
          </a:xfrm>
          <a:prstGeom prst="rect">
            <a:avLst/>
          </a:prstGeom>
          <a:solidFill>
            <a:srgbClr val="E8F5E9"/>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77840" y="6391656"/>
            <a:ext cx="6291072" cy="429768"/>
          </a:xfrm>
          <a:prstGeom prst="rect">
            <a:avLst/>
          </a:prstGeom>
          <a:noFill/>
        </p:spPr>
        <p:txBody>
          <a:bodyPr wrap="square">
            <a:spAutoFit/>
          </a:bodyPr>
          <a:lstStyle/>
          <a:p>
            <a:pPr algn="l"/>
            <a:r>
              <a:rPr sz="900" b="0" i="0">
                <a:solidFill>
                  <a:srgbClr val="1B6B35"/>
                </a:solidFill>
              </a:rPr>
              <a:t>✓  Tips: Pastikan nilai realisasi sesuai kondisi nyata. Data ini akan direview oleh Kabag Umum dan menjadi dasar evaluasi kinerja Tim Kerja Anda.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06  |  IKU Kolaborasi (Co-PIC)</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Pengisian IKU yang dikerjakan bersama tim kerja lain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8 / 12</a:t>
            </a:r>
          </a:p>
        </p:txBody>
      </p:sp>
      <p:sp>
        <p:nvSpPr>
          <p:cNvPr id="10" name="Rectangle 9"/>
          <p:cNvSpPr/>
          <p:nvPr/>
        </p:nvSpPr>
        <p:spPr>
          <a:xfrm>
            <a:off x="365760" y="1234440"/>
            <a:ext cx="5303520" cy="52578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5303520" cy="41148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5029200" cy="365760"/>
          </a:xfrm>
          <a:prstGeom prst="rect">
            <a:avLst/>
          </a:prstGeom>
          <a:noFill/>
        </p:spPr>
        <p:txBody>
          <a:bodyPr wrap="square">
            <a:spAutoFit/>
          </a:bodyPr>
          <a:lstStyle/>
          <a:p>
            <a:pPr algn="l"/>
            <a:r>
              <a:rPr sz="1200" b="1" i="0">
                <a:solidFill>
                  <a:srgbClr val="FFFFFF"/>
                </a:solidFill>
              </a:rPr>
              <a:t>Apa itu IKU Kolaborasi?</a:t>
            </a:r>
          </a:p>
        </p:txBody>
      </p:sp>
      <p:sp>
        <p:nvSpPr>
          <p:cNvPr id="13" name="TextBox 12"/>
          <p:cNvSpPr txBox="1"/>
          <p:nvPr/>
        </p:nvSpPr>
        <p:spPr>
          <a:xfrm>
            <a:off x="502920" y="1719072"/>
            <a:ext cx="5120640" cy="1417320"/>
          </a:xfrm>
          <a:prstGeom prst="rect">
            <a:avLst/>
          </a:prstGeom>
          <a:noFill/>
        </p:spPr>
        <p:txBody>
          <a:bodyPr wrap="square">
            <a:spAutoFit/>
          </a:bodyPr>
          <a:lstStyle/>
          <a:p>
            <a:pPr algn="l"/>
            <a:r>
              <a:rPr sz="1050" b="0" i="0">
                <a:solidFill>
                  <a:srgbClr val="444444"/>
                </a:solidFill>
              </a:rPr>
              <a:t>IKU Kolaborasi adalah Indikator Kinerja Utama yang menjadi tanggung jawab lebih dari satu Tim Kerja. Ikon 👥 ditampilkan pada nama IKU tersebut, dan banner koordinasi akan muncul di atas tabel.
Semua PIC dapat mengisi dan mengedit nilai realisasi kapan saja. Data yang terakhir disimpan akan menjadi nilai final (last-save-wins).</a:t>
            </a:r>
          </a:p>
        </p:txBody>
      </p:sp>
      <p:sp>
        <p:nvSpPr>
          <p:cNvPr id="14" name="Rectangle 13"/>
          <p:cNvSpPr/>
          <p:nvPr/>
        </p:nvSpPr>
        <p:spPr>
          <a:xfrm>
            <a:off x="365760" y="3246120"/>
            <a:ext cx="5303520" cy="73152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291839"/>
            <a:ext cx="5120640" cy="256032"/>
          </a:xfrm>
          <a:prstGeom prst="rect">
            <a:avLst/>
          </a:prstGeom>
          <a:noFill/>
        </p:spPr>
        <p:txBody>
          <a:bodyPr wrap="square">
            <a:spAutoFit/>
          </a:bodyPr>
          <a:lstStyle/>
          <a:p>
            <a:pPr algn="l"/>
            <a:r>
              <a:rPr sz="1000" b="1" i="0">
                <a:solidFill>
                  <a:srgbClr val="1A376C"/>
                </a:solidFill>
              </a:rPr>
              <a:t>Siapa yang bisa isi?</a:t>
            </a:r>
          </a:p>
        </p:txBody>
      </p:sp>
      <p:sp>
        <p:nvSpPr>
          <p:cNvPr id="16" name="TextBox 15"/>
          <p:cNvSpPr txBox="1"/>
          <p:nvPr/>
        </p:nvSpPr>
        <p:spPr>
          <a:xfrm>
            <a:off x="502920" y="3566160"/>
            <a:ext cx="5120640" cy="384048"/>
          </a:xfrm>
          <a:prstGeom prst="rect">
            <a:avLst/>
          </a:prstGeom>
          <a:noFill/>
        </p:spPr>
        <p:txBody>
          <a:bodyPr wrap="square">
            <a:spAutoFit/>
          </a:bodyPr>
          <a:lstStyle/>
          <a:p>
            <a:pPr algn="l"/>
            <a:r>
              <a:rPr sz="950" b="0" i="0">
                <a:solidFill>
                  <a:srgbClr val="444444"/>
                </a:solidFill>
              </a:rPr>
              <a:t>Semua Tim Kerja yang tercatat sebagai PIC (primer atau co-PIC) dapat mengisi dan mengedit realisasi IKU kolaborasi.</a:t>
            </a:r>
          </a:p>
        </p:txBody>
      </p:sp>
      <p:sp>
        <p:nvSpPr>
          <p:cNvPr id="17" name="Rectangle 16"/>
          <p:cNvSpPr/>
          <p:nvPr/>
        </p:nvSpPr>
        <p:spPr>
          <a:xfrm>
            <a:off x="365760" y="4014215"/>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059935"/>
            <a:ext cx="5120640" cy="256032"/>
          </a:xfrm>
          <a:prstGeom prst="rect">
            <a:avLst/>
          </a:prstGeom>
          <a:noFill/>
        </p:spPr>
        <p:txBody>
          <a:bodyPr wrap="square">
            <a:spAutoFit/>
          </a:bodyPr>
          <a:lstStyle/>
          <a:p>
            <a:pPr algn="l"/>
            <a:r>
              <a:rPr sz="1000" b="1" i="0">
                <a:solidFill>
                  <a:srgbClr val="1A376C"/>
                </a:solidFill>
              </a:rPr>
              <a:t>Last-save-wins?</a:t>
            </a:r>
          </a:p>
        </p:txBody>
      </p:sp>
      <p:sp>
        <p:nvSpPr>
          <p:cNvPr id="19" name="TextBox 18"/>
          <p:cNvSpPr txBox="1"/>
          <p:nvPr/>
        </p:nvSpPr>
        <p:spPr>
          <a:xfrm>
            <a:off x="502920" y="4334255"/>
            <a:ext cx="5120640" cy="384048"/>
          </a:xfrm>
          <a:prstGeom prst="rect">
            <a:avLst/>
          </a:prstGeom>
          <a:noFill/>
        </p:spPr>
        <p:txBody>
          <a:bodyPr wrap="square">
            <a:spAutoFit/>
          </a:bodyPr>
          <a:lstStyle/>
          <a:p>
            <a:pPr algn="l"/>
            <a:r>
              <a:rPr sz="950" b="0" i="0">
                <a:solidFill>
                  <a:srgbClr val="444444"/>
                </a:solidFill>
              </a:rPr>
              <a:t>Nilai terakhir yang disimpan akan menjadi nilai final. Koordinasikan dengan tim lain sebelum menyimpan jika ada perbedaan data.</a:t>
            </a:r>
          </a:p>
        </p:txBody>
      </p:sp>
      <p:sp>
        <p:nvSpPr>
          <p:cNvPr id="20" name="Rectangle 19"/>
          <p:cNvSpPr/>
          <p:nvPr/>
        </p:nvSpPr>
        <p:spPr>
          <a:xfrm>
            <a:off x="365760" y="4782312"/>
            <a:ext cx="5303520" cy="73152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828031"/>
            <a:ext cx="5120640" cy="256032"/>
          </a:xfrm>
          <a:prstGeom prst="rect">
            <a:avLst/>
          </a:prstGeom>
          <a:noFill/>
        </p:spPr>
        <p:txBody>
          <a:bodyPr wrap="square">
            <a:spAutoFit/>
          </a:bodyPr>
          <a:lstStyle/>
          <a:p>
            <a:pPr algn="l"/>
            <a:r>
              <a:rPr sz="1000" b="1" i="0">
                <a:solidFill>
                  <a:srgbClr val="1A376C"/>
                </a:solidFill>
              </a:rPr>
              <a:t>Catatan koordinasi?</a:t>
            </a:r>
          </a:p>
        </p:txBody>
      </p:sp>
      <p:sp>
        <p:nvSpPr>
          <p:cNvPr id="22" name="TextBox 21"/>
          <p:cNvSpPr txBox="1"/>
          <p:nvPr/>
        </p:nvSpPr>
        <p:spPr>
          <a:xfrm>
            <a:off x="502920" y="5102351"/>
            <a:ext cx="5120640" cy="384048"/>
          </a:xfrm>
          <a:prstGeom prst="rect">
            <a:avLst/>
          </a:prstGeom>
          <a:noFill/>
        </p:spPr>
        <p:txBody>
          <a:bodyPr wrap="square">
            <a:spAutoFit/>
          </a:bodyPr>
          <a:lstStyle/>
          <a:p>
            <a:pPr algn="l"/>
            <a:r>
              <a:rPr sz="950" b="0" i="0">
                <a:solidFill>
                  <a:srgbClr val="444444"/>
                </a:solidFill>
              </a:rPr>
              <a:t>Gunakan kolom 'Catatan' (berlabel 'terlihat oleh semua PIC') untuk komunikasi internal antar tim.</a:t>
            </a:r>
          </a:p>
        </p:txBody>
      </p:sp>
      <p:sp>
        <p:nvSpPr>
          <p:cNvPr id="23" name="Rectangle 22"/>
          <p:cNvSpPr/>
          <p:nvPr/>
        </p:nvSpPr>
        <p:spPr>
          <a:xfrm>
            <a:off x="365760" y="5550408"/>
            <a:ext cx="53035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596128"/>
            <a:ext cx="5120640" cy="256032"/>
          </a:xfrm>
          <a:prstGeom prst="rect">
            <a:avLst/>
          </a:prstGeom>
          <a:noFill/>
        </p:spPr>
        <p:txBody>
          <a:bodyPr wrap="square">
            <a:spAutoFit/>
          </a:bodyPr>
          <a:lstStyle/>
          <a:p>
            <a:pPr algn="l"/>
            <a:r>
              <a:rPr sz="1000" b="1" i="0">
                <a:solidFill>
                  <a:srgbClr val="1A376C"/>
                </a:solidFill>
              </a:rPr>
              <a:t>Submit laporan?</a:t>
            </a:r>
          </a:p>
        </p:txBody>
      </p:sp>
      <p:sp>
        <p:nvSpPr>
          <p:cNvPr id="25" name="TextBox 24"/>
          <p:cNvSpPr txBox="1"/>
          <p:nvPr/>
        </p:nvSpPr>
        <p:spPr>
          <a:xfrm>
            <a:off x="502920" y="5870448"/>
            <a:ext cx="5120640" cy="384048"/>
          </a:xfrm>
          <a:prstGeom prst="rect">
            <a:avLst/>
          </a:prstGeom>
          <a:noFill/>
        </p:spPr>
        <p:txBody>
          <a:bodyPr wrap="square">
            <a:spAutoFit/>
          </a:bodyPr>
          <a:lstStyle/>
          <a:p>
            <a:pPr algn="l"/>
            <a:r>
              <a:rPr sz="950" b="0" i="0">
                <a:solidFill>
                  <a:srgbClr val="444444"/>
                </a:solidFill>
              </a:rPr>
              <a:t>Hanya SATU tim yang perlu submit laporan untuk IKU kolaborasi. Tim lain akan mendapat notifikasi bahwa kolaborator sudah submit.</a:t>
            </a:r>
          </a:p>
        </p:txBody>
      </p:sp>
      <p:sp>
        <p:nvSpPr>
          <p:cNvPr id="26" name="Rectangle 25"/>
          <p:cNvSpPr/>
          <p:nvPr/>
        </p:nvSpPr>
        <p:spPr>
          <a:xfrm>
            <a:off x="6035040" y="1234440"/>
            <a:ext cx="5806440" cy="52578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35040" y="1234440"/>
            <a:ext cx="5806440" cy="41148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72200" y="1252728"/>
            <a:ext cx="5577840" cy="365760"/>
          </a:xfrm>
          <a:prstGeom prst="rect">
            <a:avLst/>
          </a:prstGeom>
          <a:noFill/>
        </p:spPr>
        <p:txBody>
          <a:bodyPr wrap="square">
            <a:spAutoFit/>
          </a:bodyPr>
          <a:lstStyle/>
          <a:p>
            <a:pPr algn="l"/>
            <a:r>
              <a:rPr sz="1200" b="1" i="0">
                <a:solidFill>
                  <a:srgbClr val="FFFFFF"/>
                </a:solidFill>
              </a:rPr>
              <a:t>Elemen UI untuk IKU Kolaborasi</a:t>
            </a:r>
          </a:p>
        </p:txBody>
      </p:sp>
      <p:sp>
        <p:nvSpPr>
          <p:cNvPr id="29" name="Rectangle 28"/>
          <p:cNvSpPr/>
          <p:nvPr/>
        </p:nvSpPr>
        <p:spPr>
          <a:xfrm>
            <a:off x="6035040" y="1737360"/>
            <a:ext cx="5806440" cy="859536"/>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72200" y="1783080"/>
            <a:ext cx="1828800" cy="457200"/>
          </a:xfrm>
          <a:prstGeom prst="rect">
            <a:avLst/>
          </a:prstGeom>
          <a:noFill/>
        </p:spPr>
        <p:txBody>
          <a:bodyPr wrap="square">
            <a:spAutoFit/>
          </a:bodyPr>
          <a:lstStyle/>
          <a:p>
            <a:pPr algn="l"/>
            <a:r>
              <a:rPr sz="1000" b="1" i="0">
                <a:solidFill>
                  <a:srgbClr val="1E4D9B"/>
                </a:solidFill>
              </a:rPr>
              <a:t>Banner Koordinasi
(di atas tabel)</a:t>
            </a:r>
          </a:p>
        </p:txBody>
      </p:sp>
      <p:sp>
        <p:nvSpPr>
          <p:cNvPr id="31" name="Rectangle 30"/>
          <p:cNvSpPr/>
          <p:nvPr/>
        </p:nvSpPr>
        <p:spPr>
          <a:xfrm>
            <a:off x="7973568" y="1828800"/>
            <a:ext cx="27432" cy="65836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65008" y="1810512"/>
            <a:ext cx="3657600" cy="731520"/>
          </a:xfrm>
          <a:prstGeom prst="rect">
            <a:avLst/>
          </a:prstGeom>
          <a:noFill/>
        </p:spPr>
        <p:txBody>
          <a:bodyPr wrap="square">
            <a:spAutoFit/>
          </a:bodyPr>
          <a:lstStyle/>
          <a:p>
            <a:pPr algn="l"/>
            <a:r>
              <a:rPr sz="950" b="0" i="0">
                <a:solidFill>
                  <a:srgbClr val="444444"/>
                </a:solidFill>
              </a:rPr>
              <a:t>Muncul otomatis jika ada IKU shared. Menampilkan daftar IKU yang dikerjakan bersama dan menyoroti 'Tim Anda' dengan badge.</a:t>
            </a:r>
          </a:p>
        </p:txBody>
      </p:sp>
      <p:sp>
        <p:nvSpPr>
          <p:cNvPr id="33" name="Rectangle 32"/>
          <p:cNvSpPr/>
          <p:nvPr/>
        </p:nvSpPr>
        <p:spPr>
          <a:xfrm>
            <a:off x="6035040" y="2633472"/>
            <a:ext cx="580644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72200" y="2679191"/>
            <a:ext cx="1828800" cy="457200"/>
          </a:xfrm>
          <a:prstGeom prst="rect">
            <a:avLst/>
          </a:prstGeom>
          <a:noFill/>
        </p:spPr>
        <p:txBody>
          <a:bodyPr wrap="square">
            <a:spAutoFit/>
          </a:bodyPr>
          <a:lstStyle/>
          <a:p>
            <a:pPr algn="l"/>
            <a:r>
              <a:rPr sz="1000" b="1" i="0">
                <a:solidFill>
                  <a:srgbClr val="1E4D9B"/>
                </a:solidFill>
              </a:rPr>
              <a:t>Ikon 👥 pada Nama IKU</a:t>
            </a:r>
          </a:p>
        </p:txBody>
      </p:sp>
      <p:sp>
        <p:nvSpPr>
          <p:cNvPr id="35" name="Rectangle 34"/>
          <p:cNvSpPr/>
          <p:nvPr/>
        </p:nvSpPr>
        <p:spPr>
          <a:xfrm>
            <a:off x="7973568" y="2724912"/>
            <a:ext cx="27432" cy="65836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65008" y="2706624"/>
            <a:ext cx="3657600" cy="731520"/>
          </a:xfrm>
          <a:prstGeom prst="rect">
            <a:avLst/>
          </a:prstGeom>
          <a:noFill/>
        </p:spPr>
        <p:txBody>
          <a:bodyPr wrap="square">
            <a:spAutoFit/>
          </a:bodyPr>
          <a:lstStyle/>
          <a:p>
            <a:pPr algn="l"/>
            <a:r>
              <a:rPr sz="950" b="0" i="0">
                <a:solidFill>
                  <a:srgbClr val="444444"/>
                </a:solidFill>
              </a:rPr>
              <a:t>Penanda visual bahwa IKU ini dikerjakan bersama. Badge nama singkat semua PIC ditampilkan di form dialog.</a:t>
            </a:r>
          </a:p>
        </p:txBody>
      </p:sp>
      <p:sp>
        <p:nvSpPr>
          <p:cNvPr id="37" name="Rectangle 36"/>
          <p:cNvSpPr/>
          <p:nvPr/>
        </p:nvSpPr>
        <p:spPr>
          <a:xfrm>
            <a:off x="6035040" y="3529584"/>
            <a:ext cx="5806440" cy="859536"/>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72200" y="3575303"/>
            <a:ext cx="1828800" cy="457200"/>
          </a:xfrm>
          <a:prstGeom prst="rect">
            <a:avLst/>
          </a:prstGeom>
          <a:noFill/>
        </p:spPr>
        <p:txBody>
          <a:bodyPr wrap="square">
            <a:spAutoFit/>
          </a:bodyPr>
          <a:lstStyle/>
          <a:p>
            <a:pPr algn="l"/>
            <a:r>
              <a:rPr sz="1000" b="1" i="0">
                <a:solidFill>
                  <a:srgbClr val="1E4D9B"/>
                </a:solidFill>
              </a:rPr>
              <a:t>Kolom 'Terisi Oleh'</a:t>
            </a:r>
          </a:p>
        </p:txBody>
      </p:sp>
      <p:sp>
        <p:nvSpPr>
          <p:cNvPr id="39" name="Rectangle 38"/>
          <p:cNvSpPr/>
          <p:nvPr/>
        </p:nvSpPr>
        <p:spPr>
          <a:xfrm>
            <a:off x="7973568" y="3621024"/>
            <a:ext cx="27432" cy="65836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65008" y="3602736"/>
            <a:ext cx="3657600" cy="731520"/>
          </a:xfrm>
          <a:prstGeom prst="rect">
            <a:avLst/>
          </a:prstGeom>
          <a:noFill/>
        </p:spPr>
        <p:txBody>
          <a:bodyPr wrap="square">
            <a:spAutoFit/>
          </a:bodyPr>
          <a:lstStyle/>
          <a:p>
            <a:pPr algn="l"/>
            <a:r>
              <a:rPr sz="950" b="0" i="0">
                <a:solidFill>
                  <a:srgbClr val="444444"/>
                </a:solidFill>
              </a:rPr>
              <a:t>Menampilkan nama singkat Tim Kerja yang terakhir menyimpan data realisasi untuk IKU tersebut.</a:t>
            </a:r>
          </a:p>
        </p:txBody>
      </p:sp>
      <p:sp>
        <p:nvSpPr>
          <p:cNvPr id="41" name="Rectangle 40"/>
          <p:cNvSpPr/>
          <p:nvPr/>
        </p:nvSpPr>
        <p:spPr>
          <a:xfrm>
            <a:off x="6035040" y="4425696"/>
            <a:ext cx="580644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72200" y="4471416"/>
            <a:ext cx="1828800" cy="457200"/>
          </a:xfrm>
          <a:prstGeom prst="rect">
            <a:avLst/>
          </a:prstGeom>
          <a:noFill/>
        </p:spPr>
        <p:txBody>
          <a:bodyPr wrap="square">
            <a:spAutoFit/>
          </a:bodyPr>
          <a:lstStyle/>
          <a:p>
            <a:pPr algn="l"/>
            <a:r>
              <a:rPr sz="1000" b="1" i="0">
                <a:solidFill>
                  <a:srgbClr val="1E4D9B"/>
                </a:solidFill>
              </a:rPr>
              <a:t>Catatan Koordinasi
(di dalam form)</a:t>
            </a:r>
          </a:p>
        </p:txBody>
      </p:sp>
      <p:sp>
        <p:nvSpPr>
          <p:cNvPr id="43" name="Rectangle 42"/>
          <p:cNvSpPr/>
          <p:nvPr/>
        </p:nvSpPr>
        <p:spPr>
          <a:xfrm>
            <a:off x="7973568" y="4517136"/>
            <a:ext cx="27432" cy="65836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65008" y="4498848"/>
            <a:ext cx="3657600" cy="731520"/>
          </a:xfrm>
          <a:prstGeom prst="rect">
            <a:avLst/>
          </a:prstGeom>
          <a:noFill/>
        </p:spPr>
        <p:txBody>
          <a:bodyPr wrap="square">
            <a:spAutoFit/>
          </a:bodyPr>
          <a:lstStyle/>
          <a:p>
            <a:pPr algn="l"/>
            <a:r>
              <a:rPr sz="950" b="0" i="0">
                <a:solidFill>
                  <a:srgbClr val="444444"/>
                </a:solidFill>
              </a:rPr>
              <a:t>Kolom opsional dalam form isian. Catatan ini terlihat oleh semua PIC dan berguna untuk koordinasi internal.</a:t>
            </a:r>
          </a:p>
        </p:txBody>
      </p:sp>
      <p:sp>
        <p:nvSpPr>
          <p:cNvPr id="45" name="Rectangle 44"/>
          <p:cNvSpPr/>
          <p:nvPr/>
        </p:nvSpPr>
        <p:spPr>
          <a:xfrm>
            <a:off x="6035040" y="5321808"/>
            <a:ext cx="5806440" cy="859536"/>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72200" y="5367528"/>
            <a:ext cx="1828800" cy="457200"/>
          </a:xfrm>
          <a:prstGeom prst="rect">
            <a:avLst/>
          </a:prstGeom>
          <a:noFill/>
        </p:spPr>
        <p:txBody>
          <a:bodyPr wrap="square">
            <a:spAutoFit/>
          </a:bodyPr>
          <a:lstStyle/>
          <a:p>
            <a:pPr algn="l"/>
            <a:r>
              <a:rPr sz="1000" b="1" i="0">
                <a:solidFill>
                  <a:srgbClr val="1E4D9B"/>
                </a:solidFill>
              </a:rPr>
              <a:t>Banner Info Submit
(jika kolaborator sudah submit)</a:t>
            </a:r>
          </a:p>
        </p:txBody>
      </p:sp>
      <p:sp>
        <p:nvSpPr>
          <p:cNvPr id="47" name="Rectangle 46"/>
          <p:cNvSpPr/>
          <p:nvPr/>
        </p:nvSpPr>
        <p:spPr>
          <a:xfrm>
            <a:off x="7973568" y="5413248"/>
            <a:ext cx="27432" cy="65836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65008" y="5394960"/>
            <a:ext cx="3657600" cy="731520"/>
          </a:xfrm>
          <a:prstGeom prst="rect">
            <a:avLst/>
          </a:prstGeom>
          <a:noFill/>
        </p:spPr>
        <p:txBody>
          <a:bodyPr wrap="square">
            <a:spAutoFit/>
          </a:bodyPr>
          <a:lstStyle/>
          <a:p>
            <a:pPr algn="l"/>
            <a:r>
              <a:rPr sz="950" b="0" i="0">
                <a:solidFill>
                  <a:srgbClr val="444444"/>
                </a:solidFill>
              </a:rPr>
              <a:t>Jika tim lain sudah submit laporan terlebih dahulu, sebuah banner amber muncul sebagai informasi. Tim Anda tetap dapat submit secara mandiri.</a:t>
            </a:r>
          </a:p>
        </p:txBody>
      </p:sp>
      <p:sp>
        <p:nvSpPr>
          <p:cNvPr id="49" name="Rectangle 48"/>
          <p:cNvSpPr/>
          <p:nvPr/>
        </p:nvSpPr>
        <p:spPr>
          <a:xfrm>
            <a:off x="365760" y="6446520"/>
            <a:ext cx="11430000" cy="411480"/>
          </a:xfrm>
          <a:prstGeom prst="rect">
            <a:avLst/>
          </a:prstGeom>
          <a:solidFill>
            <a:srgbClr val="FFF3CD"/>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2920" y="6483096"/>
            <a:ext cx="11228832" cy="338328"/>
          </a:xfrm>
          <a:prstGeom prst="rect">
            <a:avLst/>
          </a:prstGeom>
          <a:noFill/>
        </p:spPr>
        <p:txBody>
          <a:bodyPr wrap="square">
            <a:spAutoFit/>
          </a:bodyPr>
          <a:lstStyle/>
          <a:p>
            <a:pPr algn="l"/>
            <a:r>
              <a:rPr sz="900" b="0" i="0">
                <a:solidFill>
                  <a:srgbClr val="7D6008"/>
                </a:solidFill>
              </a:rPr>
              <a:t>⚠  Koordinasikan dengan tim co-PIC sebelum menyimpan data akhir agar tidak terjadi perbedaan nilai yang tidak disengaja.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07  |  Submit Laporan Pengukuran ke Kabag Umum</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Mengirim laporan triwulan setelah semua IKU terisi</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9 / 12</a:t>
            </a:r>
          </a:p>
        </p:txBody>
      </p:sp>
      <p:sp>
        <p:nvSpPr>
          <p:cNvPr id="10" name="Rectangle 9"/>
          <p:cNvSpPr/>
          <p:nvPr/>
        </p:nvSpPr>
        <p:spPr>
          <a:xfrm>
            <a:off x="365760" y="1234440"/>
            <a:ext cx="11430000" cy="129844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98448"/>
            <a:ext cx="2468880" cy="11704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344168"/>
            <a:ext cx="2286000" cy="548640"/>
          </a:xfrm>
          <a:prstGeom prst="rect">
            <a:avLst/>
          </a:prstGeom>
          <a:noFill/>
        </p:spPr>
        <p:txBody>
          <a:bodyPr wrap="square">
            <a:spAutoFit/>
          </a:bodyPr>
          <a:lstStyle/>
          <a:p>
            <a:pPr algn="ctr"/>
            <a:r>
              <a:rPr sz="1000" b="1" i="0">
                <a:solidFill>
                  <a:srgbClr val="FFFFFF"/>
                </a:solidFill>
              </a:rPr>
              <a:t>Isi Semua
Realisasi IKU</a:t>
            </a:r>
          </a:p>
        </p:txBody>
      </p:sp>
      <p:sp>
        <p:nvSpPr>
          <p:cNvPr id="13" name="TextBox 12"/>
          <p:cNvSpPr txBox="1"/>
          <p:nvPr/>
        </p:nvSpPr>
        <p:spPr>
          <a:xfrm>
            <a:off x="640080" y="1874519"/>
            <a:ext cx="2286000" cy="502920"/>
          </a:xfrm>
          <a:prstGeom prst="rect">
            <a:avLst/>
          </a:prstGeom>
          <a:noFill/>
        </p:spPr>
        <p:txBody>
          <a:bodyPr wrap="square">
            <a:spAutoFit/>
          </a:bodyPr>
          <a:lstStyle/>
          <a:p>
            <a:pPr algn="ctr"/>
            <a:r>
              <a:rPr sz="850" b="0" i="0">
                <a:solidFill>
                  <a:srgbClr val="CCDDFF"/>
                </a:solidFill>
              </a:rPr>
              <a:t>Ketua Tim</a:t>
            </a:r>
          </a:p>
        </p:txBody>
      </p:sp>
      <p:sp>
        <p:nvSpPr>
          <p:cNvPr id="14" name="TextBox 13"/>
          <p:cNvSpPr txBox="1"/>
          <p:nvPr/>
        </p:nvSpPr>
        <p:spPr>
          <a:xfrm>
            <a:off x="3044952" y="1691640"/>
            <a:ext cx="320040" cy="502920"/>
          </a:xfrm>
          <a:prstGeom prst="rect">
            <a:avLst/>
          </a:prstGeom>
          <a:noFill/>
        </p:spPr>
        <p:txBody>
          <a:bodyPr wrap="square">
            <a:spAutoFit/>
          </a:bodyPr>
          <a:lstStyle/>
          <a:p>
            <a:pPr algn="ctr"/>
            <a:r>
              <a:rPr sz="1600" b="0" i="0">
                <a:solidFill>
                  <a:srgbClr val="2E75B6"/>
                </a:solidFill>
              </a:rPr>
              <a:t>▶</a:t>
            </a:r>
          </a:p>
        </p:txBody>
      </p:sp>
      <p:sp>
        <p:nvSpPr>
          <p:cNvPr id="15" name="Rectangle 14"/>
          <p:cNvSpPr/>
          <p:nvPr/>
        </p:nvSpPr>
        <p:spPr>
          <a:xfrm>
            <a:off x="3383280" y="1298448"/>
            <a:ext cx="2468880" cy="117043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344168"/>
            <a:ext cx="2286000" cy="548640"/>
          </a:xfrm>
          <a:prstGeom prst="rect">
            <a:avLst/>
          </a:prstGeom>
          <a:noFill/>
        </p:spPr>
        <p:txBody>
          <a:bodyPr wrap="square">
            <a:spAutoFit/>
          </a:bodyPr>
          <a:lstStyle/>
          <a:p>
            <a:pPr algn="ctr"/>
            <a:r>
              <a:rPr sz="1000" b="1" i="0">
                <a:solidFill>
                  <a:srgbClr val="FFFFFF"/>
                </a:solidFill>
              </a:rPr>
              <a:t>Klik Submit
Laporan</a:t>
            </a:r>
          </a:p>
        </p:txBody>
      </p:sp>
      <p:sp>
        <p:nvSpPr>
          <p:cNvPr id="17" name="TextBox 16"/>
          <p:cNvSpPr txBox="1"/>
          <p:nvPr/>
        </p:nvSpPr>
        <p:spPr>
          <a:xfrm>
            <a:off x="3474720" y="1874519"/>
            <a:ext cx="2286000" cy="502920"/>
          </a:xfrm>
          <a:prstGeom prst="rect">
            <a:avLst/>
          </a:prstGeom>
          <a:noFill/>
        </p:spPr>
        <p:txBody>
          <a:bodyPr wrap="square">
            <a:spAutoFit/>
          </a:bodyPr>
          <a:lstStyle/>
          <a:p>
            <a:pPr algn="ctr"/>
            <a:r>
              <a:rPr sz="850" b="0" i="0">
                <a:solidFill>
                  <a:srgbClr val="CCDDFF"/>
                </a:solidFill>
              </a:rPr>
              <a:t>Ketua Tim</a:t>
            </a:r>
          </a:p>
        </p:txBody>
      </p:sp>
      <p:sp>
        <p:nvSpPr>
          <p:cNvPr id="18" name="TextBox 17"/>
          <p:cNvSpPr txBox="1"/>
          <p:nvPr/>
        </p:nvSpPr>
        <p:spPr>
          <a:xfrm>
            <a:off x="5879592" y="1691640"/>
            <a:ext cx="320040" cy="502920"/>
          </a:xfrm>
          <a:prstGeom prst="rect">
            <a:avLst/>
          </a:prstGeom>
          <a:noFill/>
        </p:spPr>
        <p:txBody>
          <a:bodyPr wrap="square">
            <a:spAutoFit/>
          </a:bodyPr>
          <a:lstStyle/>
          <a:p>
            <a:pPr algn="ctr"/>
            <a:r>
              <a:rPr sz="1600" b="0" i="0">
                <a:solidFill>
                  <a:srgbClr val="2E75B6"/>
                </a:solidFill>
              </a:rPr>
              <a:t>▶</a:t>
            </a:r>
          </a:p>
        </p:txBody>
      </p:sp>
      <p:sp>
        <p:nvSpPr>
          <p:cNvPr id="19" name="Rectangle 18"/>
          <p:cNvSpPr/>
          <p:nvPr/>
        </p:nvSpPr>
        <p:spPr>
          <a:xfrm>
            <a:off x="6217920" y="1298448"/>
            <a:ext cx="2468880" cy="1170432"/>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59" y="1344168"/>
            <a:ext cx="2286000" cy="548640"/>
          </a:xfrm>
          <a:prstGeom prst="rect">
            <a:avLst/>
          </a:prstGeom>
          <a:noFill/>
        </p:spPr>
        <p:txBody>
          <a:bodyPr wrap="square">
            <a:spAutoFit/>
          </a:bodyPr>
          <a:lstStyle/>
          <a:p>
            <a:pPr algn="ctr"/>
            <a:r>
              <a:rPr sz="1000" b="1" i="0">
                <a:solidFill>
                  <a:srgbClr val="FFFFFF"/>
                </a:solidFill>
              </a:rPr>
              <a:t>Review
Kabag Umum</a:t>
            </a:r>
          </a:p>
        </p:txBody>
      </p:sp>
      <p:sp>
        <p:nvSpPr>
          <p:cNvPr id="21" name="TextBox 20"/>
          <p:cNvSpPr txBox="1"/>
          <p:nvPr/>
        </p:nvSpPr>
        <p:spPr>
          <a:xfrm>
            <a:off x="6309359" y="1874519"/>
            <a:ext cx="2286000" cy="502920"/>
          </a:xfrm>
          <a:prstGeom prst="rect">
            <a:avLst/>
          </a:prstGeom>
          <a:noFill/>
        </p:spPr>
        <p:txBody>
          <a:bodyPr wrap="square">
            <a:spAutoFit/>
          </a:bodyPr>
          <a:lstStyle/>
          <a:p>
            <a:pPr algn="ctr"/>
            <a:r>
              <a:rPr sz="850" b="0" i="0">
                <a:solidFill>
                  <a:srgbClr val="CCDDFF"/>
                </a:solidFill>
              </a:rPr>
              <a:t>Kabag Umum</a:t>
            </a:r>
          </a:p>
        </p:txBody>
      </p:sp>
      <p:sp>
        <p:nvSpPr>
          <p:cNvPr id="22" name="TextBox 21"/>
          <p:cNvSpPr txBox="1"/>
          <p:nvPr/>
        </p:nvSpPr>
        <p:spPr>
          <a:xfrm>
            <a:off x="8714232" y="1691640"/>
            <a:ext cx="320040" cy="502920"/>
          </a:xfrm>
          <a:prstGeom prst="rect">
            <a:avLst/>
          </a:prstGeom>
          <a:noFill/>
        </p:spPr>
        <p:txBody>
          <a:bodyPr wrap="square">
            <a:spAutoFit/>
          </a:bodyPr>
          <a:lstStyle/>
          <a:p>
            <a:pPr algn="ctr"/>
            <a:r>
              <a:rPr sz="1600" b="0" i="0">
                <a:solidFill>
                  <a:srgbClr val="2E75B6"/>
                </a:solidFill>
              </a:rPr>
              <a:t>▶</a:t>
            </a:r>
          </a:p>
        </p:txBody>
      </p:sp>
      <p:sp>
        <p:nvSpPr>
          <p:cNvPr id="23" name="Rectangle 22"/>
          <p:cNvSpPr/>
          <p:nvPr/>
        </p:nvSpPr>
        <p:spPr>
          <a:xfrm>
            <a:off x="9052560" y="1298448"/>
            <a:ext cx="2468880" cy="117043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1344168"/>
            <a:ext cx="2286000" cy="548640"/>
          </a:xfrm>
          <a:prstGeom prst="rect">
            <a:avLst/>
          </a:prstGeom>
          <a:noFill/>
        </p:spPr>
        <p:txBody>
          <a:bodyPr wrap="square">
            <a:spAutoFit/>
          </a:bodyPr>
          <a:lstStyle/>
          <a:p>
            <a:pPr algn="ctr"/>
            <a:r>
              <a:rPr sz="1000" b="1" i="0">
                <a:solidFill>
                  <a:srgbClr val="FFFFFF"/>
                </a:solidFill>
              </a:rPr>
              <a:t>Laporan
Disetujui</a:t>
            </a:r>
          </a:p>
        </p:txBody>
      </p:sp>
      <p:sp>
        <p:nvSpPr>
          <p:cNvPr id="25" name="TextBox 24"/>
          <p:cNvSpPr txBox="1"/>
          <p:nvPr/>
        </p:nvSpPr>
        <p:spPr>
          <a:xfrm>
            <a:off x="9144000" y="1874519"/>
            <a:ext cx="2286000" cy="502920"/>
          </a:xfrm>
          <a:prstGeom prst="rect">
            <a:avLst/>
          </a:prstGeom>
          <a:noFill/>
        </p:spPr>
        <p:txBody>
          <a:bodyPr wrap="square">
            <a:spAutoFit/>
          </a:bodyPr>
          <a:lstStyle/>
          <a:p>
            <a:pPr algn="ctr"/>
            <a:r>
              <a:rPr sz="850" b="0" i="0">
                <a:solidFill>
                  <a:srgbClr val="CCDDFF"/>
                </a:solidFill>
              </a:rPr>
              <a:t>Kabag Umum</a:t>
            </a:r>
          </a:p>
        </p:txBody>
      </p:sp>
      <p:sp>
        <p:nvSpPr>
          <p:cNvPr id="26" name="Rectangle 25"/>
          <p:cNvSpPr/>
          <p:nvPr/>
        </p:nvSpPr>
        <p:spPr>
          <a:xfrm>
            <a:off x="365760" y="2651760"/>
            <a:ext cx="4114800" cy="379476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2651760"/>
            <a:ext cx="41148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2670048"/>
            <a:ext cx="3931920" cy="320040"/>
          </a:xfrm>
          <a:prstGeom prst="rect">
            <a:avLst/>
          </a:prstGeom>
          <a:noFill/>
        </p:spPr>
        <p:txBody>
          <a:bodyPr wrap="square">
            <a:spAutoFit/>
          </a:bodyPr>
          <a:lstStyle/>
          <a:p>
            <a:pPr algn="l"/>
            <a:r>
              <a:rPr sz="1000" b="1" i="0">
                <a:solidFill>
                  <a:srgbClr val="FFFFFF"/>
                </a:solidFill>
              </a:rPr>
              <a:t>Tampilan Tombol Submit Laporan</a:t>
            </a:r>
          </a:p>
        </p:txBody>
      </p:sp>
      <p:sp>
        <p:nvSpPr>
          <p:cNvPr id="29" name="TextBox 28"/>
          <p:cNvSpPr txBox="1"/>
          <p:nvPr/>
        </p:nvSpPr>
        <p:spPr>
          <a:xfrm>
            <a:off x="640080" y="3154680"/>
            <a:ext cx="3703320" cy="3154680"/>
          </a:xfrm>
          <a:prstGeom prst="rect">
            <a:avLst/>
          </a:prstGeom>
          <a:noFill/>
        </p:spPr>
        <p:txBody>
          <a:bodyPr wrap="square">
            <a:spAutoFit/>
          </a:bodyPr>
          <a:lstStyle/>
          <a:p>
            <a:pPr algn="ctr"/>
            <a:r>
              <a:rPr sz="1000" b="0" i="1">
                <a:solidFill>
                  <a:srgbClr val="2E75B6"/>
                </a:solidFill>
              </a:rPr>
              <a:t>[ SCREENSHOT SUBMIT LAPORAN ]
Tambahkan screenshot di sini</a:t>
            </a:r>
          </a:p>
        </p:txBody>
      </p:sp>
      <p:sp>
        <p:nvSpPr>
          <p:cNvPr id="30" name="TextBox 29"/>
          <p:cNvSpPr txBox="1"/>
          <p:nvPr/>
        </p:nvSpPr>
        <p:spPr>
          <a:xfrm>
            <a:off x="4800600" y="2651760"/>
            <a:ext cx="7040880" cy="347472"/>
          </a:xfrm>
          <a:prstGeom prst="rect">
            <a:avLst/>
          </a:prstGeom>
          <a:noFill/>
        </p:spPr>
        <p:txBody>
          <a:bodyPr wrap="square">
            <a:spAutoFit/>
          </a:bodyPr>
          <a:lstStyle/>
          <a:p>
            <a:pPr algn="l"/>
            <a:r>
              <a:rPr sz="1300" b="1" i="0">
                <a:solidFill>
                  <a:srgbClr val="1A376C"/>
                </a:solidFill>
              </a:rPr>
              <a:t>Cara Submit Laporan</a:t>
            </a:r>
          </a:p>
        </p:txBody>
      </p:sp>
      <p:sp>
        <p:nvSpPr>
          <p:cNvPr id="31" name="Rectangle 30"/>
          <p:cNvSpPr/>
          <p:nvPr/>
        </p:nvSpPr>
        <p:spPr>
          <a:xfrm>
            <a:off x="4800600" y="2651760"/>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00600" y="3108960"/>
            <a:ext cx="704088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00600" y="3108960"/>
            <a:ext cx="457200" cy="71323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00600" y="3264408"/>
            <a:ext cx="457200" cy="402336"/>
          </a:xfrm>
          <a:prstGeom prst="rect">
            <a:avLst/>
          </a:prstGeom>
          <a:noFill/>
        </p:spPr>
        <p:txBody>
          <a:bodyPr wrap="square">
            <a:spAutoFit/>
          </a:bodyPr>
          <a:lstStyle/>
          <a:p>
            <a:pPr algn="ctr"/>
            <a:r>
              <a:rPr sz="1700" b="1" i="0">
                <a:solidFill>
                  <a:srgbClr val="FFFFFF"/>
                </a:solidFill>
              </a:rPr>
              <a:t>1</a:t>
            </a:r>
          </a:p>
        </p:txBody>
      </p:sp>
      <p:sp>
        <p:nvSpPr>
          <p:cNvPr id="35" name="TextBox 34"/>
          <p:cNvSpPr txBox="1"/>
          <p:nvPr/>
        </p:nvSpPr>
        <p:spPr>
          <a:xfrm>
            <a:off x="5330952" y="3154679"/>
            <a:ext cx="6446520" cy="274320"/>
          </a:xfrm>
          <a:prstGeom prst="rect">
            <a:avLst/>
          </a:prstGeom>
          <a:noFill/>
        </p:spPr>
        <p:txBody>
          <a:bodyPr wrap="square">
            <a:spAutoFit/>
          </a:bodyPr>
          <a:lstStyle/>
          <a:p>
            <a:pPr algn="l"/>
            <a:r>
              <a:rPr sz="1050" b="1" i="0">
                <a:solidFill>
                  <a:srgbClr val="1A376C"/>
                </a:solidFill>
              </a:rPr>
              <a:t>Periksa Progress Bar</a:t>
            </a:r>
          </a:p>
        </p:txBody>
      </p:sp>
      <p:sp>
        <p:nvSpPr>
          <p:cNvPr id="36" name="TextBox 35"/>
          <p:cNvSpPr txBox="1"/>
          <p:nvPr/>
        </p:nvSpPr>
        <p:spPr>
          <a:xfrm>
            <a:off x="5330952" y="3438144"/>
            <a:ext cx="6446520" cy="329184"/>
          </a:xfrm>
          <a:prstGeom prst="rect">
            <a:avLst/>
          </a:prstGeom>
          <a:noFill/>
        </p:spPr>
        <p:txBody>
          <a:bodyPr wrap="square">
            <a:spAutoFit/>
          </a:bodyPr>
          <a:lstStyle/>
          <a:p>
            <a:pPr algn="l"/>
            <a:r>
              <a:rPr sz="950" b="0" i="0">
                <a:solidFill>
                  <a:srgbClr val="444444"/>
                </a:solidFill>
              </a:rPr>
              <a:t>Pastikan semua langkah di progress bar sudah terpenuhi: Periode aktif ✓ | IKU tersedia ✓ | Realisasi diisi ✓.</a:t>
            </a:r>
          </a:p>
        </p:txBody>
      </p:sp>
      <p:sp>
        <p:nvSpPr>
          <p:cNvPr id="37" name="Rectangle 36"/>
          <p:cNvSpPr/>
          <p:nvPr/>
        </p:nvSpPr>
        <p:spPr>
          <a:xfrm>
            <a:off x="4800600" y="3886200"/>
            <a:ext cx="704088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800600" y="3886200"/>
            <a:ext cx="457200" cy="71323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00600" y="4041648"/>
            <a:ext cx="457200" cy="402336"/>
          </a:xfrm>
          <a:prstGeom prst="rect">
            <a:avLst/>
          </a:prstGeom>
          <a:noFill/>
        </p:spPr>
        <p:txBody>
          <a:bodyPr wrap="square">
            <a:spAutoFit/>
          </a:bodyPr>
          <a:lstStyle/>
          <a:p>
            <a:pPr algn="ctr"/>
            <a:r>
              <a:rPr sz="1700" b="1" i="0">
                <a:solidFill>
                  <a:srgbClr val="FFFFFF"/>
                </a:solidFill>
              </a:rPr>
              <a:t>2</a:t>
            </a:r>
          </a:p>
        </p:txBody>
      </p:sp>
      <p:sp>
        <p:nvSpPr>
          <p:cNvPr id="40" name="TextBox 39"/>
          <p:cNvSpPr txBox="1"/>
          <p:nvPr/>
        </p:nvSpPr>
        <p:spPr>
          <a:xfrm>
            <a:off x="5330952" y="3931920"/>
            <a:ext cx="6446520" cy="274320"/>
          </a:xfrm>
          <a:prstGeom prst="rect">
            <a:avLst/>
          </a:prstGeom>
          <a:noFill/>
        </p:spPr>
        <p:txBody>
          <a:bodyPr wrap="square">
            <a:spAutoFit/>
          </a:bodyPr>
          <a:lstStyle/>
          <a:p>
            <a:pPr algn="l"/>
            <a:r>
              <a:rPr sz="1050" b="1" i="0">
                <a:solidFill>
                  <a:srgbClr val="1A376C"/>
                </a:solidFill>
              </a:rPr>
              <a:t>Klik Tombol Submit Laporan</a:t>
            </a:r>
          </a:p>
        </p:txBody>
      </p:sp>
      <p:sp>
        <p:nvSpPr>
          <p:cNvPr id="41" name="TextBox 40"/>
          <p:cNvSpPr txBox="1"/>
          <p:nvPr/>
        </p:nvSpPr>
        <p:spPr>
          <a:xfrm>
            <a:off x="5330952" y="4215384"/>
            <a:ext cx="6446520" cy="329184"/>
          </a:xfrm>
          <a:prstGeom prst="rect">
            <a:avLst/>
          </a:prstGeom>
          <a:noFill/>
        </p:spPr>
        <p:txBody>
          <a:bodyPr wrap="square">
            <a:spAutoFit/>
          </a:bodyPr>
          <a:lstStyle/>
          <a:p>
            <a:pPr algn="l"/>
            <a:r>
              <a:rPr sz="950" b="0" i="0">
                <a:solidFill>
                  <a:srgbClr val="444444"/>
                </a:solidFill>
              </a:rPr>
              <a:t>Klik tombol "Submit Laporan ke Kabag Umum" yang tersedia di bawah tabel atau di bagian atas halaman.</a:t>
            </a:r>
          </a:p>
        </p:txBody>
      </p:sp>
      <p:sp>
        <p:nvSpPr>
          <p:cNvPr id="42" name="Rectangle 41"/>
          <p:cNvSpPr/>
          <p:nvPr/>
        </p:nvSpPr>
        <p:spPr>
          <a:xfrm>
            <a:off x="4800600" y="4663440"/>
            <a:ext cx="704088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800600" y="4663440"/>
            <a:ext cx="457200" cy="71323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00600" y="4818888"/>
            <a:ext cx="457200" cy="402336"/>
          </a:xfrm>
          <a:prstGeom prst="rect">
            <a:avLst/>
          </a:prstGeom>
          <a:noFill/>
        </p:spPr>
        <p:txBody>
          <a:bodyPr wrap="square">
            <a:spAutoFit/>
          </a:bodyPr>
          <a:lstStyle/>
          <a:p>
            <a:pPr algn="ctr"/>
            <a:r>
              <a:rPr sz="1700" b="1" i="0">
                <a:solidFill>
                  <a:srgbClr val="FFFFFF"/>
                </a:solidFill>
              </a:rPr>
              <a:t>3</a:t>
            </a:r>
          </a:p>
        </p:txBody>
      </p:sp>
      <p:sp>
        <p:nvSpPr>
          <p:cNvPr id="45" name="TextBox 44"/>
          <p:cNvSpPr txBox="1"/>
          <p:nvPr/>
        </p:nvSpPr>
        <p:spPr>
          <a:xfrm>
            <a:off x="5330952" y="4709159"/>
            <a:ext cx="6446520" cy="274320"/>
          </a:xfrm>
          <a:prstGeom prst="rect">
            <a:avLst/>
          </a:prstGeom>
          <a:noFill/>
        </p:spPr>
        <p:txBody>
          <a:bodyPr wrap="square">
            <a:spAutoFit/>
          </a:bodyPr>
          <a:lstStyle/>
          <a:p>
            <a:pPr algn="l"/>
            <a:r>
              <a:rPr sz="1050" b="1" i="0">
                <a:solidFill>
                  <a:srgbClr val="1A376C"/>
                </a:solidFill>
              </a:rPr>
              <a:t>Konfirmasi Submit</a:t>
            </a:r>
          </a:p>
        </p:txBody>
      </p:sp>
      <p:sp>
        <p:nvSpPr>
          <p:cNvPr id="46" name="TextBox 45"/>
          <p:cNvSpPr txBox="1"/>
          <p:nvPr/>
        </p:nvSpPr>
        <p:spPr>
          <a:xfrm>
            <a:off x="5330952" y="4992624"/>
            <a:ext cx="6446520" cy="329184"/>
          </a:xfrm>
          <a:prstGeom prst="rect">
            <a:avLst/>
          </a:prstGeom>
          <a:noFill/>
        </p:spPr>
        <p:txBody>
          <a:bodyPr wrap="square">
            <a:spAutoFit/>
          </a:bodyPr>
          <a:lstStyle/>
          <a:p>
            <a:pPr algn="l"/>
            <a:r>
              <a:rPr sz="950" b="0" i="0">
                <a:solidFill>
                  <a:srgbClr val="444444"/>
                </a:solidFill>
              </a:rPr>
              <a:t>Dialog konfirmasi akan muncul. Baca dengan seksama, pastikan Anda yakin data sudah lengkap dan benar, lalu klik Konfirmasi.</a:t>
            </a:r>
          </a:p>
        </p:txBody>
      </p:sp>
      <p:sp>
        <p:nvSpPr>
          <p:cNvPr id="47" name="Rectangle 46"/>
          <p:cNvSpPr/>
          <p:nvPr/>
        </p:nvSpPr>
        <p:spPr>
          <a:xfrm>
            <a:off x="4800600" y="5440679"/>
            <a:ext cx="704088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800600" y="5440679"/>
            <a:ext cx="457200" cy="71323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800600" y="5596127"/>
            <a:ext cx="457200" cy="402336"/>
          </a:xfrm>
          <a:prstGeom prst="rect">
            <a:avLst/>
          </a:prstGeom>
          <a:noFill/>
        </p:spPr>
        <p:txBody>
          <a:bodyPr wrap="square">
            <a:spAutoFit/>
          </a:bodyPr>
          <a:lstStyle/>
          <a:p>
            <a:pPr algn="ctr"/>
            <a:r>
              <a:rPr sz="1700" b="1" i="0">
                <a:solidFill>
                  <a:srgbClr val="FFFFFF"/>
                </a:solidFill>
              </a:rPr>
              <a:t>4</a:t>
            </a:r>
          </a:p>
        </p:txBody>
      </p:sp>
      <p:sp>
        <p:nvSpPr>
          <p:cNvPr id="50" name="TextBox 49"/>
          <p:cNvSpPr txBox="1"/>
          <p:nvPr/>
        </p:nvSpPr>
        <p:spPr>
          <a:xfrm>
            <a:off x="5330952" y="5486399"/>
            <a:ext cx="6446520" cy="274320"/>
          </a:xfrm>
          <a:prstGeom prst="rect">
            <a:avLst/>
          </a:prstGeom>
          <a:noFill/>
        </p:spPr>
        <p:txBody>
          <a:bodyPr wrap="square">
            <a:spAutoFit/>
          </a:bodyPr>
          <a:lstStyle/>
          <a:p>
            <a:pPr algn="l"/>
            <a:r>
              <a:rPr sz="1050" b="1" i="0">
                <a:solidFill>
                  <a:srgbClr val="1A376C"/>
                </a:solidFill>
              </a:rPr>
              <a:t>Pantau Status</a:t>
            </a:r>
          </a:p>
        </p:txBody>
      </p:sp>
      <p:sp>
        <p:nvSpPr>
          <p:cNvPr id="51" name="TextBox 50"/>
          <p:cNvSpPr txBox="1"/>
          <p:nvPr/>
        </p:nvSpPr>
        <p:spPr>
          <a:xfrm>
            <a:off x="5330952" y="5769864"/>
            <a:ext cx="6446520" cy="329184"/>
          </a:xfrm>
          <a:prstGeom prst="rect">
            <a:avLst/>
          </a:prstGeom>
          <a:noFill/>
        </p:spPr>
        <p:txBody>
          <a:bodyPr wrap="square">
            <a:spAutoFit/>
          </a:bodyPr>
          <a:lstStyle/>
          <a:p>
            <a:pPr algn="l"/>
            <a:r>
              <a:rPr sz="950" b="0" i="0">
                <a:solidFill>
                  <a:srgbClr val="444444"/>
                </a:solidFill>
              </a:rPr>
              <a:t>Setelah submit berhasil, status laporan berubah menjadi 'Menunggu persetujuan Kabag Umum'. Pantau statusnya secara berkala.</a:t>
            </a:r>
          </a:p>
        </p:txBody>
      </p:sp>
      <p:sp>
        <p:nvSpPr>
          <p:cNvPr id="52" name="Rectangle 51"/>
          <p:cNvSpPr/>
          <p:nvPr/>
        </p:nvSpPr>
        <p:spPr>
          <a:xfrm>
            <a:off x="4800600" y="6291072"/>
            <a:ext cx="7040880" cy="502920"/>
          </a:xfrm>
          <a:prstGeom prst="rect">
            <a:avLst/>
          </a:prstGeom>
          <a:solidFill>
            <a:srgbClr val="FDEDEC"/>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37760" y="6327648"/>
            <a:ext cx="6839712" cy="429768"/>
          </a:xfrm>
          <a:prstGeom prst="rect">
            <a:avLst/>
          </a:prstGeom>
          <a:noFill/>
        </p:spPr>
        <p:txBody>
          <a:bodyPr wrap="square">
            <a:spAutoFit/>
          </a:bodyPr>
          <a:lstStyle/>
          <a:p>
            <a:pPr algn="l"/>
            <a:r>
              <a:rPr sz="900" b="0" i="0">
                <a:solidFill>
                  <a:srgbClr val="C0392B"/>
                </a:solidFill>
              </a:rPr>
              <a:t>⛔  Penting: Laporan yang telah disubmit TIDAK DAPAT diedit. Pastikan semua data sudah benar sebelum submit.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08–09  |  Revisi, Status &amp; Notifikasi</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Prosedur jika laporan dikembalikan dan cara memantau status</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10 / 12</a:t>
            </a:r>
          </a:p>
        </p:txBody>
      </p:sp>
      <p:sp>
        <p:nvSpPr>
          <p:cNvPr id="10" name="Rectangle 9"/>
          <p:cNvSpPr/>
          <p:nvPr/>
        </p:nvSpPr>
        <p:spPr>
          <a:xfrm>
            <a:off x="365760" y="1234440"/>
            <a:ext cx="5394960" cy="52578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539496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5120640" cy="365760"/>
          </a:xfrm>
          <a:prstGeom prst="rect">
            <a:avLst/>
          </a:prstGeom>
          <a:noFill/>
        </p:spPr>
        <p:txBody>
          <a:bodyPr wrap="square">
            <a:spAutoFit/>
          </a:bodyPr>
          <a:lstStyle/>
          <a:p>
            <a:pPr algn="l"/>
            <a:r>
              <a:rPr sz="1200" b="1" i="0">
                <a:solidFill>
                  <a:srgbClr val="FFFFFF"/>
                </a:solidFill>
              </a:rPr>
              <a:t>08  |  Revisi &amp; Submit Ulang</a:t>
            </a:r>
          </a:p>
        </p:txBody>
      </p:sp>
      <p:sp>
        <p:nvSpPr>
          <p:cNvPr id="13" name="Rectangle 12"/>
          <p:cNvSpPr/>
          <p:nvPr/>
        </p:nvSpPr>
        <p:spPr>
          <a:xfrm>
            <a:off x="365760" y="1737360"/>
            <a:ext cx="5394960" cy="859536"/>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737360"/>
            <a:ext cx="384048" cy="85953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965960"/>
            <a:ext cx="384048" cy="402336"/>
          </a:xfrm>
          <a:prstGeom prst="rect">
            <a:avLst/>
          </a:prstGeom>
          <a:noFill/>
        </p:spPr>
        <p:txBody>
          <a:bodyPr wrap="square">
            <a:spAutoFit/>
          </a:bodyPr>
          <a:lstStyle/>
          <a:p>
            <a:pPr algn="ctr"/>
            <a:r>
              <a:rPr sz="1600" b="1" i="0">
                <a:solidFill>
                  <a:srgbClr val="FFFFFF"/>
                </a:solidFill>
              </a:rPr>
              <a:t>1</a:t>
            </a:r>
          </a:p>
        </p:txBody>
      </p:sp>
      <p:sp>
        <p:nvSpPr>
          <p:cNvPr id="16" name="TextBox 15"/>
          <p:cNvSpPr txBox="1"/>
          <p:nvPr/>
        </p:nvSpPr>
        <p:spPr>
          <a:xfrm>
            <a:off x="822960" y="1792224"/>
            <a:ext cx="4800600" cy="256032"/>
          </a:xfrm>
          <a:prstGeom prst="rect">
            <a:avLst/>
          </a:prstGeom>
          <a:noFill/>
        </p:spPr>
        <p:txBody>
          <a:bodyPr wrap="square">
            <a:spAutoFit/>
          </a:bodyPr>
          <a:lstStyle/>
          <a:p>
            <a:pPr algn="l"/>
            <a:r>
              <a:rPr sz="1050" b="1" i="0">
                <a:solidFill>
                  <a:srgbClr val="1A376C"/>
                </a:solidFill>
              </a:rPr>
              <a:t>Status 'Laporan Dikembalikan'</a:t>
            </a:r>
          </a:p>
        </p:txBody>
      </p:sp>
      <p:sp>
        <p:nvSpPr>
          <p:cNvPr id="17" name="TextBox 16"/>
          <p:cNvSpPr txBox="1"/>
          <p:nvPr/>
        </p:nvSpPr>
        <p:spPr>
          <a:xfrm>
            <a:off x="822960" y="2084831"/>
            <a:ext cx="4800600" cy="475488"/>
          </a:xfrm>
          <a:prstGeom prst="rect">
            <a:avLst/>
          </a:prstGeom>
          <a:noFill/>
        </p:spPr>
        <p:txBody>
          <a:bodyPr wrap="square">
            <a:spAutoFit/>
          </a:bodyPr>
          <a:lstStyle/>
          <a:p>
            <a:pPr algn="l"/>
            <a:r>
              <a:rPr sz="950" b="0" i="0">
                <a:solidFill>
                  <a:srgbClr val="444444"/>
                </a:solidFill>
              </a:rPr>
              <a:t>Jika Kabag Umum mengembalikan laporan, status berubah dan banner merah muncul di halaman Pengukuran Kinerja.</a:t>
            </a:r>
          </a:p>
        </p:txBody>
      </p:sp>
      <p:sp>
        <p:nvSpPr>
          <p:cNvPr id="18" name="Rectangle 17"/>
          <p:cNvSpPr/>
          <p:nvPr/>
        </p:nvSpPr>
        <p:spPr>
          <a:xfrm>
            <a:off x="365760" y="2633472"/>
            <a:ext cx="53949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633472"/>
            <a:ext cx="384048" cy="85953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862072"/>
            <a:ext cx="384048" cy="402336"/>
          </a:xfrm>
          <a:prstGeom prst="rect">
            <a:avLst/>
          </a:prstGeom>
          <a:noFill/>
        </p:spPr>
        <p:txBody>
          <a:bodyPr wrap="square">
            <a:spAutoFit/>
          </a:bodyPr>
          <a:lstStyle/>
          <a:p>
            <a:pPr algn="ctr"/>
            <a:r>
              <a:rPr sz="1600" b="1" i="0">
                <a:solidFill>
                  <a:srgbClr val="FFFFFF"/>
                </a:solidFill>
              </a:rPr>
              <a:t>2</a:t>
            </a:r>
          </a:p>
        </p:txBody>
      </p:sp>
      <p:sp>
        <p:nvSpPr>
          <p:cNvPr id="21" name="TextBox 20"/>
          <p:cNvSpPr txBox="1"/>
          <p:nvPr/>
        </p:nvSpPr>
        <p:spPr>
          <a:xfrm>
            <a:off x="822960" y="2688336"/>
            <a:ext cx="4800600" cy="256032"/>
          </a:xfrm>
          <a:prstGeom prst="rect">
            <a:avLst/>
          </a:prstGeom>
          <a:noFill/>
        </p:spPr>
        <p:txBody>
          <a:bodyPr wrap="square">
            <a:spAutoFit/>
          </a:bodyPr>
          <a:lstStyle/>
          <a:p>
            <a:pPr algn="l"/>
            <a:r>
              <a:rPr sz="1050" b="1" i="0">
                <a:solidFill>
                  <a:srgbClr val="1A376C"/>
                </a:solidFill>
              </a:rPr>
              <a:t>Baca Catatan Revisi</a:t>
            </a:r>
          </a:p>
        </p:txBody>
      </p:sp>
      <p:sp>
        <p:nvSpPr>
          <p:cNvPr id="22" name="TextBox 21"/>
          <p:cNvSpPr txBox="1"/>
          <p:nvPr/>
        </p:nvSpPr>
        <p:spPr>
          <a:xfrm>
            <a:off x="822960" y="2980944"/>
            <a:ext cx="4800600" cy="475488"/>
          </a:xfrm>
          <a:prstGeom prst="rect">
            <a:avLst/>
          </a:prstGeom>
          <a:noFill/>
        </p:spPr>
        <p:txBody>
          <a:bodyPr wrap="square">
            <a:spAutoFit/>
          </a:bodyPr>
          <a:lstStyle/>
          <a:p>
            <a:pPr algn="l"/>
            <a:r>
              <a:rPr sz="950" b="0" i="0">
                <a:solidFill>
                  <a:srgbClr val="444444"/>
                </a:solidFill>
              </a:rPr>
              <a:t>Klik area catatan/rekomendasi Kabag Umum yang tampil di banner merah untuk melihat poin-poin yang perlu diperbaiki.</a:t>
            </a:r>
          </a:p>
        </p:txBody>
      </p:sp>
      <p:sp>
        <p:nvSpPr>
          <p:cNvPr id="23" name="Rectangle 22"/>
          <p:cNvSpPr/>
          <p:nvPr/>
        </p:nvSpPr>
        <p:spPr>
          <a:xfrm>
            <a:off x="365760" y="3529584"/>
            <a:ext cx="5394960" cy="859536"/>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529584"/>
            <a:ext cx="384048" cy="85953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758183"/>
            <a:ext cx="384048" cy="402336"/>
          </a:xfrm>
          <a:prstGeom prst="rect">
            <a:avLst/>
          </a:prstGeom>
          <a:noFill/>
        </p:spPr>
        <p:txBody>
          <a:bodyPr wrap="square">
            <a:spAutoFit/>
          </a:bodyPr>
          <a:lstStyle/>
          <a:p>
            <a:pPr algn="ctr"/>
            <a:r>
              <a:rPr sz="1600" b="1" i="0">
                <a:solidFill>
                  <a:srgbClr val="FFFFFF"/>
                </a:solidFill>
              </a:rPr>
              <a:t>3</a:t>
            </a:r>
          </a:p>
        </p:txBody>
      </p:sp>
      <p:sp>
        <p:nvSpPr>
          <p:cNvPr id="26" name="TextBox 25"/>
          <p:cNvSpPr txBox="1"/>
          <p:nvPr/>
        </p:nvSpPr>
        <p:spPr>
          <a:xfrm>
            <a:off x="822960" y="3584448"/>
            <a:ext cx="4800600" cy="256032"/>
          </a:xfrm>
          <a:prstGeom prst="rect">
            <a:avLst/>
          </a:prstGeom>
          <a:noFill/>
        </p:spPr>
        <p:txBody>
          <a:bodyPr wrap="square">
            <a:spAutoFit/>
          </a:bodyPr>
          <a:lstStyle/>
          <a:p>
            <a:pPr algn="l"/>
            <a:r>
              <a:rPr sz="1050" b="1" i="0">
                <a:solidFill>
                  <a:srgbClr val="1A376C"/>
                </a:solidFill>
              </a:rPr>
              <a:t>Perbaiki Data Realisasi</a:t>
            </a:r>
          </a:p>
        </p:txBody>
      </p:sp>
      <p:sp>
        <p:nvSpPr>
          <p:cNvPr id="27" name="TextBox 26"/>
          <p:cNvSpPr txBox="1"/>
          <p:nvPr/>
        </p:nvSpPr>
        <p:spPr>
          <a:xfrm>
            <a:off x="822960" y="3877056"/>
            <a:ext cx="4800600" cy="475488"/>
          </a:xfrm>
          <a:prstGeom prst="rect">
            <a:avLst/>
          </a:prstGeom>
          <a:noFill/>
        </p:spPr>
        <p:txBody>
          <a:bodyPr wrap="square">
            <a:spAutoFit/>
          </a:bodyPr>
          <a:lstStyle/>
          <a:p>
            <a:pPr algn="l"/>
            <a:r>
              <a:rPr sz="950" b="0" i="0">
                <a:solidFill>
                  <a:srgbClr val="444444"/>
                </a:solidFill>
              </a:rPr>
              <a:t>Klik tombol 'Edit' pada IKU yang perlu diperbaiki. Ubah nilai atau tambahkan keterangan sesuai catatan Kabag Umum.</a:t>
            </a:r>
          </a:p>
        </p:txBody>
      </p:sp>
      <p:sp>
        <p:nvSpPr>
          <p:cNvPr id="28" name="Rectangle 27"/>
          <p:cNvSpPr/>
          <p:nvPr/>
        </p:nvSpPr>
        <p:spPr>
          <a:xfrm>
            <a:off x="365760" y="4425696"/>
            <a:ext cx="5394960" cy="8595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4425696"/>
            <a:ext cx="384048" cy="85953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654296"/>
            <a:ext cx="384048" cy="402336"/>
          </a:xfrm>
          <a:prstGeom prst="rect">
            <a:avLst/>
          </a:prstGeom>
          <a:noFill/>
        </p:spPr>
        <p:txBody>
          <a:bodyPr wrap="square">
            <a:spAutoFit/>
          </a:bodyPr>
          <a:lstStyle/>
          <a:p>
            <a:pPr algn="ctr"/>
            <a:r>
              <a:rPr sz="1600" b="1" i="0">
                <a:solidFill>
                  <a:srgbClr val="FFFFFF"/>
                </a:solidFill>
              </a:rPr>
              <a:t>4</a:t>
            </a:r>
          </a:p>
        </p:txBody>
      </p:sp>
      <p:sp>
        <p:nvSpPr>
          <p:cNvPr id="31" name="TextBox 30"/>
          <p:cNvSpPr txBox="1"/>
          <p:nvPr/>
        </p:nvSpPr>
        <p:spPr>
          <a:xfrm>
            <a:off x="822960" y="4480559"/>
            <a:ext cx="4800600" cy="256032"/>
          </a:xfrm>
          <a:prstGeom prst="rect">
            <a:avLst/>
          </a:prstGeom>
          <a:noFill/>
        </p:spPr>
        <p:txBody>
          <a:bodyPr wrap="square">
            <a:spAutoFit/>
          </a:bodyPr>
          <a:lstStyle/>
          <a:p>
            <a:pPr algn="l"/>
            <a:r>
              <a:rPr sz="1050" b="1" i="0">
                <a:solidFill>
                  <a:srgbClr val="1A376C"/>
                </a:solidFill>
              </a:rPr>
              <a:t>Klik Simpan</a:t>
            </a:r>
          </a:p>
        </p:txBody>
      </p:sp>
      <p:sp>
        <p:nvSpPr>
          <p:cNvPr id="32" name="TextBox 31"/>
          <p:cNvSpPr txBox="1"/>
          <p:nvPr/>
        </p:nvSpPr>
        <p:spPr>
          <a:xfrm>
            <a:off x="822960" y="4773168"/>
            <a:ext cx="4800600" cy="475488"/>
          </a:xfrm>
          <a:prstGeom prst="rect">
            <a:avLst/>
          </a:prstGeom>
          <a:noFill/>
        </p:spPr>
        <p:txBody>
          <a:bodyPr wrap="square">
            <a:spAutoFit/>
          </a:bodyPr>
          <a:lstStyle/>
          <a:p>
            <a:pPr algn="l"/>
            <a:r>
              <a:rPr sz="950" b="0" i="0">
                <a:solidFill>
                  <a:srgbClr val="444444"/>
                </a:solidFill>
              </a:rPr>
              <a:t>Simpan perubahan pada setiap IKU yang diperbaiki.</a:t>
            </a:r>
          </a:p>
        </p:txBody>
      </p:sp>
      <p:sp>
        <p:nvSpPr>
          <p:cNvPr id="33" name="Rectangle 32"/>
          <p:cNvSpPr/>
          <p:nvPr/>
        </p:nvSpPr>
        <p:spPr>
          <a:xfrm>
            <a:off x="365760" y="5321808"/>
            <a:ext cx="5394960" cy="859536"/>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5321808"/>
            <a:ext cx="384048" cy="85953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5550408"/>
            <a:ext cx="384048" cy="402336"/>
          </a:xfrm>
          <a:prstGeom prst="rect">
            <a:avLst/>
          </a:prstGeom>
          <a:noFill/>
        </p:spPr>
        <p:txBody>
          <a:bodyPr wrap="square">
            <a:spAutoFit/>
          </a:bodyPr>
          <a:lstStyle/>
          <a:p>
            <a:pPr algn="ctr"/>
            <a:r>
              <a:rPr sz="1600" b="1" i="0">
                <a:solidFill>
                  <a:srgbClr val="FFFFFF"/>
                </a:solidFill>
              </a:rPr>
              <a:t>5</a:t>
            </a:r>
          </a:p>
        </p:txBody>
      </p:sp>
      <p:sp>
        <p:nvSpPr>
          <p:cNvPr id="36" name="TextBox 35"/>
          <p:cNvSpPr txBox="1"/>
          <p:nvPr/>
        </p:nvSpPr>
        <p:spPr>
          <a:xfrm>
            <a:off x="822960" y="5376672"/>
            <a:ext cx="4800600" cy="256032"/>
          </a:xfrm>
          <a:prstGeom prst="rect">
            <a:avLst/>
          </a:prstGeom>
          <a:noFill/>
        </p:spPr>
        <p:txBody>
          <a:bodyPr wrap="square">
            <a:spAutoFit/>
          </a:bodyPr>
          <a:lstStyle/>
          <a:p>
            <a:pPr algn="l"/>
            <a:r>
              <a:rPr sz="1050" b="1" i="0">
                <a:solidFill>
                  <a:srgbClr val="1A376C"/>
                </a:solidFill>
              </a:rPr>
              <a:t>Submit Ulang Laporan</a:t>
            </a:r>
          </a:p>
        </p:txBody>
      </p:sp>
      <p:sp>
        <p:nvSpPr>
          <p:cNvPr id="37" name="TextBox 36"/>
          <p:cNvSpPr txBox="1"/>
          <p:nvPr/>
        </p:nvSpPr>
        <p:spPr>
          <a:xfrm>
            <a:off x="822960" y="5669280"/>
            <a:ext cx="4800600" cy="475488"/>
          </a:xfrm>
          <a:prstGeom prst="rect">
            <a:avLst/>
          </a:prstGeom>
          <a:noFill/>
        </p:spPr>
        <p:txBody>
          <a:bodyPr wrap="square">
            <a:spAutoFit/>
          </a:bodyPr>
          <a:lstStyle/>
          <a:p>
            <a:pPr algn="l"/>
            <a:r>
              <a:rPr sz="950" b="0" i="0">
                <a:solidFill>
                  <a:srgbClr val="444444"/>
                </a:solidFill>
              </a:rPr>
              <a:t>Setelah semua perbaikan selesai, klik kembali tombol Submit Laporan. Catatan revisi sebelumnya akan direset otomatis.</a:t>
            </a:r>
          </a:p>
        </p:txBody>
      </p:sp>
      <p:sp>
        <p:nvSpPr>
          <p:cNvPr id="38" name="Rectangle 37"/>
          <p:cNvSpPr/>
          <p:nvPr/>
        </p:nvSpPr>
        <p:spPr>
          <a:xfrm>
            <a:off x="6126480" y="1234440"/>
            <a:ext cx="5715000" cy="52578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1234440"/>
            <a:ext cx="5715000" cy="411480"/>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1252728"/>
            <a:ext cx="5486400" cy="365760"/>
          </a:xfrm>
          <a:prstGeom prst="rect">
            <a:avLst/>
          </a:prstGeom>
          <a:noFill/>
        </p:spPr>
        <p:txBody>
          <a:bodyPr wrap="square">
            <a:spAutoFit/>
          </a:bodyPr>
          <a:lstStyle/>
          <a:p>
            <a:pPr algn="l"/>
            <a:r>
              <a:rPr sz="1200" b="1" i="0">
                <a:solidFill>
                  <a:srgbClr val="FFFFFF"/>
                </a:solidFill>
              </a:rPr>
              <a:t>09  |  Status Laporan &amp; Tampilan Banner</a:t>
            </a:r>
          </a:p>
        </p:txBody>
      </p:sp>
      <p:sp>
        <p:nvSpPr>
          <p:cNvPr id="41" name="Rectangle 40"/>
          <p:cNvSpPr/>
          <p:nvPr/>
        </p:nvSpPr>
        <p:spPr>
          <a:xfrm>
            <a:off x="6126480" y="1737360"/>
            <a:ext cx="5715000" cy="1042415"/>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26480" y="1737360"/>
            <a:ext cx="320040" cy="1042415"/>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0528" y="1810512"/>
            <a:ext cx="5212080" cy="402336"/>
          </a:xfrm>
          <a:prstGeom prst="rect">
            <a:avLst/>
          </a:prstGeom>
          <a:noFill/>
        </p:spPr>
        <p:txBody>
          <a:bodyPr wrap="square">
            <a:spAutoFit/>
          </a:bodyPr>
          <a:lstStyle/>
          <a:p>
            <a:pPr algn="l"/>
            <a:r>
              <a:rPr sz="1050" b="1" i="0">
                <a:solidFill>
                  <a:srgbClr val="1A376C"/>
                </a:solidFill>
              </a:rPr>
              <a:t>Belum Submit</a:t>
            </a:r>
          </a:p>
        </p:txBody>
      </p:sp>
      <p:sp>
        <p:nvSpPr>
          <p:cNvPr id="44" name="Rectangle 43"/>
          <p:cNvSpPr/>
          <p:nvPr/>
        </p:nvSpPr>
        <p:spPr>
          <a:xfrm>
            <a:off x="6510528" y="2231136"/>
            <a:ext cx="516636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10528" y="2286000"/>
            <a:ext cx="5212080" cy="457200"/>
          </a:xfrm>
          <a:prstGeom prst="rect">
            <a:avLst/>
          </a:prstGeom>
          <a:noFill/>
        </p:spPr>
        <p:txBody>
          <a:bodyPr wrap="square">
            <a:spAutoFit/>
          </a:bodyPr>
          <a:lstStyle/>
          <a:p>
            <a:pPr algn="l"/>
            <a:r>
              <a:rPr sz="950" b="0" i="0">
                <a:solidFill>
                  <a:srgbClr val="444444"/>
                </a:solidFill>
              </a:rPr>
              <a:t>Tombol submit tersedia. Isi semua realisasi terlebih dahulu.</a:t>
            </a:r>
          </a:p>
        </p:txBody>
      </p:sp>
      <p:sp>
        <p:nvSpPr>
          <p:cNvPr id="46" name="Rectangle 45"/>
          <p:cNvSpPr/>
          <p:nvPr/>
        </p:nvSpPr>
        <p:spPr>
          <a:xfrm>
            <a:off x="6126480" y="2816352"/>
            <a:ext cx="5715000" cy="10424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26480" y="2816352"/>
            <a:ext cx="320040" cy="1042415"/>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10528" y="2889504"/>
            <a:ext cx="5212080" cy="402336"/>
          </a:xfrm>
          <a:prstGeom prst="rect">
            <a:avLst/>
          </a:prstGeom>
          <a:noFill/>
        </p:spPr>
        <p:txBody>
          <a:bodyPr wrap="square">
            <a:spAutoFit/>
          </a:bodyPr>
          <a:lstStyle/>
          <a:p>
            <a:pPr algn="l"/>
            <a:r>
              <a:rPr sz="1050" b="1" i="0">
                <a:solidFill>
                  <a:srgbClr val="1A376C"/>
                </a:solidFill>
              </a:rPr>
              <a:t>Menunggu Persetujuan
(submitted)</a:t>
            </a:r>
          </a:p>
        </p:txBody>
      </p:sp>
      <p:sp>
        <p:nvSpPr>
          <p:cNvPr id="49" name="Rectangle 48"/>
          <p:cNvSpPr/>
          <p:nvPr/>
        </p:nvSpPr>
        <p:spPr>
          <a:xfrm>
            <a:off x="6510528" y="3310128"/>
            <a:ext cx="516636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10528" y="3364992"/>
            <a:ext cx="5212080" cy="457200"/>
          </a:xfrm>
          <a:prstGeom prst="rect">
            <a:avLst/>
          </a:prstGeom>
          <a:noFill/>
        </p:spPr>
        <p:txBody>
          <a:bodyPr wrap="square">
            <a:spAutoFit/>
          </a:bodyPr>
          <a:lstStyle/>
          <a:p>
            <a:pPr algn="l"/>
            <a:r>
              <a:rPr sz="950" b="0" i="0">
                <a:solidFill>
                  <a:srgbClr val="444444"/>
                </a:solidFill>
              </a:rPr>
              <a:t>Banner abu muncul: 'Menunggu persetujuan Kabag Umum'. Tidak dapat edit.</a:t>
            </a:r>
          </a:p>
        </p:txBody>
      </p:sp>
      <p:sp>
        <p:nvSpPr>
          <p:cNvPr id="51" name="Rectangle 50"/>
          <p:cNvSpPr/>
          <p:nvPr/>
        </p:nvSpPr>
        <p:spPr>
          <a:xfrm>
            <a:off x="6126480" y="3895344"/>
            <a:ext cx="5715000" cy="1042415"/>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126480" y="3895344"/>
            <a:ext cx="320040" cy="1042415"/>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10528" y="3968496"/>
            <a:ext cx="5212080" cy="402336"/>
          </a:xfrm>
          <a:prstGeom prst="rect">
            <a:avLst/>
          </a:prstGeom>
          <a:noFill/>
        </p:spPr>
        <p:txBody>
          <a:bodyPr wrap="square">
            <a:spAutoFit/>
          </a:bodyPr>
          <a:lstStyle/>
          <a:p>
            <a:pPr algn="l"/>
            <a:r>
              <a:rPr sz="1050" b="1" i="0">
                <a:solidFill>
                  <a:srgbClr val="1A376C"/>
                </a:solidFill>
              </a:rPr>
              <a:t>Disetujui
(kabag_approved)</a:t>
            </a:r>
          </a:p>
        </p:txBody>
      </p:sp>
      <p:sp>
        <p:nvSpPr>
          <p:cNvPr id="54" name="Rectangle 53"/>
          <p:cNvSpPr/>
          <p:nvPr/>
        </p:nvSpPr>
        <p:spPr>
          <a:xfrm>
            <a:off x="6510528" y="4389120"/>
            <a:ext cx="516636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10528" y="4443983"/>
            <a:ext cx="5212080" cy="457200"/>
          </a:xfrm>
          <a:prstGeom prst="rect">
            <a:avLst/>
          </a:prstGeom>
          <a:noFill/>
        </p:spPr>
        <p:txBody>
          <a:bodyPr wrap="square">
            <a:spAutoFit/>
          </a:bodyPr>
          <a:lstStyle/>
          <a:p>
            <a:pPr algn="l"/>
            <a:r>
              <a:rPr sz="950" b="0" i="0">
                <a:solidFill>
                  <a:srgbClr val="444444"/>
                </a:solidFill>
              </a:rPr>
              <a:t>Banner hijau muncul: 'Laporan Disetujui'. Catatan apresiasi Kabag ditampilkan.</a:t>
            </a:r>
          </a:p>
        </p:txBody>
      </p:sp>
      <p:sp>
        <p:nvSpPr>
          <p:cNvPr id="56" name="Rectangle 55"/>
          <p:cNvSpPr/>
          <p:nvPr/>
        </p:nvSpPr>
        <p:spPr>
          <a:xfrm>
            <a:off x="6126480" y="4974336"/>
            <a:ext cx="5715000" cy="104241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80" y="4974336"/>
            <a:ext cx="320040" cy="1042415"/>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10528" y="5047488"/>
            <a:ext cx="5212080" cy="402336"/>
          </a:xfrm>
          <a:prstGeom prst="rect">
            <a:avLst/>
          </a:prstGeom>
          <a:noFill/>
        </p:spPr>
        <p:txBody>
          <a:bodyPr wrap="square">
            <a:spAutoFit/>
          </a:bodyPr>
          <a:lstStyle/>
          <a:p>
            <a:pPr algn="l"/>
            <a:r>
              <a:rPr sz="1050" b="1" i="0">
                <a:solidFill>
                  <a:srgbClr val="1A376C"/>
                </a:solidFill>
              </a:rPr>
              <a:t>Dikembalikan
(rejected)</a:t>
            </a:r>
          </a:p>
        </p:txBody>
      </p:sp>
      <p:sp>
        <p:nvSpPr>
          <p:cNvPr id="59" name="Rectangle 58"/>
          <p:cNvSpPr/>
          <p:nvPr/>
        </p:nvSpPr>
        <p:spPr>
          <a:xfrm>
            <a:off x="6510528" y="5468112"/>
            <a:ext cx="516636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10528" y="5522975"/>
            <a:ext cx="5212080" cy="457200"/>
          </a:xfrm>
          <a:prstGeom prst="rect">
            <a:avLst/>
          </a:prstGeom>
          <a:noFill/>
        </p:spPr>
        <p:txBody>
          <a:bodyPr wrap="square">
            <a:spAutoFit/>
          </a:bodyPr>
          <a:lstStyle/>
          <a:p>
            <a:pPr algn="l"/>
            <a:r>
              <a:rPr sz="950" b="0" i="0">
                <a:solidFill>
                  <a:srgbClr val="444444"/>
                </a:solidFill>
              </a:rPr>
              <a:t>Banner merah muncul: 'Laporan Dikembalikan'. Catatan revisi Kabag ditampilkan. Tombol submit ulang muncul.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Progress Bar — 5 Langkah Pengukuran Kinerja</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Indikator visual kelengkapan laporan triwulan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11 / 12</a:t>
            </a:r>
          </a:p>
        </p:txBody>
      </p:sp>
      <p:sp>
        <p:nvSpPr>
          <p:cNvPr id="10" name="Rectangle 9"/>
          <p:cNvSpPr/>
          <p:nvPr/>
        </p:nvSpPr>
        <p:spPr>
          <a:xfrm>
            <a:off x="365760" y="1234440"/>
            <a:ext cx="457200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5720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389120" cy="320040"/>
          </a:xfrm>
          <a:prstGeom prst="rect">
            <a:avLst/>
          </a:prstGeom>
          <a:noFill/>
        </p:spPr>
        <p:txBody>
          <a:bodyPr wrap="square">
            <a:spAutoFit/>
          </a:bodyPr>
          <a:lstStyle/>
          <a:p>
            <a:pPr algn="l"/>
            <a:r>
              <a:rPr sz="1000" b="1" i="0">
                <a:solidFill>
                  <a:srgbClr val="FFFFFF"/>
                </a:solidFill>
              </a:rPr>
              <a:t>Tampilan Progress Bar 5 Langkah</a:t>
            </a:r>
          </a:p>
        </p:txBody>
      </p:sp>
      <p:sp>
        <p:nvSpPr>
          <p:cNvPr id="13" name="TextBox 12"/>
          <p:cNvSpPr txBox="1"/>
          <p:nvPr/>
        </p:nvSpPr>
        <p:spPr>
          <a:xfrm>
            <a:off x="640080" y="1737360"/>
            <a:ext cx="4160520" cy="4617720"/>
          </a:xfrm>
          <a:prstGeom prst="rect">
            <a:avLst/>
          </a:prstGeom>
          <a:noFill/>
        </p:spPr>
        <p:txBody>
          <a:bodyPr wrap="square">
            <a:spAutoFit/>
          </a:bodyPr>
          <a:lstStyle/>
          <a:p>
            <a:pPr algn="ctr"/>
            <a:r>
              <a:rPr sz="1000" b="0" i="1">
                <a:solidFill>
                  <a:srgbClr val="2E75B6"/>
                </a:solidFill>
              </a:rPr>
              <a:t>[ SCREENSHOT PROGRESS BAR 5 LANGKAH ]
Tambahkan screenshot di sini</a:t>
            </a:r>
          </a:p>
        </p:txBody>
      </p:sp>
      <p:sp>
        <p:nvSpPr>
          <p:cNvPr id="14" name="TextBox 13"/>
          <p:cNvSpPr txBox="1"/>
          <p:nvPr/>
        </p:nvSpPr>
        <p:spPr>
          <a:xfrm>
            <a:off x="5303520" y="1261872"/>
            <a:ext cx="6537960" cy="347472"/>
          </a:xfrm>
          <a:prstGeom prst="rect">
            <a:avLst/>
          </a:prstGeom>
          <a:noFill/>
        </p:spPr>
        <p:txBody>
          <a:bodyPr wrap="square">
            <a:spAutoFit/>
          </a:bodyPr>
          <a:lstStyle/>
          <a:p>
            <a:pPr algn="l"/>
            <a:r>
              <a:rPr sz="1300" b="1" i="0">
                <a:solidFill>
                  <a:srgbClr val="1A376C"/>
                </a:solidFill>
              </a:rPr>
              <a:t>Penjelasan Setiap Langkah Progress</a:t>
            </a:r>
          </a:p>
        </p:txBody>
      </p:sp>
      <p:sp>
        <p:nvSpPr>
          <p:cNvPr id="15" name="Rectangle 14"/>
          <p:cNvSpPr/>
          <p:nvPr/>
        </p:nvSpPr>
        <p:spPr>
          <a:xfrm>
            <a:off x="530352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0" y="1737360"/>
            <a:ext cx="6537960" cy="87782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03520" y="1737360"/>
            <a:ext cx="548640" cy="87782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1975104"/>
            <a:ext cx="548640" cy="402336"/>
          </a:xfrm>
          <a:prstGeom prst="rect">
            <a:avLst/>
          </a:prstGeom>
          <a:noFill/>
        </p:spPr>
        <p:txBody>
          <a:bodyPr wrap="square">
            <a:spAutoFit/>
          </a:bodyPr>
          <a:lstStyle/>
          <a:p>
            <a:pPr algn="ctr"/>
            <a:r>
              <a:rPr sz="1800" b="1" i="0">
                <a:solidFill>
                  <a:srgbClr val="FFFFFF"/>
                </a:solidFill>
              </a:rPr>
              <a:t>✓</a:t>
            </a:r>
          </a:p>
        </p:txBody>
      </p:sp>
      <p:sp>
        <p:nvSpPr>
          <p:cNvPr id="19" name="TextBox 18"/>
          <p:cNvSpPr txBox="1"/>
          <p:nvPr/>
        </p:nvSpPr>
        <p:spPr>
          <a:xfrm>
            <a:off x="5925312" y="1792224"/>
            <a:ext cx="5852160" cy="274320"/>
          </a:xfrm>
          <a:prstGeom prst="rect">
            <a:avLst/>
          </a:prstGeom>
          <a:noFill/>
        </p:spPr>
        <p:txBody>
          <a:bodyPr wrap="square">
            <a:spAutoFit/>
          </a:bodyPr>
          <a:lstStyle/>
          <a:p>
            <a:pPr algn="l"/>
            <a:r>
              <a:rPr sz="1050" b="1" i="0">
                <a:solidFill>
                  <a:srgbClr val="1A376C"/>
                </a:solidFill>
              </a:rPr>
              <a:t>Langkah 1: Periode Aktif</a:t>
            </a:r>
          </a:p>
        </p:txBody>
      </p:sp>
      <p:sp>
        <p:nvSpPr>
          <p:cNvPr id="20" name="TextBox 19"/>
          <p:cNvSpPr txBox="1"/>
          <p:nvPr/>
        </p:nvSpPr>
        <p:spPr>
          <a:xfrm>
            <a:off x="5925312" y="2084831"/>
            <a:ext cx="5852160" cy="493776"/>
          </a:xfrm>
          <a:prstGeom prst="rect">
            <a:avLst/>
          </a:prstGeom>
          <a:noFill/>
        </p:spPr>
        <p:txBody>
          <a:bodyPr wrap="square">
            <a:spAutoFit/>
          </a:bodyPr>
          <a:lstStyle/>
          <a:p>
            <a:pPr algn="l"/>
            <a:r>
              <a:rPr sz="950" b="0" i="0">
                <a:solidFill>
                  <a:srgbClr val="444444"/>
                </a:solidFill>
              </a:rPr>
              <a:t>Admin Sistem telah mengaktifkan periode triwulan. Jika step ini belum ✓, hubungi Admin Sistem.</a:t>
            </a:r>
          </a:p>
        </p:txBody>
      </p:sp>
      <p:sp>
        <p:nvSpPr>
          <p:cNvPr id="21" name="Rectangle 20"/>
          <p:cNvSpPr/>
          <p:nvPr/>
        </p:nvSpPr>
        <p:spPr>
          <a:xfrm>
            <a:off x="5303520" y="2679191"/>
            <a:ext cx="6537960" cy="87782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03520" y="2679191"/>
            <a:ext cx="548640" cy="87782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0" y="2916935"/>
            <a:ext cx="548640" cy="402336"/>
          </a:xfrm>
          <a:prstGeom prst="rect">
            <a:avLst/>
          </a:prstGeom>
          <a:noFill/>
        </p:spPr>
        <p:txBody>
          <a:bodyPr wrap="square">
            <a:spAutoFit/>
          </a:bodyPr>
          <a:lstStyle/>
          <a:p>
            <a:pPr algn="ctr"/>
            <a:r>
              <a:rPr sz="1800" b="1" i="0">
                <a:solidFill>
                  <a:srgbClr val="FFFFFF"/>
                </a:solidFill>
              </a:rPr>
              <a:t>✓</a:t>
            </a:r>
          </a:p>
        </p:txBody>
      </p:sp>
      <p:sp>
        <p:nvSpPr>
          <p:cNvPr id="24" name="TextBox 23"/>
          <p:cNvSpPr txBox="1"/>
          <p:nvPr/>
        </p:nvSpPr>
        <p:spPr>
          <a:xfrm>
            <a:off x="5925312" y="2734056"/>
            <a:ext cx="5852160" cy="274320"/>
          </a:xfrm>
          <a:prstGeom prst="rect">
            <a:avLst/>
          </a:prstGeom>
          <a:noFill/>
        </p:spPr>
        <p:txBody>
          <a:bodyPr wrap="square">
            <a:spAutoFit/>
          </a:bodyPr>
          <a:lstStyle/>
          <a:p>
            <a:pPr algn="l"/>
            <a:r>
              <a:rPr sz="1050" b="1" i="0">
                <a:solidFill>
                  <a:srgbClr val="1A376C"/>
                </a:solidFill>
              </a:rPr>
              <a:t>Langkah 2: IKU Tersedia</a:t>
            </a:r>
          </a:p>
        </p:txBody>
      </p:sp>
      <p:sp>
        <p:nvSpPr>
          <p:cNvPr id="25" name="TextBox 24"/>
          <p:cNvSpPr txBox="1"/>
          <p:nvPr/>
        </p:nvSpPr>
        <p:spPr>
          <a:xfrm>
            <a:off x="5925312" y="3026663"/>
            <a:ext cx="5852160" cy="493776"/>
          </a:xfrm>
          <a:prstGeom prst="rect">
            <a:avLst/>
          </a:prstGeom>
          <a:noFill/>
        </p:spPr>
        <p:txBody>
          <a:bodyPr wrap="square">
            <a:spAutoFit/>
          </a:bodyPr>
          <a:lstStyle/>
          <a:p>
            <a:pPr algn="l"/>
            <a:r>
              <a:rPr sz="950" b="0" i="0">
                <a:solidFill>
                  <a:srgbClr val="444444"/>
                </a:solidFill>
              </a:rPr>
              <a:t>Ada IKU yang di-assign ke Tim Kerja Anda untuk periode ini. Jika belum ✓, hubungi Admin Sistem.</a:t>
            </a:r>
          </a:p>
        </p:txBody>
      </p:sp>
      <p:sp>
        <p:nvSpPr>
          <p:cNvPr id="26" name="Rectangle 25"/>
          <p:cNvSpPr/>
          <p:nvPr/>
        </p:nvSpPr>
        <p:spPr>
          <a:xfrm>
            <a:off x="5303520" y="3621024"/>
            <a:ext cx="6537960" cy="87782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303520" y="3621024"/>
            <a:ext cx="548640" cy="87782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3858768"/>
            <a:ext cx="548640" cy="402336"/>
          </a:xfrm>
          <a:prstGeom prst="rect">
            <a:avLst/>
          </a:prstGeom>
          <a:noFill/>
        </p:spPr>
        <p:txBody>
          <a:bodyPr wrap="square">
            <a:spAutoFit/>
          </a:bodyPr>
          <a:lstStyle/>
          <a:p>
            <a:pPr algn="ctr"/>
            <a:r>
              <a:rPr sz="1800" b="1" i="0">
                <a:solidFill>
                  <a:srgbClr val="FFFFFF"/>
                </a:solidFill>
              </a:rPr>
              <a:t>○</a:t>
            </a:r>
          </a:p>
        </p:txBody>
      </p:sp>
      <p:sp>
        <p:nvSpPr>
          <p:cNvPr id="29" name="TextBox 28"/>
          <p:cNvSpPr txBox="1"/>
          <p:nvPr/>
        </p:nvSpPr>
        <p:spPr>
          <a:xfrm>
            <a:off x="5925312" y="3675887"/>
            <a:ext cx="5852160" cy="274320"/>
          </a:xfrm>
          <a:prstGeom prst="rect">
            <a:avLst/>
          </a:prstGeom>
          <a:noFill/>
        </p:spPr>
        <p:txBody>
          <a:bodyPr wrap="square">
            <a:spAutoFit/>
          </a:bodyPr>
          <a:lstStyle/>
          <a:p>
            <a:pPr algn="l"/>
            <a:r>
              <a:rPr sz="1050" b="1" i="0">
                <a:solidFill>
                  <a:srgbClr val="1A376C"/>
                </a:solidFill>
              </a:rPr>
              <a:t>Langkah 3: Realisasi Diisi</a:t>
            </a:r>
          </a:p>
        </p:txBody>
      </p:sp>
      <p:sp>
        <p:nvSpPr>
          <p:cNvPr id="30" name="TextBox 29"/>
          <p:cNvSpPr txBox="1"/>
          <p:nvPr/>
        </p:nvSpPr>
        <p:spPr>
          <a:xfrm>
            <a:off x="5925312" y="3968496"/>
            <a:ext cx="5852160" cy="493776"/>
          </a:xfrm>
          <a:prstGeom prst="rect">
            <a:avLst/>
          </a:prstGeom>
          <a:noFill/>
        </p:spPr>
        <p:txBody>
          <a:bodyPr wrap="square">
            <a:spAutoFit/>
          </a:bodyPr>
          <a:lstStyle/>
          <a:p>
            <a:pPr algn="l"/>
            <a:r>
              <a:rPr sz="950" b="0" i="0">
                <a:solidFill>
                  <a:srgbClr val="444444"/>
                </a:solidFill>
              </a:rPr>
              <a:t>Semua IKU yang tampil sudah memiliki nilai realisasi. Step ini ✓ setelah semua baris terisi.</a:t>
            </a:r>
          </a:p>
        </p:txBody>
      </p:sp>
      <p:sp>
        <p:nvSpPr>
          <p:cNvPr id="31" name="Rectangle 30"/>
          <p:cNvSpPr/>
          <p:nvPr/>
        </p:nvSpPr>
        <p:spPr>
          <a:xfrm>
            <a:off x="5303520" y="4562856"/>
            <a:ext cx="6537960" cy="87782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03520" y="4562856"/>
            <a:ext cx="548640" cy="87782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0" y="4800600"/>
            <a:ext cx="548640" cy="402336"/>
          </a:xfrm>
          <a:prstGeom prst="rect">
            <a:avLst/>
          </a:prstGeom>
          <a:noFill/>
        </p:spPr>
        <p:txBody>
          <a:bodyPr wrap="square">
            <a:spAutoFit/>
          </a:bodyPr>
          <a:lstStyle/>
          <a:p>
            <a:pPr algn="ctr"/>
            <a:r>
              <a:rPr sz="1800" b="1" i="0">
                <a:solidFill>
                  <a:srgbClr val="FFFFFF"/>
                </a:solidFill>
              </a:rPr>
              <a:t>○</a:t>
            </a:r>
          </a:p>
        </p:txBody>
      </p:sp>
      <p:sp>
        <p:nvSpPr>
          <p:cNvPr id="34" name="TextBox 33"/>
          <p:cNvSpPr txBox="1"/>
          <p:nvPr/>
        </p:nvSpPr>
        <p:spPr>
          <a:xfrm>
            <a:off x="5925312" y="4617720"/>
            <a:ext cx="5852160" cy="274320"/>
          </a:xfrm>
          <a:prstGeom prst="rect">
            <a:avLst/>
          </a:prstGeom>
          <a:noFill/>
        </p:spPr>
        <p:txBody>
          <a:bodyPr wrap="square">
            <a:spAutoFit/>
          </a:bodyPr>
          <a:lstStyle/>
          <a:p>
            <a:pPr algn="l"/>
            <a:r>
              <a:rPr sz="1050" b="1" i="0">
                <a:solidFill>
                  <a:srgbClr val="1A376C"/>
                </a:solidFill>
              </a:rPr>
              <a:t>Langkah 4: Laporan Disubmit</a:t>
            </a:r>
          </a:p>
        </p:txBody>
      </p:sp>
      <p:sp>
        <p:nvSpPr>
          <p:cNvPr id="35" name="TextBox 34"/>
          <p:cNvSpPr txBox="1"/>
          <p:nvPr/>
        </p:nvSpPr>
        <p:spPr>
          <a:xfrm>
            <a:off x="5925312" y="4910328"/>
            <a:ext cx="5852160" cy="493776"/>
          </a:xfrm>
          <a:prstGeom prst="rect">
            <a:avLst/>
          </a:prstGeom>
          <a:noFill/>
        </p:spPr>
        <p:txBody>
          <a:bodyPr wrap="square">
            <a:spAutoFit/>
          </a:bodyPr>
          <a:lstStyle/>
          <a:p>
            <a:pPr algn="l"/>
            <a:r>
              <a:rPr sz="950" b="0" i="0">
                <a:solidFill>
                  <a:srgbClr val="444444"/>
                </a:solidFill>
              </a:rPr>
              <a:t>Laporan sudah dikirim ke Kabag Umum. Step ini ✓ setelah Anda (atau kolaborator co-PIC) submit.</a:t>
            </a:r>
          </a:p>
        </p:txBody>
      </p:sp>
      <p:sp>
        <p:nvSpPr>
          <p:cNvPr id="36" name="Rectangle 35"/>
          <p:cNvSpPr/>
          <p:nvPr/>
        </p:nvSpPr>
        <p:spPr>
          <a:xfrm>
            <a:off x="5303520" y="5504688"/>
            <a:ext cx="6537960" cy="87782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303520" y="5504688"/>
            <a:ext cx="548640" cy="877824"/>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0" y="5742431"/>
            <a:ext cx="548640" cy="402336"/>
          </a:xfrm>
          <a:prstGeom prst="rect">
            <a:avLst/>
          </a:prstGeom>
          <a:noFill/>
        </p:spPr>
        <p:txBody>
          <a:bodyPr wrap="square">
            <a:spAutoFit/>
          </a:bodyPr>
          <a:lstStyle/>
          <a:p>
            <a:pPr algn="ctr"/>
            <a:r>
              <a:rPr sz="1800" b="1" i="0">
                <a:solidFill>
                  <a:srgbClr val="FFFFFF"/>
                </a:solidFill>
              </a:rPr>
              <a:t>○</a:t>
            </a:r>
          </a:p>
        </p:txBody>
      </p:sp>
      <p:sp>
        <p:nvSpPr>
          <p:cNvPr id="39" name="TextBox 38"/>
          <p:cNvSpPr txBox="1"/>
          <p:nvPr/>
        </p:nvSpPr>
        <p:spPr>
          <a:xfrm>
            <a:off x="5925312" y="5559551"/>
            <a:ext cx="5852160" cy="274320"/>
          </a:xfrm>
          <a:prstGeom prst="rect">
            <a:avLst/>
          </a:prstGeom>
          <a:noFill/>
        </p:spPr>
        <p:txBody>
          <a:bodyPr wrap="square">
            <a:spAutoFit/>
          </a:bodyPr>
          <a:lstStyle/>
          <a:p>
            <a:pPr algn="l"/>
            <a:r>
              <a:rPr sz="1050" b="1" i="0">
                <a:solidFill>
                  <a:srgbClr val="1A376C"/>
                </a:solidFill>
              </a:rPr>
              <a:t>Langkah 5: Disetujui Kabag</a:t>
            </a:r>
          </a:p>
        </p:txBody>
      </p:sp>
      <p:sp>
        <p:nvSpPr>
          <p:cNvPr id="40" name="TextBox 39"/>
          <p:cNvSpPr txBox="1"/>
          <p:nvPr/>
        </p:nvSpPr>
        <p:spPr>
          <a:xfrm>
            <a:off x="5925312" y="5852159"/>
            <a:ext cx="5852160" cy="493776"/>
          </a:xfrm>
          <a:prstGeom prst="rect">
            <a:avLst/>
          </a:prstGeom>
          <a:noFill/>
        </p:spPr>
        <p:txBody>
          <a:bodyPr wrap="square">
            <a:spAutoFit/>
          </a:bodyPr>
          <a:lstStyle/>
          <a:p>
            <a:pPr algn="l"/>
            <a:r>
              <a:rPr sz="950" b="0" i="0">
                <a:solidFill>
                  <a:srgbClr val="444444"/>
                </a:solidFill>
              </a:rPr>
              <a:t>Kabag Umum telah menyetujui laporan. Step ini ✓ setelah status berubah menjadi 'kabag_approved'.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400" b="1" i="0">
                <a:solidFill>
                  <a:srgbClr val="FFFFFF"/>
                </a:solidFill>
              </a:rPr>
              <a:t>10  |  FAQ — Pengukuran Kinerja</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200" b="0" i="0">
                <a:solidFill>
                  <a:srgbClr val="C8D8F0"/>
                </a:solidFill>
              </a:rPr>
              <a:t>Pertanyaan yang Sering Diajukan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12 / 12</a:t>
            </a:r>
          </a:p>
        </p:txBody>
      </p:sp>
      <p:sp>
        <p:nvSpPr>
          <p:cNvPr id="10" name="Rectangle 9"/>
          <p:cNvSpPr/>
          <p:nvPr/>
        </p:nvSpPr>
        <p:spPr>
          <a:xfrm>
            <a:off x="3657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61872"/>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335024"/>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65376"/>
            <a:ext cx="310896" cy="402336"/>
          </a:xfrm>
          <a:prstGeom prst="rect">
            <a:avLst/>
          </a:prstGeom>
          <a:noFill/>
        </p:spPr>
        <p:txBody>
          <a:bodyPr wrap="square">
            <a:spAutoFit/>
          </a:bodyPr>
          <a:lstStyle/>
          <a:p>
            <a:pPr algn="ctr"/>
            <a:r>
              <a:rPr sz="1800" b="1" i="0">
                <a:solidFill>
                  <a:srgbClr val="1B6B35"/>
                </a:solidFill>
              </a:rPr>
              <a:t>Q</a:t>
            </a:r>
          </a:p>
        </p:txBody>
      </p:sp>
      <p:sp>
        <p:nvSpPr>
          <p:cNvPr id="14" name="TextBox 13"/>
          <p:cNvSpPr txBox="1"/>
          <p:nvPr/>
        </p:nvSpPr>
        <p:spPr>
          <a:xfrm>
            <a:off x="932688" y="1353312"/>
            <a:ext cx="4892040" cy="438912"/>
          </a:xfrm>
          <a:prstGeom prst="rect">
            <a:avLst/>
          </a:prstGeom>
          <a:noFill/>
        </p:spPr>
        <p:txBody>
          <a:bodyPr wrap="square">
            <a:spAutoFit/>
          </a:bodyPr>
          <a:lstStyle/>
          <a:p>
            <a:pPr algn="l"/>
            <a:r>
              <a:rPr sz="1000" b="1" i="0">
                <a:solidFill>
                  <a:srgbClr val="1A376C"/>
                </a:solidFill>
              </a:rPr>
              <a:t>IKU saya tidak tampil di halaman Pengukuran.</a:t>
            </a:r>
          </a:p>
        </p:txBody>
      </p:sp>
      <p:sp>
        <p:nvSpPr>
          <p:cNvPr id="15" name="Rectangle 14"/>
          <p:cNvSpPr/>
          <p:nvPr/>
        </p:nvSpPr>
        <p:spPr>
          <a:xfrm>
            <a:off x="932688" y="181051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1883664"/>
            <a:ext cx="4892040" cy="1024128"/>
          </a:xfrm>
          <a:prstGeom prst="rect">
            <a:avLst/>
          </a:prstGeom>
          <a:noFill/>
        </p:spPr>
        <p:txBody>
          <a:bodyPr wrap="square">
            <a:spAutoFit/>
          </a:bodyPr>
          <a:lstStyle/>
          <a:p>
            <a:pPr algn="l"/>
            <a:r>
              <a:rPr sz="950" b="0" i="0">
                <a:solidFill>
                  <a:srgbClr val="444444"/>
                </a:solidFill>
              </a:rPr>
              <a:t>Kemungkinan: (1) Periode triwulan belum diaktifkan oleh Admin. (2) Tidak ada IKU yang di-assign ke Tim Anda. Hubungi Admin Sistem.</a:t>
            </a:r>
          </a:p>
        </p:txBody>
      </p:sp>
      <p:sp>
        <p:nvSpPr>
          <p:cNvPr id="17" name="Rectangle 16"/>
          <p:cNvSpPr/>
          <p:nvPr/>
        </p:nvSpPr>
        <p:spPr>
          <a:xfrm>
            <a:off x="63093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261872"/>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335024"/>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865376"/>
            <a:ext cx="310896" cy="402336"/>
          </a:xfrm>
          <a:prstGeom prst="rect">
            <a:avLst/>
          </a:prstGeom>
          <a:noFill/>
        </p:spPr>
        <p:txBody>
          <a:bodyPr wrap="square">
            <a:spAutoFit/>
          </a:bodyPr>
          <a:lstStyle/>
          <a:p>
            <a:pPr algn="ctr"/>
            <a:r>
              <a:rPr sz="1800" b="1" i="0">
                <a:solidFill>
                  <a:srgbClr val="1B6B35"/>
                </a:solidFill>
              </a:rPr>
              <a:t>Q</a:t>
            </a:r>
          </a:p>
        </p:txBody>
      </p:sp>
      <p:sp>
        <p:nvSpPr>
          <p:cNvPr id="21" name="TextBox 20"/>
          <p:cNvSpPr txBox="1"/>
          <p:nvPr/>
        </p:nvSpPr>
        <p:spPr>
          <a:xfrm>
            <a:off x="6876288" y="1353312"/>
            <a:ext cx="4892040" cy="438912"/>
          </a:xfrm>
          <a:prstGeom prst="rect">
            <a:avLst/>
          </a:prstGeom>
          <a:noFill/>
        </p:spPr>
        <p:txBody>
          <a:bodyPr wrap="square">
            <a:spAutoFit/>
          </a:bodyPr>
          <a:lstStyle/>
          <a:p>
            <a:pPr algn="l"/>
            <a:r>
              <a:rPr sz="1000" b="1" i="0">
                <a:solidFill>
                  <a:srgbClr val="1A376C"/>
                </a:solidFill>
              </a:rPr>
              <a:t>Saya sudah mengisi tapi data hilang setelah refresh.</a:t>
            </a:r>
          </a:p>
        </p:txBody>
      </p:sp>
      <p:sp>
        <p:nvSpPr>
          <p:cNvPr id="22" name="Rectangle 21"/>
          <p:cNvSpPr/>
          <p:nvPr/>
        </p:nvSpPr>
        <p:spPr>
          <a:xfrm>
            <a:off x="6876288" y="181051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6288" y="1883664"/>
            <a:ext cx="4892040" cy="1024128"/>
          </a:xfrm>
          <a:prstGeom prst="rect">
            <a:avLst/>
          </a:prstGeom>
          <a:noFill/>
        </p:spPr>
        <p:txBody>
          <a:bodyPr wrap="square">
            <a:spAutoFit/>
          </a:bodyPr>
          <a:lstStyle/>
          <a:p>
            <a:pPr algn="l"/>
            <a:r>
              <a:rPr sz="950" b="0" i="0">
                <a:solidFill>
                  <a:srgbClr val="444444"/>
                </a:solidFill>
              </a:rPr>
              <a:t>Pastikan Anda sudah klik tombol 'Simpan' setelah mengisi setiap IKU. Data tidak tersimpan otomatis.</a:t>
            </a:r>
          </a:p>
        </p:txBody>
      </p:sp>
      <p:sp>
        <p:nvSpPr>
          <p:cNvPr id="24" name="Rectangle 23"/>
          <p:cNvSpPr/>
          <p:nvPr/>
        </p:nvSpPr>
        <p:spPr>
          <a:xfrm>
            <a:off x="3657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017520"/>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090672"/>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621024"/>
            <a:ext cx="310896" cy="402336"/>
          </a:xfrm>
          <a:prstGeom prst="rect">
            <a:avLst/>
          </a:prstGeom>
          <a:noFill/>
        </p:spPr>
        <p:txBody>
          <a:bodyPr wrap="square">
            <a:spAutoFit/>
          </a:bodyPr>
          <a:lstStyle/>
          <a:p>
            <a:pPr algn="ctr"/>
            <a:r>
              <a:rPr sz="1800" b="1" i="0">
                <a:solidFill>
                  <a:srgbClr val="1B6B35"/>
                </a:solidFill>
              </a:rPr>
              <a:t>Q</a:t>
            </a:r>
          </a:p>
        </p:txBody>
      </p:sp>
      <p:sp>
        <p:nvSpPr>
          <p:cNvPr id="28" name="TextBox 27"/>
          <p:cNvSpPr txBox="1"/>
          <p:nvPr/>
        </p:nvSpPr>
        <p:spPr>
          <a:xfrm>
            <a:off x="932688" y="3108960"/>
            <a:ext cx="4892040" cy="438912"/>
          </a:xfrm>
          <a:prstGeom prst="rect">
            <a:avLst/>
          </a:prstGeom>
          <a:noFill/>
        </p:spPr>
        <p:txBody>
          <a:bodyPr wrap="square">
            <a:spAutoFit/>
          </a:bodyPr>
          <a:lstStyle/>
          <a:p>
            <a:pPr algn="l"/>
            <a:r>
              <a:rPr sz="1000" b="1" i="0">
                <a:solidFill>
                  <a:srgbClr val="1A376C"/>
                </a:solidFill>
              </a:rPr>
              <a:t>Tombol Submit Laporan tidak muncul/tidak aktif.</a:t>
            </a:r>
          </a:p>
        </p:txBody>
      </p:sp>
      <p:sp>
        <p:nvSpPr>
          <p:cNvPr id="29" name="Rectangle 28"/>
          <p:cNvSpPr/>
          <p:nvPr/>
        </p:nvSpPr>
        <p:spPr>
          <a:xfrm>
            <a:off x="932688" y="3566160"/>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3639312"/>
            <a:ext cx="4892040" cy="1024128"/>
          </a:xfrm>
          <a:prstGeom prst="rect">
            <a:avLst/>
          </a:prstGeom>
          <a:noFill/>
        </p:spPr>
        <p:txBody>
          <a:bodyPr wrap="square">
            <a:spAutoFit/>
          </a:bodyPr>
          <a:lstStyle/>
          <a:p>
            <a:pPr algn="l"/>
            <a:r>
              <a:rPr sz="950" b="0" i="0">
                <a:solidFill>
                  <a:srgbClr val="444444"/>
                </a:solidFill>
              </a:rPr>
              <a:t>Pastikan semua IKU sudah terisi (status ✓ Terisi). Periksa progress bar apakah ada step yang belum terpenuhi.</a:t>
            </a:r>
          </a:p>
        </p:txBody>
      </p:sp>
      <p:sp>
        <p:nvSpPr>
          <p:cNvPr id="31" name="Rectangle 30"/>
          <p:cNvSpPr/>
          <p:nvPr/>
        </p:nvSpPr>
        <p:spPr>
          <a:xfrm>
            <a:off x="63093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017520"/>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3090672"/>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621024"/>
            <a:ext cx="310896" cy="402336"/>
          </a:xfrm>
          <a:prstGeom prst="rect">
            <a:avLst/>
          </a:prstGeom>
          <a:noFill/>
        </p:spPr>
        <p:txBody>
          <a:bodyPr wrap="square">
            <a:spAutoFit/>
          </a:bodyPr>
          <a:lstStyle/>
          <a:p>
            <a:pPr algn="ctr"/>
            <a:r>
              <a:rPr sz="1800" b="1" i="0">
                <a:solidFill>
                  <a:srgbClr val="1B6B35"/>
                </a:solidFill>
              </a:rPr>
              <a:t>Q</a:t>
            </a:r>
          </a:p>
        </p:txBody>
      </p:sp>
      <p:sp>
        <p:nvSpPr>
          <p:cNvPr id="35" name="TextBox 34"/>
          <p:cNvSpPr txBox="1"/>
          <p:nvPr/>
        </p:nvSpPr>
        <p:spPr>
          <a:xfrm>
            <a:off x="6876288" y="3108960"/>
            <a:ext cx="4892040" cy="438912"/>
          </a:xfrm>
          <a:prstGeom prst="rect">
            <a:avLst/>
          </a:prstGeom>
          <a:noFill/>
        </p:spPr>
        <p:txBody>
          <a:bodyPr wrap="square">
            <a:spAutoFit/>
          </a:bodyPr>
          <a:lstStyle/>
          <a:p>
            <a:pPr algn="l"/>
            <a:r>
              <a:rPr sz="1000" b="1" i="0">
                <a:solidFill>
                  <a:srgbClr val="1A376C"/>
                </a:solidFill>
              </a:rPr>
              <a:t>Tim lain sudah submit lebih dulu untuk IKU kolaborasi. Apakah saya tetap harus submit?</a:t>
            </a:r>
          </a:p>
        </p:txBody>
      </p:sp>
      <p:sp>
        <p:nvSpPr>
          <p:cNvPr id="36" name="Rectangle 35"/>
          <p:cNvSpPr/>
          <p:nvPr/>
        </p:nvSpPr>
        <p:spPr>
          <a:xfrm>
            <a:off x="6876288" y="3566160"/>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76288" y="3639312"/>
            <a:ext cx="4892040" cy="1024128"/>
          </a:xfrm>
          <a:prstGeom prst="rect">
            <a:avLst/>
          </a:prstGeom>
          <a:noFill/>
        </p:spPr>
        <p:txBody>
          <a:bodyPr wrap="square">
            <a:spAutoFit/>
          </a:bodyPr>
          <a:lstStyle/>
          <a:p>
            <a:pPr algn="l"/>
            <a:r>
              <a:rPr sz="950" b="0" i="0">
                <a:solidFill>
                  <a:srgbClr val="444444"/>
                </a:solidFill>
              </a:rPr>
              <a:t>Tidak wajib, karena laporan sudah diwakili kolaborator. Namun Tim Anda tetap dapat submit secara mandiri jika diperlukan.</a:t>
            </a:r>
          </a:p>
        </p:txBody>
      </p:sp>
      <p:sp>
        <p:nvSpPr>
          <p:cNvPr id="38" name="Rectangle 37"/>
          <p:cNvSpPr/>
          <p:nvPr/>
        </p:nvSpPr>
        <p:spPr>
          <a:xfrm>
            <a:off x="3657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4773168"/>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4846320"/>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5376672"/>
            <a:ext cx="310896" cy="402336"/>
          </a:xfrm>
          <a:prstGeom prst="rect">
            <a:avLst/>
          </a:prstGeom>
          <a:noFill/>
        </p:spPr>
        <p:txBody>
          <a:bodyPr wrap="square">
            <a:spAutoFit/>
          </a:bodyPr>
          <a:lstStyle/>
          <a:p>
            <a:pPr algn="ctr"/>
            <a:r>
              <a:rPr sz="1800" b="1" i="0">
                <a:solidFill>
                  <a:srgbClr val="1B6B35"/>
                </a:solidFill>
              </a:rPr>
              <a:t>Q</a:t>
            </a:r>
          </a:p>
        </p:txBody>
      </p:sp>
      <p:sp>
        <p:nvSpPr>
          <p:cNvPr id="42" name="TextBox 41"/>
          <p:cNvSpPr txBox="1"/>
          <p:nvPr/>
        </p:nvSpPr>
        <p:spPr>
          <a:xfrm>
            <a:off x="932688" y="4864607"/>
            <a:ext cx="4892040" cy="438912"/>
          </a:xfrm>
          <a:prstGeom prst="rect">
            <a:avLst/>
          </a:prstGeom>
          <a:noFill/>
        </p:spPr>
        <p:txBody>
          <a:bodyPr wrap="square">
            <a:spAutoFit/>
          </a:bodyPr>
          <a:lstStyle/>
          <a:p>
            <a:pPr algn="l"/>
            <a:r>
              <a:rPr sz="1000" b="1" i="0">
                <a:solidFill>
                  <a:srgbClr val="1A376C"/>
                </a:solidFill>
              </a:rPr>
              <a:t>Nilai realisasi yang saya masukkan berbeda dengan milik co-PIC.</a:t>
            </a:r>
          </a:p>
        </p:txBody>
      </p:sp>
      <p:sp>
        <p:nvSpPr>
          <p:cNvPr id="43" name="Rectangle 42"/>
          <p:cNvSpPr/>
          <p:nvPr/>
        </p:nvSpPr>
        <p:spPr>
          <a:xfrm>
            <a:off x="932688" y="5321807"/>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 y="5394959"/>
            <a:ext cx="4892040" cy="1024128"/>
          </a:xfrm>
          <a:prstGeom prst="rect">
            <a:avLst/>
          </a:prstGeom>
          <a:noFill/>
        </p:spPr>
        <p:txBody>
          <a:bodyPr wrap="square">
            <a:spAutoFit/>
          </a:bodyPr>
          <a:lstStyle/>
          <a:p>
            <a:pPr algn="l"/>
            <a:r>
              <a:rPr sz="950" b="0" i="0">
                <a:solidFill>
                  <a:srgbClr val="444444"/>
                </a:solidFill>
              </a:rPr>
              <a:t>Koordinasikan dengan tim co-PIC. Nilai yang terakhir disimpan akan menjadi nilai final (last-save-wins). Gunakan kolom Catatan untuk koordinasi.</a:t>
            </a:r>
          </a:p>
        </p:txBody>
      </p:sp>
      <p:sp>
        <p:nvSpPr>
          <p:cNvPr id="45" name="Rectangle 44"/>
          <p:cNvSpPr/>
          <p:nvPr/>
        </p:nvSpPr>
        <p:spPr>
          <a:xfrm>
            <a:off x="63093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4773168"/>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4846320"/>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5376672"/>
            <a:ext cx="310896" cy="402336"/>
          </a:xfrm>
          <a:prstGeom prst="rect">
            <a:avLst/>
          </a:prstGeom>
          <a:noFill/>
        </p:spPr>
        <p:txBody>
          <a:bodyPr wrap="square">
            <a:spAutoFit/>
          </a:bodyPr>
          <a:lstStyle/>
          <a:p>
            <a:pPr algn="ctr"/>
            <a:r>
              <a:rPr sz="1800" b="1" i="0">
                <a:solidFill>
                  <a:srgbClr val="1B6B35"/>
                </a:solidFill>
              </a:rPr>
              <a:t>Q</a:t>
            </a:r>
          </a:p>
        </p:txBody>
      </p:sp>
      <p:sp>
        <p:nvSpPr>
          <p:cNvPr id="49" name="TextBox 48"/>
          <p:cNvSpPr txBox="1"/>
          <p:nvPr/>
        </p:nvSpPr>
        <p:spPr>
          <a:xfrm>
            <a:off x="6876288" y="4864607"/>
            <a:ext cx="4892040" cy="438912"/>
          </a:xfrm>
          <a:prstGeom prst="rect">
            <a:avLst/>
          </a:prstGeom>
          <a:noFill/>
        </p:spPr>
        <p:txBody>
          <a:bodyPr wrap="square">
            <a:spAutoFit/>
          </a:bodyPr>
          <a:lstStyle/>
          <a:p>
            <a:pPr algn="l"/>
            <a:r>
              <a:rPr sz="1000" b="1" i="0">
                <a:solidFill>
                  <a:srgbClr val="1A376C"/>
                </a:solidFill>
              </a:rPr>
              <a:t>Kabag mengembalikan laporan saya. Apakah data realisasi terhapus?</a:t>
            </a:r>
          </a:p>
        </p:txBody>
      </p:sp>
      <p:sp>
        <p:nvSpPr>
          <p:cNvPr id="50" name="Rectangle 49"/>
          <p:cNvSpPr/>
          <p:nvPr/>
        </p:nvSpPr>
        <p:spPr>
          <a:xfrm>
            <a:off x="6876288" y="5321807"/>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76288" y="5394959"/>
            <a:ext cx="4892040" cy="1024128"/>
          </a:xfrm>
          <a:prstGeom prst="rect">
            <a:avLst/>
          </a:prstGeom>
          <a:noFill/>
        </p:spPr>
        <p:txBody>
          <a:bodyPr wrap="square">
            <a:spAutoFit/>
          </a:bodyPr>
          <a:lstStyle/>
          <a:p>
            <a:pPr algn="l"/>
            <a:r>
              <a:rPr sz="950" b="0" i="0">
                <a:solidFill>
                  <a:srgbClr val="444444"/>
                </a:solidFill>
              </a:rPr>
              <a:t>Tidak. Data realisasi tetap tersimpan. Anda hanya perlu memperbaiki sesuai catatan Kabag, lalu submit ulang.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