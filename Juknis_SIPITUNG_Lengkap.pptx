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114800" cy="6858000"/>
          </a:xfrm>
          <a:prstGeom prst="rect">
            <a:avLst/>
          </a:prstGeom>
          <a:solidFill>
            <a:srgbClr val="0A1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14800" y="0"/>
            <a:ext cx="91440" cy="685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365760"/>
            <a:ext cx="3383280" cy="1554480"/>
          </a:xfrm>
          <a:prstGeom prst="rect">
            <a:avLst/>
          </a:prstGeom>
          <a:solidFill>
            <a:srgbClr val="122852"/>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365760"/>
            <a:ext cx="3383280" cy="1554480"/>
          </a:xfrm>
          <a:prstGeom prst="rect">
            <a:avLst/>
          </a:prstGeom>
          <a:noFill/>
        </p:spPr>
        <p:txBody>
          <a:bodyPr wrap="square">
            <a:spAutoFit/>
          </a:bodyPr>
          <a:lstStyle/>
          <a:p>
            <a:pPr algn="ctr"/>
            <a:r>
              <a:rPr sz="1100" b="0" i="0">
                <a:solidFill>
                  <a:srgbClr val="C8D8F0"/>
                </a:solidFill>
              </a:rPr>
              <a:t>[LOGO LLDIKTI
WILAYAH III]</a:t>
            </a:r>
          </a:p>
        </p:txBody>
      </p:sp>
      <p:sp>
        <p:nvSpPr>
          <p:cNvPr id="8" name="TextBox 7"/>
          <p:cNvSpPr txBox="1"/>
          <p:nvPr/>
        </p:nvSpPr>
        <p:spPr>
          <a:xfrm>
            <a:off x="274320" y="2148840"/>
            <a:ext cx="3566160" cy="502920"/>
          </a:xfrm>
          <a:prstGeom prst="rect">
            <a:avLst/>
          </a:prstGeom>
          <a:noFill/>
        </p:spPr>
        <p:txBody>
          <a:bodyPr wrap="square">
            <a:spAutoFit/>
          </a:bodyPr>
          <a:lstStyle/>
          <a:p>
            <a:pPr algn="l"/>
            <a:r>
              <a:rPr sz="1300" b="1" i="0">
                <a:solidFill>
                  <a:srgbClr val="F5A623"/>
                </a:solidFill>
              </a:rPr>
              <a:t>LLDIKTI WILAYAH III</a:t>
            </a:r>
          </a:p>
        </p:txBody>
      </p:sp>
      <p:sp>
        <p:nvSpPr>
          <p:cNvPr id="9" name="TextBox 8"/>
          <p:cNvSpPr txBox="1"/>
          <p:nvPr/>
        </p:nvSpPr>
        <p:spPr>
          <a:xfrm>
            <a:off x="274320" y="2651760"/>
            <a:ext cx="3566160" cy="640080"/>
          </a:xfrm>
          <a:prstGeom prst="rect">
            <a:avLst/>
          </a:prstGeom>
          <a:noFill/>
        </p:spPr>
        <p:txBody>
          <a:bodyPr wrap="square">
            <a:spAutoFit/>
          </a:bodyPr>
          <a:lstStyle/>
          <a:p>
            <a:pPr algn="l"/>
            <a:r>
              <a:rPr sz="1000" b="0" i="0">
                <a:solidFill>
                  <a:srgbClr val="C8D8F0"/>
                </a:solidFill>
              </a:rPr>
              <a:t>Kementerian Pendidikan Tinggi,
Sains dan Teknologi</a:t>
            </a:r>
          </a:p>
        </p:txBody>
      </p:sp>
      <p:sp>
        <p:nvSpPr>
          <p:cNvPr id="10" name="Rectangle 9"/>
          <p:cNvSpPr/>
          <p:nvPr/>
        </p:nvSpPr>
        <p:spPr>
          <a:xfrm>
            <a:off x="274320" y="3429000"/>
            <a:ext cx="356616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3566160"/>
            <a:ext cx="3566160" cy="384048"/>
          </a:xfrm>
          <a:prstGeom prst="rect">
            <a:avLst/>
          </a:prstGeom>
          <a:noFill/>
        </p:spPr>
        <p:txBody>
          <a:bodyPr wrap="square">
            <a:spAutoFit/>
          </a:bodyPr>
          <a:lstStyle/>
          <a:p>
            <a:pPr algn="l"/>
            <a:r>
              <a:rPr sz="1000" b="1" i="0">
                <a:solidFill>
                  <a:srgbClr val="C8D8F0"/>
                </a:solidFill>
              </a:rPr>
              <a:t>BUKU PETUNJUK TEKNIS</a:t>
            </a:r>
          </a:p>
        </p:txBody>
      </p:sp>
      <p:sp>
        <p:nvSpPr>
          <p:cNvPr id="12" name="TextBox 11"/>
          <p:cNvSpPr txBox="1"/>
          <p:nvPr/>
        </p:nvSpPr>
        <p:spPr>
          <a:xfrm>
            <a:off x="274320" y="3977639"/>
            <a:ext cx="3566160" cy="822960"/>
          </a:xfrm>
          <a:prstGeom prst="rect">
            <a:avLst/>
          </a:prstGeom>
          <a:noFill/>
        </p:spPr>
        <p:txBody>
          <a:bodyPr wrap="square">
            <a:spAutoFit/>
          </a:bodyPr>
          <a:lstStyle/>
          <a:p>
            <a:pPr algn="l"/>
            <a:r>
              <a:rPr sz="1400" b="1" i="0">
                <a:solidFill>
                  <a:srgbClr val="FFFFFF"/>
                </a:solidFill>
              </a:rPr>
              <a:t>Penggunaan Aplikasi
SIPITUNG</a:t>
            </a:r>
          </a:p>
        </p:txBody>
      </p:sp>
      <p:sp>
        <p:nvSpPr>
          <p:cNvPr id="13" name="TextBox 12"/>
          <p:cNvSpPr txBox="1"/>
          <p:nvPr/>
        </p:nvSpPr>
        <p:spPr>
          <a:xfrm>
            <a:off x="274320" y="6309360"/>
            <a:ext cx="3566160" cy="365760"/>
          </a:xfrm>
          <a:prstGeom prst="rect">
            <a:avLst/>
          </a:prstGeom>
          <a:noFill/>
        </p:spPr>
        <p:txBody>
          <a:bodyPr wrap="square">
            <a:spAutoFit/>
          </a:bodyPr>
          <a:lstStyle/>
          <a:p>
            <a:pPr algn="l"/>
            <a:r>
              <a:rPr sz="900" b="0" i="0">
                <a:solidFill>
                  <a:srgbClr val="88A8D0"/>
                </a:solidFill>
              </a:rPr>
              <a:t>Versi 1.0  |  April 2026</a:t>
            </a:r>
          </a:p>
        </p:txBody>
      </p:sp>
      <p:sp>
        <p:nvSpPr>
          <p:cNvPr id="14" name="TextBox 13"/>
          <p:cNvSpPr txBox="1"/>
          <p:nvPr/>
        </p:nvSpPr>
        <p:spPr>
          <a:xfrm>
            <a:off x="4572000" y="731520"/>
            <a:ext cx="7315200" cy="1371600"/>
          </a:xfrm>
          <a:prstGeom prst="rect">
            <a:avLst/>
          </a:prstGeom>
          <a:noFill/>
        </p:spPr>
        <p:txBody>
          <a:bodyPr wrap="square">
            <a:spAutoFit/>
          </a:bodyPr>
          <a:lstStyle/>
          <a:p>
            <a:pPr algn="l"/>
            <a:r>
              <a:rPr sz="5800" b="1" i="0">
                <a:solidFill>
                  <a:srgbClr val="FFFFFF"/>
                </a:solidFill>
              </a:rPr>
              <a:t>SIPITUNG</a:t>
            </a:r>
          </a:p>
        </p:txBody>
      </p:sp>
      <p:sp>
        <p:nvSpPr>
          <p:cNvPr id="15" name="TextBox 14"/>
          <p:cNvSpPr txBox="1"/>
          <p:nvPr/>
        </p:nvSpPr>
        <p:spPr>
          <a:xfrm>
            <a:off x="4572000" y="2103120"/>
            <a:ext cx="7315200" cy="502920"/>
          </a:xfrm>
          <a:prstGeom prst="rect">
            <a:avLst/>
          </a:prstGeom>
          <a:noFill/>
        </p:spPr>
        <p:txBody>
          <a:bodyPr wrap="square">
            <a:spAutoFit/>
          </a:bodyPr>
          <a:lstStyle/>
          <a:p>
            <a:pPr algn="l"/>
            <a:r>
              <a:rPr sz="1700" b="0" i="0">
                <a:solidFill>
                  <a:srgbClr val="F5A623"/>
                </a:solidFill>
              </a:rPr>
              <a:t>Sistem Informasi Perencanaan &amp; Kinerja</a:t>
            </a:r>
          </a:p>
        </p:txBody>
      </p:sp>
      <p:sp>
        <p:nvSpPr>
          <p:cNvPr id="16" name="Rectangle 15"/>
          <p:cNvSpPr/>
          <p:nvPr/>
        </p:nvSpPr>
        <p:spPr>
          <a:xfrm>
            <a:off x="4572000" y="2743200"/>
            <a:ext cx="7315200" cy="54864"/>
          </a:xfrm>
          <a:prstGeom prst="rect">
            <a:avLst/>
          </a:prstGeom>
          <a:solidFill>
            <a:srgbClr val="88A8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2880360"/>
            <a:ext cx="7315200" cy="457200"/>
          </a:xfrm>
          <a:prstGeom prst="rect">
            <a:avLst/>
          </a:prstGeom>
          <a:noFill/>
        </p:spPr>
        <p:txBody>
          <a:bodyPr wrap="square">
            <a:spAutoFit/>
          </a:bodyPr>
          <a:lstStyle/>
          <a:p>
            <a:pPr algn="l"/>
            <a:r>
              <a:rPr sz="1600" b="1" i="0">
                <a:solidFill>
                  <a:srgbClr val="FFFFFF"/>
                </a:solidFill>
              </a:rPr>
              <a:t>Buku Petunjuk Teknis Lengkap</a:t>
            </a:r>
          </a:p>
        </p:txBody>
      </p:sp>
      <p:sp>
        <p:nvSpPr>
          <p:cNvPr id="18" name="Rectangle 17"/>
          <p:cNvSpPr/>
          <p:nvPr/>
        </p:nvSpPr>
        <p:spPr>
          <a:xfrm>
            <a:off x="4572000" y="3474720"/>
            <a:ext cx="2331720" cy="15087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60" y="3547872"/>
            <a:ext cx="2103120" cy="320040"/>
          </a:xfrm>
          <a:prstGeom prst="rect">
            <a:avLst/>
          </a:prstGeom>
          <a:noFill/>
        </p:spPr>
        <p:txBody>
          <a:bodyPr wrap="square">
            <a:spAutoFit/>
          </a:bodyPr>
          <a:lstStyle/>
          <a:p>
            <a:pPr algn="l"/>
            <a:r>
              <a:rPr sz="900" b="1" i="0">
                <a:solidFill>
                  <a:srgbClr val="FFFFFF"/>
                </a:solidFill>
              </a:rPr>
              <a:t>BAG. I</a:t>
            </a:r>
          </a:p>
        </p:txBody>
      </p:sp>
      <p:sp>
        <p:nvSpPr>
          <p:cNvPr id="20" name="TextBox 19"/>
          <p:cNvSpPr txBox="1"/>
          <p:nvPr/>
        </p:nvSpPr>
        <p:spPr>
          <a:xfrm>
            <a:off x="4709160" y="3858768"/>
            <a:ext cx="2103120" cy="1051560"/>
          </a:xfrm>
          <a:prstGeom prst="rect">
            <a:avLst/>
          </a:prstGeom>
          <a:noFill/>
        </p:spPr>
        <p:txBody>
          <a:bodyPr wrap="square">
            <a:spAutoFit/>
          </a:bodyPr>
          <a:lstStyle/>
          <a:p>
            <a:pPr algn="l"/>
            <a:r>
              <a:rPr sz="1200" b="1" i="0">
                <a:solidFill>
                  <a:srgbClr val="FFFFFF"/>
                </a:solidFill>
              </a:rPr>
              <a:t>Ketua Tim Kerja
Rencana Aksi</a:t>
            </a:r>
          </a:p>
        </p:txBody>
      </p:sp>
      <p:sp>
        <p:nvSpPr>
          <p:cNvPr id="21" name="Rectangle 20"/>
          <p:cNvSpPr/>
          <p:nvPr/>
        </p:nvSpPr>
        <p:spPr>
          <a:xfrm>
            <a:off x="7086600" y="3474720"/>
            <a:ext cx="2331720" cy="15087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0" y="3547872"/>
            <a:ext cx="2103120" cy="320040"/>
          </a:xfrm>
          <a:prstGeom prst="rect">
            <a:avLst/>
          </a:prstGeom>
          <a:noFill/>
        </p:spPr>
        <p:txBody>
          <a:bodyPr wrap="square">
            <a:spAutoFit/>
          </a:bodyPr>
          <a:lstStyle/>
          <a:p>
            <a:pPr algn="l"/>
            <a:r>
              <a:rPr sz="900" b="1" i="0">
                <a:solidFill>
                  <a:srgbClr val="FFFFFF"/>
                </a:solidFill>
              </a:rPr>
              <a:t>BAG. II</a:t>
            </a:r>
          </a:p>
        </p:txBody>
      </p:sp>
      <p:sp>
        <p:nvSpPr>
          <p:cNvPr id="23" name="TextBox 22"/>
          <p:cNvSpPr txBox="1"/>
          <p:nvPr/>
        </p:nvSpPr>
        <p:spPr>
          <a:xfrm>
            <a:off x="7223760" y="3858768"/>
            <a:ext cx="2103120" cy="1051560"/>
          </a:xfrm>
          <a:prstGeom prst="rect">
            <a:avLst/>
          </a:prstGeom>
          <a:noFill/>
        </p:spPr>
        <p:txBody>
          <a:bodyPr wrap="square">
            <a:spAutoFit/>
          </a:bodyPr>
          <a:lstStyle/>
          <a:p>
            <a:pPr algn="l"/>
            <a:r>
              <a:rPr sz="1200" b="1" i="0">
                <a:solidFill>
                  <a:srgbClr val="FFFFFF"/>
                </a:solidFill>
              </a:rPr>
              <a:t>Ketua Tim Kerja
Pengukuran Kinerja</a:t>
            </a:r>
          </a:p>
        </p:txBody>
      </p:sp>
      <p:sp>
        <p:nvSpPr>
          <p:cNvPr id="24" name="Rectangle 23"/>
          <p:cNvSpPr/>
          <p:nvPr/>
        </p:nvSpPr>
        <p:spPr>
          <a:xfrm>
            <a:off x="9601200" y="3474720"/>
            <a:ext cx="2331720" cy="1508760"/>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38360" y="3547872"/>
            <a:ext cx="2103120" cy="320040"/>
          </a:xfrm>
          <a:prstGeom prst="rect">
            <a:avLst/>
          </a:prstGeom>
          <a:noFill/>
        </p:spPr>
        <p:txBody>
          <a:bodyPr wrap="square">
            <a:spAutoFit/>
          </a:bodyPr>
          <a:lstStyle/>
          <a:p>
            <a:pPr algn="l"/>
            <a:r>
              <a:rPr sz="900" b="1" i="0">
                <a:solidFill>
                  <a:srgbClr val="FFFFFF"/>
                </a:solidFill>
              </a:rPr>
              <a:t>BAG. III</a:t>
            </a:r>
          </a:p>
        </p:txBody>
      </p:sp>
      <p:sp>
        <p:nvSpPr>
          <p:cNvPr id="26" name="TextBox 25"/>
          <p:cNvSpPr txBox="1"/>
          <p:nvPr/>
        </p:nvSpPr>
        <p:spPr>
          <a:xfrm>
            <a:off x="9738360" y="3858768"/>
            <a:ext cx="2103120" cy="1051560"/>
          </a:xfrm>
          <a:prstGeom prst="rect">
            <a:avLst/>
          </a:prstGeom>
          <a:noFill/>
        </p:spPr>
        <p:txBody>
          <a:bodyPr wrap="square">
            <a:spAutoFit/>
          </a:bodyPr>
          <a:lstStyle/>
          <a:p>
            <a:pPr algn="l"/>
            <a:r>
              <a:rPr sz="1200" b="1" i="0">
                <a:solidFill>
                  <a:srgbClr val="FFFFFF"/>
                </a:solidFill>
              </a:rPr>
              <a:t>Kabag Umum
Review &amp; Persetujuan</a:t>
            </a:r>
          </a:p>
        </p:txBody>
      </p:sp>
      <p:sp>
        <p:nvSpPr>
          <p:cNvPr id="27" name="TextBox 26"/>
          <p:cNvSpPr txBox="1"/>
          <p:nvPr/>
        </p:nvSpPr>
        <p:spPr>
          <a:xfrm>
            <a:off x="4572000" y="5257800"/>
            <a:ext cx="7315200" cy="411480"/>
          </a:xfrm>
          <a:prstGeom prst="rect">
            <a:avLst/>
          </a:prstGeom>
          <a:noFill/>
        </p:spPr>
        <p:txBody>
          <a:bodyPr wrap="square">
            <a:spAutoFit/>
          </a:bodyPr>
          <a:lstStyle/>
          <a:p>
            <a:pPr algn="l"/>
            <a:r>
              <a:rPr sz="1000" b="0" i="0">
                <a:solidFill>
                  <a:srgbClr val="88A8D0"/>
                </a:solidFill>
              </a:rPr>
              <a:t>LLDIKTI Wilayah III  |  Jakarta  |  2026</a:t>
            </a:r>
          </a:p>
        </p:txBody>
      </p:sp>
      <p:sp>
        <p:nvSpPr>
          <p:cNvPr id="28" name="TextBox 27"/>
          <p:cNvSpPr txBox="1"/>
          <p:nvPr/>
        </p:nvSpPr>
        <p:spPr>
          <a:xfrm>
            <a:off x="11795760" y="6583680"/>
            <a:ext cx="365760" cy="274320"/>
          </a:xfrm>
          <a:prstGeom prst="rect">
            <a:avLst/>
          </a:prstGeom>
          <a:noFill/>
        </p:spPr>
        <p:txBody>
          <a:bodyPr wrap="square">
            <a:spAutoFit/>
          </a:bodyPr>
          <a:lstStyle/>
          <a:p>
            <a:pPr algn="r"/>
            <a:r>
              <a:rPr sz="800" b="0" i="0">
                <a:solidFill>
                  <a:srgbClr val="88A8D0"/>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Daftar Isi Lengkap</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Tiga bagian juknis dalam satu dokumen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2 / —</a:t>
            </a:r>
          </a:p>
        </p:txBody>
      </p:sp>
      <p:sp>
        <p:nvSpPr>
          <p:cNvPr id="10" name="Rectangle 9"/>
          <p:cNvSpPr/>
          <p:nvPr/>
        </p:nvSpPr>
        <p:spPr>
          <a:xfrm>
            <a:off x="365760" y="1261872"/>
            <a:ext cx="11430000" cy="166420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61872"/>
            <a:ext cx="11430000" cy="5486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316736"/>
            <a:ext cx="1463040" cy="16093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426463"/>
            <a:ext cx="1325880" cy="384048"/>
          </a:xfrm>
          <a:prstGeom prst="rect">
            <a:avLst/>
          </a:prstGeom>
          <a:noFill/>
        </p:spPr>
        <p:txBody>
          <a:bodyPr wrap="square">
            <a:spAutoFit/>
          </a:bodyPr>
          <a:lstStyle/>
          <a:p>
            <a:pPr algn="ctr"/>
            <a:r>
              <a:rPr sz="1000" b="1" i="0">
                <a:solidFill>
                  <a:srgbClr val="FFFFFF"/>
                </a:solidFill>
              </a:rPr>
              <a:t>BAGIAN I</a:t>
            </a:r>
          </a:p>
        </p:txBody>
      </p:sp>
      <p:sp>
        <p:nvSpPr>
          <p:cNvPr id="14" name="TextBox 13"/>
          <p:cNvSpPr txBox="1"/>
          <p:nvPr/>
        </p:nvSpPr>
        <p:spPr>
          <a:xfrm>
            <a:off x="548640" y="1828800"/>
            <a:ext cx="1188720" cy="1005840"/>
          </a:xfrm>
          <a:prstGeom prst="rect">
            <a:avLst/>
          </a:prstGeom>
          <a:noFill/>
        </p:spPr>
        <p:txBody>
          <a:bodyPr wrap="square">
            <a:spAutoFit/>
          </a:bodyPr>
          <a:lstStyle/>
          <a:p>
            <a:pPr algn="ctr"/>
            <a:r>
              <a:rPr sz="1000" b="1" i="0">
                <a:solidFill>
                  <a:srgbClr val="FFFFFF"/>
                </a:solidFill>
              </a:rPr>
              <a:t>Ketua Tim Kerja — Rencana Aksi</a:t>
            </a:r>
          </a:p>
        </p:txBody>
      </p:sp>
      <p:sp>
        <p:nvSpPr>
          <p:cNvPr id="15" name="Rectangle 14"/>
          <p:cNvSpPr/>
          <p:nvPr/>
        </p:nvSpPr>
        <p:spPr>
          <a:xfrm>
            <a:off x="1965960" y="1399031"/>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75688" y="1463039"/>
            <a:ext cx="1645920" cy="1234440"/>
          </a:xfrm>
          <a:prstGeom prst="rect">
            <a:avLst/>
          </a:prstGeom>
          <a:noFill/>
        </p:spPr>
        <p:txBody>
          <a:bodyPr wrap="square">
            <a:spAutoFit/>
          </a:bodyPr>
          <a:lstStyle/>
          <a:p>
            <a:pPr algn="l"/>
            <a:r>
              <a:rPr sz="950" b="0" i="0">
                <a:solidFill>
                  <a:srgbClr val="1A376C"/>
                </a:solidFill>
              </a:rPr>
              <a:t>• Login &amp; Navigasi</a:t>
            </a:r>
          </a:p>
        </p:txBody>
      </p:sp>
      <p:sp>
        <p:nvSpPr>
          <p:cNvPr id="17" name="Rectangle 16"/>
          <p:cNvSpPr/>
          <p:nvPr/>
        </p:nvSpPr>
        <p:spPr>
          <a:xfrm>
            <a:off x="3977639" y="1399031"/>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87368" y="1463039"/>
            <a:ext cx="1645920" cy="1234440"/>
          </a:xfrm>
          <a:prstGeom prst="rect">
            <a:avLst/>
          </a:prstGeom>
          <a:noFill/>
        </p:spPr>
        <p:txBody>
          <a:bodyPr wrap="square">
            <a:spAutoFit/>
          </a:bodyPr>
          <a:lstStyle/>
          <a:p>
            <a:pPr algn="l"/>
            <a:r>
              <a:rPr sz="950" b="0" i="0">
                <a:solidFill>
                  <a:srgbClr val="1A376C"/>
                </a:solidFill>
              </a:rPr>
              <a:t>• Mengisi Target TW I–IV</a:t>
            </a:r>
          </a:p>
        </p:txBody>
      </p:sp>
      <p:sp>
        <p:nvSpPr>
          <p:cNvPr id="19" name="Rectangle 18"/>
          <p:cNvSpPr/>
          <p:nvPr/>
        </p:nvSpPr>
        <p:spPr>
          <a:xfrm>
            <a:off x="5989320" y="1399031"/>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8" y="1463039"/>
            <a:ext cx="1645920" cy="1234440"/>
          </a:xfrm>
          <a:prstGeom prst="rect">
            <a:avLst/>
          </a:prstGeom>
          <a:noFill/>
        </p:spPr>
        <p:txBody>
          <a:bodyPr wrap="square">
            <a:spAutoFit/>
          </a:bodyPr>
          <a:lstStyle/>
          <a:p>
            <a:pPr algn="l"/>
            <a:r>
              <a:rPr sz="950" b="0" i="0">
                <a:solidFill>
                  <a:srgbClr val="1A376C"/>
                </a:solidFill>
              </a:rPr>
              <a:t>• Tambah Rencana Kegiatan</a:t>
            </a:r>
          </a:p>
        </p:txBody>
      </p:sp>
      <p:sp>
        <p:nvSpPr>
          <p:cNvPr id="21" name="Rectangle 20"/>
          <p:cNvSpPr/>
          <p:nvPr/>
        </p:nvSpPr>
        <p:spPr>
          <a:xfrm>
            <a:off x="8001000" y="1399031"/>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7" y="1463039"/>
            <a:ext cx="1645920" cy="1234440"/>
          </a:xfrm>
          <a:prstGeom prst="rect">
            <a:avLst/>
          </a:prstGeom>
          <a:noFill/>
        </p:spPr>
        <p:txBody>
          <a:bodyPr wrap="square">
            <a:spAutoFit/>
          </a:bodyPr>
          <a:lstStyle/>
          <a:p>
            <a:pPr algn="l"/>
            <a:r>
              <a:rPr sz="950" b="0" i="0">
                <a:solidFill>
                  <a:srgbClr val="1A376C"/>
                </a:solidFill>
              </a:rPr>
              <a:t>• Submit ke Kabag</a:t>
            </a:r>
          </a:p>
        </p:txBody>
      </p:sp>
      <p:sp>
        <p:nvSpPr>
          <p:cNvPr id="23" name="Rectangle 22"/>
          <p:cNvSpPr/>
          <p:nvPr/>
        </p:nvSpPr>
        <p:spPr>
          <a:xfrm>
            <a:off x="10012680" y="1399031"/>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22408" y="1463039"/>
            <a:ext cx="1645920" cy="1234440"/>
          </a:xfrm>
          <a:prstGeom prst="rect">
            <a:avLst/>
          </a:prstGeom>
          <a:noFill/>
        </p:spPr>
        <p:txBody>
          <a:bodyPr wrap="square">
            <a:spAutoFit/>
          </a:bodyPr>
          <a:lstStyle/>
          <a:p>
            <a:pPr algn="l"/>
            <a:r>
              <a:rPr sz="950" b="0" i="0">
                <a:solidFill>
                  <a:srgbClr val="1A376C"/>
                </a:solidFill>
              </a:rPr>
              <a:t>• Revisi &amp; Submit Ulang</a:t>
            </a:r>
          </a:p>
        </p:txBody>
      </p:sp>
      <p:sp>
        <p:nvSpPr>
          <p:cNvPr id="25" name="Rectangle 24"/>
          <p:cNvSpPr/>
          <p:nvPr/>
        </p:nvSpPr>
        <p:spPr>
          <a:xfrm>
            <a:off x="365760" y="2999232"/>
            <a:ext cx="11430000" cy="166420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2999232"/>
            <a:ext cx="1143000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3054096"/>
            <a:ext cx="1463040" cy="160934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163824"/>
            <a:ext cx="1325880" cy="384048"/>
          </a:xfrm>
          <a:prstGeom prst="rect">
            <a:avLst/>
          </a:prstGeom>
          <a:noFill/>
        </p:spPr>
        <p:txBody>
          <a:bodyPr wrap="square">
            <a:spAutoFit/>
          </a:bodyPr>
          <a:lstStyle/>
          <a:p>
            <a:pPr algn="ctr"/>
            <a:r>
              <a:rPr sz="1000" b="1" i="0">
                <a:solidFill>
                  <a:srgbClr val="FFFFFF"/>
                </a:solidFill>
              </a:rPr>
              <a:t>BAGIAN II</a:t>
            </a:r>
          </a:p>
        </p:txBody>
      </p:sp>
      <p:sp>
        <p:nvSpPr>
          <p:cNvPr id="29" name="TextBox 28"/>
          <p:cNvSpPr txBox="1"/>
          <p:nvPr/>
        </p:nvSpPr>
        <p:spPr>
          <a:xfrm>
            <a:off x="548640" y="3566160"/>
            <a:ext cx="1188720" cy="1005840"/>
          </a:xfrm>
          <a:prstGeom prst="rect">
            <a:avLst/>
          </a:prstGeom>
          <a:noFill/>
        </p:spPr>
        <p:txBody>
          <a:bodyPr wrap="square">
            <a:spAutoFit/>
          </a:bodyPr>
          <a:lstStyle/>
          <a:p>
            <a:pPr algn="ctr"/>
            <a:r>
              <a:rPr sz="1000" b="1" i="0">
                <a:solidFill>
                  <a:srgbClr val="FFFFFF"/>
                </a:solidFill>
              </a:rPr>
              <a:t>Ketua Tim Kerja — Pengukuran Kinerja</a:t>
            </a:r>
          </a:p>
        </p:txBody>
      </p:sp>
      <p:sp>
        <p:nvSpPr>
          <p:cNvPr id="30" name="Rectangle 29"/>
          <p:cNvSpPr/>
          <p:nvPr/>
        </p:nvSpPr>
        <p:spPr>
          <a:xfrm>
            <a:off x="1965960" y="3136391"/>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75688" y="3200400"/>
            <a:ext cx="1645920" cy="1234440"/>
          </a:xfrm>
          <a:prstGeom prst="rect">
            <a:avLst/>
          </a:prstGeom>
          <a:noFill/>
        </p:spPr>
        <p:txBody>
          <a:bodyPr wrap="square">
            <a:spAutoFit/>
          </a:bodyPr>
          <a:lstStyle/>
          <a:p>
            <a:pPr algn="l"/>
            <a:r>
              <a:rPr sz="950" b="0" i="0">
                <a:solidFill>
                  <a:srgbClr val="1A376C"/>
                </a:solidFill>
              </a:rPr>
              <a:t>• Navigasi &amp; Periode</a:t>
            </a:r>
          </a:p>
        </p:txBody>
      </p:sp>
      <p:sp>
        <p:nvSpPr>
          <p:cNvPr id="32" name="Rectangle 31"/>
          <p:cNvSpPr/>
          <p:nvPr/>
        </p:nvSpPr>
        <p:spPr>
          <a:xfrm>
            <a:off x="3977639" y="3136391"/>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87368" y="3200400"/>
            <a:ext cx="1645920" cy="1234440"/>
          </a:xfrm>
          <a:prstGeom prst="rect">
            <a:avLst/>
          </a:prstGeom>
          <a:noFill/>
        </p:spPr>
        <p:txBody>
          <a:bodyPr wrap="square">
            <a:spAutoFit/>
          </a:bodyPr>
          <a:lstStyle/>
          <a:p>
            <a:pPr algn="l"/>
            <a:r>
              <a:rPr sz="950" b="0" i="0">
                <a:solidFill>
                  <a:srgbClr val="1A376C"/>
                </a:solidFill>
              </a:rPr>
              <a:t>• Isi Realisasi IKU</a:t>
            </a:r>
          </a:p>
        </p:txBody>
      </p:sp>
      <p:sp>
        <p:nvSpPr>
          <p:cNvPr id="34" name="Rectangle 33"/>
          <p:cNvSpPr/>
          <p:nvPr/>
        </p:nvSpPr>
        <p:spPr>
          <a:xfrm>
            <a:off x="5989320" y="3136391"/>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99048" y="3200400"/>
            <a:ext cx="1645920" cy="1234440"/>
          </a:xfrm>
          <a:prstGeom prst="rect">
            <a:avLst/>
          </a:prstGeom>
          <a:noFill/>
        </p:spPr>
        <p:txBody>
          <a:bodyPr wrap="square">
            <a:spAutoFit/>
          </a:bodyPr>
          <a:lstStyle/>
          <a:p>
            <a:pPr algn="l"/>
            <a:r>
              <a:rPr sz="950" b="0" i="0">
                <a:solidFill>
                  <a:srgbClr val="1A376C"/>
                </a:solidFill>
              </a:rPr>
              <a:t>• IKU Kolaborasi (Co-PIC)</a:t>
            </a:r>
          </a:p>
        </p:txBody>
      </p:sp>
      <p:sp>
        <p:nvSpPr>
          <p:cNvPr id="36" name="Rectangle 35"/>
          <p:cNvSpPr/>
          <p:nvPr/>
        </p:nvSpPr>
        <p:spPr>
          <a:xfrm>
            <a:off x="8001000" y="3136391"/>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10727" y="3200400"/>
            <a:ext cx="1645920" cy="1234440"/>
          </a:xfrm>
          <a:prstGeom prst="rect">
            <a:avLst/>
          </a:prstGeom>
          <a:noFill/>
        </p:spPr>
        <p:txBody>
          <a:bodyPr wrap="square">
            <a:spAutoFit/>
          </a:bodyPr>
          <a:lstStyle/>
          <a:p>
            <a:pPr algn="l"/>
            <a:r>
              <a:rPr sz="950" b="0" i="0">
                <a:solidFill>
                  <a:srgbClr val="1A376C"/>
                </a:solidFill>
              </a:rPr>
              <a:t>• Submit Laporan</a:t>
            </a:r>
          </a:p>
        </p:txBody>
      </p:sp>
      <p:sp>
        <p:nvSpPr>
          <p:cNvPr id="38" name="Rectangle 37"/>
          <p:cNvSpPr/>
          <p:nvPr/>
        </p:nvSpPr>
        <p:spPr>
          <a:xfrm>
            <a:off x="10012680" y="3136391"/>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22408" y="3200400"/>
            <a:ext cx="1645920" cy="1234440"/>
          </a:xfrm>
          <a:prstGeom prst="rect">
            <a:avLst/>
          </a:prstGeom>
          <a:noFill/>
        </p:spPr>
        <p:txBody>
          <a:bodyPr wrap="square">
            <a:spAutoFit/>
          </a:bodyPr>
          <a:lstStyle/>
          <a:p>
            <a:pPr algn="l"/>
            <a:r>
              <a:rPr sz="950" b="0" i="0">
                <a:solidFill>
                  <a:srgbClr val="1A376C"/>
                </a:solidFill>
              </a:rPr>
              <a:t>• Revisi &amp; Status</a:t>
            </a:r>
          </a:p>
        </p:txBody>
      </p:sp>
      <p:sp>
        <p:nvSpPr>
          <p:cNvPr id="40" name="Rectangle 39"/>
          <p:cNvSpPr/>
          <p:nvPr/>
        </p:nvSpPr>
        <p:spPr>
          <a:xfrm>
            <a:off x="365760" y="4736592"/>
            <a:ext cx="11430000" cy="166420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4736592"/>
            <a:ext cx="11430000" cy="5486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5760" y="4791455"/>
            <a:ext cx="1463040" cy="16093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901183"/>
            <a:ext cx="1325880" cy="384048"/>
          </a:xfrm>
          <a:prstGeom prst="rect">
            <a:avLst/>
          </a:prstGeom>
          <a:noFill/>
        </p:spPr>
        <p:txBody>
          <a:bodyPr wrap="square">
            <a:spAutoFit/>
          </a:bodyPr>
          <a:lstStyle/>
          <a:p>
            <a:pPr algn="ctr"/>
            <a:r>
              <a:rPr sz="1000" b="1" i="0">
                <a:solidFill>
                  <a:srgbClr val="FFFFFF"/>
                </a:solidFill>
              </a:rPr>
              <a:t>BAGIAN III</a:t>
            </a:r>
          </a:p>
        </p:txBody>
      </p:sp>
      <p:sp>
        <p:nvSpPr>
          <p:cNvPr id="44" name="TextBox 43"/>
          <p:cNvSpPr txBox="1"/>
          <p:nvPr/>
        </p:nvSpPr>
        <p:spPr>
          <a:xfrm>
            <a:off x="548640" y="5303520"/>
            <a:ext cx="1188720" cy="1005840"/>
          </a:xfrm>
          <a:prstGeom prst="rect">
            <a:avLst/>
          </a:prstGeom>
          <a:noFill/>
        </p:spPr>
        <p:txBody>
          <a:bodyPr wrap="square">
            <a:spAutoFit/>
          </a:bodyPr>
          <a:lstStyle/>
          <a:p>
            <a:pPr algn="ctr"/>
            <a:r>
              <a:rPr sz="1000" b="1" i="0">
                <a:solidFill>
                  <a:srgbClr val="FFFFFF"/>
                </a:solidFill>
              </a:rPr>
              <a:t>Kabag Umum — Review &amp; Persetujuan</a:t>
            </a:r>
          </a:p>
        </p:txBody>
      </p:sp>
      <p:sp>
        <p:nvSpPr>
          <p:cNvPr id="45" name="Rectangle 44"/>
          <p:cNvSpPr/>
          <p:nvPr/>
        </p:nvSpPr>
        <p:spPr>
          <a:xfrm>
            <a:off x="1965960" y="4873752"/>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75688" y="4937759"/>
            <a:ext cx="1645920" cy="1234440"/>
          </a:xfrm>
          <a:prstGeom prst="rect">
            <a:avLst/>
          </a:prstGeom>
          <a:noFill/>
        </p:spPr>
        <p:txBody>
          <a:bodyPr wrap="square">
            <a:spAutoFit/>
          </a:bodyPr>
          <a:lstStyle/>
          <a:p>
            <a:pPr algn="l"/>
            <a:r>
              <a:rPr sz="950" b="0" i="0">
                <a:solidFill>
                  <a:srgbClr val="1A376C"/>
                </a:solidFill>
              </a:rPr>
              <a:t>• Login &amp; Dashboard</a:t>
            </a:r>
          </a:p>
        </p:txBody>
      </p:sp>
      <p:sp>
        <p:nvSpPr>
          <p:cNvPr id="47" name="Rectangle 46"/>
          <p:cNvSpPr/>
          <p:nvPr/>
        </p:nvSpPr>
        <p:spPr>
          <a:xfrm>
            <a:off x="3977639" y="4873752"/>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87368" y="4937759"/>
            <a:ext cx="1645920" cy="1234440"/>
          </a:xfrm>
          <a:prstGeom prst="rect">
            <a:avLst/>
          </a:prstGeom>
          <a:noFill/>
        </p:spPr>
        <p:txBody>
          <a:bodyPr wrap="square">
            <a:spAutoFit/>
          </a:bodyPr>
          <a:lstStyle/>
          <a:p>
            <a:pPr algn="l"/>
            <a:r>
              <a:rPr sz="950" b="0" i="0">
                <a:solidFill>
                  <a:srgbClr val="1A376C"/>
                </a:solidFill>
              </a:rPr>
              <a:t>• Review Rencana Aksi</a:t>
            </a:r>
          </a:p>
        </p:txBody>
      </p:sp>
      <p:sp>
        <p:nvSpPr>
          <p:cNvPr id="49" name="Rectangle 48"/>
          <p:cNvSpPr/>
          <p:nvPr/>
        </p:nvSpPr>
        <p:spPr>
          <a:xfrm>
            <a:off x="5989320" y="4873752"/>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99048" y="4937759"/>
            <a:ext cx="1645920" cy="1234440"/>
          </a:xfrm>
          <a:prstGeom prst="rect">
            <a:avLst/>
          </a:prstGeom>
          <a:noFill/>
        </p:spPr>
        <p:txBody>
          <a:bodyPr wrap="square">
            <a:spAutoFit/>
          </a:bodyPr>
          <a:lstStyle/>
          <a:p>
            <a:pPr algn="l"/>
            <a:r>
              <a:rPr sz="950" b="0" i="0">
                <a:solidFill>
                  <a:srgbClr val="1A376C"/>
                </a:solidFill>
              </a:rPr>
              <a:t>• Setujui / Tolak RA</a:t>
            </a:r>
          </a:p>
        </p:txBody>
      </p:sp>
      <p:sp>
        <p:nvSpPr>
          <p:cNvPr id="51" name="Rectangle 50"/>
          <p:cNvSpPr/>
          <p:nvPr/>
        </p:nvSpPr>
        <p:spPr>
          <a:xfrm>
            <a:off x="8001000" y="4873752"/>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10727" y="4937759"/>
            <a:ext cx="1645920" cy="1234440"/>
          </a:xfrm>
          <a:prstGeom prst="rect">
            <a:avLst/>
          </a:prstGeom>
          <a:noFill/>
        </p:spPr>
        <p:txBody>
          <a:bodyPr wrap="square">
            <a:spAutoFit/>
          </a:bodyPr>
          <a:lstStyle/>
          <a:p>
            <a:pPr algn="l"/>
            <a:r>
              <a:rPr sz="950" b="0" i="0">
                <a:solidFill>
                  <a:srgbClr val="1A376C"/>
                </a:solidFill>
              </a:rPr>
              <a:t>• Review Laporan</a:t>
            </a:r>
          </a:p>
        </p:txBody>
      </p:sp>
      <p:sp>
        <p:nvSpPr>
          <p:cNvPr id="53" name="Rectangle 52"/>
          <p:cNvSpPr/>
          <p:nvPr/>
        </p:nvSpPr>
        <p:spPr>
          <a:xfrm>
            <a:off x="10012680" y="4873752"/>
            <a:ext cx="1828800" cy="1389888"/>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122408" y="4937759"/>
            <a:ext cx="1645920" cy="1234440"/>
          </a:xfrm>
          <a:prstGeom prst="rect">
            <a:avLst/>
          </a:prstGeom>
          <a:noFill/>
        </p:spPr>
        <p:txBody>
          <a:bodyPr wrap="square">
            <a:spAutoFit/>
          </a:bodyPr>
          <a:lstStyle/>
          <a:p>
            <a:pPr algn="l"/>
            <a:r>
              <a:rPr sz="950" b="0" i="0">
                <a:solidFill>
                  <a:srgbClr val="1A376C"/>
                </a:solidFill>
              </a:rPr>
              <a:t>• Export PDF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92608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972800" cy="594360"/>
          </a:xfrm>
          <a:prstGeom prst="rect">
            <a:avLst/>
          </a:prstGeom>
          <a:noFill/>
        </p:spPr>
        <p:txBody>
          <a:bodyPr wrap="square">
            <a:spAutoFit/>
          </a:bodyPr>
          <a:lstStyle/>
          <a:p>
            <a:pPr algn="l"/>
            <a:r>
              <a:rPr sz="1400" b="1" i="0">
                <a:solidFill>
                  <a:srgbClr val="F5A623"/>
                </a:solidFill>
              </a:rPr>
              <a:t>BAGIAN I</a:t>
            </a:r>
          </a:p>
        </p:txBody>
      </p:sp>
      <p:sp>
        <p:nvSpPr>
          <p:cNvPr id="6" name="TextBox 5"/>
          <p:cNvSpPr txBox="1"/>
          <p:nvPr/>
        </p:nvSpPr>
        <p:spPr>
          <a:xfrm>
            <a:off x="731520" y="1691640"/>
            <a:ext cx="10972800" cy="1097280"/>
          </a:xfrm>
          <a:prstGeom prst="rect">
            <a:avLst/>
          </a:prstGeom>
          <a:noFill/>
        </p:spPr>
        <p:txBody>
          <a:bodyPr wrap="square">
            <a:spAutoFit/>
          </a:bodyPr>
          <a:lstStyle/>
          <a:p>
            <a:pPr algn="l"/>
            <a:r>
              <a:rPr sz="3800" b="1" i="0">
                <a:solidFill>
                  <a:srgbClr val="FFFFFF"/>
                </a:solidFill>
              </a:rPr>
              <a:t>Rencana Aksi</a:t>
            </a:r>
          </a:p>
        </p:txBody>
      </p:sp>
      <p:sp>
        <p:nvSpPr>
          <p:cNvPr id="7" name="TextBox 6"/>
          <p:cNvSpPr txBox="1"/>
          <p:nvPr/>
        </p:nvSpPr>
        <p:spPr>
          <a:xfrm>
            <a:off x="731520" y="2788920"/>
            <a:ext cx="10972800" cy="502920"/>
          </a:xfrm>
          <a:prstGeom prst="rect">
            <a:avLst/>
          </a:prstGeom>
          <a:noFill/>
        </p:spPr>
        <p:txBody>
          <a:bodyPr wrap="square">
            <a:spAutoFit/>
          </a:bodyPr>
          <a:lstStyle/>
          <a:p>
            <a:pPr algn="l"/>
            <a:r>
              <a:rPr sz="1500" b="0" i="0">
                <a:solidFill>
                  <a:srgbClr val="C8D8F0"/>
                </a:solidFill>
              </a:rPr>
              <a:t>Panduan Pengisian &amp; Pengajuan — Ketua Tim Kerja</a:t>
            </a:r>
          </a:p>
        </p:txBody>
      </p:sp>
      <p:sp>
        <p:nvSpPr>
          <p:cNvPr id="8" name="Rectangle 7"/>
          <p:cNvSpPr/>
          <p:nvPr/>
        </p:nvSpPr>
        <p:spPr>
          <a:xfrm>
            <a:off x="731520" y="3566160"/>
            <a:ext cx="347472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611880"/>
            <a:ext cx="3200400" cy="822960"/>
          </a:xfrm>
          <a:prstGeom prst="rect">
            <a:avLst/>
          </a:prstGeom>
          <a:noFill/>
        </p:spPr>
        <p:txBody>
          <a:bodyPr wrap="square">
            <a:spAutoFit/>
          </a:bodyPr>
          <a:lstStyle/>
          <a:p>
            <a:pPr algn="ctr"/>
            <a:r>
              <a:rPr sz="1100" b="0" i="0">
                <a:solidFill>
                  <a:srgbClr val="FFFFFF"/>
                </a:solidFill>
              </a:rPr>
              <a:t>Login &amp; Navigasi Menu</a:t>
            </a:r>
          </a:p>
        </p:txBody>
      </p:sp>
      <p:sp>
        <p:nvSpPr>
          <p:cNvPr id="10" name="Rectangle 9"/>
          <p:cNvSpPr/>
          <p:nvPr/>
        </p:nvSpPr>
        <p:spPr>
          <a:xfrm>
            <a:off x="4480559" y="3566160"/>
            <a:ext cx="347472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3611880"/>
            <a:ext cx="3200400" cy="822960"/>
          </a:xfrm>
          <a:prstGeom prst="rect">
            <a:avLst/>
          </a:prstGeom>
          <a:noFill/>
        </p:spPr>
        <p:txBody>
          <a:bodyPr wrap="square">
            <a:spAutoFit/>
          </a:bodyPr>
          <a:lstStyle/>
          <a:p>
            <a:pPr algn="ctr"/>
            <a:r>
              <a:rPr sz="1100" b="0" i="0">
                <a:solidFill>
                  <a:srgbClr val="FFFFFF"/>
                </a:solidFill>
              </a:rPr>
              <a:t>Mengisi Target TW I–IV</a:t>
            </a:r>
          </a:p>
        </p:txBody>
      </p:sp>
      <p:sp>
        <p:nvSpPr>
          <p:cNvPr id="12" name="Rectangle 11"/>
          <p:cNvSpPr/>
          <p:nvPr/>
        </p:nvSpPr>
        <p:spPr>
          <a:xfrm>
            <a:off x="8229600" y="3566160"/>
            <a:ext cx="347472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3611880"/>
            <a:ext cx="3200400" cy="822960"/>
          </a:xfrm>
          <a:prstGeom prst="rect">
            <a:avLst/>
          </a:prstGeom>
          <a:noFill/>
        </p:spPr>
        <p:txBody>
          <a:bodyPr wrap="square">
            <a:spAutoFit/>
          </a:bodyPr>
          <a:lstStyle/>
          <a:p>
            <a:pPr algn="ctr"/>
            <a:r>
              <a:rPr sz="1100" b="0" i="0">
                <a:solidFill>
                  <a:srgbClr val="FFFFFF"/>
                </a:solidFill>
              </a:rPr>
              <a:t>Menambah Rencana Kegiatan</a:t>
            </a:r>
          </a:p>
        </p:txBody>
      </p:sp>
      <p:sp>
        <p:nvSpPr>
          <p:cNvPr id="14" name="Rectangle 13"/>
          <p:cNvSpPr/>
          <p:nvPr/>
        </p:nvSpPr>
        <p:spPr>
          <a:xfrm>
            <a:off x="11978640" y="3566160"/>
            <a:ext cx="3474720" cy="91440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115800" y="3611880"/>
            <a:ext cx="3200400" cy="822960"/>
          </a:xfrm>
          <a:prstGeom prst="rect">
            <a:avLst/>
          </a:prstGeom>
          <a:noFill/>
        </p:spPr>
        <p:txBody>
          <a:bodyPr wrap="square">
            <a:spAutoFit/>
          </a:bodyPr>
          <a:lstStyle/>
          <a:p>
            <a:pPr algn="ctr"/>
            <a:r>
              <a:rPr sz="1100" b="0" i="0">
                <a:solidFill>
                  <a:srgbClr val="FFFFFF"/>
                </a:solidFill>
              </a:rPr>
              <a:t>Submit ke Kabag Umum</a:t>
            </a:r>
          </a:p>
        </p:txBody>
      </p:sp>
      <p:sp>
        <p:nvSpPr>
          <p:cNvPr id="16" name="TextBox 15"/>
          <p:cNvSpPr txBox="1"/>
          <p:nvPr/>
        </p:nvSpPr>
        <p:spPr>
          <a:xfrm>
            <a:off x="731520" y="6309360"/>
            <a:ext cx="10972800" cy="411480"/>
          </a:xfrm>
          <a:prstGeom prst="rect">
            <a:avLst/>
          </a:prstGeom>
          <a:noFill/>
        </p:spPr>
        <p:txBody>
          <a:bodyPr wrap="square">
            <a:spAutoFit/>
          </a:bodyPr>
          <a:lstStyle/>
          <a:p>
            <a:pPr algn="l"/>
            <a:r>
              <a:rPr sz="900" b="0" i="0">
                <a:solidFill>
                  <a:srgbClr val="88A8D0"/>
                </a:solidFill>
              </a:rPr>
              <a:t>SIPITUNG — Petunjuk Teknis | LLDIKTI Wilayah III</a:t>
            </a:r>
          </a:p>
        </p:txBody>
      </p:sp>
      <p:sp>
        <p:nvSpPr>
          <p:cNvPr id="17" name="Rectangle 1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19" name="TextBox 1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3 /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0"/>
            <a:ext cx="73152" cy="685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365760"/>
            <a:ext cx="3383280" cy="1463040"/>
          </a:xfrm>
          <a:prstGeom prst="rect">
            <a:avLst/>
          </a:prstGeom>
          <a:solidFill>
            <a:srgbClr val="1A376C"/>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365760"/>
            <a:ext cx="3383280" cy="1463040"/>
          </a:xfrm>
          <a:prstGeom prst="rect">
            <a:avLst/>
          </a:prstGeom>
          <a:noFill/>
        </p:spPr>
        <p:txBody>
          <a:bodyPr wrap="square">
            <a:spAutoFit/>
          </a:bodyPr>
          <a:lstStyle/>
          <a:p>
            <a:pPr algn="ctr"/>
            <a:r>
              <a:rPr sz="1100" b="0" i="0">
                <a:solidFill>
                  <a:srgbClr val="C8D8F0"/>
                </a:solidFill>
              </a:rPr>
              <a:t>[LOGO LLDIKTI
WILAYAH III]</a:t>
            </a:r>
          </a:p>
        </p:txBody>
      </p:sp>
      <p:sp>
        <p:nvSpPr>
          <p:cNvPr id="7" name="TextBox 6"/>
          <p:cNvSpPr txBox="1"/>
          <p:nvPr/>
        </p:nvSpPr>
        <p:spPr>
          <a:xfrm>
            <a:off x="274320" y="2103120"/>
            <a:ext cx="3566160" cy="502920"/>
          </a:xfrm>
          <a:prstGeom prst="rect">
            <a:avLst/>
          </a:prstGeom>
          <a:noFill/>
        </p:spPr>
        <p:txBody>
          <a:bodyPr wrap="square">
            <a:spAutoFit/>
          </a:bodyPr>
          <a:lstStyle/>
          <a:p>
            <a:pPr algn="l"/>
            <a:r>
              <a:rPr sz="1300" b="1" i="0">
                <a:solidFill>
                  <a:srgbClr val="F5A623"/>
                </a:solidFill>
              </a:rPr>
              <a:t>LLDIKTI WILAYAH III</a:t>
            </a:r>
          </a:p>
        </p:txBody>
      </p:sp>
      <p:sp>
        <p:nvSpPr>
          <p:cNvPr id="8" name="TextBox 7"/>
          <p:cNvSpPr txBox="1"/>
          <p:nvPr/>
        </p:nvSpPr>
        <p:spPr>
          <a:xfrm>
            <a:off x="274320" y="2560320"/>
            <a:ext cx="3566160" cy="640080"/>
          </a:xfrm>
          <a:prstGeom prst="rect">
            <a:avLst/>
          </a:prstGeom>
          <a:noFill/>
        </p:spPr>
        <p:txBody>
          <a:bodyPr wrap="square">
            <a:spAutoFit/>
          </a:bodyPr>
          <a:lstStyle/>
          <a:p>
            <a:pPr algn="l"/>
            <a:r>
              <a:rPr sz="1000" b="0" i="0">
                <a:solidFill>
                  <a:srgbClr val="C8D8F0"/>
                </a:solidFill>
              </a:rPr>
              <a:t>Kementerian Pendidikan Tinggi,
Sains dan Teknologi</a:t>
            </a:r>
          </a:p>
        </p:txBody>
      </p:sp>
      <p:sp>
        <p:nvSpPr>
          <p:cNvPr id="9" name="Rectangle 8"/>
          <p:cNvSpPr/>
          <p:nvPr/>
        </p:nvSpPr>
        <p:spPr>
          <a:xfrm>
            <a:off x="274320" y="3337560"/>
            <a:ext cx="356616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474720"/>
            <a:ext cx="3566160" cy="365760"/>
          </a:xfrm>
          <a:prstGeom prst="rect">
            <a:avLst/>
          </a:prstGeom>
          <a:noFill/>
        </p:spPr>
        <p:txBody>
          <a:bodyPr wrap="square">
            <a:spAutoFit/>
          </a:bodyPr>
          <a:lstStyle/>
          <a:p>
            <a:pPr algn="l"/>
            <a:r>
              <a:rPr sz="1100" b="1" i="0">
                <a:solidFill>
                  <a:srgbClr val="C8D8F0"/>
                </a:solidFill>
              </a:rPr>
              <a:t>PETUNJUK TEKNIS</a:t>
            </a:r>
          </a:p>
        </p:txBody>
      </p:sp>
      <p:sp>
        <p:nvSpPr>
          <p:cNvPr id="11" name="TextBox 10"/>
          <p:cNvSpPr txBox="1"/>
          <p:nvPr/>
        </p:nvSpPr>
        <p:spPr>
          <a:xfrm>
            <a:off x="274320" y="3840480"/>
            <a:ext cx="3566160" cy="822960"/>
          </a:xfrm>
          <a:prstGeom prst="rect">
            <a:avLst/>
          </a:prstGeom>
          <a:noFill/>
        </p:spPr>
        <p:txBody>
          <a:bodyPr wrap="square">
            <a:spAutoFit/>
          </a:bodyPr>
          <a:lstStyle/>
          <a:p>
            <a:pPr algn="l"/>
            <a:r>
              <a:rPr sz="1400" b="1" i="0">
                <a:solidFill>
                  <a:srgbClr val="FFFFFF"/>
                </a:solidFill>
              </a:rPr>
              <a:t>Penggunaan Aplikasi
SIPITUNG</a:t>
            </a:r>
          </a:p>
        </p:txBody>
      </p:sp>
      <p:sp>
        <p:nvSpPr>
          <p:cNvPr id="12" name="TextBox 11"/>
          <p:cNvSpPr txBox="1"/>
          <p:nvPr/>
        </p:nvSpPr>
        <p:spPr>
          <a:xfrm>
            <a:off x="274320" y="6309360"/>
            <a:ext cx="3566160" cy="365760"/>
          </a:xfrm>
          <a:prstGeom prst="rect">
            <a:avLst/>
          </a:prstGeom>
          <a:noFill/>
        </p:spPr>
        <p:txBody>
          <a:bodyPr wrap="square">
            <a:spAutoFit/>
          </a:bodyPr>
          <a:lstStyle/>
          <a:p>
            <a:pPr algn="l"/>
            <a:r>
              <a:rPr sz="900" b="0" i="0">
                <a:solidFill>
                  <a:srgbClr val="88A8D0"/>
                </a:solidFill>
              </a:rPr>
              <a:t>Versi 1.0  |  April 2026</a:t>
            </a:r>
          </a:p>
        </p:txBody>
      </p:sp>
      <p:sp>
        <p:nvSpPr>
          <p:cNvPr id="13" name="TextBox 12"/>
          <p:cNvSpPr txBox="1"/>
          <p:nvPr/>
        </p:nvSpPr>
        <p:spPr>
          <a:xfrm>
            <a:off x="4480560" y="1005840"/>
            <a:ext cx="7315200" cy="1280160"/>
          </a:xfrm>
          <a:prstGeom prst="rect">
            <a:avLst/>
          </a:prstGeom>
          <a:noFill/>
        </p:spPr>
        <p:txBody>
          <a:bodyPr wrap="square">
            <a:spAutoFit/>
          </a:bodyPr>
          <a:lstStyle/>
          <a:p>
            <a:pPr algn="l"/>
            <a:r>
              <a:rPr sz="5200" b="1" i="0">
                <a:solidFill>
                  <a:srgbClr val="FFFFFF"/>
                </a:solidFill>
              </a:rPr>
              <a:t>SIPITUNG</a:t>
            </a:r>
          </a:p>
        </p:txBody>
      </p:sp>
      <p:sp>
        <p:nvSpPr>
          <p:cNvPr id="14" name="TextBox 13"/>
          <p:cNvSpPr txBox="1"/>
          <p:nvPr/>
        </p:nvSpPr>
        <p:spPr>
          <a:xfrm>
            <a:off x="4480560" y="2240280"/>
            <a:ext cx="7315200" cy="457200"/>
          </a:xfrm>
          <a:prstGeom prst="rect">
            <a:avLst/>
          </a:prstGeom>
          <a:noFill/>
        </p:spPr>
        <p:txBody>
          <a:bodyPr wrap="square">
            <a:spAutoFit/>
          </a:bodyPr>
          <a:lstStyle/>
          <a:p>
            <a:pPr algn="l"/>
            <a:r>
              <a:rPr sz="1600" b="0" i="0">
                <a:solidFill>
                  <a:srgbClr val="F5A623"/>
                </a:solidFill>
              </a:rPr>
              <a:t>Sistem Informasi Perencanaan &amp; Kinerja</a:t>
            </a:r>
          </a:p>
        </p:txBody>
      </p:sp>
      <p:sp>
        <p:nvSpPr>
          <p:cNvPr id="15" name="Rectangle 14"/>
          <p:cNvSpPr/>
          <p:nvPr/>
        </p:nvSpPr>
        <p:spPr>
          <a:xfrm>
            <a:off x="4480560" y="2788920"/>
            <a:ext cx="7315200" cy="45720"/>
          </a:xfrm>
          <a:prstGeom prst="rect">
            <a:avLst/>
          </a:prstGeom>
          <a:solidFill>
            <a:srgbClr val="88A8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926080"/>
            <a:ext cx="7315200" cy="457200"/>
          </a:xfrm>
          <a:prstGeom prst="rect">
            <a:avLst/>
          </a:prstGeom>
          <a:noFill/>
        </p:spPr>
        <p:txBody>
          <a:bodyPr wrap="square">
            <a:spAutoFit/>
          </a:bodyPr>
          <a:lstStyle/>
          <a:p>
            <a:pPr algn="l"/>
            <a:r>
              <a:rPr sz="1500" b="1" i="0">
                <a:solidFill>
                  <a:srgbClr val="FFFFFF"/>
                </a:solidFill>
              </a:rPr>
              <a:t>Bagian I — Rencana Aksi</a:t>
            </a:r>
          </a:p>
        </p:txBody>
      </p:sp>
      <p:sp>
        <p:nvSpPr>
          <p:cNvPr id="17" name="TextBox 16"/>
          <p:cNvSpPr txBox="1"/>
          <p:nvPr/>
        </p:nvSpPr>
        <p:spPr>
          <a:xfrm>
            <a:off x="4480560" y="3429000"/>
            <a:ext cx="7315200" cy="731520"/>
          </a:xfrm>
          <a:prstGeom prst="rect">
            <a:avLst/>
          </a:prstGeom>
          <a:noFill/>
        </p:spPr>
        <p:txBody>
          <a:bodyPr wrap="square">
            <a:spAutoFit/>
          </a:bodyPr>
          <a:lstStyle/>
          <a:p>
            <a:pPr algn="l"/>
            <a:r>
              <a:rPr sz="1300" b="0" i="0">
                <a:solidFill>
                  <a:srgbClr val="C8D8F0"/>
                </a:solidFill>
              </a:rPr>
              <a:t>Penyusunan, Pengisian Target &amp; Submit ke Kabag Umum</a:t>
            </a:r>
          </a:p>
        </p:txBody>
      </p:sp>
      <p:sp>
        <p:nvSpPr>
          <p:cNvPr id="18" name="Rectangle 17"/>
          <p:cNvSpPr/>
          <p:nvPr/>
        </p:nvSpPr>
        <p:spPr>
          <a:xfrm>
            <a:off x="4480560" y="4297680"/>
            <a:ext cx="2194560" cy="594360"/>
          </a:xfrm>
          <a:prstGeom prst="rect">
            <a:avLst/>
          </a:prstGeom>
          <a:solidFill>
            <a:srgbClr val="1E4D9B"/>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315968"/>
            <a:ext cx="2011680" cy="228600"/>
          </a:xfrm>
          <a:prstGeom prst="rect">
            <a:avLst/>
          </a:prstGeom>
          <a:noFill/>
        </p:spPr>
        <p:txBody>
          <a:bodyPr wrap="square">
            <a:spAutoFit/>
          </a:bodyPr>
          <a:lstStyle/>
          <a:p>
            <a:pPr algn="l"/>
            <a:r>
              <a:rPr sz="800" b="1" i="0">
                <a:solidFill>
                  <a:srgbClr val="F5A623"/>
                </a:solidFill>
              </a:rPr>
              <a:t>Pengguna</a:t>
            </a:r>
          </a:p>
        </p:txBody>
      </p:sp>
      <p:sp>
        <p:nvSpPr>
          <p:cNvPr id="20" name="TextBox 19"/>
          <p:cNvSpPr txBox="1"/>
          <p:nvPr/>
        </p:nvSpPr>
        <p:spPr>
          <a:xfrm>
            <a:off x="4572000" y="4544568"/>
            <a:ext cx="2011680" cy="274320"/>
          </a:xfrm>
          <a:prstGeom prst="rect">
            <a:avLst/>
          </a:prstGeom>
          <a:noFill/>
        </p:spPr>
        <p:txBody>
          <a:bodyPr wrap="square">
            <a:spAutoFit/>
          </a:bodyPr>
          <a:lstStyle/>
          <a:p>
            <a:pPr algn="l"/>
            <a:r>
              <a:rPr sz="1100" b="1" i="0">
                <a:solidFill>
                  <a:srgbClr val="FFFFFF"/>
                </a:solidFill>
              </a:rPr>
              <a:t>Ketua Tim Kerja</a:t>
            </a:r>
          </a:p>
        </p:txBody>
      </p:sp>
      <p:sp>
        <p:nvSpPr>
          <p:cNvPr id="21" name="Rectangle 20"/>
          <p:cNvSpPr/>
          <p:nvPr/>
        </p:nvSpPr>
        <p:spPr>
          <a:xfrm>
            <a:off x="6949440" y="4297680"/>
            <a:ext cx="2194560" cy="594360"/>
          </a:xfrm>
          <a:prstGeom prst="rect">
            <a:avLst/>
          </a:prstGeom>
          <a:solidFill>
            <a:srgbClr val="1E4D9B"/>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4315968"/>
            <a:ext cx="2011680" cy="228600"/>
          </a:xfrm>
          <a:prstGeom prst="rect">
            <a:avLst/>
          </a:prstGeom>
          <a:noFill/>
        </p:spPr>
        <p:txBody>
          <a:bodyPr wrap="square">
            <a:spAutoFit/>
          </a:bodyPr>
          <a:lstStyle/>
          <a:p>
            <a:pPr algn="l"/>
            <a:r>
              <a:rPr sz="800" b="1" i="0">
                <a:solidFill>
                  <a:srgbClr val="F5A623"/>
                </a:solidFill>
              </a:rPr>
              <a:t>Tahun</a:t>
            </a:r>
          </a:p>
        </p:txBody>
      </p:sp>
      <p:sp>
        <p:nvSpPr>
          <p:cNvPr id="23" name="TextBox 22"/>
          <p:cNvSpPr txBox="1"/>
          <p:nvPr/>
        </p:nvSpPr>
        <p:spPr>
          <a:xfrm>
            <a:off x="7040880" y="4544568"/>
            <a:ext cx="2011680" cy="274320"/>
          </a:xfrm>
          <a:prstGeom prst="rect">
            <a:avLst/>
          </a:prstGeom>
          <a:noFill/>
        </p:spPr>
        <p:txBody>
          <a:bodyPr wrap="square">
            <a:spAutoFit/>
          </a:bodyPr>
          <a:lstStyle/>
          <a:p>
            <a:pPr algn="l"/>
            <a:r>
              <a:rPr sz="1100" b="1" i="0">
                <a:solidFill>
                  <a:srgbClr val="FFFFFF"/>
                </a:solidFill>
              </a:rPr>
              <a:t>2026</a:t>
            </a:r>
          </a:p>
        </p:txBody>
      </p:sp>
      <p:sp>
        <p:nvSpPr>
          <p:cNvPr id="24" name="Rectangle 23"/>
          <p:cNvSpPr/>
          <p:nvPr/>
        </p:nvSpPr>
        <p:spPr>
          <a:xfrm>
            <a:off x="9418320" y="4297680"/>
            <a:ext cx="2194560" cy="594360"/>
          </a:xfrm>
          <a:prstGeom prst="rect">
            <a:avLst/>
          </a:prstGeom>
          <a:solidFill>
            <a:srgbClr val="1E4D9B"/>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0" y="4315968"/>
            <a:ext cx="2011680" cy="228600"/>
          </a:xfrm>
          <a:prstGeom prst="rect">
            <a:avLst/>
          </a:prstGeom>
          <a:noFill/>
        </p:spPr>
        <p:txBody>
          <a:bodyPr wrap="square">
            <a:spAutoFit/>
          </a:bodyPr>
          <a:lstStyle/>
          <a:p>
            <a:pPr algn="l"/>
            <a:r>
              <a:rPr sz="800" b="1" i="0">
                <a:solidFill>
                  <a:srgbClr val="F5A623"/>
                </a:solidFill>
              </a:rPr>
              <a:t>Status</a:t>
            </a:r>
          </a:p>
        </p:txBody>
      </p:sp>
      <p:sp>
        <p:nvSpPr>
          <p:cNvPr id="26" name="TextBox 25"/>
          <p:cNvSpPr txBox="1"/>
          <p:nvPr/>
        </p:nvSpPr>
        <p:spPr>
          <a:xfrm>
            <a:off x="9509760" y="4544568"/>
            <a:ext cx="2011680" cy="274320"/>
          </a:xfrm>
          <a:prstGeom prst="rect">
            <a:avLst/>
          </a:prstGeom>
          <a:noFill/>
        </p:spPr>
        <p:txBody>
          <a:bodyPr wrap="square">
            <a:spAutoFit/>
          </a:bodyPr>
          <a:lstStyle/>
          <a:p>
            <a:pPr algn="l"/>
            <a:r>
              <a:rPr sz="1100" b="1" i="0">
                <a:solidFill>
                  <a:srgbClr val="FFFFFF"/>
                </a:solidFill>
              </a:rPr>
              <a:t>Aktif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I-01  |  Pendahuluan &amp; Tujuan</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Latar belakang dan maksud dokumen ini</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 Ketua Tim Kerja (Rencana Aksi)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5 / —</a:t>
            </a:r>
          </a:p>
        </p:txBody>
      </p:sp>
      <p:sp>
        <p:nvSpPr>
          <p:cNvPr id="10" name="TextBox 9"/>
          <p:cNvSpPr txBox="1"/>
          <p:nvPr/>
        </p:nvSpPr>
        <p:spPr>
          <a:xfrm>
            <a:off x="365760" y="1261872"/>
            <a:ext cx="5577840" cy="347472"/>
          </a:xfrm>
          <a:prstGeom prst="rect">
            <a:avLst/>
          </a:prstGeom>
          <a:noFill/>
        </p:spPr>
        <p:txBody>
          <a:bodyPr wrap="square">
            <a:spAutoFit/>
          </a:bodyPr>
          <a:lstStyle/>
          <a:p>
            <a:pPr algn="l"/>
            <a:r>
              <a:rPr sz="1300" b="1" i="0">
                <a:solidFill>
                  <a:srgbClr val="1A376C"/>
                </a:solidFill>
              </a:rPr>
              <a:t>Latar Belakang</a:t>
            </a:r>
          </a:p>
        </p:txBody>
      </p:sp>
      <p:sp>
        <p:nvSpPr>
          <p:cNvPr id="11" name="Rectangle 10"/>
          <p:cNvSpPr/>
          <p:nvPr/>
        </p:nvSpPr>
        <p:spPr>
          <a:xfrm>
            <a:off x="365760" y="126187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691640"/>
            <a:ext cx="5486400" cy="1645920"/>
          </a:xfrm>
          <a:prstGeom prst="rect">
            <a:avLst/>
          </a:prstGeom>
          <a:noFill/>
        </p:spPr>
        <p:txBody>
          <a:bodyPr wrap="square">
            <a:spAutoFit/>
          </a:bodyPr>
          <a:lstStyle/>
          <a:p>
            <a:pPr algn="l"/>
            <a:r>
              <a:rPr sz="1050" b="0" i="0">
                <a:solidFill>
                  <a:srgbClr val="444444"/>
                </a:solidFill>
              </a:rPr>
              <a:t>SIPITUNG (Sistem Informasi Perencanaan &amp; Kinerja) dikembangkan untuk mendukung proses perencanaan kerja di lingkungan LLDIKTI Wilayah III secara digital, transparan, dan terstruktur. Setiap Tim Kerja diwajibkan menyusun Rencana Aksi yang memuat target triwulan dan rencana kegiatan untuk setiap Indikator Kinerja Utama (IKU) yang menjadi tanggung jawab mereka.</a:t>
            </a:r>
          </a:p>
        </p:txBody>
      </p:sp>
      <p:sp>
        <p:nvSpPr>
          <p:cNvPr id="13" name="TextBox 12"/>
          <p:cNvSpPr txBox="1"/>
          <p:nvPr/>
        </p:nvSpPr>
        <p:spPr>
          <a:xfrm>
            <a:off x="365760" y="3456432"/>
            <a:ext cx="5577840" cy="347472"/>
          </a:xfrm>
          <a:prstGeom prst="rect">
            <a:avLst/>
          </a:prstGeom>
          <a:noFill/>
        </p:spPr>
        <p:txBody>
          <a:bodyPr wrap="square">
            <a:spAutoFit/>
          </a:bodyPr>
          <a:lstStyle/>
          <a:p>
            <a:pPr algn="l"/>
            <a:r>
              <a:rPr sz="1300" b="1" i="0">
                <a:solidFill>
                  <a:srgbClr val="1A376C"/>
                </a:solidFill>
              </a:rPr>
              <a:t>Tujuan Juknis Bagian I</a:t>
            </a:r>
          </a:p>
        </p:txBody>
      </p:sp>
      <p:sp>
        <p:nvSpPr>
          <p:cNvPr id="14" name="Rectangle 13"/>
          <p:cNvSpPr/>
          <p:nvPr/>
        </p:nvSpPr>
        <p:spPr>
          <a:xfrm>
            <a:off x="365760" y="345643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977640"/>
            <a:ext cx="201168" cy="20116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950208"/>
            <a:ext cx="201168" cy="256032"/>
          </a:xfrm>
          <a:prstGeom prst="rect">
            <a:avLst/>
          </a:prstGeom>
          <a:noFill/>
        </p:spPr>
        <p:txBody>
          <a:bodyPr wrap="square">
            <a:spAutoFit/>
          </a:bodyPr>
          <a:lstStyle/>
          <a:p>
            <a:pPr algn="ctr"/>
            <a:r>
              <a:rPr sz="900" b="1" i="0">
                <a:solidFill>
                  <a:srgbClr val="FFFFFF"/>
                </a:solidFill>
              </a:rPr>
              <a:t>1</a:t>
            </a:r>
          </a:p>
        </p:txBody>
      </p:sp>
      <p:sp>
        <p:nvSpPr>
          <p:cNvPr id="17" name="TextBox 16"/>
          <p:cNvSpPr txBox="1"/>
          <p:nvPr/>
        </p:nvSpPr>
        <p:spPr>
          <a:xfrm>
            <a:off x="749808" y="3913632"/>
            <a:ext cx="5212080" cy="457200"/>
          </a:xfrm>
          <a:prstGeom prst="rect">
            <a:avLst/>
          </a:prstGeom>
          <a:noFill/>
        </p:spPr>
        <p:txBody>
          <a:bodyPr wrap="square">
            <a:spAutoFit/>
          </a:bodyPr>
          <a:lstStyle/>
          <a:p>
            <a:pPr algn="l"/>
            <a:r>
              <a:rPr sz="1050" b="0" i="0">
                <a:solidFill>
                  <a:srgbClr val="444444"/>
                </a:solidFill>
              </a:rPr>
              <a:t>Memberikan panduan penggunaan modul Penyusunan Rencana Aksi bagi Ketua Tim Kerja.</a:t>
            </a:r>
          </a:p>
        </p:txBody>
      </p:sp>
      <p:sp>
        <p:nvSpPr>
          <p:cNvPr id="18" name="Rectangle 17"/>
          <p:cNvSpPr/>
          <p:nvPr/>
        </p:nvSpPr>
        <p:spPr>
          <a:xfrm>
            <a:off x="457200" y="4471416"/>
            <a:ext cx="201168" cy="20116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443984"/>
            <a:ext cx="201168" cy="256032"/>
          </a:xfrm>
          <a:prstGeom prst="rect">
            <a:avLst/>
          </a:prstGeom>
          <a:noFill/>
        </p:spPr>
        <p:txBody>
          <a:bodyPr wrap="square">
            <a:spAutoFit/>
          </a:bodyPr>
          <a:lstStyle/>
          <a:p>
            <a:pPr algn="ctr"/>
            <a:r>
              <a:rPr sz="900" b="1" i="0">
                <a:solidFill>
                  <a:srgbClr val="FFFFFF"/>
                </a:solidFill>
              </a:rPr>
              <a:t>2</a:t>
            </a:r>
          </a:p>
        </p:txBody>
      </p:sp>
      <p:sp>
        <p:nvSpPr>
          <p:cNvPr id="20" name="TextBox 19"/>
          <p:cNvSpPr txBox="1"/>
          <p:nvPr/>
        </p:nvSpPr>
        <p:spPr>
          <a:xfrm>
            <a:off x="749808" y="4407408"/>
            <a:ext cx="5212080" cy="457200"/>
          </a:xfrm>
          <a:prstGeom prst="rect">
            <a:avLst/>
          </a:prstGeom>
          <a:noFill/>
        </p:spPr>
        <p:txBody>
          <a:bodyPr wrap="square">
            <a:spAutoFit/>
          </a:bodyPr>
          <a:lstStyle/>
          <a:p>
            <a:pPr algn="l"/>
            <a:r>
              <a:rPr sz="1050" b="0" i="0">
                <a:solidFill>
                  <a:srgbClr val="444444"/>
                </a:solidFill>
              </a:rPr>
              <a:t>Memastikan data yang diinput sesuai format dan ketentuan yang berlaku.</a:t>
            </a:r>
          </a:p>
        </p:txBody>
      </p:sp>
      <p:sp>
        <p:nvSpPr>
          <p:cNvPr id="21" name="Rectangle 20"/>
          <p:cNvSpPr/>
          <p:nvPr/>
        </p:nvSpPr>
        <p:spPr>
          <a:xfrm>
            <a:off x="457200" y="4965192"/>
            <a:ext cx="201168" cy="20116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937760"/>
            <a:ext cx="201168" cy="256032"/>
          </a:xfrm>
          <a:prstGeom prst="rect">
            <a:avLst/>
          </a:prstGeom>
          <a:noFill/>
        </p:spPr>
        <p:txBody>
          <a:bodyPr wrap="square">
            <a:spAutoFit/>
          </a:bodyPr>
          <a:lstStyle/>
          <a:p>
            <a:pPr algn="ctr"/>
            <a:r>
              <a:rPr sz="900" b="1" i="0">
                <a:solidFill>
                  <a:srgbClr val="FFFFFF"/>
                </a:solidFill>
              </a:rPr>
              <a:t>3</a:t>
            </a:r>
          </a:p>
        </p:txBody>
      </p:sp>
      <p:sp>
        <p:nvSpPr>
          <p:cNvPr id="23" name="TextBox 22"/>
          <p:cNvSpPr txBox="1"/>
          <p:nvPr/>
        </p:nvSpPr>
        <p:spPr>
          <a:xfrm>
            <a:off x="749808" y="4901184"/>
            <a:ext cx="5212080" cy="457200"/>
          </a:xfrm>
          <a:prstGeom prst="rect">
            <a:avLst/>
          </a:prstGeom>
          <a:noFill/>
        </p:spPr>
        <p:txBody>
          <a:bodyPr wrap="square">
            <a:spAutoFit/>
          </a:bodyPr>
          <a:lstStyle/>
          <a:p>
            <a:pPr algn="l"/>
            <a:r>
              <a:rPr sz="1050" b="0" i="0">
                <a:solidFill>
                  <a:srgbClr val="444444"/>
                </a:solidFill>
              </a:rPr>
              <a:t>Meminimalkan kesalahan dalam proses input dan pengajuan Rencana Aksi.</a:t>
            </a:r>
          </a:p>
        </p:txBody>
      </p:sp>
      <p:sp>
        <p:nvSpPr>
          <p:cNvPr id="24" name="Rectangle 23"/>
          <p:cNvSpPr/>
          <p:nvPr/>
        </p:nvSpPr>
        <p:spPr>
          <a:xfrm>
            <a:off x="457200" y="5458968"/>
            <a:ext cx="201168" cy="20116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431536"/>
            <a:ext cx="201168" cy="256032"/>
          </a:xfrm>
          <a:prstGeom prst="rect">
            <a:avLst/>
          </a:prstGeom>
          <a:noFill/>
        </p:spPr>
        <p:txBody>
          <a:bodyPr wrap="square">
            <a:spAutoFit/>
          </a:bodyPr>
          <a:lstStyle/>
          <a:p>
            <a:pPr algn="ctr"/>
            <a:r>
              <a:rPr sz="900" b="1" i="0">
                <a:solidFill>
                  <a:srgbClr val="FFFFFF"/>
                </a:solidFill>
              </a:rPr>
              <a:t>4</a:t>
            </a:r>
          </a:p>
        </p:txBody>
      </p:sp>
      <p:sp>
        <p:nvSpPr>
          <p:cNvPr id="26" name="TextBox 25"/>
          <p:cNvSpPr txBox="1"/>
          <p:nvPr/>
        </p:nvSpPr>
        <p:spPr>
          <a:xfrm>
            <a:off x="749808" y="5394960"/>
            <a:ext cx="5212080" cy="457200"/>
          </a:xfrm>
          <a:prstGeom prst="rect">
            <a:avLst/>
          </a:prstGeom>
          <a:noFill/>
        </p:spPr>
        <p:txBody>
          <a:bodyPr wrap="square">
            <a:spAutoFit/>
          </a:bodyPr>
          <a:lstStyle/>
          <a:p>
            <a:pPr algn="l"/>
            <a:r>
              <a:rPr sz="1050" b="0" i="0">
                <a:solidFill>
                  <a:srgbClr val="444444"/>
                </a:solidFill>
              </a:rPr>
              <a:t>Menjadi referensi saat terjadi kendala teknis di lapangan.</a:t>
            </a:r>
          </a:p>
        </p:txBody>
      </p:sp>
      <p:sp>
        <p:nvSpPr>
          <p:cNvPr id="27" name="Rectangle 26"/>
          <p:cNvSpPr/>
          <p:nvPr/>
        </p:nvSpPr>
        <p:spPr>
          <a:xfrm>
            <a:off x="6400800" y="1170432"/>
            <a:ext cx="5486400" cy="53492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1170432"/>
            <a:ext cx="5486400" cy="731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1280160"/>
            <a:ext cx="5120640" cy="347472"/>
          </a:xfrm>
          <a:prstGeom prst="rect">
            <a:avLst/>
          </a:prstGeom>
          <a:noFill/>
        </p:spPr>
        <p:txBody>
          <a:bodyPr wrap="square">
            <a:spAutoFit/>
          </a:bodyPr>
          <a:lstStyle/>
          <a:p>
            <a:pPr algn="l"/>
            <a:r>
              <a:rPr sz="1200" b="1" i="0">
                <a:solidFill>
                  <a:srgbClr val="1A376C"/>
                </a:solidFill>
              </a:rPr>
              <a:t>Informasi Dokumen</a:t>
            </a:r>
          </a:p>
        </p:txBody>
      </p:sp>
      <p:sp>
        <p:nvSpPr>
          <p:cNvPr id="30" name="Rectangle 29"/>
          <p:cNvSpPr/>
          <p:nvPr/>
        </p:nvSpPr>
        <p:spPr>
          <a:xfrm>
            <a:off x="6400800" y="1755648"/>
            <a:ext cx="5486400" cy="6400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37960" y="1847088"/>
            <a:ext cx="2194560" cy="475488"/>
          </a:xfrm>
          <a:prstGeom prst="rect">
            <a:avLst/>
          </a:prstGeom>
          <a:noFill/>
        </p:spPr>
        <p:txBody>
          <a:bodyPr wrap="square">
            <a:spAutoFit/>
          </a:bodyPr>
          <a:lstStyle/>
          <a:p>
            <a:pPr algn="l"/>
            <a:r>
              <a:rPr sz="1000" b="1" i="0">
                <a:solidFill>
                  <a:srgbClr val="1A376C"/>
                </a:solidFill>
              </a:rPr>
              <a:t>Nama Sistem</a:t>
            </a:r>
          </a:p>
        </p:txBody>
      </p:sp>
      <p:sp>
        <p:nvSpPr>
          <p:cNvPr id="32" name="TextBox 31"/>
          <p:cNvSpPr txBox="1"/>
          <p:nvPr/>
        </p:nvSpPr>
        <p:spPr>
          <a:xfrm>
            <a:off x="8778240" y="1847088"/>
            <a:ext cx="3017520" cy="475488"/>
          </a:xfrm>
          <a:prstGeom prst="rect">
            <a:avLst/>
          </a:prstGeom>
          <a:noFill/>
        </p:spPr>
        <p:txBody>
          <a:bodyPr wrap="square">
            <a:spAutoFit/>
          </a:bodyPr>
          <a:lstStyle/>
          <a:p>
            <a:pPr algn="l"/>
            <a:r>
              <a:rPr sz="1000" b="0" i="0">
                <a:solidFill>
                  <a:srgbClr val="444444"/>
                </a:solidFill>
              </a:rPr>
              <a:t>SIPITUNG</a:t>
            </a:r>
          </a:p>
        </p:txBody>
      </p:sp>
      <p:sp>
        <p:nvSpPr>
          <p:cNvPr id="33" name="Rectangle 32"/>
          <p:cNvSpPr/>
          <p:nvPr/>
        </p:nvSpPr>
        <p:spPr>
          <a:xfrm>
            <a:off x="6400800" y="2395728"/>
            <a:ext cx="54864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60" y="2487168"/>
            <a:ext cx="2194560" cy="475488"/>
          </a:xfrm>
          <a:prstGeom prst="rect">
            <a:avLst/>
          </a:prstGeom>
          <a:noFill/>
        </p:spPr>
        <p:txBody>
          <a:bodyPr wrap="square">
            <a:spAutoFit/>
          </a:bodyPr>
          <a:lstStyle/>
          <a:p>
            <a:pPr algn="l"/>
            <a:r>
              <a:rPr sz="1000" b="1" i="0">
                <a:solidFill>
                  <a:srgbClr val="1A376C"/>
                </a:solidFill>
              </a:rPr>
              <a:t>Versi</a:t>
            </a:r>
          </a:p>
        </p:txBody>
      </p:sp>
      <p:sp>
        <p:nvSpPr>
          <p:cNvPr id="35" name="TextBox 34"/>
          <p:cNvSpPr txBox="1"/>
          <p:nvPr/>
        </p:nvSpPr>
        <p:spPr>
          <a:xfrm>
            <a:off x="8778240" y="2487168"/>
            <a:ext cx="3017520" cy="475488"/>
          </a:xfrm>
          <a:prstGeom prst="rect">
            <a:avLst/>
          </a:prstGeom>
          <a:noFill/>
        </p:spPr>
        <p:txBody>
          <a:bodyPr wrap="square">
            <a:spAutoFit/>
          </a:bodyPr>
          <a:lstStyle/>
          <a:p>
            <a:pPr algn="l"/>
            <a:r>
              <a:rPr sz="1000" b="0" i="0">
                <a:solidFill>
                  <a:srgbClr val="444444"/>
                </a:solidFill>
              </a:rPr>
              <a:t>1.0</a:t>
            </a:r>
          </a:p>
        </p:txBody>
      </p:sp>
      <p:sp>
        <p:nvSpPr>
          <p:cNvPr id="36" name="Rectangle 35"/>
          <p:cNvSpPr/>
          <p:nvPr/>
        </p:nvSpPr>
        <p:spPr>
          <a:xfrm>
            <a:off x="6400800" y="3035808"/>
            <a:ext cx="5486400" cy="6400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37960" y="3127248"/>
            <a:ext cx="2194560" cy="475488"/>
          </a:xfrm>
          <a:prstGeom prst="rect">
            <a:avLst/>
          </a:prstGeom>
          <a:noFill/>
        </p:spPr>
        <p:txBody>
          <a:bodyPr wrap="square">
            <a:spAutoFit/>
          </a:bodyPr>
          <a:lstStyle/>
          <a:p>
            <a:pPr algn="l"/>
            <a:r>
              <a:rPr sz="1000" b="1" i="0">
                <a:solidFill>
                  <a:srgbClr val="1A376C"/>
                </a:solidFill>
              </a:rPr>
              <a:t>Tanggal Terbit</a:t>
            </a:r>
          </a:p>
        </p:txBody>
      </p:sp>
      <p:sp>
        <p:nvSpPr>
          <p:cNvPr id="38" name="TextBox 37"/>
          <p:cNvSpPr txBox="1"/>
          <p:nvPr/>
        </p:nvSpPr>
        <p:spPr>
          <a:xfrm>
            <a:off x="8778240" y="3127248"/>
            <a:ext cx="3017520" cy="475488"/>
          </a:xfrm>
          <a:prstGeom prst="rect">
            <a:avLst/>
          </a:prstGeom>
          <a:noFill/>
        </p:spPr>
        <p:txBody>
          <a:bodyPr wrap="square">
            <a:spAutoFit/>
          </a:bodyPr>
          <a:lstStyle/>
          <a:p>
            <a:pPr algn="l"/>
            <a:r>
              <a:rPr sz="1000" b="0" i="0">
                <a:solidFill>
                  <a:srgbClr val="444444"/>
                </a:solidFill>
              </a:rPr>
              <a:t>April 2026</a:t>
            </a:r>
          </a:p>
        </p:txBody>
      </p:sp>
      <p:sp>
        <p:nvSpPr>
          <p:cNvPr id="39" name="Rectangle 38"/>
          <p:cNvSpPr/>
          <p:nvPr/>
        </p:nvSpPr>
        <p:spPr>
          <a:xfrm>
            <a:off x="6400800" y="3675887"/>
            <a:ext cx="54864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37960" y="3767327"/>
            <a:ext cx="2194560" cy="475488"/>
          </a:xfrm>
          <a:prstGeom prst="rect">
            <a:avLst/>
          </a:prstGeom>
          <a:noFill/>
        </p:spPr>
        <p:txBody>
          <a:bodyPr wrap="square">
            <a:spAutoFit/>
          </a:bodyPr>
          <a:lstStyle/>
          <a:p>
            <a:pPr algn="l"/>
            <a:r>
              <a:rPr sz="1000" b="1" i="0">
                <a:solidFill>
                  <a:srgbClr val="1A376C"/>
                </a:solidFill>
              </a:rPr>
              <a:t>Pengguna</a:t>
            </a:r>
          </a:p>
        </p:txBody>
      </p:sp>
      <p:sp>
        <p:nvSpPr>
          <p:cNvPr id="41" name="TextBox 40"/>
          <p:cNvSpPr txBox="1"/>
          <p:nvPr/>
        </p:nvSpPr>
        <p:spPr>
          <a:xfrm>
            <a:off x="8778240" y="3767327"/>
            <a:ext cx="3017520" cy="475488"/>
          </a:xfrm>
          <a:prstGeom prst="rect">
            <a:avLst/>
          </a:prstGeom>
          <a:noFill/>
        </p:spPr>
        <p:txBody>
          <a:bodyPr wrap="square">
            <a:spAutoFit/>
          </a:bodyPr>
          <a:lstStyle/>
          <a:p>
            <a:pPr algn="l"/>
            <a:r>
              <a:rPr sz="1000" b="0" i="0">
                <a:solidFill>
                  <a:srgbClr val="444444"/>
                </a:solidFill>
              </a:rPr>
              <a:t>Ketua Tim Kerja</a:t>
            </a:r>
          </a:p>
        </p:txBody>
      </p:sp>
      <p:sp>
        <p:nvSpPr>
          <p:cNvPr id="42" name="Rectangle 41"/>
          <p:cNvSpPr/>
          <p:nvPr/>
        </p:nvSpPr>
        <p:spPr>
          <a:xfrm>
            <a:off x="6400800" y="4315968"/>
            <a:ext cx="5486400" cy="6400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37960" y="4407407"/>
            <a:ext cx="2194560" cy="475488"/>
          </a:xfrm>
          <a:prstGeom prst="rect">
            <a:avLst/>
          </a:prstGeom>
          <a:noFill/>
        </p:spPr>
        <p:txBody>
          <a:bodyPr wrap="square">
            <a:spAutoFit/>
          </a:bodyPr>
          <a:lstStyle/>
          <a:p>
            <a:pPr algn="l"/>
            <a:r>
              <a:rPr sz="1000" b="1" i="0">
                <a:solidFill>
                  <a:srgbClr val="1A376C"/>
                </a:solidFill>
              </a:rPr>
              <a:t>Modul</a:t>
            </a:r>
          </a:p>
        </p:txBody>
      </p:sp>
      <p:sp>
        <p:nvSpPr>
          <p:cNvPr id="44" name="TextBox 43"/>
          <p:cNvSpPr txBox="1"/>
          <p:nvPr/>
        </p:nvSpPr>
        <p:spPr>
          <a:xfrm>
            <a:off x="8778240" y="4407407"/>
            <a:ext cx="3017520" cy="475488"/>
          </a:xfrm>
          <a:prstGeom prst="rect">
            <a:avLst/>
          </a:prstGeom>
          <a:noFill/>
        </p:spPr>
        <p:txBody>
          <a:bodyPr wrap="square">
            <a:spAutoFit/>
          </a:bodyPr>
          <a:lstStyle/>
          <a:p>
            <a:pPr algn="l"/>
            <a:r>
              <a:rPr sz="1000" b="0" i="0">
                <a:solidFill>
                  <a:srgbClr val="444444"/>
                </a:solidFill>
              </a:rPr>
              <a:t>Perencanaan &gt; Rencana Aksi &gt; Penyusunan</a:t>
            </a:r>
          </a:p>
        </p:txBody>
      </p:sp>
      <p:sp>
        <p:nvSpPr>
          <p:cNvPr id="45" name="Rectangle 44"/>
          <p:cNvSpPr/>
          <p:nvPr/>
        </p:nvSpPr>
        <p:spPr>
          <a:xfrm>
            <a:off x="6400800" y="4956048"/>
            <a:ext cx="54864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37960" y="5047488"/>
            <a:ext cx="2194560" cy="475488"/>
          </a:xfrm>
          <a:prstGeom prst="rect">
            <a:avLst/>
          </a:prstGeom>
          <a:noFill/>
        </p:spPr>
        <p:txBody>
          <a:bodyPr wrap="square">
            <a:spAutoFit/>
          </a:bodyPr>
          <a:lstStyle/>
          <a:p>
            <a:pPr algn="l"/>
            <a:r>
              <a:rPr sz="1000" b="1" i="0">
                <a:solidFill>
                  <a:srgbClr val="1A376C"/>
                </a:solidFill>
              </a:rPr>
              <a:t>Instansi</a:t>
            </a:r>
          </a:p>
        </p:txBody>
      </p:sp>
      <p:sp>
        <p:nvSpPr>
          <p:cNvPr id="47" name="TextBox 46"/>
          <p:cNvSpPr txBox="1"/>
          <p:nvPr/>
        </p:nvSpPr>
        <p:spPr>
          <a:xfrm>
            <a:off x="8778240" y="5047488"/>
            <a:ext cx="3017520" cy="475488"/>
          </a:xfrm>
          <a:prstGeom prst="rect">
            <a:avLst/>
          </a:prstGeom>
          <a:noFill/>
        </p:spPr>
        <p:txBody>
          <a:bodyPr wrap="square">
            <a:spAutoFit/>
          </a:bodyPr>
          <a:lstStyle/>
          <a:p>
            <a:pPr algn="l"/>
            <a:r>
              <a:rPr sz="1000" b="0" i="0">
                <a:solidFill>
                  <a:srgbClr val="444444"/>
                </a:solidFill>
              </a:rPr>
              <a:t>LLDIKTI Wilayah III</a:t>
            </a:r>
          </a:p>
        </p:txBody>
      </p:sp>
      <p:sp>
        <p:nvSpPr>
          <p:cNvPr id="48" name="Rectangle 47"/>
          <p:cNvSpPr/>
          <p:nvPr/>
        </p:nvSpPr>
        <p:spPr>
          <a:xfrm>
            <a:off x="6400800" y="5596127"/>
            <a:ext cx="5486400" cy="6400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37960" y="5687567"/>
            <a:ext cx="2194560" cy="475488"/>
          </a:xfrm>
          <a:prstGeom prst="rect">
            <a:avLst/>
          </a:prstGeom>
          <a:noFill/>
        </p:spPr>
        <p:txBody>
          <a:bodyPr wrap="square">
            <a:spAutoFit/>
          </a:bodyPr>
          <a:lstStyle/>
          <a:p>
            <a:pPr algn="l"/>
            <a:r>
              <a:rPr sz="1000" b="1" i="0">
                <a:solidFill>
                  <a:srgbClr val="1A376C"/>
                </a:solidFill>
              </a:rPr>
              <a:t>Kontak</a:t>
            </a:r>
          </a:p>
        </p:txBody>
      </p:sp>
      <p:sp>
        <p:nvSpPr>
          <p:cNvPr id="50" name="TextBox 49"/>
          <p:cNvSpPr txBox="1"/>
          <p:nvPr/>
        </p:nvSpPr>
        <p:spPr>
          <a:xfrm>
            <a:off x="8778240" y="5687567"/>
            <a:ext cx="3017520" cy="475488"/>
          </a:xfrm>
          <a:prstGeom prst="rect">
            <a:avLst/>
          </a:prstGeom>
          <a:noFill/>
        </p:spPr>
        <p:txBody>
          <a:bodyPr wrap="square">
            <a:spAutoFit/>
          </a:bodyPr>
          <a:lstStyle/>
          <a:p>
            <a:pPr algn="l"/>
            <a:r>
              <a:rPr sz="1000" b="0" i="0">
                <a:solidFill>
                  <a:srgbClr val="444444"/>
                </a:solidFill>
              </a:rPr>
              <a:t>Admin Sistem — ext.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I-02  |  Ketentuan Umum &amp; Ruang Lingkup</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Batasan pengguna dan aturan yang wajib diketahui</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 Ketua Tim Kerja (Rencana Aksi)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6 / —</a:t>
            </a:r>
          </a:p>
        </p:txBody>
      </p:sp>
      <p:sp>
        <p:nvSpPr>
          <p:cNvPr id="10" name="Rectangle 9"/>
          <p:cNvSpPr/>
          <p:nvPr/>
        </p:nvSpPr>
        <p:spPr>
          <a:xfrm>
            <a:off x="365760" y="1261872"/>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61872"/>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335024"/>
            <a:ext cx="502920"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28800"/>
            <a:ext cx="347472" cy="502920"/>
          </a:xfrm>
          <a:prstGeom prst="rect">
            <a:avLst/>
          </a:prstGeom>
          <a:noFill/>
        </p:spPr>
        <p:txBody>
          <a:bodyPr wrap="square">
            <a:spAutoFit/>
          </a:bodyPr>
          <a:lstStyle/>
          <a:p>
            <a:pPr algn="ctr"/>
            <a:r>
              <a:rPr sz="2200" b="1" i="0">
                <a:solidFill>
                  <a:srgbClr val="1A376C"/>
                </a:solidFill>
              </a:rPr>
              <a:t>1</a:t>
            </a:r>
          </a:p>
        </p:txBody>
      </p:sp>
      <p:sp>
        <p:nvSpPr>
          <p:cNvPr id="14" name="TextBox 13"/>
          <p:cNvSpPr txBox="1"/>
          <p:nvPr/>
        </p:nvSpPr>
        <p:spPr>
          <a:xfrm>
            <a:off x="960120" y="1371600"/>
            <a:ext cx="4846320" cy="292608"/>
          </a:xfrm>
          <a:prstGeom prst="rect">
            <a:avLst/>
          </a:prstGeom>
          <a:noFill/>
        </p:spPr>
        <p:txBody>
          <a:bodyPr wrap="square">
            <a:spAutoFit/>
          </a:bodyPr>
          <a:lstStyle/>
          <a:p>
            <a:pPr algn="l"/>
            <a:r>
              <a:rPr sz="1100" b="1" i="0">
                <a:solidFill>
                  <a:srgbClr val="1A376C"/>
                </a:solidFill>
              </a:rPr>
              <a:t>Akun Aktif</a:t>
            </a:r>
          </a:p>
        </p:txBody>
      </p:sp>
      <p:sp>
        <p:nvSpPr>
          <p:cNvPr id="15" name="Rectangle 14"/>
          <p:cNvSpPr/>
          <p:nvPr/>
        </p:nvSpPr>
        <p:spPr>
          <a:xfrm>
            <a:off x="960120" y="1682495"/>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737360"/>
            <a:ext cx="4892040" cy="1152144"/>
          </a:xfrm>
          <a:prstGeom prst="rect">
            <a:avLst/>
          </a:prstGeom>
          <a:noFill/>
        </p:spPr>
        <p:txBody>
          <a:bodyPr wrap="square">
            <a:spAutoFit/>
          </a:bodyPr>
          <a:lstStyle/>
          <a:p>
            <a:pPr algn="l"/>
            <a:r>
              <a:rPr sz="950" b="0" i="0">
                <a:solidFill>
                  <a:srgbClr val="444444"/>
                </a:solidFill>
              </a:rPr>
              <a:t>Pengguna harus memiliki akun dengan status aktif. Hubungi Admin jika tidak dapat login.</a:t>
            </a:r>
          </a:p>
        </p:txBody>
      </p:sp>
      <p:sp>
        <p:nvSpPr>
          <p:cNvPr id="17" name="Rectangle 16"/>
          <p:cNvSpPr/>
          <p:nvPr/>
        </p:nvSpPr>
        <p:spPr>
          <a:xfrm>
            <a:off x="6309360" y="1261872"/>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261872"/>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335024"/>
            <a:ext cx="502920"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828800"/>
            <a:ext cx="347472" cy="502920"/>
          </a:xfrm>
          <a:prstGeom prst="rect">
            <a:avLst/>
          </a:prstGeom>
          <a:noFill/>
        </p:spPr>
        <p:txBody>
          <a:bodyPr wrap="square">
            <a:spAutoFit/>
          </a:bodyPr>
          <a:lstStyle/>
          <a:p>
            <a:pPr algn="ctr"/>
            <a:r>
              <a:rPr sz="2200" b="1" i="0">
                <a:solidFill>
                  <a:srgbClr val="1A376C"/>
                </a:solidFill>
              </a:rPr>
              <a:t>2</a:t>
            </a:r>
          </a:p>
        </p:txBody>
      </p:sp>
      <p:sp>
        <p:nvSpPr>
          <p:cNvPr id="21" name="TextBox 20"/>
          <p:cNvSpPr txBox="1"/>
          <p:nvPr/>
        </p:nvSpPr>
        <p:spPr>
          <a:xfrm>
            <a:off x="6903720" y="1371600"/>
            <a:ext cx="4846320" cy="292608"/>
          </a:xfrm>
          <a:prstGeom prst="rect">
            <a:avLst/>
          </a:prstGeom>
          <a:noFill/>
        </p:spPr>
        <p:txBody>
          <a:bodyPr wrap="square">
            <a:spAutoFit/>
          </a:bodyPr>
          <a:lstStyle/>
          <a:p>
            <a:pPr algn="l"/>
            <a:r>
              <a:rPr sz="1100" b="1" i="0">
                <a:solidFill>
                  <a:srgbClr val="1A376C"/>
                </a:solidFill>
              </a:rPr>
              <a:t>Kelengkapan Data</a:t>
            </a:r>
          </a:p>
        </p:txBody>
      </p:sp>
      <p:sp>
        <p:nvSpPr>
          <p:cNvPr id="22" name="Rectangle 21"/>
          <p:cNvSpPr/>
          <p:nvPr/>
        </p:nvSpPr>
        <p:spPr>
          <a:xfrm>
            <a:off x="6903720" y="1682495"/>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03720" y="1737360"/>
            <a:ext cx="4892040" cy="1152144"/>
          </a:xfrm>
          <a:prstGeom prst="rect">
            <a:avLst/>
          </a:prstGeom>
          <a:noFill/>
        </p:spPr>
        <p:txBody>
          <a:bodyPr wrap="square">
            <a:spAutoFit/>
          </a:bodyPr>
          <a:lstStyle/>
          <a:p>
            <a:pPr algn="l"/>
            <a:r>
              <a:rPr sz="950" b="0" i="0">
                <a:solidFill>
                  <a:srgbClr val="444444"/>
                </a:solidFill>
              </a:rPr>
              <a:t>Semua IKU yang tampil wajib diisi target TW I–IV sebelum dokumen dapat disubmit.</a:t>
            </a:r>
          </a:p>
        </p:txBody>
      </p:sp>
      <p:sp>
        <p:nvSpPr>
          <p:cNvPr id="24" name="Rectangle 23"/>
          <p:cNvSpPr/>
          <p:nvPr/>
        </p:nvSpPr>
        <p:spPr>
          <a:xfrm>
            <a:off x="365760" y="3017520"/>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017520"/>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3090672"/>
            <a:ext cx="502920"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584448"/>
            <a:ext cx="347472" cy="502920"/>
          </a:xfrm>
          <a:prstGeom prst="rect">
            <a:avLst/>
          </a:prstGeom>
          <a:noFill/>
        </p:spPr>
        <p:txBody>
          <a:bodyPr wrap="square">
            <a:spAutoFit/>
          </a:bodyPr>
          <a:lstStyle/>
          <a:p>
            <a:pPr algn="ctr"/>
            <a:r>
              <a:rPr sz="2200" b="1" i="0">
                <a:solidFill>
                  <a:srgbClr val="1A376C"/>
                </a:solidFill>
              </a:rPr>
              <a:t>3</a:t>
            </a:r>
          </a:p>
        </p:txBody>
      </p:sp>
      <p:sp>
        <p:nvSpPr>
          <p:cNvPr id="28" name="TextBox 27"/>
          <p:cNvSpPr txBox="1"/>
          <p:nvPr/>
        </p:nvSpPr>
        <p:spPr>
          <a:xfrm>
            <a:off x="960120" y="3127248"/>
            <a:ext cx="4846320" cy="292608"/>
          </a:xfrm>
          <a:prstGeom prst="rect">
            <a:avLst/>
          </a:prstGeom>
          <a:noFill/>
        </p:spPr>
        <p:txBody>
          <a:bodyPr wrap="square">
            <a:spAutoFit/>
          </a:bodyPr>
          <a:lstStyle/>
          <a:p>
            <a:pPr algn="l"/>
            <a:r>
              <a:rPr sz="1100" b="1" i="0">
                <a:solidFill>
                  <a:srgbClr val="1A376C"/>
                </a:solidFill>
              </a:rPr>
              <a:t>Dokumen Tersubmit</a:t>
            </a:r>
          </a:p>
        </p:txBody>
      </p:sp>
      <p:sp>
        <p:nvSpPr>
          <p:cNvPr id="29" name="Rectangle 28"/>
          <p:cNvSpPr/>
          <p:nvPr/>
        </p:nvSpPr>
        <p:spPr>
          <a:xfrm>
            <a:off x="960120" y="3438144"/>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3493008"/>
            <a:ext cx="4892040" cy="1152144"/>
          </a:xfrm>
          <a:prstGeom prst="rect">
            <a:avLst/>
          </a:prstGeom>
          <a:noFill/>
        </p:spPr>
        <p:txBody>
          <a:bodyPr wrap="square">
            <a:spAutoFit/>
          </a:bodyPr>
          <a:lstStyle/>
          <a:p>
            <a:pPr algn="l"/>
            <a:r>
              <a:rPr sz="950" b="0" i="0">
                <a:solidFill>
                  <a:srgbClr val="444444"/>
                </a:solidFill>
              </a:rPr>
              <a:t>Dokumen yang telah disubmit tidak dapat diubah, kecuali dikembalikan oleh Kabag Umum.</a:t>
            </a:r>
          </a:p>
        </p:txBody>
      </p:sp>
      <p:sp>
        <p:nvSpPr>
          <p:cNvPr id="31" name="Rectangle 30"/>
          <p:cNvSpPr/>
          <p:nvPr/>
        </p:nvSpPr>
        <p:spPr>
          <a:xfrm>
            <a:off x="6309360" y="3017520"/>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3017520"/>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3090672"/>
            <a:ext cx="502920"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3584448"/>
            <a:ext cx="347472" cy="502920"/>
          </a:xfrm>
          <a:prstGeom prst="rect">
            <a:avLst/>
          </a:prstGeom>
          <a:noFill/>
        </p:spPr>
        <p:txBody>
          <a:bodyPr wrap="square">
            <a:spAutoFit/>
          </a:bodyPr>
          <a:lstStyle/>
          <a:p>
            <a:pPr algn="ctr"/>
            <a:r>
              <a:rPr sz="2200" b="1" i="0">
                <a:solidFill>
                  <a:srgbClr val="1A376C"/>
                </a:solidFill>
              </a:rPr>
              <a:t>4</a:t>
            </a:r>
          </a:p>
        </p:txBody>
      </p:sp>
      <p:sp>
        <p:nvSpPr>
          <p:cNvPr id="35" name="TextBox 34"/>
          <p:cNvSpPr txBox="1"/>
          <p:nvPr/>
        </p:nvSpPr>
        <p:spPr>
          <a:xfrm>
            <a:off x="6903720" y="3127248"/>
            <a:ext cx="4846320" cy="292608"/>
          </a:xfrm>
          <a:prstGeom prst="rect">
            <a:avLst/>
          </a:prstGeom>
          <a:noFill/>
        </p:spPr>
        <p:txBody>
          <a:bodyPr wrap="square">
            <a:spAutoFit/>
          </a:bodyPr>
          <a:lstStyle/>
          <a:p>
            <a:pPr algn="l"/>
            <a:r>
              <a:rPr sz="1100" b="1" i="0">
                <a:solidFill>
                  <a:srgbClr val="1A376C"/>
                </a:solidFill>
              </a:rPr>
              <a:t>IKU Kolaborasi</a:t>
            </a:r>
          </a:p>
        </p:txBody>
      </p:sp>
      <p:sp>
        <p:nvSpPr>
          <p:cNvPr id="36" name="Rectangle 35"/>
          <p:cNvSpPr/>
          <p:nvPr/>
        </p:nvSpPr>
        <p:spPr>
          <a:xfrm>
            <a:off x="6903720" y="3438144"/>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03720" y="3493008"/>
            <a:ext cx="4892040" cy="1152144"/>
          </a:xfrm>
          <a:prstGeom prst="rect">
            <a:avLst/>
          </a:prstGeom>
          <a:noFill/>
        </p:spPr>
        <p:txBody>
          <a:bodyPr wrap="square">
            <a:spAutoFit/>
          </a:bodyPr>
          <a:lstStyle/>
          <a:p>
            <a:pPr algn="l"/>
            <a:r>
              <a:rPr sz="950" b="0" i="0">
                <a:solidFill>
                  <a:srgbClr val="444444"/>
                </a:solidFill>
              </a:rPr>
              <a:t>Target pada IKU kolaborasi diisi bersama, namun masing-masing tim mengisi rencana kegiatannya.</a:t>
            </a:r>
          </a:p>
        </p:txBody>
      </p:sp>
      <p:sp>
        <p:nvSpPr>
          <p:cNvPr id="38" name="Rectangle 37"/>
          <p:cNvSpPr/>
          <p:nvPr/>
        </p:nvSpPr>
        <p:spPr>
          <a:xfrm>
            <a:off x="365760" y="4773168"/>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4773168"/>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4846320"/>
            <a:ext cx="502920"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5340096"/>
            <a:ext cx="347472" cy="502920"/>
          </a:xfrm>
          <a:prstGeom prst="rect">
            <a:avLst/>
          </a:prstGeom>
          <a:noFill/>
        </p:spPr>
        <p:txBody>
          <a:bodyPr wrap="square">
            <a:spAutoFit/>
          </a:bodyPr>
          <a:lstStyle/>
          <a:p>
            <a:pPr algn="ctr"/>
            <a:r>
              <a:rPr sz="2200" b="1" i="0">
                <a:solidFill>
                  <a:srgbClr val="1A376C"/>
                </a:solidFill>
              </a:rPr>
              <a:t>5</a:t>
            </a:r>
          </a:p>
        </p:txBody>
      </p:sp>
      <p:sp>
        <p:nvSpPr>
          <p:cNvPr id="42" name="TextBox 41"/>
          <p:cNvSpPr txBox="1"/>
          <p:nvPr/>
        </p:nvSpPr>
        <p:spPr>
          <a:xfrm>
            <a:off x="960120" y="4882896"/>
            <a:ext cx="4846320" cy="292608"/>
          </a:xfrm>
          <a:prstGeom prst="rect">
            <a:avLst/>
          </a:prstGeom>
          <a:noFill/>
        </p:spPr>
        <p:txBody>
          <a:bodyPr wrap="square">
            <a:spAutoFit/>
          </a:bodyPr>
          <a:lstStyle/>
          <a:p>
            <a:pPr algn="l"/>
            <a:r>
              <a:rPr sz="1100" b="1" i="0">
                <a:solidFill>
                  <a:srgbClr val="1A376C"/>
                </a:solidFill>
              </a:rPr>
              <a:t>Kerahasiaan Akun</a:t>
            </a:r>
          </a:p>
        </p:txBody>
      </p:sp>
      <p:sp>
        <p:nvSpPr>
          <p:cNvPr id="43" name="Rectangle 42"/>
          <p:cNvSpPr/>
          <p:nvPr/>
        </p:nvSpPr>
        <p:spPr>
          <a:xfrm>
            <a:off x="960120" y="519379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 y="5248656"/>
            <a:ext cx="4892040" cy="1152144"/>
          </a:xfrm>
          <a:prstGeom prst="rect">
            <a:avLst/>
          </a:prstGeom>
          <a:noFill/>
        </p:spPr>
        <p:txBody>
          <a:bodyPr wrap="square">
            <a:spAutoFit/>
          </a:bodyPr>
          <a:lstStyle/>
          <a:p>
            <a:pPr algn="l"/>
            <a:r>
              <a:rPr sz="950" b="0" i="0">
                <a:solidFill>
                  <a:srgbClr val="444444"/>
                </a:solidFill>
              </a:rPr>
              <a:t>Username dan password bersifat rahasia. Jangan berbagi akun dengan pihak lain.</a:t>
            </a:r>
          </a:p>
        </p:txBody>
      </p:sp>
      <p:sp>
        <p:nvSpPr>
          <p:cNvPr id="45" name="Rectangle 44"/>
          <p:cNvSpPr/>
          <p:nvPr/>
        </p:nvSpPr>
        <p:spPr>
          <a:xfrm>
            <a:off x="6309360" y="4773168"/>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4773168"/>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4846320"/>
            <a:ext cx="502920"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5340096"/>
            <a:ext cx="347472" cy="502920"/>
          </a:xfrm>
          <a:prstGeom prst="rect">
            <a:avLst/>
          </a:prstGeom>
          <a:noFill/>
        </p:spPr>
        <p:txBody>
          <a:bodyPr wrap="square">
            <a:spAutoFit/>
          </a:bodyPr>
          <a:lstStyle/>
          <a:p>
            <a:pPr algn="ctr"/>
            <a:r>
              <a:rPr sz="2200" b="1" i="0">
                <a:solidFill>
                  <a:srgbClr val="1A376C"/>
                </a:solidFill>
              </a:rPr>
              <a:t>6</a:t>
            </a:r>
          </a:p>
        </p:txBody>
      </p:sp>
      <p:sp>
        <p:nvSpPr>
          <p:cNvPr id="49" name="TextBox 48"/>
          <p:cNvSpPr txBox="1"/>
          <p:nvPr/>
        </p:nvSpPr>
        <p:spPr>
          <a:xfrm>
            <a:off x="6903720" y="4882896"/>
            <a:ext cx="4846320" cy="292608"/>
          </a:xfrm>
          <a:prstGeom prst="rect">
            <a:avLst/>
          </a:prstGeom>
          <a:noFill/>
        </p:spPr>
        <p:txBody>
          <a:bodyPr wrap="square">
            <a:spAutoFit/>
          </a:bodyPr>
          <a:lstStyle/>
          <a:p>
            <a:pPr algn="l"/>
            <a:r>
              <a:rPr sz="1100" b="1" i="0">
                <a:solidFill>
                  <a:srgbClr val="1A376C"/>
                </a:solidFill>
              </a:rPr>
              <a:t>Format Username</a:t>
            </a:r>
          </a:p>
        </p:txBody>
      </p:sp>
      <p:sp>
        <p:nvSpPr>
          <p:cNvPr id="50" name="Rectangle 49"/>
          <p:cNvSpPr/>
          <p:nvPr/>
        </p:nvSpPr>
        <p:spPr>
          <a:xfrm>
            <a:off x="6903720" y="519379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03720" y="5248656"/>
            <a:ext cx="4892040" cy="1152144"/>
          </a:xfrm>
          <a:prstGeom prst="rect">
            <a:avLst/>
          </a:prstGeom>
          <a:noFill/>
        </p:spPr>
        <p:txBody>
          <a:bodyPr wrap="square">
            <a:spAutoFit/>
          </a:bodyPr>
          <a:lstStyle/>
          <a:p>
            <a:pPr algn="l"/>
            <a:r>
              <a:rPr sz="950" b="0" i="0">
                <a:solidFill>
                  <a:srgbClr val="444444"/>
                </a:solidFill>
              </a:rPr>
              <a:t>Username Ketua Tim Kerja mengikuti format ketua.xxx (contoh: ketua.pk, ketua.hmk).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I-03  |  Login &amp; Navigasi Menu</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Masuk ke aplikasi dan membuka halaman Penyusunan Rencana Aksi</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 Ketua Tim Kerja (Rencana Aksi)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7 / —</a:t>
            </a:r>
          </a:p>
        </p:txBody>
      </p:sp>
      <p:sp>
        <p:nvSpPr>
          <p:cNvPr id="10" name="Rectangle 9"/>
          <p:cNvSpPr/>
          <p:nvPr/>
        </p:nvSpPr>
        <p:spPr>
          <a:xfrm>
            <a:off x="365760" y="1234440"/>
            <a:ext cx="11430000" cy="47548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261872"/>
            <a:ext cx="2560320" cy="420624"/>
          </a:xfrm>
          <a:prstGeom prst="rect">
            <a:avLst/>
          </a:prstGeom>
          <a:solidFill>
            <a:srgbClr val="E0E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289304"/>
            <a:ext cx="2377440" cy="365760"/>
          </a:xfrm>
          <a:prstGeom prst="rect">
            <a:avLst/>
          </a:prstGeom>
          <a:noFill/>
        </p:spPr>
        <p:txBody>
          <a:bodyPr wrap="square">
            <a:spAutoFit/>
          </a:bodyPr>
          <a:lstStyle/>
          <a:p>
            <a:pPr algn="l"/>
            <a:r>
              <a:rPr sz="1000" b="0" i="0">
                <a:solidFill>
                  <a:srgbClr val="1A376C"/>
                </a:solidFill>
              </a:rPr>
              <a:t>Dashboard</a:t>
            </a:r>
          </a:p>
        </p:txBody>
      </p:sp>
      <p:sp>
        <p:nvSpPr>
          <p:cNvPr id="13" name="Rectangle 12"/>
          <p:cNvSpPr/>
          <p:nvPr/>
        </p:nvSpPr>
        <p:spPr>
          <a:xfrm>
            <a:off x="3291840" y="1261872"/>
            <a:ext cx="2560320" cy="42062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1289304"/>
            <a:ext cx="2377440" cy="365760"/>
          </a:xfrm>
          <a:prstGeom prst="rect">
            <a:avLst/>
          </a:prstGeom>
          <a:noFill/>
        </p:spPr>
        <p:txBody>
          <a:bodyPr wrap="square">
            <a:spAutoFit/>
          </a:bodyPr>
          <a:lstStyle/>
          <a:p>
            <a:pPr algn="l"/>
            <a:r>
              <a:rPr sz="1000" b="0" i="0">
                <a:solidFill>
                  <a:srgbClr val="FFFFFF"/>
                </a:solidFill>
              </a:rPr>
              <a:t>▶  Perencanaan</a:t>
            </a:r>
          </a:p>
        </p:txBody>
      </p:sp>
      <p:sp>
        <p:nvSpPr>
          <p:cNvPr id="15" name="Rectangle 14"/>
          <p:cNvSpPr/>
          <p:nvPr/>
        </p:nvSpPr>
        <p:spPr>
          <a:xfrm>
            <a:off x="6126480" y="1261872"/>
            <a:ext cx="2560320" cy="42062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289304"/>
            <a:ext cx="2377440" cy="365760"/>
          </a:xfrm>
          <a:prstGeom prst="rect">
            <a:avLst/>
          </a:prstGeom>
          <a:noFill/>
        </p:spPr>
        <p:txBody>
          <a:bodyPr wrap="square">
            <a:spAutoFit/>
          </a:bodyPr>
          <a:lstStyle/>
          <a:p>
            <a:pPr algn="l"/>
            <a:r>
              <a:rPr sz="1000" b="0" i="0">
                <a:solidFill>
                  <a:srgbClr val="FFFFFF"/>
                </a:solidFill>
              </a:rPr>
              <a:t>▶  Rencana Aksi</a:t>
            </a:r>
          </a:p>
        </p:txBody>
      </p:sp>
      <p:sp>
        <p:nvSpPr>
          <p:cNvPr id="17" name="Rectangle 16"/>
          <p:cNvSpPr/>
          <p:nvPr/>
        </p:nvSpPr>
        <p:spPr>
          <a:xfrm>
            <a:off x="8961120" y="1261872"/>
            <a:ext cx="2560320" cy="420624"/>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1289304"/>
            <a:ext cx="2377440" cy="365760"/>
          </a:xfrm>
          <a:prstGeom prst="rect">
            <a:avLst/>
          </a:prstGeom>
          <a:noFill/>
        </p:spPr>
        <p:txBody>
          <a:bodyPr wrap="square">
            <a:spAutoFit/>
          </a:bodyPr>
          <a:lstStyle/>
          <a:p>
            <a:pPr algn="l"/>
            <a:r>
              <a:rPr sz="1000" b="1" i="0">
                <a:solidFill>
                  <a:srgbClr val="FFFFFF"/>
                </a:solidFill>
              </a:rPr>
              <a:t>▶  Penyusunan</a:t>
            </a:r>
          </a:p>
        </p:txBody>
      </p:sp>
      <p:sp>
        <p:nvSpPr>
          <p:cNvPr id="19" name="Rectangle 18"/>
          <p:cNvSpPr/>
          <p:nvPr/>
        </p:nvSpPr>
        <p:spPr>
          <a:xfrm>
            <a:off x="365760" y="1828800"/>
            <a:ext cx="4114800" cy="45720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1828800"/>
            <a:ext cx="411480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1847088"/>
            <a:ext cx="3931920" cy="320040"/>
          </a:xfrm>
          <a:prstGeom prst="rect">
            <a:avLst/>
          </a:prstGeom>
          <a:noFill/>
        </p:spPr>
        <p:txBody>
          <a:bodyPr wrap="square">
            <a:spAutoFit/>
          </a:bodyPr>
          <a:lstStyle/>
          <a:p>
            <a:pPr algn="l"/>
            <a:r>
              <a:rPr sz="1000" b="1" i="0">
                <a:solidFill>
                  <a:srgbClr val="FFFFFF"/>
                </a:solidFill>
              </a:rPr>
              <a:t>Tampilan Login &amp; Sidebar Menu</a:t>
            </a:r>
          </a:p>
        </p:txBody>
      </p:sp>
      <p:sp>
        <p:nvSpPr>
          <p:cNvPr id="22" name="TextBox 21"/>
          <p:cNvSpPr txBox="1"/>
          <p:nvPr/>
        </p:nvSpPr>
        <p:spPr>
          <a:xfrm>
            <a:off x="640080" y="2331720"/>
            <a:ext cx="3703320" cy="3931920"/>
          </a:xfrm>
          <a:prstGeom prst="rect">
            <a:avLst/>
          </a:prstGeom>
          <a:noFill/>
        </p:spPr>
        <p:txBody>
          <a:bodyPr wrap="square">
            <a:spAutoFit/>
          </a:bodyPr>
          <a:lstStyle/>
          <a:p>
            <a:pPr algn="ctr"/>
            <a:r>
              <a:rPr sz="1000" b="0" i="1">
                <a:solidFill>
                  <a:srgbClr val="2E75B6"/>
                </a:solidFill>
              </a:rPr>
              <a:t>[ SCREENSHOT LOGIN &amp; SIDEBAR MENU ]
Tambahkan screenshot di sini</a:t>
            </a:r>
          </a:p>
        </p:txBody>
      </p:sp>
      <p:sp>
        <p:nvSpPr>
          <p:cNvPr id="23" name="TextBox 22"/>
          <p:cNvSpPr txBox="1"/>
          <p:nvPr/>
        </p:nvSpPr>
        <p:spPr>
          <a:xfrm>
            <a:off x="4800600" y="1847088"/>
            <a:ext cx="7040880" cy="347472"/>
          </a:xfrm>
          <a:prstGeom prst="rect">
            <a:avLst/>
          </a:prstGeom>
          <a:noFill/>
        </p:spPr>
        <p:txBody>
          <a:bodyPr wrap="square">
            <a:spAutoFit/>
          </a:bodyPr>
          <a:lstStyle/>
          <a:p>
            <a:pPr algn="l"/>
            <a:r>
              <a:rPr sz="1300" b="1" i="0">
                <a:solidFill>
                  <a:srgbClr val="1A376C"/>
                </a:solidFill>
              </a:rPr>
              <a:t>Langkah Login &amp; Navigasi</a:t>
            </a:r>
          </a:p>
        </p:txBody>
      </p:sp>
      <p:sp>
        <p:nvSpPr>
          <p:cNvPr id="24" name="Rectangle 23"/>
          <p:cNvSpPr/>
          <p:nvPr/>
        </p:nvSpPr>
        <p:spPr>
          <a:xfrm>
            <a:off x="4800600" y="1847088"/>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00600" y="2331720"/>
            <a:ext cx="7040880" cy="75895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800600" y="2331720"/>
            <a:ext cx="457200" cy="7589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2510027"/>
            <a:ext cx="457200" cy="402336"/>
          </a:xfrm>
          <a:prstGeom prst="rect">
            <a:avLst/>
          </a:prstGeom>
          <a:noFill/>
        </p:spPr>
        <p:txBody>
          <a:bodyPr wrap="square">
            <a:spAutoFit/>
          </a:bodyPr>
          <a:lstStyle/>
          <a:p>
            <a:pPr algn="ctr"/>
            <a:r>
              <a:rPr sz="1700" b="1" i="0">
                <a:solidFill>
                  <a:srgbClr val="FFFFFF"/>
                </a:solidFill>
              </a:rPr>
              <a:t>1</a:t>
            </a:r>
          </a:p>
        </p:txBody>
      </p:sp>
      <p:sp>
        <p:nvSpPr>
          <p:cNvPr id="28" name="TextBox 27"/>
          <p:cNvSpPr txBox="1"/>
          <p:nvPr/>
        </p:nvSpPr>
        <p:spPr>
          <a:xfrm>
            <a:off x="5330952" y="2377439"/>
            <a:ext cx="6446520" cy="274320"/>
          </a:xfrm>
          <a:prstGeom prst="rect">
            <a:avLst/>
          </a:prstGeom>
          <a:noFill/>
        </p:spPr>
        <p:txBody>
          <a:bodyPr wrap="square">
            <a:spAutoFit/>
          </a:bodyPr>
          <a:lstStyle/>
          <a:p>
            <a:pPr algn="l"/>
            <a:r>
              <a:rPr sz="1050" b="1" i="0">
                <a:solidFill>
                  <a:srgbClr val="1A376C"/>
                </a:solidFill>
              </a:rPr>
              <a:t>Buka &amp; Login</a:t>
            </a:r>
          </a:p>
        </p:txBody>
      </p:sp>
      <p:sp>
        <p:nvSpPr>
          <p:cNvPr id="29" name="TextBox 28"/>
          <p:cNvSpPr txBox="1"/>
          <p:nvPr/>
        </p:nvSpPr>
        <p:spPr>
          <a:xfrm>
            <a:off x="5330952" y="2660903"/>
            <a:ext cx="6446520" cy="374904"/>
          </a:xfrm>
          <a:prstGeom prst="rect">
            <a:avLst/>
          </a:prstGeom>
          <a:noFill/>
        </p:spPr>
        <p:txBody>
          <a:bodyPr wrap="square">
            <a:spAutoFit/>
          </a:bodyPr>
          <a:lstStyle/>
          <a:p>
            <a:pPr algn="l"/>
            <a:r>
              <a:rPr sz="950" b="0" i="0">
                <a:solidFill>
                  <a:srgbClr val="444444"/>
                </a:solidFill>
              </a:rPr>
              <a:t>Buka browser, akses URL SIPITUNG. Ketik username (ketua.xxx) dan password, klik "Masuk".</a:t>
            </a:r>
          </a:p>
        </p:txBody>
      </p:sp>
      <p:sp>
        <p:nvSpPr>
          <p:cNvPr id="30" name="Rectangle 29"/>
          <p:cNvSpPr/>
          <p:nvPr/>
        </p:nvSpPr>
        <p:spPr>
          <a:xfrm>
            <a:off x="4800600" y="3154679"/>
            <a:ext cx="7040880" cy="75895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800600" y="3154679"/>
            <a:ext cx="457200" cy="7589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00600" y="3332987"/>
            <a:ext cx="457200" cy="402336"/>
          </a:xfrm>
          <a:prstGeom prst="rect">
            <a:avLst/>
          </a:prstGeom>
          <a:noFill/>
        </p:spPr>
        <p:txBody>
          <a:bodyPr wrap="square">
            <a:spAutoFit/>
          </a:bodyPr>
          <a:lstStyle/>
          <a:p>
            <a:pPr algn="ctr"/>
            <a:r>
              <a:rPr sz="1700" b="1" i="0">
                <a:solidFill>
                  <a:srgbClr val="FFFFFF"/>
                </a:solidFill>
              </a:rPr>
              <a:t>2</a:t>
            </a:r>
          </a:p>
        </p:txBody>
      </p:sp>
      <p:sp>
        <p:nvSpPr>
          <p:cNvPr id="33" name="TextBox 32"/>
          <p:cNvSpPr txBox="1"/>
          <p:nvPr/>
        </p:nvSpPr>
        <p:spPr>
          <a:xfrm>
            <a:off x="5330952" y="3200399"/>
            <a:ext cx="6446520" cy="274320"/>
          </a:xfrm>
          <a:prstGeom prst="rect">
            <a:avLst/>
          </a:prstGeom>
          <a:noFill/>
        </p:spPr>
        <p:txBody>
          <a:bodyPr wrap="square">
            <a:spAutoFit/>
          </a:bodyPr>
          <a:lstStyle/>
          <a:p>
            <a:pPr algn="l"/>
            <a:r>
              <a:rPr sz="1050" b="1" i="0">
                <a:solidFill>
                  <a:srgbClr val="1A376C"/>
                </a:solidFill>
              </a:rPr>
              <a:t>Klik Perencanaan</a:t>
            </a:r>
          </a:p>
        </p:txBody>
      </p:sp>
      <p:sp>
        <p:nvSpPr>
          <p:cNvPr id="34" name="TextBox 33"/>
          <p:cNvSpPr txBox="1"/>
          <p:nvPr/>
        </p:nvSpPr>
        <p:spPr>
          <a:xfrm>
            <a:off x="5330952" y="3483863"/>
            <a:ext cx="6446520" cy="374904"/>
          </a:xfrm>
          <a:prstGeom prst="rect">
            <a:avLst/>
          </a:prstGeom>
          <a:noFill/>
        </p:spPr>
        <p:txBody>
          <a:bodyPr wrap="square">
            <a:spAutoFit/>
          </a:bodyPr>
          <a:lstStyle/>
          <a:p>
            <a:pPr algn="l"/>
            <a:r>
              <a:rPr sz="950" b="0" i="0">
                <a:solidFill>
                  <a:srgbClr val="444444"/>
                </a:solidFill>
              </a:rPr>
              <a:t>Pada sidebar kiri, klik menu 'Perencanaan' untuk memperluas submenu.</a:t>
            </a:r>
          </a:p>
        </p:txBody>
      </p:sp>
      <p:sp>
        <p:nvSpPr>
          <p:cNvPr id="35" name="Rectangle 34"/>
          <p:cNvSpPr/>
          <p:nvPr/>
        </p:nvSpPr>
        <p:spPr>
          <a:xfrm>
            <a:off x="4800600" y="3977639"/>
            <a:ext cx="7040880" cy="75895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800600" y="3977639"/>
            <a:ext cx="457200" cy="7589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00600" y="4155948"/>
            <a:ext cx="457200" cy="402336"/>
          </a:xfrm>
          <a:prstGeom prst="rect">
            <a:avLst/>
          </a:prstGeom>
          <a:noFill/>
        </p:spPr>
        <p:txBody>
          <a:bodyPr wrap="square">
            <a:spAutoFit/>
          </a:bodyPr>
          <a:lstStyle/>
          <a:p>
            <a:pPr algn="ctr"/>
            <a:r>
              <a:rPr sz="1700" b="1" i="0">
                <a:solidFill>
                  <a:srgbClr val="FFFFFF"/>
                </a:solidFill>
              </a:rPr>
              <a:t>3</a:t>
            </a:r>
          </a:p>
        </p:txBody>
      </p:sp>
      <p:sp>
        <p:nvSpPr>
          <p:cNvPr id="38" name="TextBox 37"/>
          <p:cNvSpPr txBox="1"/>
          <p:nvPr/>
        </p:nvSpPr>
        <p:spPr>
          <a:xfrm>
            <a:off x="5330952" y="4023359"/>
            <a:ext cx="6446520" cy="274320"/>
          </a:xfrm>
          <a:prstGeom prst="rect">
            <a:avLst/>
          </a:prstGeom>
          <a:noFill/>
        </p:spPr>
        <p:txBody>
          <a:bodyPr wrap="square">
            <a:spAutoFit/>
          </a:bodyPr>
          <a:lstStyle/>
          <a:p>
            <a:pPr algn="l"/>
            <a:r>
              <a:rPr sz="1050" b="1" i="0">
                <a:solidFill>
                  <a:srgbClr val="1A376C"/>
                </a:solidFill>
              </a:rPr>
              <a:t>Pilih Rencana Aksi</a:t>
            </a:r>
          </a:p>
        </p:txBody>
      </p:sp>
      <p:sp>
        <p:nvSpPr>
          <p:cNvPr id="39" name="TextBox 38"/>
          <p:cNvSpPr txBox="1"/>
          <p:nvPr/>
        </p:nvSpPr>
        <p:spPr>
          <a:xfrm>
            <a:off x="5330952" y="4306824"/>
            <a:ext cx="6446520" cy="374904"/>
          </a:xfrm>
          <a:prstGeom prst="rect">
            <a:avLst/>
          </a:prstGeom>
          <a:noFill/>
        </p:spPr>
        <p:txBody>
          <a:bodyPr wrap="square">
            <a:spAutoFit/>
          </a:bodyPr>
          <a:lstStyle/>
          <a:p>
            <a:pPr algn="l"/>
            <a:r>
              <a:rPr sz="950" b="0" i="0">
                <a:solidFill>
                  <a:srgbClr val="444444"/>
                </a:solidFill>
              </a:rPr>
              <a:t>Dari submenu, klik 'Rencana Aksi'.</a:t>
            </a:r>
          </a:p>
        </p:txBody>
      </p:sp>
      <p:sp>
        <p:nvSpPr>
          <p:cNvPr id="40" name="Rectangle 39"/>
          <p:cNvSpPr/>
          <p:nvPr/>
        </p:nvSpPr>
        <p:spPr>
          <a:xfrm>
            <a:off x="4800600" y="4800600"/>
            <a:ext cx="7040880" cy="75895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800600" y="4800600"/>
            <a:ext cx="457200" cy="7589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00600" y="4978908"/>
            <a:ext cx="457200" cy="402336"/>
          </a:xfrm>
          <a:prstGeom prst="rect">
            <a:avLst/>
          </a:prstGeom>
          <a:noFill/>
        </p:spPr>
        <p:txBody>
          <a:bodyPr wrap="square">
            <a:spAutoFit/>
          </a:bodyPr>
          <a:lstStyle/>
          <a:p>
            <a:pPr algn="ctr"/>
            <a:r>
              <a:rPr sz="1700" b="1" i="0">
                <a:solidFill>
                  <a:srgbClr val="FFFFFF"/>
                </a:solidFill>
              </a:rPr>
              <a:t>4</a:t>
            </a:r>
          </a:p>
        </p:txBody>
      </p:sp>
      <p:sp>
        <p:nvSpPr>
          <p:cNvPr id="43" name="TextBox 42"/>
          <p:cNvSpPr txBox="1"/>
          <p:nvPr/>
        </p:nvSpPr>
        <p:spPr>
          <a:xfrm>
            <a:off x="5330952" y="4846320"/>
            <a:ext cx="6446520" cy="274320"/>
          </a:xfrm>
          <a:prstGeom prst="rect">
            <a:avLst/>
          </a:prstGeom>
          <a:noFill/>
        </p:spPr>
        <p:txBody>
          <a:bodyPr wrap="square">
            <a:spAutoFit/>
          </a:bodyPr>
          <a:lstStyle/>
          <a:p>
            <a:pPr algn="l"/>
            <a:r>
              <a:rPr sz="1050" b="1" i="0">
                <a:solidFill>
                  <a:srgbClr val="1A376C"/>
                </a:solidFill>
              </a:rPr>
              <a:t>Pilih Penyusunan</a:t>
            </a:r>
          </a:p>
        </p:txBody>
      </p:sp>
      <p:sp>
        <p:nvSpPr>
          <p:cNvPr id="44" name="TextBox 43"/>
          <p:cNvSpPr txBox="1"/>
          <p:nvPr/>
        </p:nvSpPr>
        <p:spPr>
          <a:xfrm>
            <a:off x="5330952" y="5129784"/>
            <a:ext cx="6446520" cy="374904"/>
          </a:xfrm>
          <a:prstGeom prst="rect">
            <a:avLst/>
          </a:prstGeom>
          <a:noFill/>
        </p:spPr>
        <p:txBody>
          <a:bodyPr wrap="square">
            <a:spAutoFit/>
          </a:bodyPr>
          <a:lstStyle/>
          <a:p>
            <a:pPr algn="l"/>
            <a:r>
              <a:rPr sz="950" b="0" i="0">
                <a:solidFill>
                  <a:srgbClr val="444444"/>
                </a:solidFill>
              </a:rPr>
              <a:t>Klik 'Penyusunan' untuk masuk ke halaman daftar IKU tim Anda.</a:t>
            </a:r>
          </a:p>
        </p:txBody>
      </p:sp>
      <p:sp>
        <p:nvSpPr>
          <p:cNvPr id="45" name="Rectangle 44"/>
          <p:cNvSpPr/>
          <p:nvPr/>
        </p:nvSpPr>
        <p:spPr>
          <a:xfrm>
            <a:off x="4800600" y="5623560"/>
            <a:ext cx="7040880" cy="75895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800600" y="5623560"/>
            <a:ext cx="457200" cy="7589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00600" y="5801868"/>
            <a:ext cx="457200" cy="402336"/>
          </a:xfrm>
          <a:prstGeom prst="rect">
            <a:avLst/>
          </a:prstGeom>
          <a:noFill/>
        </p:spPr>
        <p:txBody>
          <a:bodyPr wrap="square">
            <a:spAutoFit/>
          </a:bodyPr>
          <a:lstStyle/>
          <a:p>
            <a:pPr algn="ctr"/>
            <a:r>
              <a:rPr sz="1700" b="1" i="0">
                <a:solidFill>
                  <a:srgbClr val="FFFFFF"/>
                </a:solidFill>
              </a:rPr>
              <a:t>5</a:t>
            </a:r>
          </a:p>
        </p:txBody>
      </p:sp>
      <p:sp>
        <p:nvSpPr>
          <p:cNvPr id="48" name="TextBox 47"/>
          <p:cNvSpPr txBox="1"/>
          <p:nvPr/>
        </p:nvSpPr>
        <p:spPr>
          <a:xfrm>
            <a:off x="5330952" y="5669280"/>
            <a:ext cx="6446520" cy="274320"/>
          </a:xfrm>
          <a:prstGeom prst="rect">
            <a:avLst/>
          </a:prstGeom>
          <a:noFill/>
        </p:spPr>
        <p:txBody>
          <a:bodyPr wrap="square">
            <a:spAutoFit/>
          </a:bodyPr>
          <a:lstStyle/>
          <a:p>
            <a:pPr algn="l"/>
            <a:r>
              <a:rPr sz="1050" b="1" i="0">
                <a:solidFill>
                  <a:srgbClr val="1A376C"/>
                </a:solidFill>
              </a:rPr>
              <a:t>Verifikasi</a:t>
            </a:r>
          </a:p>
        </p:txBody>
      </p:sp>
      <p:sp>
        <p:nvSpPr>
          <p:cNvPr id="49" name="TextBox 48"/>
          <p:cNvSpPr txBox="1"/>
          <p:nvPr/>
        </p:nvSpPr>
        <p:spPr>
          <a:xfrm>
            <a:off x="5330952" y="5952744"/>
            <a:ext cx="6446520" cy="374904"/>
          </a:xfrm>
          <a:prstGeom prst="rect">
            <a:avLst/>
          </a:prstGeom>
          <a:noFill/>
        </p:spPr>
        <p:txBody>
          <a:bodyPr wrap="square">
            <a:spAutoFit/>
          </a:bodyPr>
          <a:lstStyle/>
          <a:p>
            <a:pPr algn="l"/>
            <a:r>
              <a:rPr sz="950" b="0" i="0">
                <a:solidFill>
                  <a:srgbClr val="444444"/>
                </a:solidFill>
              </a:rPr>
              <a:t>Pastikan judul halaman menampilkan nama Tim Kerja Anda dan daftar IKU tampil.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I-04  |  Mengisi Target Triwulan (TW I–IV)</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Klik ikon pensil pada setiap IKU untuk membuka form isian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 Ketua Tim Kerja (Rencana Aksi)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8 / —</a:t>
            </a:r>
          </a:p>
        </p:txBody>
      </p:sp>
      <p:sp>
        <p:nvSpPr>
          <p:cNvPr id="10" name="Rectangle 9"/>
          <p:cNvSpPr/>
          <p:nvPr/>
        </p:nvSpPr>
        <p:spPr>
          <a:xfrm>
            <a:off x="365760" y="1234440"/>
            <a:ext cx="484632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84632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663440" cy="320040"/>
          </a:xfrm>
          <a:prstGeom prst="rect">
            <a:avLst/>
          </a:prstGeom>
          <a:noFill/>
        </p:spPr>
        <p:txBody>
          <a:bodyPr wrap="square">
            <a:spAutoFit/>
          </a:bodyPr>
          <a:lstStyle/>
          <a:p>
            <a:pPr algn="l"/>
            <a:r>
              <a:rPr sz="1000" b="1" i="0">
                <a:solidFill>
                  <a:srgbClr val="FFFFFF"/>
                </a:solidFill>
              </a:rPr>
              <a:t>Tampilan Form Isian Target</a:t>
            </a:r>
          </a:p>
        </p:txBody>
      </p:sp>
      <p:sp>
        <p:nvSpPr>
          <p:cNvPr id="13" name="TextBox 12"/>
          <p:cNvSpPr txBox="1"/>
          <p:nvPr/>
        </p:nvSpPr>
        <p:spPr>
          <a:xfrm>
            <a:off x="640080" y="1737360"/>
            <a:ext cx="4434840" cy="4617720"/>
          </a:xfrm>
          <a:prstGeom prst="rect">
            <a:avLst/>
          </a:prstGeom>
          <a:noFill/>
        </p:spPr>
        <p:txBody>
          <a:bodyPr wrap="square">
            <a:spAutoFit/>
          </a:bodyPr>
          <a:lstStyle/>
          <a:p>
            <a:pPr algn="ctr"/>
            <a:r>
              <a:rPr sz="1000" b="0" i="1">
                <a:solidFill>
                  <a:srgbClr val="2E75B6"/>
                </a:solidFill>
              </a:rPr>
              <a:t>[ SCREENSHOT FORM ISIAN TARGET ]
Tambahkan screenshot di sini</a:t>
            </a:r>
          </a:p>
        </p:txBody>
      </p:sp>
      <p:sp>
        <p:nvSpPr>
          <p:cNvPr id="14" name="TextBox 13"/>
          <p:cNvSpPr txBox="1"/>
          <p:nvPr/>
        </p:nvSpPr>
        <p:spPr>
          <a:xfrm>
            <a:off x="5532120" y="1261872"/>
            <a:ext cx="6400800" cy="347472"/>
          </a:xfrm>
          <a:prstGeom prst="rect">
            <a:avLst/>
          </a:prstGeom>
          <a:noFill/>
        </p:spPr>
        <p:txBody>
          <a:bodyPr wrap="square">
            <a:spAutoFit/>
          </a:bodyPr>
          <a:lstStyle/>
          <a:p>
            <a:pPr algn="l"/>
            <a:r>
              <a:rPr sz="1300" b="1" i="0">
                <a:solidFill>
                  <a:srgbClr val="1A376C"/>
                </a:solidFill>
              </a:rPr>
              <a:t>Cara Mengisi Target Triwulan</a:t>
            </a:r>
          </a:p>
        </p:txBody>
      </p:sp>
      <p:sp>
        <p:nvSpPr>
          <p:cNvPr id="15" name="Rectangle 14"/>
          <p:cNvSpPr/>
          <p:nvPr/>
        </p:nvSpPr>
        <p:spPr>
          <a:xfrm>
            <a:off x="5532120" y="126187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532120" y="1737360"/>
            <a:ext cx="640080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32120" y="1737360"/>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1947672"/>
            <a:ext cx="457200" cy="402336"/>
          </a:xfrm>
          <a:prstGeom prst="rect">
            <a:avLst/>
          </a:prstGeom>
          <a:noFill/>
        </p:spPr>
        <p:txBody>
          <a:bodyPr wrap="square">
            <a:spAutoFit/>
          </a:bodyPr>
          <a:lstStyle/>
          <a:p>
            <a:pPr algn="ctr"/>
            <a:r>
              <a:rPr sz="1700" b="1" i="0">
                <a:solidFill>
                  <a:srgbClr val="FFFFFF"/>
                </a:solidFill>
              </a:rPr>
              <a:t>1</a:t>
            </a:r>
          </a:p>
        </p:txBody>
      </p:sp>
      <p:sp>
        <p:nvSpPr>
          <p:cNvPr id="19" name="TextBox 18"/>
          <p:cNvSpPr txBox="1"/>
          <p:nvPr/>
        </p:nvSpPr>
        <p:spPr>
          <a:xfrm>
            <a:off x="6062472" y="1783080"/>
            <a:ext cx="5806440" cy="274320"/>
          </a:xfrm>
          <a:prstGeom prst="rect">
            <a:avLst/>
          </a:prstGeom>
          <a:noFill/>
        </p:spPr>
        <p:txBody>
          <a:bodyPr wrap="square">
            <a:spAutoFit/>
          </a:bodyPr>
          <a:lstStyle/>
          <a:p>
            <a:pPr algn="l"/>
            <a:r>
              <a:rPr sz="1050" b="1" i="0">
                <a:solidFill>
                  <a:srgbClr val="1A376C"/>
                </a:solidFill>
              </a:rPr>
              <a:t>Temukan IKU di Daftar</a:t>
            </a:r>
          </a:p>
        </p:txBody>
      </p:sp>
      <p:sp>
        <p:nvSpPr>
          <p:cNvPr id="20" name="TextBox 19"/>
          <p:cNvSpPr txBox="1"/>
          <p:nvPr/>
        </p:nvSpPr>
        <p:spPr>
          <a:xfrm>
            <a:off x="6062472" y="2066543"/>
            <a:ext cx="5806440" cy="438912"/>
          </a:xfrm>
          <a:prstGeom prst="rect">
            <a:avLst/>
          </a:prstGeom>
          <a:noFill/>
        </p:spPr>
        <p:txBody>
          <a:bodyPr wrap="square">
            <a:spAutoFit/>
          </a:bodyPr>
          <a:lstStyle/>
          <a:p>
            <a:pPr algn="l"/>
            <a:r>
              <a:rPr sz="950" b="0" i="0">
                <a:solidFill>
                  <a:srgbClr val="444444"/>
                </a:solidFill>
              </a:rPr>
              <a:t>Pada halaman Penyusunan, lihat daftar IKU mandiri dan kolaborasi tim Anda.</a:t>
            </a:r>
          </a:p>
        </p:txBody>
      </p:sp>
      <p:sp>
        <p:nvSpPr>
          <p:cNvPr id="21" name="Rectangle 20"/>
          <p:cNvSpPr/>
          <p:nvPr/>
        </p:nvSpPr>
        <p:spPr>
          <a:xfrm>
            <a:off x="5532120" y="2624328"/>
            <a:ext cx="640080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2624328"/>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32120" y="2834640"/>
            <a:ext cx="457200" cy="402336"/>
          </a:xfrm>
          <a:prstGeom prst="rect">
            <a:avLst/>
          </a:prstGeom>
          <a:noFill/>
        </p:spPr>
        <p:txBody>
          <a:bodyPr wrap="square">
            <a:spAutoFit/>
          </a:bodyPr>
          <a:lstStyle/>
          <a:p>
            <a:pPr algn="ctr"/>
            <a:r>
              <a:rPr sz="1700" b="1" i="0">
                <a:solidFill>
                  <a:srgbClr val="FFFFFF"/>
                </a:solidFill>
              </a:rPr>
              <a:t>2</a:t>
            </a:r>
          </a:p>
        </p:txBody>
      </p:sp>
      <p:sp>
        <p:nvSpPr>
          <p:cNvPr id="24" name="TextBox 23"/>
          <p:cNvSpPr txBox="1"/>
          <p:nvPr/>
        </p:nvSpPr>
        <p:spPr>
          <a:xfrm>
            <a:off x="6062472" y="2670048"/>
            <a:ext cx="5806440" cy="274320"/>
          </a:xfrm>
          <a:prstGeom prst="rect">
            <a:avLst/>
          </a:prstGeom>
          <a:noFill/>
        </p:spPr>
        <p:txBody>
          <a:bodyPr wrap="square">
            <a:spAutoFit/>
          </a:bodyPr>
          <a:lstStyle/>
          <a:p>
            <a:pPr algn="l"/>
            <a:r>
              <a:rPr sz="1050" b="1" i="0">
                <a:solidFill>
                  <a:srgbClr val="1A376C"/>
                </a:solidFill>
              </a:rPr>
              <a:t>Klik Ikon Pensil (✏)</a:t>
            </a:r>
          </a:p>
        </p:txBody>
      </p:sp>
      <p:sp>
        <p:nvSpPr>
          <p:cNvPr id="25" name="TextBox 24"/>
          <p:cNvSpPr txBox="1"/>
          <p:nvPr/>
        </p:nvSpPr>
        <p:spPr>
          <a:xfrm>
            <a:off x="6062472" y="2953512"/>
            <a:ext cx="5806440" cy="438912"/>
          </a:xfrm>
          <a:prstGeom prst="rect">
            <a:avLst/>
          </a:prstGeom>
          <a:noFill/>
        </p:spPr>
        <p:txBody>
          <a:bodyPr wrap="square">
            <a:spAutoFit/>
          </a:bodyPr>
          <a:lstStyle/>
          <a:p>
            <a:pPr algn="l"/>
            <a:r>
              <a:rPr sz="950" b="0" i="0">
                <a:solidFill>
                  <a:srgbClr val="444444"/>
                </a:solidFill>
              </a:rPr>
              <a:t>Klik ikon edit pada baris IKU yang ingin diisi. Form isian akan terbuka.</a:t>
            </a:r>
          </a:p>
        </p:txBody>
      </p:sp>
      <p:sp>
        <p:nvSpPr>
          <p:cNvPr id="26" name="Rectangle 25"/>
          <p:cNvSpPr/>
          <p:nvPr/>
        </p:nvSpPr>
        <p:spPr>
          <a:xfrm>
            <a:off x="5532120" y="3511296"/>
            <a:ext cx="640080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32120" y="3511296"/>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32120" y="3721608"/>
            <a:ext cx="457200" cy="402336"/>
          </a:xfrm>
          <a:prstGeom prst="rect">
            <a:avLst/>
          </a:prstGeom>
          <a:noFill/>
        </p:spPr>
        <p:txBody>
          <a:bodyPr wrap="square">
            <a:spAutoFit/>
          </a:bodyPr>
          <a:lstStyle/>
          <a:p>
            <a:pPr algn="ctr"/>
            <a:r>
              <a:rPr sz="1700" b="1" i="0">
                <a:solidFill>
                  <a:srgbClr val="FFFFFF"/>
                </a:solidFill>
              </a:rPr>
              <a:t>3</a:t>
            </a:r>
          </a:p>
        </p:txBody>
      </p:sp>
      <p:sp>
        <p:nvSpPr>
          <p:cNvPr id="29" name="TextBox 28"/>
          <p:cNvSpPr txBox="1"/>
          <p:nvPr/>
        </p:nvSpPr>
        <p:spPr>
          <a:xfrm>
            <a:off x="6062472" y="3557015"/>
            <a:ext cx="5806440" cy="274320"/>
          </a:xfrm>
          <a:prstGeom prst="rect">
            <a:avLst/>
          </a:prstGeom>
          <a:noFill/>
        </p:spPr>
        <p:txBody>
          <a:bodyPr wrap="square">
            <a:spAutoFit/>
          </a:bodyPr>
          <a:lstStyle/>
          <a:p>
            <a:pPr algn="l"/>
            <a:r>
              <a:rPr sz="1050" b="1" i="0">
                <a:solidFill>
                  <a:srgbClr val="1A376C"/>
                </a:solidFill>
              </a:rPr>
              <a:t>Isi Target TW I–IV</a:t>
            </a:r>
          </a:p>
        </p:txBody>
      </p:sp>
      <p:sp>
        <p:nvSpPr>
          <p:cNvPr id="30" name="TextBox 29"/>
          <p:cNvSpPr txBox="1"/>
          <p:nvPr/>
        </p:nvSpPr>
        <p:spPr>
          <a:xfrm>
            <a:off x="6062472" y="3840480"/>
            <a:ext cx="5806440" cy="438912"/>
          </a:xfrm>
          <a:prstGeom prst="rect">
            <a:avLst/>
          </a:prstGeom>
          <a:noFill/>
        </p:spPr>
        <p:txBody>
          <a:bodyPr wrap="square">
            <a:spAutoFit/>
          </a:bodyPr>
          <a:lstStyle/>
          <a:p>
            <a:pPr algn="l"/>
            <a:r>
              <a:rPr sz="950" b="0" i="0">
                <a:solidFill>
                  <a:srgbClr val="444444"/>
                </a:solidFill>
              </a:rPr>
              <a:t>Isi nilai target:
• TW I: Target akhir Maret
• TW II: Target akhir Juni
• TW III: Target akhir September
• TW IV: Target akhir Desember</a:t>
            </a:r>
          </a:p>
        </p:txBody>
      </p:sp>
      <p:sp>
        <p:nvSpPr>
          <p:cNvPr id="31" name="Rectangle 30"/>
          <p:cNvSpPr/>
          <p:nvPr/>
        </p:nvSpPr>
        <p:spPr>
          <a:xfrm>
            <a:off x="5532120" y="4398264"/>
            <a:ext cx="640080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32120" y="4398264"/>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32120" y="4608576"/>
            <a:ext cx="457200" cy="402336"/>
          </a:xfrm>
          <a:prstGeom prst="rect">
            <a:avLst/>
          </a:prstGeom>
          <a:noFill/>
        </p:spPr>
        <p:txBody>
          <a:bodyPr wrap="square">
            <a:spAutoFit/>
          </a:bodyPr>
          <a:lstStyle/>
          <a:p>
            <a:pPr algn="ctr"/>
            <a:r>
              <a:rPr sz="1700" b="1" i="0">
                <a:solidFill>
                  <a:srgbClr val="FFFFFF"/>
                </a:solidFill>
              </a:rPr>
              <a:t>4</a:t>
            </a:r>
          </a:p>
        </p:txBody>
      </p:sp>
      <p:sp>
        <p:nvSpPr>
          <p:cNvPr id="34" name="TextBox 33"/>
          <p:cNvSpPr txBox="1"/>
          <p:nvPr/>
        </p:nvSpPr>
        <p:spPr>
          <a:xfrm>
            <a:off x="6062472" y="4443984"/>
            <a:ext cx="5806440" cy="274320"/>
          </a:xfrm>
          <a:prstGeom prst="rect">
            <a:avLst/>
          </a:prstGeom>
          <a:noFill/>
        </p:spPr>
        <p:txBody>
          <a:bodyPr wrap="square">
            <a:spAutoFit/>
          </a:bodyPr>
          <a:lstStyle/>
          <a:p>
            <a:pPr algn="l"/>
            <a:r>
              <a:rPr sz="1050" b="1" i="0">
                <a:solidFill>
                  <a:srgbClr val="1A376C"/>
                </a:solidFill>
              </a:rPr>
              <a:t>Klik Simpan</a:t>
            </a:r>
          </a:p>
        </p:txBody>
      </p:sp>
      <p:sp>
        <p:nvSpPr>
          <p:cNvPr id="35" name="TextBox 34"/>
          <p:cNvSpPr txBox="1"/>
          <p:nvPr/>
        </p:nvSpPr>
        <p:spPr>
          <a:xfrm>
            <a:off x="6062472" y="4727448"/>
            <a:ext cx="5806440" cy="438912"/>
          </a:xfrm>
          <a:prstGeom prst="rect">
            <a:avLst/>
          </a:prstGeom>
          <a:noFill/>
        </p:spPr>
        <p:txBody>
          <a:bodyPr wrap="square">
            <a:spAutoFit/>
          </a:bodyPr>
          <a:lstStyle/>
          <a:p>
            <a:pPr algn="l"/>
            <a:r>
              <a:rPr sz="950" b="0" i="0">
                <a:solidFill>
                  <a:srgbClr val="444444"/>
                </a:solidFill>
              </a:rPr>
              <a:t>Klik "Simpan" untuk menyimpan data. Status IKU berubah menandai sudah diisi.</a:t>
            </a:r>
          </a:p>
        </p:txBody>
      </p:sp>
      <p:sp>
        <p:nvSpPr>
          <p:cNvPr id="36" name="Rectangle 35"/>
          <p:cNvSpPr/>
          <p:nvPr/>
        </p:nvSpPr>
        <p:spPr>
          <a:xfrm>
            <a:off x="5532120" y="5285231"/>
            <a:ext cx="640080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532120" y="5285231"/>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2120" y="5495544"/>
            <a:ext cx="457200" cy="402336"/>
          </a:xfrm>
          <a:prstGeom prst="rect">
            <a:avLst/>
          </a:prstGeom>
          <a:noFill/>
        </p:spPr>
        <p:txBody>
          <a:bodyPr wrap="square">
            <a:spAutoFit/>
          </a:bodyPr>
          <a:lstStyle/>
          <a:p>
            <a:pPr algn="ctr"/>
            <a:r>
              <a:rPr sz="1700" b="1" i="0">
                <a:solidFill>
                  <a:srgbClr val="FFFFFF"/>
                </a:solidFill>
              </a:rPr>
              <a:t>5</a:t>
            </a:r>
          </a:p>
        </p:txBody>
      </p:sp>
      <p:sp>
        <p:nvSpPr>
          <p:cNvPr id="39" name="TextBox 38"/>
          <p:cNvSpPr txBox="1"/>
          <p:nvPr/>
        </p:nvSpPr>
        <p:spPr>
          <a:xfrm>
            <a:off x="6062472" y="5330951"/>
            <a:ext cx="5806440" cy="274320"/>
          </a:xfrm>
          <a:prstGeom prst="rect">
            <a:avLst/>
          </a:prstGeom>
          <a:noFill/>
        </p:spPr>
        <p:txBody>
          <a:bodyPr wrap="square">
            <a:spAutoFit/>
          </a:bodyPr>
          <a:lstStyle/>
          <a:p>
            <a:pPr algn="l"/>
            <a:r>
              <a:rPr sz="1050" b="1" i="0">
                <a:solidFill>
                  <a:srgbClr val="1A376C"/>
                </a:solidFill>
              </a:rPr>
              <a:t>Ulangi untuk Semua IKU</a:t>
            </a:r>
          </a:p>
        </p:txBody>
      </p:sp>
      <p:sp>
        <p:nvSpPr>
          <p:cNvPr id="40" name="TextBox 39"/>
          <p:cNvSpPr txBox="1"/>
          <p:nvPr/>
        </p:nvSpPr>
        <p:spPr>
          <a:xfrm>
            <a:off x="6062472" y="5614416"/>
            <a:ext cx="5806440" cy="438912"/>
          </a:xfrm>
          <a:prstGeom prst="rect">
            <a:avLst/>
          </a:prstGeom>
          <a:noFill/>
        </p:spPr>
        <p:txBody>
          <a:bodyPr wrap="square">
            <a:spAutoFit/>
          </a:bodyPr>
          <a:lstStyle/>
          <a:p>
            <a:pPr algn="l"/>
            <a:r>
              <a:rPr sz="950" b="0" i="0">
                <a:solidFill>
                  <a:srgbClr val="444444"/>
                </a:solidFill>
              </a:rPr>
              <a:t>Lakukan langkah 2–4 untuk setiap IKU yang tampil di daftar.</a:t>
            </a:r>
          </a:p>
        </p:txBody>
      </p:sp>
      <p:sp>
        <p:nvSpPr>
          <p:cNvPr id="41" name="Rectangle 40"/>
          <p:cNvSpPr/>
          <p:nvPr/>
        </p:nvSpPr>
        <p:spPr>
          <a:xfrm>
            <a:off x="5532120" y="6236208"/>
            <a:ext cx="6400800" cy="502920"/>
          </a:xfrm>
          <a:prstGeom prst="rect">
            <a:avLst/>
          </a:prstGeom>
          <a:solidFill>
            <a:srgbClr val="E8F5E9"/>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0" y="6272784"/>
            <a:ext cx="6199632" cy="429768"/>
          </a:xfrm>
          <a:prstGeom prst="rect">
            <a:avLst/>
          </a:prstGeom>
          <a:noFill/>
        </p:spPr>
        <p:txBody>
          <a:bodyPr wrap="square">
            <a:spAutoFit/>
          </a:bodyPr>
          <a:lstStyle/>
          <a:p>
            <a:pPr algn="l"/>
            <a:r>
              <a:rPr sz="900" b="0" i="0">
                <a:solidFill>
                  <a:srgbClr val="1B6B35"/>
                </a:solidFill>
              </a:rPr>
              <a:t>✓  Tips: Target triwulan bersifat kumulatif. Pastikan nilai TW IV sesuai dengan target tahunan yang telah ditetapkan.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I-05  |  Menambahkan Rencana Kegiatan</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Klik ikon list pada setiap IKU untuk mengelola kegiatan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 Ketua Tim Kerja (Rencana Aksi)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9 / —</a:t>
            </a:r>
          </a:p>
        </p:txBody>
      </p:sp>
      <p:sp>
        <p:nvSpPr>
          <p:cNvPr id="10" name="Rectangle 9"/>
          <p:cNvSpPr/>
          <p:nvPr/>
        </p:nvSpPr>
        <p:spPr>
          <a:xfrm>
            <a:off x="365760" y="1234440"/>
            <a:ext cx="484632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84632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663440" cy="320040"/>
          </a:xfrm>
          <a:prstGeom prst="rect">
            <a:avLst/>
          </a:prstGeom>
          <a:noFill/>
        </p:spPr>
        <p:txBody>
          <a:bodyPr wrap="square">
            <a:spAutoFit/>
          </a:bodyPr>
          <a:lstStyle/>
          <a:p>
            <a:pPr algn="l"/>
            <a:r>
              <a:rPr sz="1000" b="1" i="0">
                <a:solidFill>
                  <a:srgbClr val="FFFFFF"/>
                </a:solidFill>
              </a:rPr>
              <a:t>Tampilan Form Rencana Kegiatan</a:t>
            </a:r>
          </a:p>
        </p:txBody>
      </p:sp>
      <p:sp>
        <p:nvSpPr>
          <p:cNvPr id="13" name="TextBox 12"/>
          <p:cNvSpPr txBox="1"/>
          <p:nvPr/>
        </p:nvSpPr>
        <p:spPr>
          <a:xfrm>
            <a:off x="640080" y="1737360"/>
            <a:ext cx="4434840" cy="4617720"/>
          </a:xfrm>
          <a:prstGeom prst="rect">
            <a:avLst/>
          </a:prstGeom>
          <a:noFill/>
        </p:spPr>
        <p:txBody>
          <a:bodyPr wrap="square">
            <a:spAutoFit/>
          </a:bodyPr>
          <a:lstStyle/>
          <a:p>
            <a:pPr algn="ctr"/>
            <a:r>
              <a:rPr sz="1000" b="0" i="1">
                <a:solidFill>
                  <a:srgbClr val="2E75B6"/>
                </a:solidFill>
              </a:rPr>
              <a:t>[ SCREENSHOT FORM RENCANA KEGIATAN ]
Tambahkan screenshot di sini</a:t>
            </a:r>
          </a:p>
        </p:txBody>
      </p:sp>
      <p:sp>
        <p:nvSpPr>
          <p:cNvPr id="14" name="TextBox 13"/>
          <p:cNvSpPr txBox="1"/>
          <p:nvPr/>
        </p:nvSpPr>
        <p:spPr>
          <a:xfrm>
            <a:off x="5532120" y="1261872"/>
            <a:ext cx="6400800" cy="347472"/>
          </a:xfrm>
          <a:prstGeom prst="rect">
            <a:avLst/>
          </a:prstGeom>
          <a:noFill/>
        </p:spPr>
        <p:txBody>
          <a:bodyPr wrap="square">
            <a:spAutoFit/>
          </a:bodyPr>
          <a:lstStyle/>
          <a:p>
            <a:pPr algn="l"/>
            <a:r>
              <a:rPr sz="1300" b="1" i="0">
                <a:solidFill>
                  <a:srgbClr val="1A376C"/>
                </a:solidFill>
              </a:rPr>
              <a:t>Cara Menambahkan Rencana Kegiatan</a:t>
            </a:r>
          </a:p>
        </p:txBody>
      </p:sp>
      <p:sp>
        <p:nvSpPr>
          <p:cNvPr id="15" name="Rectangle 14"/>
          <p:cNvSpPr/>
          <p:nvPr/>
        </p:nvSpPr>
        <p:spPr>
          <a:xfrm>
            <a:off x="5532120" y="126187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532120" y="1737360"/>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32120" y="1737360"/>
            <a:ext cx="45720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1883663"/>
            <a:ext cx="457200" cy="402336"/>
          </a:xfrm>
          <a:prstGeom prst="rect">
            <a:avLst/>
          </a:prstGeom>
          <a:noFill/>
        </p:spPr>
        <p:txBody>
          <a:bodyPr wrap="square">
            <a:spAutoFit/>
          </a:bodyPr>
          <a:lstStyle/>
          <a:p>
            <a:pPr algn="ctr"/>
            <a:r>
              <a:rPr sz="1700" b="1" i="0">
                <a:solidFill>
                  <a:srgbClr val="FFFFFF"/>
                </a:solidFill>
              </a:rPr>
              <a:t>1</a:t>
            </a:r>
          </a:p>
        </p:txBody>
      </p:sp>
      <p:sp>
        <p:nvSpPr>
          <p:cNvPr id="19" name="TextBox 18"/>
          <p:cNvSpPr txBox="1"/>
          <p:nvPr/>
        </p:nvSpPr>
        <p:spPr>
          <a:xfrm>
            <a:off x="6062472" y="1783080"/>
            <a:ext cx="5806440" cy="274320"/>
          </a:xfrm>
          <a:prstGeom prst="rect">
            <a:avLst/>
          </a:prstGeom>
          <a:noFill/>
        </p:spPr>
        <p:txBody>
          <a:bodyPr wrap="square">
            <a:spAutoFit/>
          </a:bodyPr>
          <a:lstStyle/>
          <a:p>
            <a:pPr algn="l"/>
            <a:r>
              <a:rPr sz="1050" b="1" i="0">
                <a:solidFill>
                  <a:srgbClr val="1A376C"/>
                </a:solidFill>
              </a:rPr>
              <a:t>Klik Ikon Kegiatan (☰)</a:t>
            </a:r>
          </a:p>
        </p:txBody>
      </p:sp>
      <p:sp>
        <p:nvSpPr>
          <p:cNvPr id="20" name="TextBox 19"/>
          <p:cNvSpPr txBox="1"/>
          <p:nvPr/>
        </p:nvSpPr>
        <p:spPr>
          <a:xfrm>
            <a:off x="6062472" y="2066543"/>
            <a:ext cx="5806440" cy="310896"/>
          </a:xfrm>
          <a:prstGeom prst="rect">
            <a:avLst/>
          </a:prstGeom>
          <a:noFill/>
        </p:spPr>
        <p:txBody>
          <a:bodyPr wrap="square">
            <a:spAutoFit/>
          </a:bodyPr>
          <a:lstStyle/>
          <a:p>
            <a:pPr algn="l"/>
            <a:r>
              <a:rPr sz="950" b="0" i="0">
                <a:solidFill>
                  <a:srgbClr val="444444"/>
                </a:solidFill>
              </a:rPr>
              <a:t>Pada baris IKU, klik ikon list/kegiatan untuk membuka panel rencana kegiatan.</a:t>
            </a:r>
          </a:p>
        </p:txBody>
      </p:sp>
      <p:sp>
        <p:nvSpPr>
          <p:cNvPr id="21" name="Rectangle 20"/>
          <p:cNvSpPr/>
          <p:nvPr/>
        </p:nvSpPr>
        <p:spPr>
          <a:xfrm>
            <a:off x="5532120" y="2487168"/>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32120" y="2487168"/>
            <a:ext cx="45720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32120" y="2633471"/>
            <a:ext cx="457200" cy="402336"/>
          </a:xfrm>
          <a:prstGeom prst="rect">
            <a:avLst/>
          </a:prstGeom>
          <a:noFill/>
        </p:spPr>
        <p:txBody>
          <a:bodyPr wrap="square">
            <a:spAutoFit/>
          </a:bodyPr>
          <a:lstStyle/>
          <a:p>
            <a:pPr algn="ctr"/>
            <a:r>
              <a:rPr sz="1700" b="1" i="0">
                <a:solidFill>
                  <a:srgbClr val="FFFFFF"/>
                </a:solidFill>
              </a:rPr>
              <a:t>2</a:t>
            </a:r>
          </a:p>
        </p:txBody>
      </p:sp>
      <p:sp>
        <p:nvSpPr>
          <p:cNvPr id="24" name="TextBox 23"/>
          <p:cNvSpPr txBox="1"/>
          <p:nvPr/>
        </p:nvSpPr>
        <p:spPr>
          <a:xfrm>
            <a:off x="6062472" y="2532887"/>
            <a:ext cx="5806440" cy="274320"/>
          </a:xfrm>
          <a:prstGeom prst="rect">
            <a:avLst/>
          </a:prstGeom>
          <a:noFill/>
        </p:spPr>
        <p:txBody>
          <a:bodyPr wrap="square">
            <a:spAutoFit/>
          </a:bodyPr>
          <a:lstStyle/>
          <a:p>
            <a:pPr algn="l"/>
            <a:r>
              <a:rPr sz="1050" b="1" i="0">
                <a:solidFill>
                  <a:srgbClr val="1A376C"/>
                </a:solidFill>
              </a:rPr>
              <a:t>Klik 'Tambah Kegiatan'</a:t>
            </a:r>
          </a:p>
        </p:txBody>
      </p:sp>
      <p:sp>
        <p:nvSpPr>
          <p:cNvPr id="25" name="TextBox 24"/>
          <p:cNvSpPr txBox="1"/>
          <p:nvPr/>
        </p:nvSpPr>
        <p:spPr>
          <a:xfrm>
            <a:off x="6062472" y="2816351"/>
            <a:ext cx="5806440" cy="310896"/>
          </a:xfrm>
          <a:prstGeom prst="rect">
            <a:avLst/>
          </a:prstGeom>
          <a:noFill/>
        </p:spPr>
        <p:txBody>
          <a:bodyPr wrap="square">
            <a:spAutoFit/>
          </a:bodyPr>
          <a:lstStyle/>
          <a:p>
            <a:pPr algn="l"/>
            <a:r>
              <a:rPr sz="950" b="0" i="0">
                <a:solidFill>
                  <a:srgbClr val="444444"/>
                </a:solidFill>
              </a:rPr>
              <a:t>Klik tombol Tambah Kegiatan untuk membuka form isian kegiatan baru.</a:t>
            </a:r>
          </a:p>
        </p:txBody>
      </p:sp>
      <p:sp>
        <p:nvSpPr>
          <p:cNvPr id="26" name="Rectangle 25"/>
          <p:cNvSpPr/>
          <p:nvPr/>
        </p:nvSpPr>
        <p:spPr>
          <a:xfrm>
            <a:off x="5532120" y="3236976"/>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32120" y="3236976"/>
            <a:ext cx="45720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32120" y="3383279"/>
            <a:ext cx="457200" cy="402336"/>
          </a:xfrm>
          <a:prstGeom prst="rect">
            <a:avLst/>
          </a:prstGeom>
          <a:noFill/>
        </p:spPr>
        <p:txBody>
          <a:bodyPr wrap="square">
            <a:spAutoFit/>
          </a:bodyPr>
          <a:lstStyle/>
          <a:p>
            <a:pPr algn="ctr"/>
            <a:r>
              <a:rPr sz="1700" b="1" i="0">
                <a:solidFill>
                  <a:srgbClr val="FFFFFF"/>
                </a:solidFill>
              </a:rPr>
              <a:t>3</a:t>
            </a:r>
          </a:p>
        </p:txBody>
      </p:sp>
      <p:sp>
        <p:nvSpPr>
          <p:cNvPr id="29" name="TextBox 28"/>
          <p:cNvSpPr txBox="1"/>
          <p:nvPr/>
        </p:nvSpPr>
        <p:spPr>
          <a:xfrm>
            <a:off x="6062472" y="3282696"/>
            <a:ext cx="5806440" cy="274320"/>
          </a:xfrm>
          <a:prstGeom prst="rect">
            <a:avLst/>
          </a:prstGeom>
          <a:noFill/>
        </p:spPr>
        <p:txBody>
          <a:bodyPr wrap="square">
            <a:spAutoFit/>
          </a:bodyPr>
          <a:lstStyle/>
          <a:p>
            <a:pPr algn="l"/>
            <a:r>
              <a:rPr sz="1050" b="1" i="0">
                <a:solidFill>
                  <a:srgbClr val="1A376C"/>
                </a:solidFill>
              </a:rPr>
              <a:t>Isi Nama Kegiatan</a:t>
            </a:r>
          </a:p>
        </p:txBody>
      </p:sp>
      <p:sp>
        <p:nvSpPr>
          <p:cNvPr id="30" name="TextBox 29"/>
          <p:cNvSpPr txBox="1"/>
          <p:nvPr/>
        </p:nvSpPr>
        <p:spPr>
          <a:xfrm>
            <a:off x="6062472" y="3566160"/>
            <a:ext cx="5806440" cy="310896"/>
          </a:xfrm>
          <a:prstGeom prst="rect">
            <a:avLst/>
          </a:prstGeom>
          <a:noFill/>
        </p:spPr>
        <p:txBody>
          <a:bodyPr wrap="square">
            <a:spAutoFit/>
          </a:bodyPr>
          <a:lstStyle/>
          <a:p>
            <a:pPr algn="l"/>
            <a:r>
              <a:rPr sz="950" b="0" i="0">
                <a:solidFill>
                  <a:srgbClr val="444444"/>
                </a:solidFill>
              </a:rPr>
              <a:t>Tuliskan nama kegiatan secara jelas dan spesifik.</a:t>
            </a:r>
          </a:p>
        </p:txBody>
      </p:sp>
      <p:sp>
        <p:nvSpPr>
          <p:cNvPr id="31" name="Rectangle 30"/>
          <p:cNvSpPr/>
          <p:nvPr/>
        </p:nvSpPr>
        <p:spPr>
          <a:xfrm>
            <a:off x="5532120" y="3986783"/>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32120" y="3986783"/>
            <a:ext cx="45720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32120" y="4133087"/>
            <a:ext cx="457200" cy="402336"/>
          </a:xfrm>
          <a:prstGeom prst="rect">
            <a:avLst/>
          </a:prstGeom>
          <a:noFill/>
        </p:spPr>
        <p:txBody>
          <a:bodyPr wrap="square">
            <a:spAutoFit/>
          </a:bodyPr>
          <a:lstStyle/>
          <a:p>
            <a:pPr algn="ctr"/>
            <a:r>
              <a:rPr sz="1700" b="1" i="0">
                <a:solidFill>
                  <a:srgbClr val="FFFFFF"/>
                </a:solidFill>
              </a:rPr>
              <a:t>4</a:t>
            </a:r>
          </a:p>
        </p:txBody>
      </p:sp>
      <p:sp>
        <p:nvSpPr>
          <p:cNvPr id="34" name="TextBox 33"/>
          <p:cNvSpPr txBox="1"/>
          <p:nvPr/>
        </p:nvSpPr>
        <p:spPr>
          <a:xfrm>
            <a:off x="6062472" y="4032503"/>
            <a:ext cx="5806440" cy="274320"/>
          </a:xfrm>
          <a:prstGeom prst="rect">
            <a:avLst/>
          </a:prstGeom>
          <a:noFill/>
        </p:spPr>
        <p:txBody>
          <a:bodyPr wrap="square">
            <a:spAutoFit/>
          </a:bodyPr>
          <a:lstStyle/>
          <a:p>
            <a:pPr algn="l"/>
            <a:r>
              <a:rPr sz="1050" b="1" i="0">
                <a:solidFill>
                  <a:srgbClr val="1A376C"/>
                </a:solidFill>
              </a:rPr>
              <a:t>Pilih Triwulan</a:t>
            </a:r>
          </a:p>
        </p:txBody>
      </p:sp>
      <p:sp>
        <p:nvSpPr>
          <p:cNvPr id="35" name="TextBox 34"/>
          <p:cNvSpPr txBox="1"/>
          <p:nvPr/>
        </p:nvSpPr>
        <p:spPr>
          <a:xfrm>
            <a:off x="6062472" y="4315968"/>
            <a:ext cx="5806440" cy="310896"/>
          </a:xfrm>
          <a:prstGeom prst="rect">
            <a:avLst/>
          </a:prstGeom>
          <a:noFill/>
        </p:spPr>
        <p:txBody>
          <a:bodyPr wrap="square">
            <a:spAutoFit/>
          </a:bodyPr>
          <a:lstStyle/>
          <a:p>
            <a:pPr algn="l"/>
            <a:r>
              <a:rPr sz="950" b="0" i="0">
                <a:solidFill>
                  <a:srgbClr val="444444"/>
                </a:solidFill>
              </a:rPr>
              <a:t>Pilih triwulan pelaksanaan kegiatan (TW I, II, III, atau IV).</a:t>
            </a:r>
          </a:p>
        </p:txBody>
      </p:sp>
      <p:sp>
        <p:nvSpPr>
          <p:cNvPr id="36" name="Rectangle 35"/>
          <p:cNvSpPr/>
          <p:nvPr/>
        </p:nvSpPr>
        <p:spPr>
          <a:xfrm>
            <a:off x="5532120" y="4736592"/>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532120" y="4736592"/>
            <a:ext cx="45720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2120" y="4882896"/>
            <a:ext cx="457200" cy="402336"/>
          </a:xfrm>
          <a:prstGeom prst="rect">
            <a:avLst/>
          </a:prstGeom>
          <a:noFill/>
        </p:spPr>
        <p:txBody>
          <a:bodyPr wrap="square">
            <a:spAutoFit/>
          </a:bodyPr>
          <a:lstStyle/>
          <a:p>
            <a:pPr algn="ctr"/>
            <a:r>
              <a:rPr sz="1700" b="1" i="0">
                <a:solidFill>
                  <a:srgbClr val="FFFFFF"/>
                </a:solidFill>
              </a:rPr>
              <a:t>5</a:t>
            </a:r>
          </a:p>
        </p:txBody>
      </p:sp>
      <p:sp>
        <p:nvSpPr>
          <p:cNvPr id="39" name="TextBox 38"/>
          <p:cNvSpPr txBox="1"/>
          <p:nvPr/>
        </p:nvSpPr>
        <p:spPr>
          <a:xfrm>
            <a:off x="6062472" y="4782312"/>
            <a:ext cx="5806440" cy="274320"/>
          </a:xfrm>
          <a:prstGeom prst="rect">
            <a:avLst/>
          </a:prstGeom>
          <a:noFill/>
        </p:spPr>
        <p:txBody>
          <a:bodyPr wrap="square">
            <a:spAutoFit/>
          </a:bodyPr>
          <a:lstStyle/>
          <a:p>
            <a:pPr algn="l"/>
            <a:r>
              <a:rPr sz="1050" b="1" i="0">
                <a:solidFill>
                  <a:srgbClr val="1A376C"/>
                </a:solidFill>
              </a:rPr>
              <a:t>Simpan Kegiatan</a:t>
            </a:r>
          </a:p>
        </p:txBody>
      </p:sp>
      <p:sp>
        <p:nvSpPr>
          <p:cNvPr id="40" name="TextBox 39"/>
          <p:cNvSpPr txBox="1"/>
          <p:nvPr/>
        </p:nvSpPr>
        <p:spPr>
          <a:xfrm>
            <a:off x="6062472" y="5065776"/>
            <a:ext cx="5806440" cy="310896"/>
          </a:xfrm>
          <a:prstGeom prst="rect">
            <a:avLst/>
          </a:prstGeom>
          <a:noFill/>
        </p:spPr>
        <p:txBody>
          <a:bodyPr wrap="square">
            <a:spAutoFit/>
          </a:bodyPr>
          <a:lstStyle/>
          <a:p>
            <a:pPr algn="l"/>
            <a:r>
              <a:rPr sz="950" b="0" i="0">
                <a:solidFill>
                  <a:srgbClr val="444444"/>
                </a:solidFill>
              </a:rPr>
              <a:t>Klik "Simpan". Kegiatan muncul dalam daftar rencana kegiatan IKU tersebut.</a:t>
            </a:r>
          </a:p>
        </p:txBody>
      </p:sp>
      <p:sp>
        <p:nvSpPr>
          <p:cNvPr id="41" name="Rectangle 40"/>
          <p:cNvSpPr/>
          <p:nvPr/>
        </p:nvSpPr>
        <p:spPr>
          <a:xfrm>
            <a:off x="5532120" y="5486400"/>
            <a:ext cx="64008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532120" y="5486400"/>
            <a:ext cx="457200" cy="6949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32120" y="5632704"/>
            <a:ext cx="457200" cy="402336"/>
          </a:xfrm>
          <a:prstGeom prst="rect">
            <a:avLst/>
          </a:prstGeom>
          <a:noFill/>
        </p:spPr>
        <p:txBody>
          <a:bodyPr wrap="square">
            <a:spAutoFit/>
          </a:bodyPr>
          <a:lstStyle/>
          <a:p>
            <a:pPr algn="ctr"/>
            <a:r>
              <a:rPr sz="1700" b="1" i="0">
                <a:solidFill>
                  <a:srgbClr val="FFFFFF"/>
                </a:solidFill>
              </a:rPr>
              <a:t>6</a:t>
            </a:r>
          </a:p>
        </p:txBody>
      </p:sp>
      <p:sp>
        <p:nvSpPr>
          <p:cNvPr id="44" name="TextBox 43"/>
          <p:cNvSpPr txBox="1"/>
          <p:nvPr/>
        </p:nvSpPr>
        <p:spPr>
          <a:xfrm>
            <a:off x="6062472" y="5532120"/>
            <a:ext cx="5806440" cy="274320"/>
          </a:xfrm>
          <a:prstGeom prst="rect">
            <a:avLst/>
          </a:prstGeom>
          <a:noFill/>
        </p:spPr>
        <p:txBody>
          <a:bodyPr wrap="square">
            <a:spAutoFit/>
          </a:bodyPr>
          <a:lstStyle/>
          <a:p>
            <a:pPr algn="l"/>
            <a:r>
              <a:rPr sz="1050" b="1" i="0">
                <a:solidFill>
                  <a:srgbClr val="1A376C"/>
                </a:solidFill>
              </a:rPr>
              <a:t>Ulangi Sesuai Kebutuhan</a:t>
            </a:r>
          </a:p>
        </p:txBody>
      </p:sp>
      <p:sp>
        <p:nvSpPr>
          <p:cNvPr id="45" name="TextBox 44"/>
          <p:cNvSpPr txBox="1"/>
          <p:nvPr/>
        </p:nvSpPr>
        <p:spPr>
          <a:xfrm>
            <a:off x="6062472" y="5815584"/>
            <a:ext cx="5806440" cy="310896"/>
          </a:xfrm>
          <a:prstGeom prst="rect">
            <a:avLst/>
          </a:prstGeom>
          <a:noFill/>
        </p:spPr>
        <p:txBody>
          <a:bodyPr wrap="square">
            <a:spAutoFit/>
          </a:bodyPr>
          <a:lstStyle/>
          <a:p>
            <a:pPr algn="l"/>
            <a:r>
              <a:rPr sz="950" b="0" i="0">
                <a:solidFill>
                  <a:srgbClr val="444444"/>
                </a:solidFill>
              </a:rPr>
              <a:t>Tambahkan semua kegiatan yang direncanakan per IKU per triwulan.</a:t>
            </a:r>
          </a:p>
        </p:txBody>
      </p:sp>
      <p:sp>
        <p:nvSpPr>
          <p:cNvPr id="46" name="Rectangle 45"/>
          <p:cNvSpPr/>
          <p:nvPr/>
        </p:nvSpPr>
        <p:spPr>
          <a:xfrm>
            <a:off x="5532120" y="6236208"/>
            <a:ext cx="6400800" cy="502920"/>
          </a:xfrm>
          <a:prstGeom prst="rect">
            <a:avLst/>
          </a:prstGeom>
          <a:solidFill>
            <a:srgbClr val="FFF3CD"/>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0" y="6272784"/>
            <a:ext cx="6199632" cy="429768"/>
          </a:xfrm>
          <a:prstGeom prst="rect">
            <a:avLst/>
          </a:prstGeom>
          <a:noFill/>
        </p:spPr>
        <p:txBody>
          <a:bodyPr wrap="square">
            <a:spAutoFit/>
          </a:bodyPr>
          <a:lstStyle/>
          <a:p>
            <a:pPr algn="l"/>
            <a:r>
              <a:rPr sz="900" b="0" i="0">
                <a:solidFill>
                  <a:srgbClr val="7D6008"/>
                </a:solidFill>
              </a:rPr>
              <a:t>⚠  Perhatian: Minimal satu kegiatan harus ditambahkan per IKU sebelum dokumen dapat disubmit.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I-06  |  Submit &amp; Revisi Rencana Aksi</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Mengajukan dokumen ke Kabag Umum dan prosedur jika dikembalikan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 Ketua Tim Kerja (Rencana Aksi)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10 / —</a:t>
            </a:r>
          </a:p>
        </p:txBody>
      </p:sp>
      <p:sp>
        <p:nvSpPr>
          <p:cNvPr id="10" name="Rectangle 9"/>
          <p:cNvSpPr/>
          <p:nvPr/>
        </p:nvSpPr>
        <p:spPr>
          <a:xfrm>
            <a:off x="365760" y="1234440"/>
            <a:ext cx="11430000" cy="128016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298448"/>
            <a:ext cx="2468880" cy="1152144"/>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344168"/>
            <a:ext cx="2286000" cy="548640"/>
          </a:xfrm>
          <a:prstGeom prst="rect">
            <a:avLst/>
          </a:prstGeom>
          <a:noFill/>
        </p:spPr>
        <p:txBody>
          <a:bodyPr wrap="square">
            <a:spAutoFit/>
          </a:bodyPr>
          <a:lstStyle/>
          <a:p>
            <a:pPr algn="ctr"/>
            <a:r>
              <a:rPr sz="1000" b="1" i="0">
                <a:solidFill>
                  <a:srgbClr val="FFFFFF"/>
                </a:solidFill>
              </a:rPr>
              <a:t>Isi Semua
IKU</a:t>
            </a:r>
          </a:p>
        </p:txBody>
      </p:sp>
      <p:sp>
        <p:nvSpPr>
          <p:cNvPr id="13" name="TextBox 12"/>
          <p:cNvSpPr txBox="1"/>
          <p:nvPr/>
        </p:nvSpPr>
        <p:spPr>
          <a:xfrm>
            <a:off x="640080" y="1865376"/>
            <a:ext cx="2286000" cy="502920"/>
          </a:xfrm>
          <a:prstGeom prst="rect">
            <a:avLst/>
          </a:prstGeom>
          <a:noFill/>
        </p:spPr>
        <p:txBody>
          <a:bodyPr wrap="square">
            <a:spAutoFit/>
          </a:bodyPr>
          <a:lstStyle/>
          <a:p>
            <a:pPr algn="ctr"/>
            <a:r>
              <a:rPr sz="850" b="0" i="0">
                <a:solidFill>
                  <a:srgbClr val="CCDDFF"/>
                </a:solidFill>
              </a:rPr>
              <a:t>Tim Kerja</a:t>
            </a:r>
          </a:p>
        </p:txBody>
      </p:sp>
      <p:sp>
        <p:nvSpPr>
          <p:cNvPr id="14" name="TextBox 13"/>
          <p:cNvSpPr txBox="1"/>
          <p:nvPr/>
        </p:nvSpPr>
        <p:spPr>
          <a:xfrm>
            <a:off x="3044952" y="1682496"/>
            <a:ext cx="320040" cy="457200"/>
          </a:xfrm>
          <a:prstGeom prst="rect">
            <a:avLst/>
          </a:prstGeom>
          <a:noFill/>
        </p:spPr>
        <p:txBody>
          <a:bodyPr wrap="square">
            <a:spAutoFit/>
          </a:bodyPr>
          <a:lstStyle/>
          <a:p>
            <a:pPr algn="ctr"/>
            <a:r>
              <a:rPr sz="1400" b="0" i="0">
                <a:solidFill>
                  <a:srgbClr val="2E75B6"/>
                </a:solidFill>
              </a:rPr>
              <a:t>▶</a:t>
            </a:r>
          </a:p>
        </p:txBody>
      </p:sp>
      <p:sp>
        <p:nvSpPr>
          <p:cNvPr id="15" name="Rectangle 14"/>
          <p:cNvSpPr/>
          <p:nvPr/>
        </p:nvSpPr>
        <p:spPr>
          <a:xfrm>
            <a:off x="3383280" y="1298448"/>
            <a:ext cx="2468880" cy="1152144"/>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1344168"/>
            <a:ext cx="2286000" cy="548640"/>
          </a:xfrm>
          <a:prstGeom prst="rect">
            <a:avLst/>
          </a:prstGeom>
          <a:noFill/>
        </p:spPr>
        <p:txBody>
          <a:bodyPr wrap="square">
            <a:spAutoFit/>
          </a:bodyPr>
          <a:lstStyle/>
          <a:p>
            <a:pPr algn="ctr"/>
            <a:r>
              <a:rPr sz="1000" b="1" i="0">
                <a:solidFill>
                  <a:srgbClr val="FFFFFF"/>
                </a:solidFill>
              </a:rPr>
              <a:t>Submit ke
Kabag</a:t>
            </a:r>
          </a:p>
        </p:txBody>
      </p:sp>
      <p:sp>
        <p:nvSpPr>
          <p:cNvPr id="17" name="TextBox 16"/>
          <p:cNvSpPr txBox="1"/>
          <p:nvPr/>
        </p:nvSpPr>
        <p:spPr>
          <a:xfrm>
            <a:off x="3474720" y="1865376"/>
            <a:ext cx="2286000" cy="502920"/>
          </a:xfrm>
          <a:prstGeom prst="rect">
            <a:avLst/>
          </a:prstGeom>
          <a:noFill/>
        </p:spPr>
        <p:txBody>
          <a:bodyPr wrap="square">
            <a:spAutoFit/>
          </a:bodyPr>
          <a:lstStyle/>
          <a:p>
            <a:pPr algn="ctr"/>
            <a:r>
              <a:rPr sz="850" b="0" i="0">
                <a:solidFill>
                  <a:srgbClr val="CCDDFF"/>
                </a:solidFill>
              </a:rPr>
              <a:t>Tim Kerja</a:t>
            </a:r>
          </a:p>
        </p:txBody>
      </p:sp>
      <p:sp>
        <p:nvSpPr>
          <p:cNvPr id="18" name="TextBox 17"/>
          <p:cNvSpPr txBox="1"/>
          <p:nvPr/>
        </p:nvSpPr>
        <p:spPr>
          <a:xfrm>
            <a:off x="5879592" y="1682496"/>
            <a:ext cx="320040" cy="457200"/>
          </a:xfrm>
          <a:prstGeom prst="rect">
            <a:avLst/>
          </a:prstGeom>
          <a:noFill/>
        </p:spPr>
        <p:txBody>
          <a:bodyPr wrap="square">
            <a:spAutoFit/>
          </a:bodyPr>
          <a:lstStyle/>
          <a:p>
            <a:pPr algn="ctr"/>
            <a:r>
              <a:rPr sz="1400" b="0" i="0">
                <a:solidFill>
                  <a:srgbClr val="2E75B6"/>
                </a:solidFill>
              </a:rPr>
              <a:t>▶</a:t>
            </a:r>
          </a:p>
        </p:txBody>
      </p:sp>
      <p:sp>
        <p:nvSpPr>
          <p:cNvPr id="19" name="Rectangle 18"/>
          <p:cNvSpPr/>
          <p:nvPr/>
        </p:nvSpPr>
        <p:spPr>
          <a:xfrm>
            <a:off x="6217920" y="1298448"/>
            <a:ext cx="2468880" cy="1152144"/>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59" y="1344168"/>
            <a:ext cx="2286000" cy="548640"/>
          </a:xfrm>
          <a:prstGeom prst="rect">
            <a:avLst/>
          </a:prstGeom>
          <a:noFill/>
        </p:spPr>
        <p:txBody>
          <a:bodyPr wrap="square">
            <a:spAutoFit/>
          </a:bodyPr>
          <a:lstStyle/>
          <a:p>
            <a:pPr algn="ctr"/>
            <a:r>
              <a:rPr sz="1000" b="1" i="0">
                <a:solidFill>
                  <a:srgbClr val="FFFFFF"/>
                </a:solidFill>
              </a:rPr>
              <a:t>Review
Kabag</a:t>
            </a:r>
          </a:p>
        </p:txBody>
      </p:sp>
      <p:sp>
        <p:nvSpPr>
          <p:cNvPr id="21" name="TextBox 20"/>
          <p:cNvSpPr txBox="1"/>
          <p:nvPr/>
        </p:nvSpPr>
        <p:spPr>
          <a:xfrm>
            <a:off x="6309359" y="1865376"/>
            <a:ext cx="2286000" cy="502920"/>
          </a:xfrm>
          <a:prstGeom prst="rect">
            <a:avLst/>
          </a:prstGeom>
          <a:noFill/>
        </p:spPr>
        <p:txBody>
          <a:bodyPr wrap="square">
            <a:spAutoFit/>
          </a:bodyPr>
          <a:lstStyle/>
          <a:p>
            <a:pPr algn="ctr"/>
            <a:r>
              <a:rPr sz="850" b="0" i="0">
                <a:solidFill>
                  <a:srgbClr val="CCDDFF"/>
                </a:solidFill>
              </a:rPr>
              <a:t>Kabag Umum</a:t>
            </a:r>
          </a:p>
        </p:txBody>
      </p:sp>
      <p:sp>
        <p:nvSpPr>
          <p:cNvPr id="22" name="TextBox 21"/>
          <p:cNvSpPr txBox="1"/>
          <p:nvPr/>
        </p:nvSpPr>
        <p:spPr>
          <a:xfrm>
            <a:off x="8714232" y="1682496"/>
            <a:ext cx="320040" cy="457200"/>
          </a:xfrm>
          <a:prstGeom prst="rect">
            <a:avLst/>
          </a:prstGeom>
          <a:noFill/>
        </p:spPr>
        <p:txBody>
          <a:bodyPr wrap="square">
            <a:spAutoFit/>
          </a:bodyPr>
          <a:lstStyle/>
          <a:p>
            <a:pPr algn="ctr"/>
            <a:r>
              <a:rPr sz="1400" b="0" i="0">
                <a:solidFill>
                  <a:srgbClr val="2E75B6"/>
                </a:solidFill>
              </a:rPr>
              <a:t>▶</a:t>
            </a:r>
          </a:p>
        </p:txBody>
      </p:sp>
      <p:sp>
        <p:nvSpPr>
          <p:cNvPr id="23" name="Rectangle 22"/>
          <p:cNvSpPr/>
          <p:nvPr/>
        </p:nvSpPr>
        <p:spPr>
          <a:xfrm>
            <a:off x="9052560" y="1298448"/>
            <a:ext cx="2468880" cy="115214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0" y="1344168"/>
            <a:ext cx="2286000" cy="548640"/>
          </a:xfrm>
          <a:prstGeom prst="rect">
            <a:avLst/>
          </a:prstGeom>
          <a:noFill/>
        </p:spPr>
        <p:txBody>
          <a:bodyPr wrap="square">
            <a:spAutoFit/>
          </a:bodyPr>
          <a:lstStyle/>
          <a:p>
            <a:pPr algn="ctr"/>
            <a:r>
              <a:rPr sz="1000" b="1" i="0">
                <a:solidFill>
                  <a:srgbClr val="FFFFFF"/>
                </a:solidFill>
              </a:rPr>
              <a:t>Disetujui /
Dikembalikan</a:t>
            </a:r>
          </a:p>
        </p:txBody>
      </p:sp>
      <p:sp>
        <p:nvSpPr>
          <p:cNvPr id="25" name="TextBox 24"/>
          <p:cNvSpPr txBox="1"/>
          <p:nvPr/>
        </p:nvSpPr>
        <p:spPr>
          <a:xfrm>
            <a:off x="9144000" y="1865376"/>
            <a:ext cx="2286000" cy="502920"/>
          </a:xfrm>
          <a:prstGeom prst="rect">
            <a:avLst/>
          </a:prstGeom>
          <a:noFill/>
        </p:spPr>
        <p:txBody>
          <a:bodyPr wrap="square">
            <a:spAutoFit/>
          </a:bodyPr>
          <a:lstStyle/>
          <a:p>
            <a:pPr algn="ctr"/>
            <a:r>
              <a:rPr sz="850" b="0" i="0">
                <a:solidFill>
                  <a:srgbClr val="CCDDFF"/>
                </a:solidFill>
              </a:rPr>
              <a:t>Kabag Umum</a:t>
            </a:r>
          </a:p>
        </p:txBody>
      </p:sp>
      <p:sp>
        <p:nvSpPr>
          <p:cNvPr id="26" name="Rectangle 25"/>
          <p:cNvSpPr/>
          <p:nvPr/>
        </p:nvSpPr>
        <p:spPr>
          <a:xfrm>
            <a:off x="365760" y="2651760"/>
            <a:ext cx="5394960" cy="379476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2651760"/>
            <a:ext cx="5394960" cy="384048"/>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2670048"/>
            <a:ext cx="5166360" cy="347472"/>
          </a:xfrm>
          <a:prstGeom prst="rect">
            <a:avLst/>
          </a:prstGeom>
          <a:noFill/>
        </p:spPr>
        <p:txBody>
          <a:bodyPr wrap="square">
            <a:spAutoFit/>
          </a:bodyPr>
          <a:lstStyle/>
          <a:p>
            <a:pPr algn="l"/>
            <a:r>
              <a:rPr sz="1200" b="1" i="0">
                <a:solidFill>
                  <a:srgbClr val="FFFFFF"/>
                </a:solidFill>
              </a:rPr>
              <a:t>Cara Submit Dokumen</a:t>
            </a:r>
          </a:p>
        </p:txBody>
      </p:sp>
      <p:sp>
        <p:nvSpPr>
          <p:cNvPr id="29" name="Rectangle 28"/>
          <p:cNvSpPr/>
          <p:nvPr/>
        </p:nvSpPr>
        <p:spPr>
          <a:xfrm>
            <a:off x="365760" y="3127248"/>
            <a:ext cx="53949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3127248"/>
            <a:ext cx="457200" cy="694944"/>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3273551"/>
            <a:ext cx="457200" cy="402336"/>
          </a:xfrm>
          <a:prstGeom prst="rect">
            <a:avLst/>
          </a:prstGeom>
          <a:noFill/>
        </p:spPr>
        <p:txBody>
          <a:bodyPr wrap="square">
            <a:spAutoFit/>
          </a:bodyPr>
          <a:lstStyle/>
          <a:p>
            <a:pPr algn="ctr"/>
            <a:r>
              <a:rPr sz="1700" b="1" i="0">
                <a:solidFill>
                  <a:srgbClr val="FFFFFF"/>
                </a:solidFill>
              </a:rPr>
              <a:t>1</a:t>
            </a:r>
          </a:p>
        </p:txBody>
      </p:sp>
      <p:sp>
        <p:nvSpPr>
          <p:cNvPr id="32" name="TextBox 31"/>
          <p:cNvSpPr txBox="1"/>
          <p:nvPr/>
        </p:nvSpPr>
        <p:spPr>
          <a:xfrm>
            <a:off x="896112" y="3172968"/>
            <a:ext cx="4800600" cy="274320"/>
          </a:xfrm>
          <a:prstGeom prst="rect">
            <a:avLst/>
          </a:prstGeom>
          <a:noFill/>
        </p:spPr>
        <p:txBody>
          <a:bodyPr wrap="square">
            <a:spAutoFit/>
          </a:bodyPr>
          <a:lstStyle/>
          <a:p>
            <a:pPr algn="l"/>
            <a:r>
              <a:rPr sz="1050" b="1" i="0">
                <a:solidFill>
                  <a:srgbClr val="1A376C"/>
                </a:solidFill>
              </a:rPr>
              <a:t>Periksa Kelengkapan</a:t>
            </a:r>
          </a:p>
        </p:txBody>
      </p:sp>
      <p:sp>
        <p:nvSpPr>
          <p:cNvPr id="33" name="TextBox 32"/>
          <p:cNvSpPr txBox="1"/>
          <p:nvPr/>
        </p:nvSpPr>
        <p:spPr>
          <a:xfrm>
            <a:off x="896112" y="3456432"/>
            <a:ext cx="4800600" cy="310896"/>
          </a:xfrm>
          <a:prstGeom prst="rect">
            <a:avLst/>
          </a:prstGeom>
          <a:noFill/>
        </p:spPr>
        <p:txBody>
          <a:bodyPr wrap="square">
            <a:spAutoFit/>
          </a:bodyPr>
          <a:lstStyle/>
          <a:p>
            <a:pPr algn="l"/>
            <a:r>
              <a:rPr sz="950" b="0" i="0">
                <a:solidFill>
                  <a:srgbClr val="444444"/>
                </a:solidFill>
              </a:rPr>
              <a:t>Semua IKU sudah diisi target TW I–IV dan minimal satu rencana kegiatan.</a:t>
            </a:r>
          </a:p>
        </p:txBody>
      </p:sp>
      <p:sp>
        <p:nvSpPr>
          <p:cNvPr id="34" name="Rectangle 33"/>
          <p:cNvSpPr/>
          <p:nvPr/>
        </p:nvSpPr>
        <p:spPr>
          <a:xfrm>
            <a:off x="365760" y="3886200"/>
            <a:ext cx="53949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886200"/>
            <a:ext cx="457200" cy="694944"/>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4032504"/>
            <a:ext cx="457200" cy="402336"/>
          </a:xfrm>
          <a:prstGeom prst="rect">
            <a:avLst/>
          </a:prstGeom>
          <a:noFill/>
        </p:spPr>
        <p:txBody>
          <a:bodyPr wrap="square">
            <a:spAutoFit/>
          </a:bodyPr>
          <a:lstStyle/>
          <a:p>
            <a:pPr algn="ctr"/>
            <a:r>
              <a:rPr sz="1700" b="1" i="0">
                <a:solidFill>
                  <a:srgbClr val="FFFFFF"/>
                </a:solidFill>
              </a:rPr>
              <a:t>2</a:t>
            </a:r>
          </a:p>
        </p:txBody>
      </p:sp>
      <p:sp>
        <p:nvSpPr>
          <p:cNvPr id="37" name="TextBox 36"/>
          <p:cNvSpPr txBox="1"/>
          <p:nvPr/>
        </p:nvSpPr>
        <p:spPr>
          <a:xfrm>
            <a:off x="896112" y="3931920"/>
            <a:ext cx="4800600" cy="274320"/>
          </a:xfrm>
          <a:prstGeom prst="rect">
            <a:avLst/>
          </a:prstGeom>
          <a:noFill/>
        </p:spPr>
        <p:txBody>
          <a:bodyPr wrap="square">
            <a:spAutoFit/>
          </a:bodyPr>
          <a:lstStyle/>
          <a:p>
            <a:pPr algn="l"/>
            <a:r>
              <a:rPr sz="1050" b="1" i="0">
                <a:solidFill>
                  <a:srgbClr val="1A376C"/>
                </a:solidFill>
              </a:rPr>
              <a:t>Klik Tombol Submit</a:t>
            </a:r>
          </a:p>
        </p:txBody>
      </p:sp>
      <p:sp>
        <p:nvSpPr>
          <p:cNvPr id="38" name="TextBox 37"/>
          <p:cNvSpPr txBox="1"/>
          <p:nvPr/>
        </p:nvSpPr>
        <p:spPr>
          <a:xfrm>
            <a:off x="896112" y="4215384"/>
            <a:ext cx="4800600" cy="310896"/>
          </a:xfrm>
          <a:prstGeom prst="rect">
            <a:avLst/>
          </a:prstGeom>
          <a:noFill/>
        </p:spPr>
        <p:txBody>
          <a:bodyPr wrap="square">
            <a:spAutoFit/>
          </a:bodyPr>
          <a:lstStyle/>
          <a:p>
            <a:pPr algn="l"/>
            <a:r>
              <a:rPr sz="950" b="0" i="0">
                <a:solidFill>
                  <a:srgbClr val="444444"/>
                </a:solidFill>
              </a:rPr>
              <a:t>Klik "Submit ke Kabag Umum" di halaman Penyusunan.</a:t>
            </a:r>
          </a:p>
        </p:txBody>
      </p:sp>
      <p:sp>
        <p:nvSpPr>
          <p:cNvPr id="39" name="Rectangle 38"/>
          <p:cNvSpPr/>
          <p:nvPr/>
        </p:nvSpPr>
        <p:spPr>
          <a:xfrm>
            <a:off x="365760" y="4645152"/>
            <a:ext cx="53949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4645152"/>
            <a:ext cx="457200" cy="694944"/>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4791456"/>
            <a:ext cx="457200" cy="402336"/>
          </a:xfrm>
          <a:prstGeom prst="rect">
            <a:avLst/>
          </a:prstGeom>
          <a:noFill/>
        </p:spPr>
        <p:txBody>
          <a:bodyPr wrap="square">
            <a:spAutoFit/>
          </a:bodyPr>
          <a:lstStyle/>
          <a:p>
            <a:pPr algn="ctr"/>
            <a:r>
              <a:rPr sz="1700" b="1" i="0">
                <a:solidFill>
                  <a:srgbClr val="FFFFFF"/>
                </a:solidFill>
              </a:rPr>
              <a:t>3</a:t>
            </a:r>
          </a:p>
        </p:txBody>
      </p:sp>
      <p:sp>
        <p:nvSpPr>
          <p:cNvPr id="42" name="TextBox 41"/>
          <p:cNvSpPr txBox="1"/>
          <p:nvPr/>
        </p:nvSpPr>
        <p:spPr>
          <a:xfrm>
            <a:off x="896112" y="4690872"/>
            <a:ext cx="4800600" cy="274320"/>
          </a:xfrm>
          <a:prstGeom prst="rect">
            <a:avLst/>
          </a:prstGeom>
          <a:noFill/>
        </p:spPr>
        <p:txBody>
          <a:bodyPr wrap="square">
            <a:spAutoFit/>
          </a:bodyPr>
          <a:lstStyle/>
          <a:p>
            <a:pPr algn="l"/>
            <a:r>
              <a:rPr sz="1050" b="1" i="0">
                <a:solidFill>
                  <a:srgbClr val="1A376C"/>
                </a:solidFill>
              </a:rPr>
              <a:t>Konfirmasi</a:t>
            </a:r>
          </a:p>
        </p:txBody>
      </p:sp>
      <p:sp>
        <p:nvSpPr>
          <p:cNvPr id="43" name="TextBox 42"/>
          <p:cNvSpPr txBox="1"/>
          <p:nvPr/>
        </p:nvSpPr>
        <p:spPr>
          <a:xfrm>
            <a:off x="896112" y="4974336"/>
            <a:ext cx="4800600" cy="310896"/>
          </a:xfrm>
          <a:prstGeom prst="rect">
            <a:avLst/>
          </a:prstGeom>
          <a:noFill/>
        </p:spPr>
        <p:txBody>
          <a:bodyPr wrap="square">
            <a:spAutoFit/>
          </a:bodyPr>
          <a:lstStyle/>
          <a:p>
            <a:pPr algn="l"/>
            <a:r>
              <a:rPr sz="950" b="0" i="0">
                <a:solidFill>
                  <a:srgbClr val="444444"/>
                </a:solidFill>
              </a:rPr>
              <a:t>Baca dialog konfirmasi dengan seksama, lalu klik Konfirmasi.</a:t>
            </a:r>
          </a:p>
        </p:txBody>
      </p:sp>
      <p:sp>
        <p:nvSpPr>
          <p:cNvPr id="44" name="Rectangle 43"/>
          <p:cNvSpPr/>
          <p:nvPr/>
        </p:nvSpPr>
        <p:spPr>
          <a:xfrm>
            <a:off x="365760" y="5404104"/>
            <a:ext cx="53949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5760" y="5404104"/>
            <a:ext cx="457200" cy="694944"/>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760" y="5550408"/>
            <a:ext cx="457200" cy="402336"/>
          </a:xfrm>
          <a:prstGeom prst="rect">
            <a:avLst/>
          </a:prstGeom>
          <a:noFill/>
        </p:spPr>
        <p:txBody>
          <a:bodyPr wrap="square">
            <a:spAutoFit/>
          </a:bodyPr>
          <a:lstStyle/>
          <a:p>
            <a:pPr algn="ctr"/>
            <a:r>
              <a:rPr sz="1700" b="1" i="0">
                <a:solidFill>
                  <a:srgbClr val="FFFFFF"/>
                </a:solidFill>
              </a:rPr>
              <a:t>4</a:t>
            </a:r>
          </a:p>
        </p:txBody>
      </p:sp>
      <p:sp>
        <p:nvSpPr>
          <p:cNvPr id="47" name="TextBox 46"/>
          <p:cNvSpPr txBox="1"/>
          <p:nvPr/>
        </p:nvSpPr>
        <p:spPr>
          <a:xfrm>
            <a:off x="896112" y="5449824"/>
            <a:ext cx="4800600" cy="274320"/>
          </a:xfrm>
          <a:prstGeom prst="rect">
            <a:avLst/>
          </a:prstGeom>
          <a:noFill/>
        </p:spPr>
        <p:txBody>
          <a:bodyPr wrap="square">
            <a:spAutoFit/>
          </a:bodyPr>
          <a:lstStyle/>
          <a:p>
            <a:pPr algn="l"/>
            <a:r>
              <a:rPr sz="1050" b="1" i="0">
                <a:solidFill>
                  <a:srgbClr val="1A376C"/>
                </a:solidFill>
              </a:rPr>
              <a:t>Status Berubah</a:t>
            </a:r>
          </a:p>
        </p:txBody>
      </p:sp>
      <p:sp>
        <p:nvSpPr>
          <p:cNvPr id="48" name="TextBox 47"/>
          <p:cNvSpPr txBox="1"/>
          <p:nvPr/>
        </p:nvSpPr>
        <p:spPr>
          <a:xfrm>
            <a:off x="896112" y="5733288"/>
            <a:ext cx="4800600" cy="310896"/>
          </a:xfrm>
          <a:prstGeom prst="rect">
            <a:avLst/>
          </a:prstGeom>
          <a:noFill/>
        </p:spPr>
        <p:txBody>
          <a:bodyPr wrap="square">
            <a:spAutoFit/>
          </a:bodyPr>
          <a:lstStyle/>
          <a:p>
            <a:pPr algn="l"/>
            <a:r>
              <a:rPr sz="950" b="0" i="0">
                <a:solidFill>
                  <a:srgbClr val="444444"/>
                </a:solidFill>
              </a:rPr>
              <a:t>Status dokumen menjadi 'Menunggu Persetujuan'.</a:t>
            </a:r>
          </a:p>
        </p:txBody>
      </p:sp>
      <p:sp>
        <p:nvSpPr>
          <p:cNvPr id="49" name="Rectangle 48"/>
          <p:cNvSpPr/>
          <p:nvPr/>
        </p:nvSpPr>
        <p:spPr>
          <a:xfrm>
            <a:off x="365760" y="6291072"/>
            <a:ext cx="5394960" cy="502920"/>
          </a:xfrm>
          <a:prstGeom prst="rect">
            <a:avLst/>
          </a:prstGeom>
          <a:solidFill>
            <a:srgbClr val="FDEDEC"/>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2920" y="6327648"/>
            <a:ext cx="5193792" cy="429768"/>
          </a:xfrm>
          <a:prstGeom prst="rect">
            <a:avLst/>
          </a:prstGeom>
          <a:noFill/>
        </p:spPr>
        <p:txBody>
          <a:bodyPr wrap="square">
            <a:spAutoFit/>
          </a:bodyPr>
          <a:lstStyle/>
          <a:p>
            <a:pPr algn="l"/>
            <a:r>
              <a:rPr sz="900" b="0" i="0">
                <a:solidFill>
                  <a:srgbClr val="C0392B"/>
                </a:solidFill>
              </a:rPr>
              <a:t>⛔  Dokumen yang telah disubmit TIDAK DAPAT diedit. Pastikan data sudah benar.</a:t>
            </a:r>
          </a:p>
        </p:txBody>
      </p:sp>
      <p:sp>
        <p:nvSpPr>
          <p:cNvPr id="51" name="Rectangle 50"/>
          <p:cNvSpPr/>
          <p:nvPr/>
        </p:nvSpPr>
        <p:spPr>
          <a:xfrm>
            <a:off x="6126480" y="2651760"/>
            <a:ext cx="5715000" cy="379476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126480" y="2651760"/>
            <a:ext cx="571500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63640" y="2670048"/>
            <a:ext cx="5486400" cy="347472"/>
          </a:xfrm>
          <a:prstGeom prst="rect">
            <a:avLst/>
          </a:prstGeom>
          <a:noFill/>
        </p:spPr>
        <p:txBody>
          <a:bodyPr wrap="square">
            <a:spAutoFit/>
          </a:bodyPr>
          <a:lstStyle/>
          <a:p>
            <a:pPr algn="l"/>
            <a:r>
              <a:rPr sz="1200" b="1" i="0">
                <a:solidFill>
                  <a:srgbClr val="FFFFFF"/>
                </a:solidFill>
              </a:rPr>
              <a:t>Jika Dokumen Dikembalikan</a:t>
            </a:r>
          </a:p>
        </p:txBody>
      </p:sp>
      <p:sp>
        <p:nvSpPr>
          <p:cNvPr id="54" name="Rectangle 53"/>
          <p:cNvSpPr/>
          <p:nvPr/>
        </p:nvSpPr>
        <p:spPr>
          <a:xfrm>
            <a:off x="6126480" y="3127248"/>
            <a:ext cx="57150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26480" y="3127248"/>
            <a:ext cx="457200" cy="6949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26480" y="3273551"/>
            <a:ext cx="457200" cy="402336"/>
          </a:xfrm>
          <a:prstGeom prst="rect">
            <a:avLst/>
          </a:prstGeom>
          <a:noFill/>
        </p:spPr>
        <p:txBody>
          <a:bodyPr wrap="square">
            <a:spAutoFit/>
          </a:bodyPr>
          <a:lstStyle/>
          <a:p>
            <a:pPr algn="ctr"/>
            <a:r>
              <a:rPr sz="1700" b="1" i="0">
                <a:solidFill>
                  <a:srgbClr val="FFFFFF"/>
                </a:solidFill>
              </a:rPr>
              <a:t>1</a:t>
            </a:r>
          </a:p>
        </p:txBody>
      </p:sp>
      <p:sp>
        <p:nvSpPr>
          <p:cNvPr id="57" name="TextBox 56"/>
          <p:cNvSpPr txBox="1"/>
          <p:nvPr/>
        </p:nvSpPr>
        <p:spPr>
          <a:xfrm>
            <a:off x="6656832" y="3172968"/>
            <a:ext cx="5120640" cy="274320"/>
          </a:xfrm>
          <a:prstGeom prst="rect">
            <a:avLst/>
          </a:prstGeom>
          <a:noFill/>
        </p:spPr>
        <p:txBody>
          <a:bodyPr wrap="square">
            <a:spAutoFit/>
          </a:bodyPr>
          <a:lstStyle/>
          <a:p>
            <a:pPr algn="l"/>
            <a:r>
              <a:rPr sz="1050" b="1" i="0">
                <a:solidFill>
                  <a:srgbClr val="1A376C"/>
                </a:solidFill>
              </a:rPr>
              <a:t>Baca Catatan</a:t>
            </a:r>
          </a:p>
        </p:txBody>
      </p:sp>
      <p:sp>
        <p:nvSpPr>
          <p:cNvPr id="58" name="TextBox 57"/>
          <p:cNvSpPr txBox="1"/>
          <p:nvPr/>
        </p:nvSpPr>
        <p:spPr>
          <a:xfrm>
            <a:off x="6656832" y="3456432"/>
            <a:ext cx="5120640" cy="310896"/>
          </a:xfrm>
          <a:prstGeom prst="rect">
            <a:avLst/>
          </a:prstGeom>
          <a:noFill/>
        </p:spPr>
        <p:txBody>
          <a:bodyPr wrap="square">
            <a:spAutoFit/>
          </a:bodyPr>
          <a:lstStyle/>
          <a:p>
            <a:pPr algn="l"/>
            <a:r>
              <a:rPr sz="950" b="0" i="0">
                <a:solidFill>
                  <a:srgbClr val="444444"/>
                </a:solidFill>
              </a:rPr>
              <a:t>Cek banner merah di halaman Penyusunan. Klik 'Lihat Catatan' untuk membaca keterangan Kabag.</a:t>
            </a:r>
          </a:p>
        </p:txBody>
      </p:sp>
      <p:sp>
        <p:nvSpPr>
          <p:cNvPr id="59" name="Rectangle 58"/>
          <p:cNvSpPr/>
          <p:nvPr/>
        </p:nvSpPr>
        <p:spPr>
          <a:xfrm>
            <a:off x="6126480" y="3886200"/>
            <a:ext cx="57150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26480" y="3886200"/>
            <a:ext cx="457200" cy="6949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26480" y="4032504"/>
            <a:ext cx="457200" cy="402336"/>
          </a:xfrm>
          <a:prstGeom prst="rect">
            <a:avLst/>
          </a:prstGeom>
          <a:noFill/>
        </p:spPr>
        <p:txBody>
          <a:bodyPr wrap="square">
            <a:spAutoFit/>
          </a:bodyPr>
          <a:lstStyle/>
          <a:p>
            <a:pPr algn="ctr"/>
            <a:r>
              <a:rPr sz="1700" b="1" i="0">
                <a:solidFill>
                  <a:srgbClr val="FFFFFF"/>
                </a:solidFill>
              </a:rPr>
              <a:t>2</a:t>
            </a:r>
          </a:p>
        </p:txBody>
      </p:sp>
      <p:sp>
        <p:nvSpPr>
          <p:cNvPr id="62" name="TextBox 61"/>
          <p:cNvSpPr txBox="1"/>
          <p:nvPr/>
        </p:nvSpPr>
        <p:spPr>
          <a:xfrm>
            <a:off x="6656832" y="3931920"/>
            <a:ext cx="5120640" cy="274320"/>
          </a:xfrm>
          <a:prstGeom prst="rect">
            <a:avLst/>
          </a:prstGeom>
          <a:noFill/>
        </p:spPr>
        <p:txBody>
          <a:bodyPr wrap="square">
            <a:spAutoFit/>
          </a:bodyPr>
          <a:lstStyle/>
          <a:p>
            <a:pPr algn="l"/>
            <a:r>
              <a:rPr sz="1050" b="1" i="0">
                <a:solidFill>
                  <a:srgbClr val="1A376C"/>
                </a:solidFill>
              </a:rPr>
              <a:t>Perbaiki Data</a:t>
            </a:r>
          </a:p>
        </p:txBody>
      </p:sp>
      <p:sp>
        <p:nvSpPr>
          <p:cNvPr id="63" name="TextBox 62"/>
          <p:cNvSpPr txBox="1"/>
          <p:nvPr/>
        </p:nvSpPr>
        <p:spPr>
          <a:xfrm>
            <a:off x="6656832" y="4215384"/>
            <a:ext cx="5120640" cy="310896"/>
          </a:xfrm>
          <a:prstGeom prst="rect">
            <a:avLst/>
          </a:prstGeom>
          <a:noFill/>
        </p:spPr>
        <p:txBody>
          <a:bodyPr wrap="square">
            <a:spAutoFit/>
          </a:bodyPr>
          <a:lstStyle/>
          <a:p>
            <a:pPr algn="l"/>
            <a:r>
              <a:rPr sz="950" b="0" i="0">
                <a:solidFill>
                  <a:srgbClr val="444444"/>
                </a:solidFill>
              </a:rPr>
              <a:t>Klik ikon pensil (✏) pada IKU yang perlu diperbaiki, ubah sesuai catatan.</a:t>
            </a:r>
          </a:p>
        </p:txBody>
      </p:sp>
      <p:sp>
        <p:nvSpPr>
          <p:cNvPr id="64" name="Rectangle 63"/>
          <p:cNvSpPr/>
          <p:nvPr/>
        </p:nvSpPr>
        <p:spPr>
          <a:xfrm>
            <a:off x="6126480" y="4645152"/>
            <a:ext cx="57150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26480" y="4645152"/>
            <a:ext cx="457200" cy="6949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26480" y="4791456"/>
            <a:ext cx="457200" cy="402336"/>
          </a:xfrm>
          <a:prstGeom prst="rect">
            <a:avLst/>
          </a:prstGeom>
          <a:noFill/>
        </p:spPr>
        <p:txBody>
          <a:bodyPr wrap="square">
            <a:spAutoFit/>
          </a:bodyPr>
          <a:lstStyle/>
          <a:p>
            <a:pPr algn="ctr"/>
            <a:r>
              <a:rPr sz="1700" b="1" i="0">
                <a:solidFill>
                  <a:srgbClr val="FFFFFF"/>
                </a:solidFill>
              </a:rPr>
              <a:t>3</a:t>
            </a:r>
          </a:p>
        </p:txBody>
      </p:sp>
      <p:sp>
        <p:nvSpPr>
          <p:cNvPr id="67" name="TextBox 66"/>
          <p:cNvSpPr txBox="1"/>
          <p:nvPr/>
        </p:nvSpPr>
        <p:spPr>
          <a:xfrm>
            <a:off x="6656832" y="4690872"/>
            <a:ext cx="5120640" cy="274320"/>
          </a:xfrm>
          <a:prstGeom prst="rect">
            <a:avLst/>
          </a:prstGeom>
          <a:noFill/>
        </p:spPr>
        <p:txBody>
          <a:bodyPr wrap="square">
            <a:spAutoFit/>
          </a:bodyPr>
          <a:lstStyle/>
          <a:p>
            <a:pPr algn="l"/>
            <a:r>
              <a:rPr sz="1050" b="1" i="0">
                <a:solidFill>
                  <a:srgbClr val="1A376C"/>
                </a:solidFill>
              </a:rPr>
              <a:t>Simpan</a:t>
            </a:r>
          </a:p>
        </p:txBody>
      </p:sp>
      <p:sp>
        <p:nvSpPr>
          <p:cNvPr id="68" name="TextBox 67"/>
          <p:cNvSpPr txBox="1"/>
          <p:nvPr/>
        </p:nvSpPr>
        <p:spPr>
          <a:xfrm>
            <a:off x="6656832" y="4974336"/>
            <a:ext cx="5120640" cy="310896"/>
          </a:xfrm>
          <a:prstGeom prst="rect">
            <a:avLst/>
          </a:prstGeom>
          <a:noFill/>
        </p:spPr>
        <p:txBody>
          <a:bodyPr wrap="square">
            <a:spAutoFit/>
          </a:bodyPr>
          <a:lstStyle/>
          <a:p>
            <a:pPr algn="l"/>
            <a:r>
              <a:rPr sz="950" b="0" i="0">
                <a:solidFill>
                  <a:srgbClr val="444444"/>
                </a:solidFill>
              </a:rPr>
              <a:t>Simpan perubahan pada setiap IKU yang diperbaiki.</a:t>
            </a:r>
          </a:p>
        </p:txBody>
      </p:sp>
      <p:sp>
        <p:nvSpPr>
          <p:cNvPr id="69" name="Rectangle 68"/>
          <p:cNvSpPr/>
          <p:nvPr/>
        </p:nvSpPr>
        <p:spPr>
          <a:xfrm>
            <a:off x="6126480" y="5404104"/>
            <a:ext cx="57150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126480" y="5404104"/>
            <a:ext cx="457200" cy="6949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126480" y="5550408"/>
            <a:ext cx="457200" cy="402336"/>
          </a:xfrm>
          <a:prstGeom prst="rect">
            <a:avLst/>
          </a:prstGeom>
          <a:noFill/>
        </p:spPr>
        <p:txBody>
          <a:bodyPr wrap="square">
            <a:spAutoFit/>
          </a:bodyPr>
          <a:lstStyle/>
          <a:p>
            <a:pPr algn="ctr"/>
            <a:r>
              <a:rPr sz="1700" b="1" i="0">
                <a:solidFill>
                  <a:srgbClr val="FFFFFF"/>
                </a:solidFill>
              </a:rPr>
              <a:t>4</a:t>
            </a:r>
          </a:p>
        </p:txBody>
      </p:sp>
      <p:sp>
        <p:nvSpPr>
          <p:cNvPr id="72" name="TextBox 71"/>
          <p:cNvSpPr txBox="1"/>
          <p:nvPr/>
        </p:nvSpPr>
        <p:spPr>
          <a:xfrm>
            <a:off x="6656832" y="5449824"/>
            <a:ext cx="5120640" cy="274320"/>
          </a:xfrm>
          <a:prstGeom prst="rect">
            <a:avLst/>
          </a:prstGeom>
          <a:noFill/>
        </p:spPr>
        <p:txBody>
          <a:bodyPr wrap="square">
            <a:spAutoFit/>
          </a:bodyPr>
          <a:lstStyle/>
          <a:p>
            <a:pPr algn="l"/>
            <a:r>
              <a:rPr sz="1050" b="1" i="0">
                <a:solidFill>
                  <a:srgbClr val="1A376C"/>
                </a:solidFill>
              </a:rPr>
              <a:t>Submit Ulang</a:t>
            </a:r>
          </a:p>
        </p:txBody>
      </p:sp>
      <p:sp>
        <p:nvSpPr>
          <p:cNvPr id="73" name="TextBox 72"/>
          <p:cNvSpPr txBox="1"/>
          <p:nvPr/>
        </p:nvSpPr>
        <p:spPr>
          <a:xfrm>
            <a:off x="6656832" y="5733288"/>
            <a:ext cx="5120640" cy="310896"/>
          </a:xfrm>
          <a:prstGeom prst="rect">
            <a:avLst/>
          </a:prstGeom>
          <a:noFill/>
        </p:spPr>
        <p:txBody>
          <a:bodyPr wrap="square">
            <a:spAutoFit/>
          </a:bodyPr>
          <a:lstStyle/>
          <a:p>
            <a:pPr algn="l"/>
            <a:r>
              <a:rPr sz="950" b="0" i="0">
                <a:solidFill>
                  <a:srgbClr val="444444"/>
                </a:solidFill>
              </a:rPr>
              <a:t>Klik kembali "Submit ke Kabag Umum" setelah semua perbaikan selesai.</a:t>
            </a:r>
          </a:p>
        </p:txBody>
      </p:sp>
      <p:sp>
        <p:nvSpPr>
          <p:cNvPr id="74" name="Rectangle 73"/>
          <p:cNvSpPr/>
          <p:nvPr/>
        </p:nvSpPr>
        <p:spPr>
          <a:xfrm>
            <a:off x="6126480" y="6291072"/>
            <a:ext cx="5715000" cy="502920"/>
          </a:xfrm>
          <a:prstGeom prst="rect">
            <a:avLst/>
          </a:prstGeom>
          <a:solidFill>
            <a:srgbClr val="FFF3CD"/>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63640" y="6327648"/>
            <a:ext cx="5513832" cy="429768"/>
          </a:xfrm>
          <a:prstGeom prst="rect">
            <a:avLst/>
          </a:prstGeom>
          <a:noFill/>
        </p:spPr>
        <p:txBody>
          <a:bodyPr wrap="square">
            <a:spAutoFit/>
          </a:bodyPr>
          <a:lstStyle/>
          <a:p>
            <a:pPr algn="l"/>
            <a:r>
              <a:rPr sz="900" b="0" i="0">
                <a:solidFill>
                  <a:srgbClr val="7D6008"/>
                </a:solidFill>
              </a:rPr>
              <a:t>⚠  Tidak ada batasan jumlah submit ulang. Pastikan semua catatan revisi sudah ditangani.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I-07  |  FAQ — Rencana Aksi</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Pertanyaan yang Sering Diajukan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 Ketua Tim Kerja (Rencana Aksi)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11 / —</a:t>
            </a:r>
          </a:p>
        </p:txBody>
      </p:sp>
      <p:sp>
        <p:nvSpPr>
          <p:cNvPr id="10" name="Rectangle 9"/>
          <p:cNvSpPr/>
          <p:nvPr/>
        </p:nvSpPr>
        <p:spPr>
          <a:xfrm>
            <a:off x="365760" y="1261872"/>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61872"/>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335024"/>
            <a:ext cx="475488"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65376"/>
            <a:ext cx="310896" cy="402336"/>
          </a:xfrm>
          <a:prstGeom prst="rect">
            <a:avLst/>
          </a:prstGeom>
          <a:noFill/>
        </p:spPr>
        <p:txBody>
          <a:bodyPr wrap="square">
            <a:spAutoFit/>
          </a:bodyPr>
          <a:lstStyle/>
          <a:p>
            <a:pPr algn="ctr"/>
            <a:r>
              <a:rPr sz="1800" b="1" i="0">
                <a:solidFill>
                  <a:srgbClr val="1A376C"/>
                </a:solidFill>
              </a:rPr>
              <a:t>Q</a:t>
            </a:r>
          </a:p>
        </p:txBody>
      </p:sp>
      <p:sp>
        <p:nvSpPr>
          <p:cNvPr id="14" name="TextBox 13"/>
          <p:cNvSpPr txBox="1"/>
          <p:nvPr/>
        </p:nvSpPr>
        <p:spPr>
          <a:xfrm>
            <a:off x="932688" y="1353312"/>
            <a:ext cx="4892040" cy="438912"/>
          </a:xfrm>
          <a:prstGeom prst="rect">
            <a:avLst/>
          </a:prstGeom>
          <a:noFill/>
        </p:spPr>
        <p:txBody>
          <a:bodyPr wrap="square">
            <a:spAutoFit/>
          </a:bodyPr>
          <a:lstStyle/>
          <a:p>
            <a:pPr algn="l"/>
            <a:r>
              <a:rPr sz="1000" b="1" i="0">
                <a:solidFill>
                  <a:srgbClr val="1A376C"/>
                </a:solidFill>
              </a:rPr>
              <a:t>Saya tidak bisa login. Apa yang harus dilakukan?</a:t>
            </a:r>
          </a:p>
        </p:txBody>
      </p:sp>
      <p:sp>
        <p:nvSpPr>
          <p:cNvPr id="15" name="Rectangle 14"/>
          <p:cNvSpPr/>
          <p:nvPr/>
        </p:nvSpPr>
        <p:spPr>
          <a:xfrm>
            <a:off x="932688" y="181051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1883664"/>
            <a:ext cx="4892040" cy="1024128"/>
          </a:xfrm>
          <a:prstGeom prst="rect">
            <a:avLst/>
          </a:prstGeom>
          <a:noFill/>
        </p:spPr>
        <p:txBody>
          <a:bodyPr wrap="square">
            <a:spAutoFit/>
          </a:bodyPr>
          <a:lstStyle/>
          <a:p>
            <a:pPr algn="l"/>
            <a:r>
              <a:rPr sz="950" b="0" i="0">
                <a:solidFill>
                  <a:srgbClr val="444444"/>
                </a:solidFill>
              </a:rPr>
              <a:t>Periksa username (ketua.xxx) dan password. Pastikan Caps Lock nonaktif. Hubungi Admin untuk reset password.</a:t>
            </a:r>
          </a:p>
        </p:txBody>
      </p:sp>
      <p:sp>
        <p:nvSpPr>
          <p:cNvPr id="17" name="Rectangle 16"/>
          <p:cNvSpPr/>
          <p:nvPr/>
        </p:nvSpPr>
        <p:spPr>
          <a:xfrm>
            <a:off x="6309360" y="1261872"/>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261872"/>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335024"/>
            <a:ext cx="475488"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865376"/>
            <a:ext cx="310896" cy="402336"/>
          </a:xfrm>
          <a:prstGeom prst="rect">
            <a:avLst/>
          </a:prstGeom>
          <a:noFill/>
        </p:spPr>
        <p:txBody>
          <a:bodyPr wrap="square">
            <a:spAutoFit/>
          </a:bodyPr>
          <a:lstStyle/>
          <a:p>
            <a:pPr algn="ctr"/>
            <a:r>
              <a:rPr sz="1800" b="1" i="0">
                <a:solidFill>
                  <a:srgbClr val="1A376C"/>
                </a:solidFill>
              </a:rPr>
              <a:t>Q</a:t>
            </a:r>
          </a:p>
        </p:txBody>
      </p:sp>
      <p:sp>
        <p:nvSpPr>
          <p:cNvPr id="21" name="TextBox 20"/>
          <p:cNvSpPr txBox="1"/>
          <p:nvPr/>
        </p:nvSpPr>
        <p:spPr>
          <a:xfrm>
            <a:off x="6876288" y="1353312"/>
            <a:ext cx="4892040" cy="438912"/>
          </a:xfrm>
          <a:prstGeom prst="rect">
            <a:avLst/>
          </a:prstGeom>
          <a:noFill/>
        </p:spPr>
        <p:txBody>
          <a:bodyPr wrap="square">
            <a:spAutoFit/>
          </a:bodyPr>
          <a:lstStyle/>
          <a:p>
            <a:pPr algn="l"/>
            <a:r>
              <a:rPr sz="1000" b="1" i="0">
                <a:solidFill>
                  <a:srgbClr val="1A376C"/>
                </a:solidFill>
              </a:rPr>
              <a:t>Mengapa tombol Submit tidak aktif?</a:t>
            </a:r>
          </a:p>
        </p:txBody>
      </p:sp>
      <p:sp>
        <p:nvSpPr>
          <p:cNvPr id="22" name="Rectangle 21"/>
          <p:cNvSpPr/>
          <p:nvPr/>
        </p:nvSpPr>
        <p:spPr>
          <a:xfrm>
            <a:off x="6876288" y="181051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76288" y="1883664"/>
            <a:ext cx="4892040" cy="1024128"/>
          </a:xfrm>
          <a:prstGeom prst="rect">
            <a:avLst/>
          </a:prstGeom>
          <a:noFill/>
        </p:spPr>
        <p:txBody>
          <a:bodyPr wrap="square">
            <a:spAutoFit/>
          </a:bodyPr>
          <a:lstStyle/>
          <a:p>
            <a:pPr algn="l"/>
            <a:r>
              <a:rPr sz="950" b="0" i="0">
                <a:solidFill>
                  <a:srgbClr val="444444"/>
                </a:solidFill>
              </a:rPr>
              <a:t>Tombol Submit hanya aktif jika SEMUA IKU sudah diisi target TW I–IV dan minimal satu rencana kegiatan.</a:t>
            </a:r>
          </a:p>
        </p:txBody>
      </p:sp>
      <p:sp>
        <p:nvSpPr>
          <p:cNvPr id="24" name="Rectangle 23"/>
          <p:cNvSpPr/>
          <p:nvPr/>
        </p:nvSpPr>
        <p:spPr>
          <a:xfrm>
            <a:off x="365760" y="3017520"/>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017520"/>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3090672"/>
            <a:ext cx="475488"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621024"/>
            <a:ext cx="310896" cy="402336"/>
          </a:xfrm>
          <a:prstGeom prst="rect">
            <a:avLst/>
          </a:prstGeom>
          <a:noFill/>
        </p:spPr>
        <p:txBody>
          <a:bodyPr wrap="square">
            <a:spAutoFit/>
          </a:bodyPr>
          <a:lstStyle/>
          <a:p>
            <a:pPr algn="ctr"/>
            <a:r>
              <a:rPr sz="1800" b="1" i="0">
                <a:solidFill>
                  <a:srgbClr val="1A376C"/>
                </a:solidFill>
              </a:rPr>
              <a:t>Q</a:t>
            </a:r>
          </a:p>
        </p:txBody>
      </p:sp>
      <p:sp>
        <p:nvSpPr>
          <p:cNvPr id="28" name="TextBox 27"/>
          <p:cNvSpPr txBox="1"/>
          <p:nvPr/>
        </p:nvSpPr>
        <p:spPr>
          <a:xfrm>
            <a:off x="932688" y="3108960"/>
            <a:ext cx="4892040" cy="438912"/>
          </a:xfrm>
          <a:prstGeom prst="rect">
            <a:avLst/>
          </a:prstGeom>
          <a:noFill/>
        </p:spPr>
        <p:txBody>
          <a:bodyPr wrap="square">
            <a:spAutoFit/>
          </a:bodyPr>
          <a:lstStyle/>
          <a:p>
            <a:pPr algn="l"/>
            <a:r>
              <a:rPr sz="1000" b="1" i="0">
                <a:solidFill>
                  <a:srgbClr val="1A376C"/>
                </a:solidFill>
              </a:rPr>
              <a:t>Bisakah saya mengedit data setelah submit?</a:t>
            </a:r>
          </a:p>
        </p:txBody>
      </p:sp>
      <p:sp>
        <p:nvSpPr>
          <p:cNvPr id="29" name="Rectangle 28"/>
          <p:cNvSpPr/>
          <p:nvPr/>
        </p:nvSpPr>
        <p:spPr>
          <a:xfrm>
            <a:off x="932688" y="3566160"/>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3639312"/>
            <a:ext cx="4892040" cy="1024128"/>
          </a:xfrm>
          <a:prstGeom prst="rect">
            <a:avLst/>
          </a:prstGeom>
          <a:noFill/>
        </p:spPr>
        <p:txBody>
          <a:bodyPr wrap="square">
            <a:spAutoFit/>
          </a:bodyPr>
          <a:lstStyle/>
          <a:p>
            <a:pPr algn="l"/>
            <a:r>
              <a:rPr sz="950" b="0" i="0">
                <a:solidFill>
                  <a:srgbClr val="444444"/>
                </a:solidFill>
              </a:rPr>
              <a:t>Tidak. Pengeditan hanya bisa dilakukan jika Kabag Umum mengembalikan dokumen dengan catatan revisi.</a:t>
            </a:r>
          </a:p>
        </p:txBody>
      </p:sp>
      <p:sp>
        <p:nvSpPr>
          <p:cNvPr id="31" name="Rectangle 30"/>
          <p:cNvSpPr/>
          <p:nvPr/>
        </p:nvSpPr>
        <p:spPr>
          <a:xfrm>
            <a:off x="6309360" y="3017520"/>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3017520"/>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3090672"/>
            <a:ext cx="475488"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3621024"/>
            <a:ext cx="310896" cy="402336"/>
          </a:xfrm>
          <a:prstGeom prst="rect">
            <a:avLst/>
          </a:prstGeom>
          <a:noFill/>
        </p:spPr>
        <p:txBody>
          <a:bodyPr wrap="square">
            <a:spAutoFit/>
          </a:bodyPr>
          <a:lstStyle/>
          <a:p>
            <a:pPr algn="ctr"/>
            <a:r>
              <a:rPr sz="1800" b="1" i="0">
                <a:solidFill>
                  <a:srgbClr val="1A376C"/>
                </a:solidFill>
              </a:rPr>
              <a:t>Q</a:t>
            </a:r>
          </a:p>
        </p:txBody>
      </p:sp>
      <p:sp>
        <p:nvSpPr>
          <p:cNvPr id="35" name="TextBox 34"/>
          <p:cNvSpPr txBox="1"/>
          <p:nvPr/>
        </p:nvSpPr>
        <p:spPr>
          <a:xfrm>
            <a:off x="6876288" y="3108960"/>
            <a:ext cx="4892040" cy="438912"/>
          </a:xfrm>
          <a:prstGeom prst="rect">
            <a:avLst/>
          </a:prstGeom>
          <a:noFill/>
        </p:spPr>
        <p:txBody>
          <a:bodyPr wrap="square">
            <a:spAutoFit/>
          </a:bodyPr>
          <a:lstStyle/>
          <a:p>
            <a:pPr algn="l"/>
            <a:r>
              <a:rPr sz="1000" b="1" i="0">
                <a:solidFill>
                  <a:srgbClr val="1A376C"/>
                </a:solidFill>
              </a:rPr>
              <a:t>Apa itu IKU Kolaborasi? Siapa yang mengisinya?</a:t>
            </a:r>
          </a:p>
        </p:txBody>
      </p:sp>
      <p:sp>
        <p:nvSpPr>
          <p:cNvPr id="36" name="Rectangle 35"/>
          <p:cNvSpPr/>
          <p:nvPr/>
        </p:nvSpPr>
        <p:spPr>
          <a:xfrm>
            <a:off x="6876288" y="3566160"/>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76288" y="3639312"/>
            <a:ext cx="4892040" cy="1024128"/>
          </a:xfrm>
          <a:prstGeom prst="rect">
            <a:avLst/>
          </a:prstGeom>
          <a:noFill/>
        </p:spPr>
        <p:txBody>
          <a:bodyPr wrap="square">
            <a:spAutoFit/>
          </a:bodyPr>
          <a:lstStyle/>
          <a:p>
            <a:pPr algn="l"/>
            <a:r>
              <a:rPr sz="950" b="0" i="0">
                <a:solidFill>
                  <a:srgbClr val="444444"/>
                </a:solidFill>
              </a:rPr>
              <a:t>IKU Kolaborasi dikerjakan bersama beberapa Tim Kerja. Setiap Tim Kerja mengisi rencana kegiatannya masing-masing.</a:t>
            </a:r>
          </a:p>
        </p:txBody>
      </p:sp>
      <p:sp>
        <p:nvSpPr>
          <p:cNvPr id="38" name="Rectangle 37"/>
          <p:cNvSpPr/>
          <p:nvPr/>
        </p:nvSpPr>
        <p:spPr>
          <a:xfrm>
            <a:off x="365760" y="4773168"/>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4773168"/>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4846320"/>
            <a:ext cx="475488"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5376672"/>
            <a:ext cx="310896" cy="402336"/>
          </a:xfrm>
          <a:prstGeom prst="rect">
            <a:avLst/>
          </a:prstGeom>
          <a:noFill/>
        </p:spPr>
        <p:txBody>
          <a:bodyPr wrap="square">
            <a:spAutoFit/>
          </a:bodyPr>
          <a:lstStyle/>
          <a:p>
            <a:pPr algn="ctr"/>
            <a:r>
              <a:rPr sz="1800" b="1" i="0">
                <a:solidFill>
                  <a:srgbClr val="1A376C"/>
                </a:solidFill>
              </a:rPr>
              <a:t>Q</a:t>
            </a:r>
          </a:p>
        </p:txBody>
      </p:sp>
      <p:sp>
        <p:nvSpPr>
          <p:cNvPr id="42" name="TextBox 41"/>
          <p:cNvSpPr txBox="1"/>
          <p:nvPr/>
        </p:nvSpPr>
        <p:spPr>
          <a:xfrm>
            <a:off x="932688" y="4864607"/>
            <a:ext cx="4892040" cy="438912"/>
          </a:xfrm>
          <a:prstGeom prst="rect">
            <a:avLst/>
          </a:prstGeom>
          <a:noFill/>
        </p:spPr>
        <p:txBody>
          <a:bodyPr wrap="square">
            <a:spAutoFit/>
          </a:bodyPr>
          <a:lstStyle/>
          <a:p>
            <a:pPr algn="l"/>
            <a:r>
              <a:rPr sz="1000" b="1" i="0">
                <a:solidFill>
                  <a:srgbClr val="1A376C"/>
                </a:solidFill>
              </a:rPr>
              <a:t>Berapa lama proses persetujuan oleh Kabag Umum?</a:t>
            </a:r>
          </a:p>
        </p:txBody>
      </p:sp>
      <p:sp>
        <p:nvSpPr>
          <p:cNvPr id="43" name="Rectangle 42"/>
          <p:cNvSpPr/>
          <p:nvPr/>
        </p:nvSpPr>
        <p:spPr>
          <a:xfrm>
            <a:off x="932688" y="5321807"/>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 y="5394959"/>
            <a:ext cx="4892040" cy="1024128"/>
          </a:xfrm>
          <a:prstGeom prst="rect">
            <a:avLst/>
          </a:prstGeom>
          <a:noFill/>
        </p:spPr>
        <p:txBody>
          <a:bodyPr wrap="square">
            <a:spAutoFit/>
          </a:bodyPr>
          <a:lstStyle/>
          <a:p>
            <a:pPr algn="l"/>
            <a:r>
              <a:rPr sz="950" b="0" i="0">
                <a:solidFill>
                  <a:srgbClr val="444444"/>
                </a:solidFill>
              </a:rPr>
              <a:t>Tergantung jadwal Kabag Umum. Pantau status dokumen secara berkala di halaman Penyusunan.</a:t>
            </a:r>
          </a:p>
        </p:txBody>
      </p:sp>
      <p:sp>
        <p:nvSpPr>
          <p:cNvPr id="45" name="Rectangle 44"/>
          <p:cNvSpPr/>
          <p:nvPr/>
        </p:nvSpPr>
        <p:spPr>
          <a:xfrm>
            <a:off x="6309360" y="4773168"/>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4773168"/>
            <a:ext cx="5577840" cy="731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4846320"/>
            <a:ext cx="475488" cy="1618488"/>
          </a:xfrm>
          <a:prstGeom prst="rect">
            <a:avLst/>
          </a:prstGeom>
          <a:solidFill>
            <a:srgbClr val="DBE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5376672"/>
            <a:ext cx="310896" cy="402336"/>
          </a:xfrm>
          <a:prstGeom prst="rect">
            <a:avLst/>
          </a:prstGeom>
          <a:noFill/>
        </p:spPr>
        <p:txBody>
          <a:bodyPr wrap="square">
            <a:spAutoFit/>
          </a:bodyPr>
          <a:lstStyle/>
          <a:p>
            <a:pPr algn="ctr"/>
            <a:r>
              <a:rPr sz="1800" b="1" i="0">
                <a:solidFill>
                  <a:srgbClr val="1A376C"/>
                </a:solidFill>
              </a:rPr>
              <a:t>Q</a:t>
            </a:r>
          </a:p>
        </p:txBody>
      </p:sp>
      <p:sp>
        <p:nvSpPr>
          <p:cNvPr id="49" name="TextBox 48"/>
          <p:cNvSpPr txBox="1"/>
          <p:nvPr/>
        </p:nvSpPr>
        <p:spPr>
          <a:xfrm>
            <a:off x="6876288" y="4864607"/>
            <a:ext cx="4892040" cy="438912"/>
          </a:xfrm>
          <a:prstGeom prst="rect">
            <a:avLst/>
          </a:prstGeom>
          <a:noFill/>
        </p:spPr>
        <p:txBody>
          <a:bodyPr wrap="square">
            <a:spAutoFit/>
          </a:bodyPr>
          <a:lstStyle/>
          <a:p>
            <a:pPr algn="l"/>
            <a:r>
              <a:rPr sz="1000" b="1" i="0">
                <a:solidFill>
                  <a:srgbClr val="1A376C"/>
                </a:solidFill>
              </a:rPr>
              <a:t>Data yang saya input tidak tersimpan. Apa yang terjadi?</a:t>
            </a:r>
          </a:p>
        </p:txBody>
      </p:sp>
      <p:sp>
        <p:nvSpPr>
          <p:cNvPr id="50" name="Rectangle 49"/>
          <p:cNvSpPr/>
          <p:nvPr/>
        </p:nvSpPr>
        <p:spPr>
          <a:xfrm>
            <a:off x="6876288" y="5321807"/>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76288" y="5394959"/>
            <a:ext cx="4892040" cy="1024128"/>
          </a:xfrm>
          <a:prstGeom prst="rect">
            <a:avLst/>
          </a:prstGeom>
          <a:noFill/>
        </p:spPr>
        <p:txBody>
          <a:bodyPr wrap="square">
            <a:spAutoFit/>
          </a:bodyPr>
          <a:lstStyle/>
          <a:p>
            <a:pPr algn="l"/>
            <a:r>
              <a:rPr sz="950" b="0" i="0">
                <a:solidFill>
                  <a:srgbClr val="444444"/>
                </a:solidFill>
              </a:rPr>
              <a:t>Pastikan Anda selalu menekan tombol Simpan setelah mengisi data. Data tidak tersimpan otomatis.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92608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972800" cy="594360"/>
          </a:xfrm>
          <a:prstGeom prst="rect">
            <a:avLst/>
          </a:prstGeom>
          <a:noFill/>
        </p:spPr>
        <p:txBody>
          <a:bodyPr wrap="square">
            <a:spAutoFit/>
          </a:bodyPr>
          <a:lstStyle/>
          <a:p>
            <a:pPr algn="l"/>
            <a:r>
              <a:rPr sz="1400" b="1" i="0">
                <a:solidFill>
                  <a:srgbClr val="F5A623"/>
                </a:solidFill>
              </a:rPr>
              <a:t>BAGIAN II</a:t>
            </a:r>
          </a:p>
        </p:txBody>
      </p:sp>
      <p:sp>
        <p:nvSpPr>
          <p:cNvPr id="6" name="TextBox 5"/>
          <p:cNvSpPr txBox="1"/>
          <p:nvPr/>
        </p:nvSpPr>
        <p:spPr>
          <a:xfrm>
            <a:off x="731520" y="1691640"/>
            <a:ext cx="10972800" cy="1097280"/>
          </a:xfrm>
          <a:prstGeom prst="rect">
            <a:avLst/>
          </a:prstGeom>
          <a:noFill/>
        </p:spPr>
        <p:txBody>
          <a:bodyPr wrap="square">
            <a:spAutoFit/>
          </a:bodyPr>
          <a:lstStyle/>
          <a:p>
            <a:pPr algn="l"/>
            <a:r>
              <a:rPr sz="3800" b="1" i="0">
                <a:solidFill>
                  <a:srgbClr val="FFFFFF"/>
                </a:solidFill>
              </a:rPr>
              <a:t>Pengukuran Kinerja</a:t>
            </a:r>
          </a:p>
        </p:txBody>
      </p:sp>
      <p:sp>
        <p:nvSpPr>
          <p:cNvPr id="7" name="TextBox 6"/>
          <p:cNvSpPr txBox="1"/>
          <p:nvPr/>
        </p:nvSpPr>
        <p:spPr>
          <a:xfrm>
            <a:off x="731520" y="2788920"/>
            <a:ext cx="10972800" cy="502920"/>
          </a:xfrm>
          <a:prstGeom prst="rect">
            <a:avLst/>
          </a:prstGeom>
          <a:noFill/>
        </p:spPr>
        <p:txBody>
          <a:bodyPr wrap="square">
            <a:spAutoFit/>
          </a:bodyPr>
          <a:lstStyle/>
          <a:p>
            <a:pPr algn="l"/>
            <a:r>
              <a:rPr sz="1500" b="0" i="0">
                <a:solidFill>
                  <a:srgbClr val="C8D8F0"/>
                </a:solidFill>
              </a:rPr>
              <a:t>Panduan Pengisian Realisasi &amp; Pelaporan — Ketua Tim Kerja</a:t>
            </a:r>
          </a:p>
        </p:txBody>
      </p:sp>
      <p:sp>
        <p:nvSpPr>
          <p:cNvPr id="8" name="Rectangle 7"/>
          <p:cNvSpPr/>
          <p:nvPr/>
        </p:nvSpPr>
        <p:spPr>
          <a:xfrm>
            <a:off x="731520" y="3566160"/>
            <a:ext cx="347472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611880"/>
            <a:ext cx="3200400" cy="822960"/>
          </a:xfrm>
          <a:prstGeom prst="rect">
            <a:avLst/>
          </a:prstGeom>
          <a:noFill/>
        </p:spPr>
        <p:txBody>
          <a:bodyPr wrap="square">
            <a:spAutoFit/>
          </a:bodyPr>
          <a:lstStyle/>
          <a:p>
            <a:pPr algn="ctr"/>
            <a:r>
              <a:rPr sz="1100" b="0" i="0">
                <a:solidFill>
                  <a:srgbClr val="FFFFFF"/>
                </a:solidFill>
              </a:rPr>
              <a:t>Navigasi &amp; Periode Aktif</a:t>
            </a:r>
          </a:p>
        </p:txBody>
      </p:sp>
      <p:sp>
        <p:nvSpPr>
          <p:cNvPr id="10" name="Rectangle 9"/>
          <p:cNvSpPr/>
          <p:nvPr/>
        </p:nvSpPr>
        <p:spPr>
          <a:xfrm>
            <a:off x="4480559" y="3566160"/>
            <a:ext cx="347472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3611880"/>
            <a:ext cx="3200400" cy="822960"/>
          </a:xfrm>
          <a:prstGeom prst="rect">
            <a:avLst/>
          </a:prstGeom>
          <a:noFill/>
        </p:spPr>
        <p:txBody>
          <a:bodyPr wrap="square">
            <a:spAutoFit/>
          </a:bodyPr>
          <a:lstStyle/>
          <a:p>
            <a:pPr algn="ctr"/>
            <a:r>
              <a:rPr sz="1100" b="0" i="0">
                <a:solidFill>
                  <a:srgbClr val="FFFFFF"/>
                </a:solidFill>
              </a:rPr>
              <a:t>Mengisi Data Realisasi IKU</a:t>
            </a:r>
          </a:p>
        </p:txBody>
      </p:sp>
      <p:sp>
        <p:nvSpPr>
          <p:cNvPr id="12" name="Rectangle 11"/>
          <p:cNvSpPr/>
          <p:nvPr/>
        </p:nvSpPr>
        <p:spPr>
          <a:xfrm>
            <a:off x="8229600" y="3566160"/>
            <a:ext cx="347472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3611880"/>
            <a:ext cx="3200400" cy="822960"/>
          </a:xfrm>
          <a:prstGeom prst="rect">
            <a:avLst/>
          </a:prstGeom>
          <a:noFill/>
        </p:spPr>
        <p:txBody>
          <a:bodyPr wrap="square">
            <a:spAutoFit/>
          </a:bodyPr>
          <a:lstStyle/>
          <a:p>
            <a:pPr algn="ctr"/>
            <a:r>
              <a:rPr sz="1100" b="0" i="0">
                <a:solidFill>
                  <a:srgbClr val="FFFFFF"/>
                </a:solidFill>
              </a:rPr>
              <a:t>IKU Kolaborasi Co-PIC</a:t>
            </a:r>
          </a:p>
        </p:txBody>
      </p:sp>
      <p:sp>
        <p:nvSpPr>
          <p:cNvPr id="14" name="Rectangle 13"/>
          <p:cNvSpPr/>
          <p:nvPr/>
        </p:nvSpPr>
        <p:spPr>
          <a:xfrm>
            <a:off x="11978640" y="3566160"/>
            <a:ext cx="3474720" cy="914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115800" y="3611880"/>
            <a:ext cx="3200400" cy="822960"/>
          </a:xfrm>
          <a:prstGeom prst="rect">
            <a:avLst/>
          </a:prstGeom>
          <a:noFill/>
        </p:spPr>
        <p:txBody>
          <a:bodyPr wrap="square">
            <a:spAutoFit/>
          </a:bodyPr>
          <a:lstStyle/>
          <a:p>
            <a:pPr algn="ctr"/>
            <a:r>
              <a:rPr sz="1100" b="0" i="0">
                <a:solidFill>
                  <a:srgbClr val="FFFFFF"/>
                </a:solidFill>
              </a:rPr>
              <a:t>Submit &amp; Revisi Laporan</a:t>
            </a:r>
          </a:p>
        </p:txBody>
      </p:sp>
      <p:sp>
        <p:nvSpPr>
          <p:cNvPr id="16" name="TextBox 15"/>
          <p:cNvSpPr txBox="1"/>
          <p:nvPr/>
        </p:nvSpPr>
        <p:spPr>
          <a:xfrm>
            <a:off x="731520" y="6309360"/>
            <a:ext cx="10972800" cy="411480"/>
          </a:xfrm>
          <a:prstGeom prst="rect">
            <a:avLst/>
          </a:prstGeom>
          <a:noFill/>
        </p:spPr>
        <p:txBody>
          <a:bodyPr wrap="square">
            <a:spAutoFit/>
          </a:bodyPr>
          <a:lstStyle/>
          <a:p>
            <a:pPr algn="l"/>
            <a:r>
              <a:rPr sz="900" b="0" i="0">
                <a:solidFill>
                  <a:srgbClr val="88A8D0"/>
                </a:solidFill>
              </a:rPr>
              <a:t>SIPITUNG — Petunjuk Teknis | LLDIKTI Wilayah III</a:t>
            </a:r>
          </a:p>
        </p:txBody>
      </p:sp>
      <p:sp>
        <p:nvSpPr>
          <p:cNvPr id="17" name="Rectangle 1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19" name="TextBox 1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12 /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0"/>
            <a:ext cx="73152" cy="685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365760"/>
            <a:ext cx="3383280" cy="1463040"/>
          </a:xfrm>
          <a:prstGeom prst="rect">
            <a:avLst/>
          </a:prstGeom>
          <a:solidFill>
            <a:srgbClr val="1A376C"/>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365760"/>
            <a:ext cx="3383280" cy="1463040"/>
          </a:xfrm>
          <a:prstGeom prst="rect">
            <a:avLst/>
          </a:prstGeom>
          <a:noFill/>
        </p:spPr>
        <p:txBody>
          <a:bodyPr wrap="square">
            <a:spAutoFit/>
          </a:bodyPr>
          <a:lstStyle/>
          <a:p>
            <a:pPr algn="ctr"/>
            <a:r>
              <a:rPr sz="1100" b="0" i="0">
                <a:solidFill>
                  <a:srgbClr val="C8D8F0"/>
                </a:solidFill>
              </a:rPr>
              <a:t>[LOGO LLDIKTI
WILAYAH III]</a:t>
            </a:r>
          </a:p>
        </p:txBody>
      </p:sp>
      <p:sp>
        <p:nvSpPr>
          <p:cNvPr id="7" name="TextBox 6"/>
          <p:cNvSpPr txBox="1"/>
          <p:nvPr/>
        </p:nvSpPr>
        <p:spPr>
          <a:xfrm>
            <a:off x="274320" y="2103120"/>
            <a:ext cx="3566160" cy="502920"/>
          </a:xfrm>
          <a:prstGeom prst="rect">
            <a:avLst/>
          </a:prstGeom>
          <a:noFill/>
        </p:spPr>
        <p:txBody>
          <a:bodyPr wrap="square">
            <a:spAutoFit/>
          </a:bodyPr>
          <a:lstStyle/>
          <a:p>
            <a:pPr algn="l"/>
            <a:r>
              <a:rPr sz="1300" b="1" i="0">
                <a:solidFill>
                  <a:srgbClr val="F5A623"/>
                </a:solidFill>
              </a:rPr>
              <a:t>LLDIKTI WILAYAH III</a:t>
            </a:r>
          </a:p>
        </p:txBody>
      </p:sp>
      <p:sp>
        <p:nvSpPr>
          <p:cNvPr id="8" name="TextBox 7"/>
          <p:cNvSpPr txBox="1"/>
          <p:nvPr/>
        </p:nvSpPr>
        <p:spPr>
          <a:xfrm>
            <a:off x="274320" y="2560320"/>
            <a:ext cx="3566160" cy="640080"/>
          </a:xfrm>
          <a:prstGeom prst="rect">
            <a:avLst/>
          </a:prstGeom>
          <a:noFill/>
        </p:spPr>
        <p:txBody>
          <a:bodyPr wrap="square">
            <a:spAutoFit/>
          </a:bodyPr>
          <a:lstStyle/>
          <a:p>
            <a:pPr algn="l"/>
            <a:r>
              <a:rPr sz="1000" b="0" i="0">
                <a:solidFill>
                  <a:srgbClr val="C8D8F0"/>
                </a:solidFill>
              </a:rPr>
              <a:t>Kementerian Pendidikan Tinggi,
Sains dan Teknologi</a:t>
            </a:r>
          </a:p>
        </p:txBody>
      </p:sp>
      <p:sp>
        <p:nvSpPr>
          <p:cNvPr id="9" name="Rectangle 8"/>
          <p:cNvSpPr/>
          <p:nvPr/>
        </p:nvSpPr>
        <p:spPr>
          <a:xfrm>
            <a:off x="274320" y="3337560"/>
            <a:ext cx="356616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474720"/>
            <a:ext cx="3566160" cy="365760"/>
          </a:xfrm>
          <a:prstGeom prst="rect">
            <a:avLst/>
          </a:prstGeom>
          <a:noFill/>
        </p:spPr>
        <p:txBody>
          <a:bodyPr wrap="square">
            <a:spAutoFit/>
          </a:bodyPr>
          <a:lstStyle/>
          <a:p>
            <a:pPr algn="l"/>
            <a:r>
              <a:rPr sz="1100" b="1" i="0">
                <a:solidFill>
                  <a:srgbClr val="C8D8F0"/>
                </a:solidFill>
              </a:rPr>
              <a:t>PETUNJUK TEKNIS</a:t>
            </a:r>
          </a:p>
        </p:txBody>
      </p:sp>
      <p:sp>
        <p:nvSpPr>
          <p:cNvPr id="11" name="TextBox 10"/>
          <p:cNvSpPr txBox="1"/>
          <p:nvPr/>
        </p:nvSpPr>
        <p:spPr>
          <a:xfrm>
            <a:off x="274320" y="3840480"/>
            <a:ext cx="3566160" cy="822960"/>
          </a:xfrm>
          <a:prstGeom prst="rect">
            <a:avLst/>
          </a:prstGeom>
          <a:noFill/>
        </p:spPr>
        <p:txBody>
          <a:bodyPr wrap="square">
            <a:spAutoFit/>
          </a:bodyPr>
          <a:lstStyle/>
          <a:p>
            <a:pPr algn="l"/>
            <a:r>
              <a:rPr sz="1400" b="1" i="0">
                <a:solidFill>
                  <a:srgbClr val="FFFFFF"/>
                </a:solidFill>
              </a:rPr>
              <a:t>Penggunaan Aplikasi
SIPITUNG</a:t>
            </a:r>
          </a:p>
        </p:txBody>
      </p:sp>
      <p:sp>
        <p:nvSpPr>
          <p:cNvPr id="12" name="TextBox 11"/>
          <p:cNvSpPr txBox="1"/>
          <p:nvPr/>
        </p:nvSpPr>
        <p:spPr>
          <a:xfrm>
            <a:off x="274320" y="6309360"/>
            <a:ext cx="3566160" cy="365760"/>
          </a:xfrm>
          <a:prstGeom prst="rect">
            <a:avLst/>
          </a:prstGeom>
          <a:noFill/>
        </p:spPr>
        <p:txBody>
          <a:bodyPr wrap="square">
            <a:spAutoFit/>
          </a:bodyPr>
          <a:lstStyle/>
          <a:p>
            <a:pPr algn="l"/>
            <a:r>
              <a:rPr sz="900" b="0" i="0">
                <a:solidFill>
                  <a:srgbClr val="88A8D0"/>
                </a:solidFill>
              </a:rPr>
              <a:t>Versi 1.0  |  April 2026</a:t>
            </a:r>
          </a:p>
        </p:txBody>
      </p:sp>
      <p:sp>
        <p:nvSpPr>
          <p:cNvPr id="13" name="TextBox 12"/>
          <p:cNvSpPr txBox="1"/>
          <p:nvPr/>
        </p:nvSpPr>
        <p:spPr>
          <a:xfrm>
            <a:off x="4480560" y="1005840"/>
            <a:ext cx="7315200" cy="1280160"/>
          </a:xfrm>
          <a:prstGeom prst="rect">
            <a:avLst/>
          </a:prstGeom>
          <a:noFill/>
        </p:spPr>
        <p:txBody>
          <a:bodyPr wrap="square">
            <a:spAutoFit/>
          </a:bodyPr>
          <a:lstStyle/>
          <a:p>
            <a:pPr algn="l"/>
            <a:r>
              <a:rPr sz="5200" b="1" i="0">
                <a:solidFill>
                  <a:srgbClr val="FFFFFF"/>
                </a:solidFill>
              </a:rPr>
              <a:t>SIPITUNG</a:t>
            </a:r>
          </a:p>
        </p:txBody>
      </p:sp>
      <p:sp>
        <p:nvSpPr>
          <p:cNvPr id="14" name="TextBox 13"/>
          <p:cNvSpPr txBox="1"/>
          <p:nvPr/>
        </p:nvSpPr>
        <p:spPr>
          <a:xfrm>
            <a:off x="4480560" y="2240280"/>
            <a:ext cx="7315200" cy="457200"/>
          </a:xfrm>
          <a:prstGeom prst="rect">
            <a:avLst/>
          </a:prstGeom>
          <a:noFill/>
        </p:spPr>
        <p:txBody>
          <a:bodyPr wrap="square">
            <a:spAutoFit/>
          </a:bodyPr>
          <a:lstStyle/>
          <a:p>
            <a:pPr algn="l"/>
            <a:r>
              <a:rPr sz="1600" b="0" i="0">
                <a:solidFill>
                  <a:srgbClr val="F5A623"/>
                </a:solidFill>
              </a:rPr>
              <a:t>Sistem Informasi Perencanaan &amp; Kinerja</a:t>
            </a:r>
          </a:p>
        </p:txBody>
      </p:sp>
      <p:sp>
        <p:nvSpPr>
          <p:cNvPr id="15" name="Rectangle 14"/>
          <p:cNvSpPr/>
          <p:nvPr/>
        </p:nvSpPr>
        <p:spPr>
          <a:xfrm>
            <a:off x="4480560" y="2788920"/>
            <a:ext cx="7315200" cy="45720"/>
          </a:xfrm>
          <a:prstGeom prst="rect">
            <a:avLst/>
          </a:prstGeom>
          <a:solidFill>
            <a:srgbClr val="88A8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926080"/>
            <a:ext cx="7315200" cy="457200"/>
          </a:xfrm>
          <a:prstGeom prst="rect">
            <a:avLst/>
          </a:prstGeom>
          <a:noFill/>
        </p:spPr>
        <p:txBody>
          <a:bodyPr wrap="square">
            <a:spAutoFit/>
          </a:bodyPr>
          <a:lstStyle/>
          <a:p>
            <a:pPr algn="l"/>
            <a:r>
              <a:rPr sz="1500" b="1" i="0">
                <a:solidFill>
                  <a:srgbClr val="FFFFFF"/>
                </a:solidFill>
              </a:rPr>
              <a:t>Bagian II — Pengukuran Kinerja</a:t>
            </a:r>
          </a:p>
        </p:txBody>
      </p:sp>
      <p:sp>
        <p:nvSpPr>
          <p:cNvPr id="17" name="TextBox 16"/>
          <p:cNvSpPr txBox="1"/>
          <p:nvPr/>
        </p:nvSpPr>
        <p:spPr>
          <a:xfrm>
            <a:off x="4480560" y="3429000"/>
            <a:ext cx="7315200" cy="731520"/>
          </a:xfrm>
          <a:prstGeom prst="rect">
            <a:avLst/>
          </a:prstGeom>
          <a:noFill/>
        </p:spPr>
        <p:txBody>
          <a:bodyPr wrap="square">
            <a:spAutoFit/>
          </a:bodyPr>
          <a:lstStyle/>
          <a:p>
            <a:pPr algn="l"/>
            <a:r>
              <a:rPr sz="1300" b="0" i="0">
                <a:solidFill>
                  <a:srgbClr val="C8D8F0"/>
                </a:solidFill>
              </a:rPr>
              <a:t>Pengisian Realisasi IKU &amp; Submit Laporan Triwulan</a:t>
            </a:r>
          </a:p>
        </p:txBody>
      </p:sp>
      <p:sp>
        <p:nvSpPr>
          <p:cNvPr id="18" name="Rectangle 17"/>
          <p:cNvSpPr/>
          <p:nvPr/>
        </p:nvSpPr>
        <p:spPr>
          <a:xfrm>
            <a:off x="4480560" y="4297680"/>
            <a:ext cx="2194560" cy="594360"/>
          </a:xfrm>
          <a:prstGeom prst="rect">
            <a:avLst/>
          </a:prstGeom>
          <a:solidFill>
            <a:srgbClr val="1B6B35"/>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315968"/>
            <a:ext cx="2011680" cy="228600"/>
          </a:xfrm>
          <a:prstGeom prst="rect">
            <a:avLst/>
          </a:prstGeom>
          <a:noFill/>
        </p:spPr>
        <p:txBody>
          <a:bodyPr wrap="square">
            <a:spAutoFit/>
          </a:bodyPr>
          <a:lstStyle/>
          <a:p>
            <a:pPr algn="l"/>
            <a:r>
              <a:rPr sz="800" b="1" i="0">
                <a:solidFill>
                  <a:srgbClr val="F5A623"/>
                </a:solidFill>
              </a:rPr>
              <a:t>Pengguna</a:t>
            </a:r>
          </a:p>
        </p:txBody>
      </p:sp>
      <p:sp>
        <p:nvSpPr>
          <p:cNvPr id="20" name="TextBox 19"/>
          <p:cNvSpPr txBox="1"/>
          <p:nvPr/>
        </p:nvSpPr>
        <p:spPr>
          <a:xfrm>
            <a:off x="4572000" y="4544568"/>
            <a:ext cx="2011680" cy="274320"/>
          </a:xfrm>
          <a:prstGeom prst="rect">
            <a:avLst/>
          </a:prstGeom>
          <a:noFill/>
        </p:spPr>
        <p:txBody>
          <a:bodyPr wrap="square">
            <a:spAutoFit/>
          </a:bodyPr>
          <a:lstStyle/>
          <a:p>
            <a:pPr algn="l"/>
            <a:r>
              <a:rPr sz="1100" b="1" i="0">
                <a:solidFill>
                  <a:srgbClr val="FFFFFF"/>
                </a:solidFill>
              </a:rPr>
              <a:t>Ketua Tim Kerja</a:t>
            </a:r>
          </a:p>
        </p:txBody>
      </p:sp>
      <p:sp>
        <p:nvSpPr>
          <p:cNvPr id="21" name="Rectangle 20"/>
          <p:cNvSpPr/>
          <p:nvPr/>
        </p:nvSpPr>
        <p:spPr>
          <a:xfrm>
            <a:off x="6949440" y="4297680"/>
            <a:ext cx="2194560" cy="594360"/>
          </a:xfrm>
          <a:prstGeom prst="rect">
            <a:avLst/>
          </a:prstGeom>
          <a:solidFill>
            <a:srgbClr val="1B6B35"/>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4315968"/>
            <a:ext cx="2011680" cy="228600"/>
          </a:xfrm>
          <a:prstGeom prst="rect">
            <a:avLst/>
          </a:prstGeom>
          <a:noFill/>
        </p:spPr>
        <p:txBody>
          <a:bodyPr wrap="square">
            <a:spAutoFit/>
          </a:bodyPr>
          <a:lstStyle/>
          <a:p>
            <a:pPr algn="l"/>
            <a:r>
              <a:rPr sz="800" b="1" i="0">
                <a:solidFill>
                  <a:srgbClr val="F5A623"/>
                </a:solidFill>
              </a:rPr>
              <a:t>Tahun</a:t>
            </a:r>
          </a:p>
        </p:txBody>
      </p:sp>
      <p:sp>
        <p:nvSpPr>
          <p:cNvPr id="23" name="TextBox 22"/>
          <p:cNvSpPr txBox="1"/>
          <p:nvPr/>
        </p:nvSpPr>
        <p:spPr>
          <a:xfrm>
            <a:off x="7040880" y="4544568"/>
            <a:ext cx="2011680" cy="274320"/>
          </a:xfrm>
          <a:prstGeom prst="rect">
            <a:avLst/>
          </a:prstGeom>
          <a:noFill/>
        </p:spPr>
        <p:txBody>
          <a:bodyPr wrap="square">
            <a:spAutoFit/>
          </a:bodyPr>
          <a:lstStyle/>
          <a:p>
            <a:pPr algn="l"/>
            <a:r>
              <a:rPr sz="1100" b="1" i="0">
                <a:solidFill>
                  <a:srgbClr val="FFFFFF"/>
                </a:solidFill>
              </a:rPr>
              <a:t>2026</a:t>
            </a:r>
          </a:p>
        </p:txBody>
      </p:sp>
      <p:sp>
        <p:nvSpPr>
          <p:cNvPr id="24" name="Rectangle 23"/>
          <p:cNvSpPr/>
          <p:nvPr/>
        </p:nvSpPr>
        <p:spPr>
          <a:xfrm>
            <a:off x="9418320" y="4297680"/>
            <a:ext cx="2194560" cy="594360"/>
          </a:xfrm>
          <a:prstGeom prst="rect">
            <a:avLst/>
          </a:prstGeom>
          <a:solidFill>
            <a:srgbClr val="1B6B35"/>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0" y="4315968"/>
            <a:ext cx="2011680" cy="228600"/>
          </a:xfrm>
          <a:prstGeom prst="rect">
            <a:avLst/>
          </a:prstGeom>
          <a:noFill/>
        </p:spPr>
        <p:txBody>
          <a:bodyPr wrap="square">
            <a:spAutoFit/>
          </a:bodyPr>
          <a:lstStyle/>
          <a:p>
            <a:pPr algn="l"/>
            <a:r>
              <a:rPr sz="800" b="1" i="0">
                <a:solidFill>
                  <a:srgbClr val="F5A623"/>
                </a:solidFill>
              </a:rPr>
              <a:t>Status</a:t>
            </a:r>
          </a:p>
        </p:txBody>
      </p:sp>
      <p:sp>
        <p:nvSpPr>
          <p:cNvPr id="26" name="TextBox 25"/>
          <p:cNvSpPr txBox="1"/>
          <p:nvPr/>
        </p:nvSpPr>
        <p:spPr>
          <a:xfrm>
            <a:off x="9509760" y="4544568"/>
            <a:ext cx="2011680" cy="274320"/>
          </a:xfrm>
          <a:prstGeom prst="rect">
            <a:avLst/>
          </a:prstGeom>
          <a:noFill/>
        </p:spPr>
        <p:txBody>
          <a:bodyPr wrap="square">
            <a:spAutoFit/>
          </a:bodyPr>
          <a:lstStyle/>
          <a:p>
            <a:pPr algn="l"/>
            <a:r>
              <a:rPr sz="1100" b="1" i="0">
                <a:solidFill>
                  <a:srgbClr val="FFFFFF"/>
                </a:solidFill>
              </a:rPr>
              <a:t>Aktif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II-01  |  Pendahuluan &amp; Siklus Triwulan</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Konteks modul Pengukuran Kinerja</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II: Ketua Tim Kerja (Pengukuran)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14 / —</a:t>
            </a:r>
          </a:p>
        </p:txBody>
      </p:sp>
      <p:sp>
        <p:nvSpPr>
          <p:cNvPr id="10" name="TextBox 9"/>
          <p:cNvSpPr txBox="1"/>
          <p:nvPr/>
        </p:nvSpPr>
        <p:spPr>
          <a:xfrm>
            <a:off x="365760" y="1261872"/>
            <a:ext cx="5486400" cy="347472"/>
          </a:xfrm>
          <a:prstGeom prst="rect">
            <a:avLst/>
          </a:prstGeom>
          <a:noFill/>
        </p:spPr>
        <p:txBody>
          <a:bodyPr wrap="square">
            <a:spAutoFit/>
          </a:bodyPr>
          <a:lstStyle/>
          <a:p>
            <a:pPr algn="l"/>
            <a:r>
              <a:rPr sz="1300" b="1" i="0">
                <a:solidFill>
                  <a:srgbClr val="1A376C"/>
                </a:solidFill>
              </a:rPr>
              <a:t>Tentang Modul Pengukuran Kinerja</a:t>
            </a:r>
          </a:p>
        </p:txBody>
      </p:sp>
      <p:sp>
        <p:nvSpPr>
          <p:cNvPr id="11" name="Rectangle 10"/>
          <p:cNvSpPr/>
          <p:nvPr/>
        </p:nvSpPr>
        <p:spPr>
          <a:xfrm>
            <a:off x="365760" y="1261872"/>
            <a:ext cx="54864"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691640"/>
            <a:ext cx="5394960" cy="1188720"/>
          </a:xfrm>
          <a:prstGeom prst="rect">
            <a:avLst/>
          </a:prstGeom>
          <a:noFill/>
        </p:spPr>
        <p:txBody>
          <a:bodyPr wrap="square">
            <a:spAutoFit/>
          </a:bodyPr>
          <a:lstStyle/>
          <a:p>
            <a:pPr algn="l"/>
            <a:r>
              <a:rPr sz="1050" b="0" i="0">
                <a:solidFill>
                  <a:srgbClr val="444444"/>
                </a:solidFill>
              </a:rPr>
              <a:t>Modul Pengukuran Kinerja memungkinkan setiap Ketua Tim Kerja mengisi data realisasi capaian IKU per triwulan. Data ini menjadi dasar evaluasi kinerja dan pelaporan kepada Kabag Umum. Pengisian dilakukan setelah Admin Sistem mengaktifkan periode triwulan.</a:t>
            </a:r>
          </a:p>
        </p:txBody>
      </p:sp>
      <p:sp>
        <p:nvSpPr>
          <p:cNvPr id="13" name="TextBox 12"/>
          <p:cNvSpPr txBox="1"/>
          <p:nvPr/>
        </p:nvSpPr>
        <p:spPr>
          <a:xfrm>
            <a:off x="365760" y="3017520"/>
            <a:ext cx="5486400" cy="347472"/>
          </a:xfrm>
          <a:prstGeom prst="rect">
            <a:avLst/>
          </a:prstGeom>
          <a:noFill/>
        </p:spPr>
        <p:txBody>
          <a:bodyPr wrap="square">
            <a:spAutoFit/>
          </a:bodyPr>
          <a:lstStyle/>
          <a:p>
            <a:pPr algn="l"/>
            <a:r>
              <a:rPr sz="1300" b="1" i="0">
                <a:solidFill>
                  <a:srgbClr val="1A376C"/>
                </a:solidFill>
              </a:rPr>
              <a:t>Tujuan</a:t>
            </a:r>
          </a:p>
        </p:txBody>
      </p:sp>
      <p:sp>
        <p:nvSpPr>
          <p:cNvPr id="14" name="Rectangle 13"/>
          <p:cNvSpPr/>
          <p:nvPr/>
        </p:nvSpPr>
        <p:spPr>
          <a:xfrm>
            <a:off x="365760" y="3017520"/>
            <a:ext cx="54864"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557015"/>
            <a:ext cx="219456" cy="21945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529584"/>
            <a:ext cx="219456" cy="256032"/>
          </a:xfrm>
          <a:prstGeom prst="rect">
            <a:avLst/>
          </a:prstGeom>
          <a:noFill/>
        </p:spPr>
        <p:txBody>
          <a:bodyPr wrap="square">
            <a:spAutoFit/>
          </a:bodyPr>
          <a:lstStyle/>
          <a:p>
            <a:pPr algn="ctr"/>
            <a:r>
              <a:rPr sz="900" b="1" i="0">
                <a:solidFill>
                  <a:srgbClr val="FFFFFF"/>
                </a:solidFill>
              </a:rPr>
              <a:t>1</a:t>
            </a:r>
          </a:p>
        </p:txBody>
      </p:sp>
      <p:sp>
        <p:nvSpPr>
          <p:cNvPr id="17" name="TextBox 16"/>
          <p:cNvSpPr txBox="1"/>
          <p:nvPr/>
        </p:nvSpPr>
        <p:spPr>
          <a:xfrm>
            <a:off x="749808" y="3493008"/>
            <a:ext cx="5120640" cy="457200"/>
          </a:xfrm>
          <a:prstGeom prst="rect">
            <a:avLst/>
          </a:prstGeom>
          <a:noFill/>
        </p:spPr>
        <p:txBody>
          <a:bodyPr wrap="square">
            <a:spAutoFit/>
          </a:bodyPr>
          <a:lstStyle/>
          <a:p>
            <a:pPr algn="l"/>
            <a:r>
              <a:rPr sz="1050" b="0" i="0">
                <a:solidFill>
                  <a:srgbClr val="444444"/>
                </a:solidFill>
              </a:rPr>
              <a:t>Memandu Ketua Tim Kerja dalam mengisi data realisasi IKU per triwulan.</a:t>
            </a:r>
          </a:p>
        </p:txBody>
      </p:sp>
      <p:sp>
        <p:nvSpPr>
          <p:cNvPr id="18" name="Rectangle 17"/>
          <p:cNvSpPr/>
          <p:nvPr/>
        </p:nvSpPr>
        <p:spPr>
          <a:xfrm>
            <a:off x="457200" y="4050791"/>
            <a:ext cx="219456" cy="21945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023359"/>
            <a:ext cx="219456" cy="256032"/>
          </a:xfrm>
          <a:prstGeom prst="rect">
            <a:avLst/>
          </a:prstGeom>
          <a:noFill/>
        </p:spPr>
        <p:txBody>
          <a:bodyPr wrap="square">
            <a:spAutoFit/>
          </a:bodyPr>
          <a:lstStyle/>
          <a:p>
            <a:pPr algn="ctr"/>
            <a:r>
              <a:rPr sz="900" b="1" i="0">
                <a:solidFill>
                  <a:srgbClr val="FFFFFF"/>
                </a:solidFill>
              </a:rPr>
              <a:t>2</a:t>
            </a:r>
          </a:p>
        </p:txBody>
      </p:sp>
      <p:sp>
        <p:nvSpPr>
          <p:cNvPr id="20" name="TextBox 19"/>
          <p:cNvSpPr txBox="1"/>
          <p:nvPr/>
        </p:nvSpPr>
        <p:spPr>
          <a:xfrm>
            <a:off x="749808" y="3986783"/>
            <a:ext cx="5120640" cy="457200"/>
          </a:xfrm>
          <a:prstGeom prst="rect">
            <a:avLst/>
          </a:prstGeom>
          <a:noFill/>
        </p:spPr>
        <p:txBody>
          <a:bodyPr wrap="square">
            <a:spAutoFit/>
          </a:bodyPr>
          <a:lstStyle/>
          <a:p>
            <a:pPr algn="l"/>
            <a:r>
              <a:rPr sz="1050" b="0" i="0">
                <a:solidFill>
                  <a:srgbClr val="444444"/>
                </a:solidFill>
              </a:rPr>
              <a:t>Memastikan data capaian kinerja tercatat secara akurat dan tepat waktu.</a:t>
            </a:r>
          </a:p>
        </p:txBody>
      </p:sp>
      <p:sp>
        <p:nvSpPr>
          <p:cNvPr id="21" name="Rectangle 20"/>
          <p:cNvSpPr/>
          <p:nvPr/>
        </p:nvSpPr>
        <p:spPr>
          <a:xfrm>
            <a:off x="457200" y="4544568"/>
            <a:ext cx="219456" cy="21945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517136"/>
            <a:ext cx="219456" cy="256032"/>
          </a:xfrm>
          <a:prstGeom prst="rect">
            <a:avLst/>
          </a:prstGeom>
          <a:noFill/>
        </p:spPr>
        <p:txBody>
          <a:bodyPr wrap="square">
            <a:spAutoFit/>
          </a:bodyPr>
          <a:lstStyle/>
          <a:p>
            <a:pPr algn="ctr"/>
            <a:r>
              <a:rPr sz="900" b="1" i="0">
                <a:solidFill>
                  <a:srgbClr val="FFFFFF"/>
                </a:solidFill>
              </a:rPr>
              <a:t>3</a:t>
            </a:r>
          </a:p>
        </p:txBody>
      </p:sp>
      <p:sp>
        <p:nvSpPr>
          <p:cNvPr id="23" name="TextBox 22"/>
          <p:cNvSpPr txBox="1"/>
          <p:nvPr/>
        </p:nvSpPr>
        <p:spPr>
          <a:xfrm>
            <a:off x="749808" y="4480560"/>
            <a:ext cx="5120640" cy="457200"/>
          </a:xfrm>
          <a:prstGeom prst="rect">
            <a:avLst/>
          </a:prstGeom>
          <a:noFill/>
        </p:spPr>
        <p:txBody>
          <a:bodyPr wrap="square">
            <a:spAutoFit/>
          </a:bodyPr>
          <a:lstStyle/>
          <a:p>
            <a:pPr algn="l"/>
            <a:r>
              <a:rPr sz="1050" b="0" i="0">
                <a:solidFill>
                  <a:srgbClr val="444444"/>
                </a:solidFill>
              </a:rPr>
              <a:t>Menjelaskan alur koordinasi untuk IKU yang dikerjakan bersama (Co-PIC).</a:t>
            </a:r>
          </a:p>
        </p:txBody>
      </p:sp>
      <p:sp>
        <p:nvSpPr>
          <p:cNvPr id="24" name="Rectangle 23"/>
          <p:cNvSpPr/>
          <p:nvPr/>
        </p:nvSpPr>
        <p:spPr>
          <a:xfrm>
            <a:off x="457200" y="5038344"/>
            <a:ext cx="219456" cy="219456"/>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5010912"/>
            <a:ext cx="219456" cy="256032"/>
          </a:xfrm>
          <a:prstGeom prst="rect">
            <a:avLst/>
          </a:prstGeom>
          <a:noFill/>
        </p:spPr>
        <p:txBody>
          <a:bodyPr wrap="square">
            <a:spAutoFit/>
          </a:bodyPr>
          <a:lstStyle/>
          <a:p>
            <a:pPr algn="ctr"/>
            <a:r>
              <a:rPr sz="900" b="1" i="0">
                <a:solidFill>
                  <a:srgbClr val="FFFFFF"/>
                </a:solidFill>
              </a:rPr>
              <a:t>4</a:t>
            </a:r>
          </a:p>
        </p:txBody>
      </p:sp>
      <p:sp>
        <p:nvSpPr>
          <p:cNvPr id="26" name="TextBox 25"/>
          <p:cNvSpPr txBox="1"/>
          <p:nvPr/>
        </p:nvSpPr>
        <p:spPr>
          <a:xfrm>
            <a:off x="749808" y="4974336"/>
            <a:ext cx="5120640" cy="457200"/>
          </a:xfrm>
          <a:prstGeom prst="rect">
            <a:avLst/>
          </a:prstGeom>
          <a:noFill/>
        </p:spPr>
        <p:txBody>
          <a:bodyPr wrap="square">
            <a:spAutoFit/>
          </a:bodyPr>
          <a:lstStyle/>
          <a:p>
            <a:pPr algn="l"/>
            <a:r>
              <a:rPr sz="1050" b="0" i="0">
                <a:solidFill>
                  <a:srgbClr val="444444"/>
                </a:solidFill>
              </a:rPr>
              <a:t>Menjadi panduan dalam proses submit laporan hingga mendapat persetujuan.</a:t>
            </a:r>
          </a:p>
        </p:txBody>
      </p:sp>
      <p:sp>
        <p:nvSpPr>
          <p:cNvPr id="27" name="Rectangle 26"/>
          <p:cNvSpPr/>
          <p:nvPr/>
        </p:nvSpPr>
        <p:spPr>
          <a:xfrm>
            <a:off x="6400800" y="1234440"/>
            <a:ext cx="5486400" cy="521208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1234440"/>
            <a:ext cx="5486400" cy="411480"/>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1252728"/>
            <a:ext cx="5212080" cy="365760"/>
          </a:xfrm>
          <a:prstGeom prst="rect">
            <a:avLst/>
          </a:prstGeom>
          <a:noFill/>
        </p:spPr>
        <p:txBody>
          <a:bodyPr wrap="square">
            <a:spAutoFit/>
          </a:bodyPr>
          <a:lstStyle/>
          <a:p>
            <a:pPr algn="l"/>
            <a:r>
              <a:rPr sz="1100" b="1" i="0">
                <a:solidFill>
                  <a:srgbClr val="FFFFFF"/>
                </a:solidFill>
              </a:rPr>
              <a:t>Siklus Pengukuran Kinerja Per Tahun</a:t>
            </a:r>
          </a:p>
        </p:txBody>
      </p:sp>
      <p:sp>
        <p:nvSpPr>
          <p:cNvPr id="30" name="Rectangle 29"/>
          <p:cNvSpPr/>
          <p:nvPr/>
        </p:nvSpPr>
        <p:spPr>
          <a:xfrm>
            <a:off x="6400800" y="1783080"/>
            <a:ext cx="5486400" cy="1078992"/>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1783080"/>
            <a:ext cx="914400" cy="10789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0" y="2103120"/>
            <a:ext cx="914400" cy="457200"/>
          </a:xfrm>
          <a:prstGeom prst="rect">
            <a:avLst/>
          </a:prstGeom>
          <a:noFill/>
        </p:spPr>
        <p:txBody>
          <a:bodyPr wrap="square">
            <a:spAutoFit/>
          </a:bodyPr>
          <a:lstStyle/>
          <a:p>
            <a:pPr algn="ctr"/>
            <a:r>
              <a:rPr sz="1300" b="1" i="0">
                <a:solidFill>
                  <a:srgbClr val="FFFFFF"/>
                </a:solidFill>
              </a:rPr>
              <a:t>TW I</a:t>
            </a:r>
          </a:p>
        </p:txBody>
      </p:sp>
      <p:sp>
        <p:nvSpPr>
          <p:cNvPr id="33" name="TextBox 32"/>
          <p:cNvSpPr txBox="1"/>
          <p:nvPr/>
        </p:nvSpPr>
        <p:spPr>
          <a:xfrm>
            <a:off x="7406640" y="1874519"/>
            <a:ext cx="4297680" cy="320040"/>
          </a:xfrm>
          <a:prstGeom prst="rect">
            <a:avLst/>
          </a:prstGeom>
          <a:noFill/>
        </p:spPr>
        <p:txBody>
          <a:bodyPr wrap="square">
            <a:spAutoFit/>
          </a:bodyPr>
          <a:lstStyle/>
          <a:p>
            <a:pPr algn="l"/>
            <a:r>
              <a:rPr sz="1100" b="1" i="0">
                <a:solidFill>
                  <a:srgbClr val="1A376C"/>
                </a:solidFill>
              </a:rPr>
              <a:t>Januari – Maret</a:t>
            </a:r>
          </a:p>
        </p:txBody>
      </p:sp>
      <p:sp>
        <p:nvSpPr>
          <p:cNvPr id="34" name="TextBox 33"/>
          <p:cNvSpPr txBox="1"/>
          <p:nvPr/>
        </p:nvSpPr>
        <p:spPr>
          <a:xfrm>
            <a:off x="7406640" y="2221991"/>
            <a:ext cx="4297680" cy="548640"/>
          </a:xfrm>
          <a:prstGeom prst="rect">
            <a:avLst/>
          </a:prstGeom>
          <a:noFill/>
        </p:spPr>
        <p:txBody>
          <a:bodyPr wrap="square">
            <a:spAutoFit/>
          </a:bodyPr>
          <a:lstStyle/>
          <a:p>
            <a:pPr algn="l"/>
            <a:r>
              <a:rPr sz="950" b="0" i="0">
                <a:solidFill>
                  <a:srgbClr val="444444"/>
                </a:solidFill>
              </a:rPr>
              <a:t>Laporan capaian Q1</a:t>
            </a:r>
          </a:p>
        </p:txBody>
      </p:sp>
      <p:sp>
        <p:nvSpPr>
          <p:cNvPr id="35" name="Rectangle 34"/>
          <p:cNvSpPr/>
          <p:nvPr/>
        </p:nvSpPr>
        <p:spPr>
          <a:xfrm>
            <a:off x="6400800" y="2898648"/>
            <a:ext cx="5486400"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0" y="2898648"/>
            <a:ext cx="914400" cy="1078992"/>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3218688"/>
            <a:ext cx="914400" cy="457200"/>
          </a:xfrm>
          <a:prstGeom prst="rect">
            <a:avLst/>
          </a:prstGeom>
          <a:noFill/>
        </p:spPr>
        <p:txBody>
          <a:bodyPr wrap="square">
            <a:spAutoFit/>
          </a:bodyPr>
          <a:lstStyle/>
          <a:p>
            <a:pPr algn="ctr"/>
            <a:r>
              <a:rPr sz="1300" b="1" i="0">
                <a:solidFill>
                  <a:srgbClr val="FFFFFF"/>
                </a:solidFill>
              </a:rPr>
              <a:t>TW II</a:t>
            </a:r>
          </a:p>
        </p:txBody>
      </p:sp>
      <p:sp>
        <p:nvSpPr>
          <p:cNvPr id="38" name="TextBox 37"/>
          <p:cNvSpPr txBox="1"/>
          <p:nvPr/>
        </p:nvSpPr>
        <p:spPr>
          <a:xfrm>
            <a:off x="7406640" y="2990088"/>
            <a:ext cx="4297680" cy="320040"/>
          </a:xfrm>
          <a:prstGeom prst="rect">
            <a:avLst/>
          </a:prstGeom>
          <a:noFill/>
        </p:spPr>
        <p:txBody>
          <a:bodyPr wrap="square">
            <a:spAutoFit/>
          </a:bodyPr>
          <a:lstStyle/>
          <a:p>
            <a:pPr algn="l"/>
            <a:r>
              <a:rPr sz="1100" b="1" i="0">
                <a:solidFill>
                  <a:srgbClr val="1A376C"/>
                </a:solidFill>
              </a:rPr>
              <a:t>April – Juni</a:t>
            </a:r>
          </a:p>
        </p:txBody>
      </p:sp>
      <p:sp>
        <p:nvSpPr>
          <p:cNvPr id="39" name="TextBox 38"/>
          <p:cNvSpPr txBox="1"/>
          <p:nvPr/>
        </p:nvSpPr>
        <p:spPr>
          <a:xfrm>
            <a:off x="7406640" y="3337560"/>
            <a:ext cx="4297680" cy="548640"/>
          </a:xfrm>
          <a:prstGeom prst="rect">
            <a:avLst/>
          </a:prstGeom>
          <a:noFill/>
        </p:spPr>
        <p:txBody>
          <a:bodyPr wrap="square">
            <a:spAutoFit/>
          </a:bodyPr>
          <a:lstStyle/>
          <a:p>
            <a:pPr algn="l"/>
            <a:r>
              <a:rPr sz="950" b="0" i="0">
                <a:solidFill>
                  <a:srgbClr val="444444"/>
                </a:solidFill>
              </a:rPr>
              <a:t>Laporan capaian Q2</a:t>
            </a:r>
          </a:p>
        </p:txBody>
      </p:sp>
      <p:sp>
        <p:nvSpPr>
          <p:cNvPr id="40" name="Rectangle 39"/>
          <p:cNvSpPr/>
          <p:nvPr/>
        </p:nvSpPr>
        <p:spPr>
          <a:xfrm>
            <a:off x="6400800" y="4014215"/>
            <a:ext cx="5486400" cy="1078992"/>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00800" y="4014215"/>
            <a:ext cx="914400" cy="107899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4334255"/>
            <a:ext cx="914400" cy="457200"/>
          </a:xfrm>
          <a:prstGeom prst="rect">
            <a:avLst/>
          </a:prstGeom>
          <a:noFill/>
        </p:spPr>
        <p:txBody>
          <a:bodyPr wrap="square">
            <a:spAutoFit/>
          </a:bodyPr>
          <a:lstStyle/>
          <a:p>
            <a:pPr algn="ctr"/>
            <a:r>
              <a:rPr sz="1300" b="1" i="0">
                <a:solidFill>
                  <a:srgbClr val="FFFFFF"/>
                </a:solidFill>
              </a:rPr>
              <a:t>TW III</a:t>
            </a:r>
          </a:p>
        </p:txBody>
      </p:sp>
      <p:sp>
        <p:nvSpPr>
          <p:cNvPr id="43" name="TextBox 42"/>
          <p:cNvSpPr txBox="1"/>
          <p:nvPr/>
        </p:nvSpPr>
        <p:spPr>
          <a:xfrm>
            <a:off x="7406640" y="4105655"/>
            <a:ext cx="4297680" cy="320040"/>
          </a:xfrm>
          <a:prstGeom prst="rect">
            <a:avLst/>
          </a:prstGeom>
          <a:noFill/>
        </p:spPr>
        <p:txBody>
          <a:bodyPr wrap="square">
            <a:spAutoFit/>
          </a:bodyPr>
          <a:lstStyle/>
          <a:p>
            <a:pPr algn="l"/>
            <a:r>
              <a:rPr sz="1100" b="1" i="0">
                <a:solidFill>
                  <a:srgbClr val="1A376C"/>
                </a:solidFill>
              </a:rPr>
              <a:t>Juli – September</a:t>
            </a:r>
          </a:p>
        </p:txBody>
      </p:sp>
      <p:sp>
        <p:nvSpPr>
          <p:cNvPr id="44" name="TextBox 43"/>
          <p:cNvSpPr txBox="1"/>
          <p:nvPr/>
        </p:nvSpPr>
        <p:spPr>
          <a:xfrm>
            <a:off x="7406640" y="4453127"/>
            <a:ext cx="4297680" cy="548640"/>
          </a:xfrm>
          <a:prstGeom prst="rect">
            <a:avLst/>
          </a:prstGeom>
          <a:noFill/>
        </p:spPr>
        <p:txBody>
          <a:bodyPr wrap="square">
            <a:spAutoFit/>
          </a:bodyPr>
          <a:lstStyle/>
          <a:p>
            <a:pPr algn="l"/>
            <a:r>
              <a:rPr sz="950" b="0" i="0">
                <a:solidFill>
                  <a:srgbClr val="444444"/>
                </a:solidFill>
              </a:rPr>
              <a:t>Laporan capaian Q3</a:t>
            </a:r>
          </a:p>
        </p:txBody>
      </p:sp>
      <p:sp>
        <p:nvSpPr>
          <p:cNvPr id="45" name="Rectangle 44"/>
          <p:cNvSpPr/>
          <p:nvPr/>
        </p:nvSpPr>
        <p:spPr>
          <a:xfrm>
            <a:off x="6400800" y="5129784"/>
            <a:ext cx="5486400" cy="10789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00800" y="5129784"/>
            <a:ext cx="914400" cy="1078992"/>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5449824"/>
            <a:ext cx="914400" cy="457200"/>
          </a:xfrm>
          <a:prstGeom prst="rect">
            <a:avLst/>
          </a:prstGeom>
          <a:noFill/>
        </p:spPr>
        <p:txBody>
          <a:bodyPr wrap="square">
            <a:spAutoFit/>
          </a:bodyPr>
          <a:lstStyle/>
          <a:p>
            <a:pPr algn="ctr"/>
            <a:r>
              <a:rPr sz="1300" b="1" i="0">
                <a:solidFill>
                  <a:srgbClr val="FFFFFF"/>
                </a:solidFill>
              </a:rPr>
              <a:t>TW IV</a:t>
            </a:r>
          </a:p>
        </p:txBody>
      </p:sp>
      <p:sp>
        <p:nvSpPr>
          <p:cNvPr id="48" name="TextBox 47"/>
          <p:cNvSpPr txBox="1"/>
          <p:nvPr/>
        </p:nvSpPr>
        <p:spPr>
          <a:xfrm>
            <a:off x="7406640" y="5221224"/>
            <a:ext cx="4297680" cy="320040"/>
          </a:xfrm>
          <a:prstGeom prst="rect">
            <a:avLst/>
          </a:prstGeom>
          <a:noFill/>
        </p:spPr>
        <p:txBody>
          <a:bodyPr wrap="square">
            <a:spAutoFit/>
          </a:bodyPr>
          <a:lstStyle/>
          <a:p>
            <a:pPr algn="l"/>
            <a:r>
              <a:rPr sz="1100" b="1" i="0">
                <a:solidFill>
                  <a:srgbClr val="1A376C"/>
                </a:solidFill>
              </a:rPr>
              <a:t>Oktober – Desember</a:t>
            </a:r>
          </a:p>
        </p:txBody>
      </p:sp>
      <p:sp>
        <p:nvSpPr>
          <p:cNvPr id="49" name="TextBox 48"/>
          <p:cNvSpPr txBox="1"/>
          <p:nvPr/>
        </p:nvSpPr>
        <p:spPr>
          <a:xfrm>
            <a:off x="7406640" y="5568696"/>
            <a:ext cx="4297680" cy="548640"/>
          </a:xfrm>
          <a:prstGeom prst="rect">
            <a:avLst/>
          </a:prstGeom>
          <a:noFill/>
        </p:spPr>
        <p:txBody>
          <a:bodyPr wrap="square">
            <a:spAutoFit/>
          </a:bodyPr>
          <a:lstStyle/>
          <a:p>
            <a:pPr algn="l"/>
            <a:r>
              <a:rPr sz="950" b="0" i="0">
                <a:solidFill>
                  <a:srgbClr val="444444"/>
                </a:solidFill>
              </a:rPr>
              <a:t>Laporan capaian Q4 + evaluasi akhir tahun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II-02  |  Navigasi &amp; Ketentuan Pengukuran</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Cara mengakses menu dan aturan pengisian realisasi</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II: Ketua Tim Kerja (Pengukuran)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15 / —</a:t>
            </a:r>
          </a:p>
        </p:txBody>
      </p:sp>
      <p:sp>
        <p:nvSpPr>
          <p:cNvPr id="10" name="Rectangle 9"/>
          <p:cNvSpPr/>
          <p:nvPr/>
        </p:nvSpPr>
        <p:spPr>
          <a:xfrm>
            <a:off x="365760" y="1234440"/>
            <a:ext cx="411480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11480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3931920" cy="320040"/>
          </a:xfrm>
          <a:prstGeom prst="rect">
            <a:avLst/>
          </a:prstGeom>
          <a:noFill/>
        </p:spPr>
        <p:txBody>
          <a:bodyPr wrap="square">
            <a:spAutoFit/>
          </a:bodyPr>
          <a:lstStyle/>
          <a:p>
            <a:pPr algn="l"/>
            <a:r>
              <a:rPr sz="1000" b="1" i="0">
                <a:solidFill>
                  <a:srgbClr val="FFFFFF"/>
                </a:solidFill>
              </a:rPr>
              <a:t>Tampilan Menu Pengukuran Kinerja</a:t>
            </a:r>
          </a:p>
        </p:txBody>
      </p:sp>
      <p:sp>
        <p:nvSpPr>
          <p:cNvPr id="13" name="TextBox 12"/>
          <p:cNvSpPr txBox="1"/>
          <p:nvPr/>
        </p:nvSpPr>
        <p:spPr>
          <a:xfrm>
            <a:off x="640080" y="1737360"/>
            <a:ext cx="3703320" cy="4617720"/>
          </a:xfrm>
          <a:prstGeom prst="rect">
            <a:avLst/>
          </a:prstGeom>
          <a:noFill/>
        </p:spPr>
        <p:txBody>
          <a:bodyPr wrap="square">
            <a:spAutoFit/>
          </a:bodyPr>
          <a:lstStyle/>
          <a:p>
            <a:pPr algn="ctr"/>
            <a:r>
              <a:rPr sz="1000" b="0" i="1">
                <a:solidFill>
                  <a:srgbClr val="2E75B6"/>
                </a:solidFill>
              </a:rPr>
              <a:t>[ SCREENSHOT MENU PENGUKURAN KINERJA ]
Tambahkan screenshot di sini</a:t>
            </a:r>
          </a:p>
        </p:txBody>
      </p:sp>
      <p:sp>
        <p:nvSpPr>
          <p:cNvPr id="14" name="TextBox 13"/>
          <p:cNvSpPr txBox="1"/>
          <p:nvPr/>
        </p:nvSpPr>
        <p:spPr>
          <a:xfrm>
            <a:off x="4800600" y="1261872"/>
            <a:ext cx="7040880" cy="347472"/>
          </a:xfrm>
          <a:prstGeom prst="rect">
            <a:avLst/>
          </a:prstGeom>
          <a:noFill/>
        </p:spPr>
        <p:txBody>
          <a:bodyPr wrap="square">
            <a:spAutoFit/>
          </a:bodyPr>
          <a:lstStyle/>
          <a:p>
            <a:pPr algn="l"/>
            <a:r>
              <a:rPr sz="1300" b="1" i="0">
                <a:solidFill>
                  <a:srgbClr val="1A376C"/>
                </a:solidFill>
              </a:rPr>
              <a:t>Langkah Navigasi</a:t>
            </a:r>
          </a:p>
        </p:txBody>
      </p:sp>
      <p:sp>
        <p:nvSpPr>
          <p:cNvPr id="15" name="Rectangle 14"/>
          <p:cNvSpPr/>
          <p:nvPr/>
        </p:nvSpPr>
        <p:spPr>
          <a:xfrm>
            <a:off x="4800600" y="126187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00600" y="1737360"/>
            <a:ext cx="7040880" cy="749808"/>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00600" y="1737360"/>
            <a:ext cx="457200" cy="7498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1911095"/>
            <a:ext cx="457200" cy="402336"/>
          </a:xfrm>
          <a:prstGeom prst="rect">
            <a:avLst/>
          </a:prstGeom>
          <a:noFill/>
        </p:spPr>
        <p:txBody>
          <a:bodyPr wrap="square">
            <a:spAutoFit/>
          </a:bodyPr>
          <a:lstStyle/>
          <a:p>
            <a:pPr algn="ctr"/>
            <a:r>
              <a:rPr sz="1700" b="1" i="0">
                <a:solidFill>
                  <a:srgbClr val="FFFFFF"/>
                </a:solidFill>
              </a:rPr>
              <a:t>1</a:t>
            </a:r>
          </a:p>
        </p:txBody>
      </p:sp>
      <p:sp>
        <p:nvSpPr>
          <p:cNvPr id="19" name="TextBox 18"/>
          <p:cNvSpPr txBox="1"/>
          <p:nvPr/>
        </p:nvSpPr>
        <p:spPr>
          <a:xfrm>
            <a:off x="5330952" y="1783080"/>
            <a:ext cx="6446520" cy="274320"/>
          </a:xfrm>
          <a:prstGeom prst="rect">
            <a:avLst/>
          </a:prstGeom>
          <a:noFill/>
        </p:spPr>
        <p:txBody>
          <a:bodyPr wrap="square">
            <a:spAutoFit/>
          </a:bodyPr>
          <a:lstStyle/>
          <a:p>
            <a:pPr algn="l"/>
            <a:r>
              <a:rPr sz="1050" b="1" i="0">
                <a:solidFill>
                  <a:srgbClr val="1A376C"/>
                </a:solidFill>
              </a:rPr>
              <a:t>Login</a:t>
            </a:r>
          </a:p>
        </p:txBody>
      </p:sp>
      <p:sp>
        <p:nvSpPr>
          <p:cNvPr id="20" name="TextBox 19"/>
          <p:cNvSpPr txBox="1"/>
          <p:nvPr/>
        </p:nvSpPr>
        <p:spPr>
          <a:xfrm>
            <a:off x="5330952" y="2066543"/>
            <a:ext cx="6446520" cy="365759"/>
          </a:xfrm>
          <a:prstGeom prst="rect">
            <a:avLst/>
          </a:prstGeom>
          <a:noFill/>
        </p:spPr>
        <p:txBody>
          <a:bodyPr wrap="square">
            <a:spAutoFit/>
          </a:bodyPr>
          <a:lstStyle/>
          <a:p>
            <a:pPr algn="l"/>
            <a:r>
              <a:rPr sz="950" b="0" i="0">
                <a:solidFill>
                  <a:srgbClr val="444444"/>
                </a:solidFill>
              </a:rPr>
              <a:t>Masukkan username (ketua.xxx) dan password, lalu klik Masuk.</a:t>
            </a:r>
          </a:p>
        </p:txBody>
      </p:sp>
      <p:sp>
        <p:nvSpPr>
          <p:cNvPr id="21" name="Rectangle 20"/>
          <p:cNvSpPr/>
          <p:nvPr/>
        </p:nvSpPr>
        <p:spPr>
          <a:xfrm>
            <a:off x="4800600" y="2542032"/>
            <a:ext cx="7040880" cy="749808"/>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00600" y="2542032"/>
            <a:ext cx="457200" cy="7498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2715768"/>
            <a:ext cx="457200" cy="402336"/>
          </a:xfrm>
          <a:prstGeom prst="rect">
            <a:avLst/>
          </a:prstGeom>
          <a:noFill/>
        </p:spPr>
        <p:txBody>
          <a:bodyPr wrap="square">
            <a:spAutoFit/>
          </a:bodyPr>
          <a:lstStyle/>
          <a:p>
            <a:pPr algn="ctr"/>
            <a:r>
              <a:rPr sz="1700" b="1" i="0">
                <a:solidFill>
                  <a:srgbClr val="FFFFFF"/>
                </a:solidFill>
              </a:rPr>
              <a:t>2</a:t>
            </a:r>
          </a:p>
        </p:txBody>
      </p:sp>
      <p:sp>
        <p:nvSpPr>
          <p:cNvPr id="24" name="TextBox 23"/>
          <p:cNvSpPr txBox="1"/>
          <p:nvPr/>
        </p:nvSpPr>
        <p:spPr>
          <a:xfrm>
            <a:off x="5330952" y="2587751"/>
            <a:ext cx="6446520" cy="274320"/>
          </a:xfrm>
          <a:prstGeom prst="rect">
            <a:avLst/>
          </a:prstGeom>
          <a:noFill/>
        </p:spPr>
        <p:txBody>
          <a:bodyPr wrap="square">
            <a:spAutoFit/>
          </a:bodyPr>
          <a:lstStyle/>
          <a:p>
            <a:pPr algn="l"/>
            <a:r>
              <a:rPr sz="1050" b="1" i="0">
                <a:solidFill>
                  <a:srgbClr val="1A376C"/>
                </a:solidFill>
              </a:rPr>
              <a:t>Klik Pengukuran Kinerja</a:t>
            </a:r>
          </a:p>
        </p:txBody>
      </p:sp>
      <p:sp>
        <p:nvSpPr>
          <p:cNvPr id="25" name="TextBox 24"/>
          <p:cNvSpPr txBox="1"/>
          <p:nvPr/>
        </p:nvSpPr>
        <p:spPr>
          <a:xfrm>
            <a:off x="5330952" y="2871215"/>
            <a:ext cx="6446520" cy="365759"/>
          </a:xfrm>
          <a:prstGeom prst="rect">
            <a:avLst/>
          </a:prstGeom>
          <a:noFill/>
        </p:spPr>
        <p:txBody>
          <a:bodyPr wrap="square">
            <a:spAutoFit/>
          </a:bodyPr>
          <a:lstStyle/>
          <a:p>
            <a:pPr algn="l"/>
            <a:r>
              <a:rPr sz="950" b="0" i="0">
                <a:solidFill>
                  <a:srgbClr val="444444"/>
                </a:solidFill>
              </a:rPr>
              <a:t>Di sidebar kiri, klik menu 'Pengukuran Kinerja' (ikon grafik batang).</a:t>
            </a:r>
          </a:p>
        </p:txBody>
      </p:sp>
      <p:sp>
        <p:nvSpPr>
          <p:cNvPr id="26" name="Rectangle 25"/>
          <p:cNvSpPr/>
          <p:nvPr/>
        </p:nvSpPr>
        <p:spPr>
          <a:xfrm>
            <a:off x="4800600" y="3346704"/>
            <a:ext cx="7040880" cy="749808"/>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00600" y="3346704"/>
            <a:ext cx="457200" cy="7498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00600" y="3520440"/>
            <a:ext cx="457200" cy="402336"/>
          </a:xfrm>
          <a:prstGeom prst="rect">
            <a:avLst/>
          </a:prstGeom>
          <a:noFill/>
        </p:spPr>
        <p:txBody>
          <a:bodyPr wrap="square">
            <a:spAutoFit/>
          </a:bodyPr>
          <a:lstStyle/>
          <a:p>
            <a:pPr algn="ctr"/>
            <a:r>
              <a:rPr sz="1700" b="1" i="0">
                <a:solidFill>
                  <a:srgbClr val="FFFFFF"/>
                </a:solidFill>
              </a:rPr>
              <a:t>3</a:t>
            </a:r>
          </a:p>
        </p:txBody>
      </p:sp>
      <p:sp>
        <p:nvSpPr>
          <p:cNvPr id="29" name="TextBox 28"/>
          <p:cNvSpPr txBox="1"/>
          <p:nvPr/>
        </p:nvSpPr>
        <p:spPr>
          <a:xfrm>
            <a:off x="5330952" y="3392424"/>
            <a:ext cx="6446520" cy="274320"/>
          </a:xfrm>
          <a:prstGeom prst="rect">
            <a:avLst/>
          </a:prstGeom>
          <a:noFill/>
        </p:spPr>
        <p:txBody>
          <a:bodyPr wrap="square">
            <a:spAutoFit/>
          </a:bodyPr>
          <a:lstStyle/>
          <a:p>
            <a:pPr algn="l"/>
            <a:r>
              <a:rPr sz="1050" b="1" i="0">
                <a:solidFill>
                  <a:srgbClr val="1A376C"/>
                </a:solidFill>
              </a:rPr>
              <a:t>Pilih Periode Aktif</a:t>
            </a:r>
          </a:p>
        </p:txBody>
      </p:sp>
      <p:sp>
        <p:nvSpPr>
          <p:cNvPr id="30" name="TextBox 29"/>
          <p:cNvSpPr txBox="1"/>
          <p:nvPr/>
        </p:nvSpPr>
        <p:spPr>
          <a:xfrm>
            <a:off x="5330952" y="3675888"/>
            <a:ext cx="6446520" cy="365759"/>
          </a:xfrm>
          <a:prstGeom prst="rect">
            <a:avLst/>
          </a:prstGeom>
          <a:noFill/>
        </p:spPr>
        <p:txBody>
          <a:bodyPr wrap="square">
            <a:spAutoFit/>
          </a:bodyPr>
          <a:lstStyle/>
          <a:p>
            <a:pPr algn="l"/>
            <a:r>
              <a:rPr sz="950" b="0" i="0">
                <a:solidFill>
                  <a:srgbClr val="444444"/>
                </a:solidFill>
              </a:rPr>
              <a:t>Pilih periode triwulan aktif dari dropdown.</a:t>
            </a:r>
          </a:p>
        </p:txBody>
      </p:sp>
      <p:sp>
        <p:nvSpPr>
          <p:cNvPr id="31" name="Rectangle 30"/>
          <p:cNvSpPr/>
          <p:nvPr/>
        </p:nvSpPr>
        <p:spPr>
          <a:xfrm>
            <a:off x="4800600" y="4151376"/>
            <a:ext cx="7040880" cy="749808"/>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800600" y="4151376"/>
            <a:ext cx="457200" cy="7498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00600" y="4325112"/>
            <a:ext cx="457200" cy="402336"/>
          </a:xfrm>
          <a:prstGeom prst="rect">
            <a:avLst/>
          </a:prstGeom>
          <a:noFill/>
        </p:spPr>
        <p:txBody>
          <a:bodyPr wrap="square">
            <a:spAutoFit/>
          </a:bodyPr>
          <a:lstStyle/>
          <a:p>
            <a:pPr algn="ctr"/>
            <a:r>
              <a:rPr sz="1700" b="1" i="0">
                <a:solidFill>
                  <a:srgbClr val="FFFFFF"/>
                </a:solidFill>
              </a:rPr>
              <a:t>4</a:t>
            </a:r>
          </a:p>
        </p:txBody>
      </p:sp>
      <p:sp>
        <p:nvSpPr>
          <p:cNvPr id="34" name="TextBox 33"/>
          <p:cNvSpPr txBox="1"/>
          <p:nvPr/>
        </p:nvSpPr>
        <p:spPr>
          <a:xfrm>
            <a:off x="5330952" y="4197096"/>
            <a:ext cx="6446520" cy="274320"/>
          </a:xfrm>
          <a:prstGeom prst="rect">
            <a:avLst/>
          </a:prstGeom>
          <a:noFill/>
        </p:spPr>
        <p:txBody>
          <a:bodyPr wrap="square">
            <a:spAutoFit/>
          </a:bodyPr>
          <a:lstStyle/>
          <a:p>
            <a:pPr algn="l"/>
            <a:r>
              <a:rPr sz="1050" b="1" i="0">
                <a:solidFill>
                  <a:srgbClr val="1A376C"/>
                </a:solidFill>
              </a:rPr>
              <a:t>Verifikasi IKU</a:t>
            </a:r>
          </a:p>
        </p:txBody>
      </p:sp>
      <p:sp>
        <p:nvSpPr>
          <p:cNvPr id="35" name="TextBox 34"/>
          <p:cNvSpPr txBox="1"/>
          <p:nvPr/>
        </p:nvSpPr>
        <p:spPr>
          <a:xfrm>
            <a:off x="5330952" y="4480560"/>
            <a:ext cx="6446520" cy="365759"/>
          </a:xfrm>
          <a:prstGeom prst="rect">
            <a:avLst/>
          </a:prstGeom>
          <a:noFill/>
        </p:spPr>
        <p:txBody>
          <a:bodyPr wrap="square">
            <a:spAutoFit/>
          </a:bodyPr>
          <a:lstStyle/>
          <a:p>
            <a:pPr algn="l"/>
            <a:r>
              <a:rPr sz="950" b="0" i="0">
                <a:solidFill>
                  <a:srgbClr val="444444"/>
                </a:solidFill>
              </a:rPr>
              <a:t>Pastikan daftar IKU tampil. Jika kosong, periode mungkin belum aktif.</a:t>
            </a:r>
          </a:p>
        </p:txBody>
      </p:sp>
      <p:sp>
        <p:nvSpPr>
          <p:cNvPr id="36" name="TextBox 35"/>
          <p:cNvSpPr txBox="1"/>
          <p:nvPr/>
        </p:nvSpPr>
        <p:spPr>
          <a:xfrm>
            <a:off x="4800600" y="5029200"/>
            <a:ext cx="7040880" cy="347472"/>
          </a:xfrm>
          <a:prstGeom prst="rect">
            <a:avLst/>
          </a:prstGeom>
          <a:noFill/>
        </p:spPr>
        <p:txBody>
          <a:bodyPr wrap="square">
            <a:spAutoFit/>
          </a:bodyPr>
          <a:lstStyle/>
          <a:p>
            <a:pPr algn="l"/>
            <a:r>
              <a:rPr sz="1200" b="1" i="0">
                <a:solidFill>
                  <a:srgbClr val="1A376C"/>
                </a:solidFill>
              </a:rPr>
              <a:t>Ketentuan Penting</a:t>
            </a:r>
          </a:p>
        </p:txBody>
      </p:sp>
      <p:sp>
        <p:nvSpPr>
          <p:cNvPr id="37" name="Rectangle 36"/>
          <p:cNvSpPr/>
          <p:nvPr/>
        </p:nvSpPr>
        <p:spPr>
          <a:xfrm>
            <a:off x="4800600" y="5029200"/>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800600" y="5468112"/>
            <a:ext cx="7040880" cy="3657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19472" y="5513832"/>
            <a:ext cx="1645920" cy="274320"/>
          </a:xfrm>
          <a:prstGeom prst="rect">
            <a:avLst/>
          </a:prstGeom>
          <a:noFill/>
        </p:spPr>
        <p:txBody>
          <a:bodyPr wrap="square">
            <a:spAutoFit/>
          </a:bodyPr>
          <a:lstStyle/>
          <a:p>
            <a:pPr algn="l"/>
            <a:r>
              <a:rPr sz="950" b="1" i="0">
                <a:solidFill>
                  <a:srgbClr val="1A376C"/>
                </a:solidFill>
              </a:rPr>
              <a:t>Periode Aktif</a:t>
            </a:r>
          </a:p>
        </p:txBody>
      </p:sp>
      <p:sp>
        <p:nvSpPr>
          <p:cNvPr id="40" name="TextBox 39"/>
          <p:cNvSpPr txBox="1"/>
          <p:nvPr/>
        </p:nvSpPr>
        <p:spPr>
          <a:xfrm>
            <a:off x="6583680" y="5513832"/>
            <a:ext cx="5166360" cy="274320"/>
          </a:xfrm>
          <a:prstGeom prst="rect">
            <a:avLst/>
          </a:prstGeom>
          <a:noFill/>
        </p:spPr>
        <p:txBody>
          <a:bodyPr wrap="square">
            <a:spAutoFit/>
          </a:bodyPr>
          <a:lstStyle/>
          <a:p>
            <a:pPr algn="l"/>
            <a:r>
              <a:rPr sz="950" b="0" i="0">
                <a:solidFill>
                  <a:srgbClr val="444444"/>
                </a:solidFill>
              </a:rPr>
              <a:t>Pengisian hanya bisa dilakukan saat Admin mengaktifkan periode triwulan.</a:t>
            </a:r>
          </a:p>
        </p:txBody>
      </p:sp>
      <p:sp>
        <p:nvSpPr>
          <p:cNvPr id="41" name="Rectangle 40"/>
          <p:cNvSpPr/>
          <p:nvPr/>
        </p:nvSpPr>
        <p:spPr>
          <a:xfrm>
            <a:off x="4800600" y="5852160"/>
            <a:ext cx="70408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19472" y="5897880"/>
            <a:ext cx="1645920" cy="274320"/>
          </a:xfrm>
          <a:prstGeom prst="rect">
            <a:avLst/>
          </a:prstGeom>
          <a:noFill/>
        </p:spPr>
        <p:txBody>
          <a:bodyPr wrap="square">
            <a:spAutoFit/>
          </a:bodyPr>
          <a:lstStyle/>
          <a:p>
            <a:pPr algn="l"/>
            <a:r>
              <a:rPr sz="950" b="1" i="0">
                <a:solidFill>
                  <a:srgbClr val="1A376C"/>
                </a:solidFill>
              </a:rPr>
              <a:t>IKU yang tampil</a:t>
            </a:r>
          </a:p>
        </p:txBody>
      </p:sp>
      <p:sp>
        <p:nvSpPr>
          <p:cNvPr id="43" name="TextBox 42"/>
          <p:cNvSpPr txBox="1"/>
          <p:nvPr/>
        </p:nvSpPr>
        <p:spPr>
          <a:xfrm>
            <a:off x="6583680" y="5897880"/>
            <a:ext cx="5166360" cy="274320"/>
          </a:xfrm>
          <a:prstGeom prst="rect">
            <a:avLst/>
          </a:prstGeom>
          <a:noFill/>
        </p:spPr>
        <p:txBody>
          <a:bodyPr wrap="square">
            <a:spAutoFit/>
          </a:bodyPr>
          <a:lstStyle/>
          <a:p>
            <a:pPr algn="l"/>
            <a:r>
              <a:rPr sz="950" b="0" i="0">
                <a:solidFill>
                  <a:srgbClr val="444444"/>
                </a:solidFill>
              </a:rPr>
              <a:t>Hanya IKU di mana Tim Kerja Anda tercatat sebagai PIC yang akan tampil.</a:t>
            </a:r>
          </a:p>
        </p:txBody>
      </p:sp>
      <p:sp>
        <p:nvSpPr>
          <p:cNvPr id="44" name="Rectangle 43"/>
          <p:cNvSpPr/>
          <p:nvPr/>
        </p:nvSpPr>
        <p:spPr>
          <a:xfrm>
            <a:off x="4800600" y="6236208"/>
            <a:ext cx="7040880" cy="36576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919472" y="6281928"/>
            <a:ext cx="1645920" cy="274320"/>
          </a:xfrm>
          <a:prstGeom prst="rect">
            <a:avLst/>
          </a:prstGeom>
          <a:noFill/>
        </p:spPr>
        <p:txBody>
          <a:bodyPr wrap="square">
            <a:spAutoFit/>
          </a:bodyPr>
          <a:lstStyle/>
          <a:p>
            <a:pPr algn="l"/>
            <a:r>
              <a:rPr sz="950" b="1" i="0">
                <a:solidFill>
                  <a:srgbClr val="1A376C"/>
                </a:solidFill>
              </a:rPr>
              <a:t>IKU Kolaborasi</a:t>
            </a:r>
          </a:p>
        </p:txBody>
      </p:sp>
      <p:sp>
        <p:nvSpPr>
          <p:cNvPr id="46" name="TextBox 45"/>
          <p:cNvSpPr txBox="1"/>
          <p:nvPr/>
        </p:nvSpPr>
        <p:spPr>
          <a:xfrm>
            <a:off x="6583680" y="6281928"/>
            <a:ext cx="5166360" cy="274320"/>
          </a:xfrm>
          <a:prstGeom prst="rect">
            <a:avLst/>
          </a:prstGeom>
          <a:noFill/>
        </p:spPr>
        <p:txBody>
          <a:bodyPr wrap="square">
            <a:spAutoFit/>
          </a:bodyPr>
          <a:lstStyle/>
          <a:p>
            <a:pPr algn="l"/>
            <a:r>
              <a:rPr sz="950" b="0" i="0">
                <a:solidFill>
                  <a:srgbClr val="444444"/>
                </a:solidFill>
              </a:rPr>
              <a:t>Semua PIC dapat mengisi. Data terakhir yang disimpan menjadi nilai final (last-save-wins).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II-03  |  Mengisi Data Realisasi &amp; IKU Kolaborasi</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Panduan pengisian nilai realisasi dan koordinasi Co-PIC</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II: Ketua Tim Kerja (Pengukuran)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16 / —</a:t>
            </a:r>
          </a:p>
        </p:txBody>
      </p:sp>
      <p:sp>
        <p:nvSpPr>
          <p:cNvPr id="10" name="Rectangle 9"/>
          <p:cNvSpPr/>
          <p:nvPr/>
        </p:nvSpPr>
        <p:spPr>
          <a:xfrm>
            <a:off x="365760" y="1234440"/>
            <a:ext cx="475488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75488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572000" cy="320040"/>
          </a:xfrm>
          <a:prstGeom prst="rect">
            <a:avLst/>
          </a:prstGeom>
          <a:noFill/>
        </p:spPr>
        <p:txBody>
          <a:bodyPr wrap="square">
            <a:spAutoFit/>
          </a:bodyPr>
          <a:lstStyle/>
          <a:p>
            <a:pPr algn="l"/>
            <a:r>
              <a:rPr sz="1000" b="1" i="0">
                <a:solidFill>
                  <a:srgbClr val="FFFFFF"/>
                </a:solidFill>
              </a:rPr>
              <a:t>Tampilan Form Isian Realisasi</a:t>
            </a:r>
          </a:p>
        </p:txBody>
      </p:sp>
      <p:sp>
        <p:nvSpPr>
          <p:cNvPr id="13" name="TextBox 12"/>
          <p:cNvSpPr txBox="1"/>
          <p:nvPr/>
        </p:nvSpPr>
        <p:spPr>
          <a:xfrm>
            <a:off x="640080" y="1737360"/>
            <a:ext cx="4343400" cy="4617720"/>
          </a:xfrm>
          <a:prstGeom prst="rect">
            <a:avLst/>
          </a:prstGeom>
          <a:noFill/>
        </p:spPr>
        <p:txBody>
          <a:bodyPr wrap="square">
            <a:spAutoFit/>
          </a:bodyPr>
          <a:lstStyle/>
          <a:p>
            <a:pPr algn="ctr"/>
            <a:r>
              <a:rPr sz="1000" b="0" i="1">
                <a:solidFill>
                  <a:srgbClr val="2E75B6"/>
                </a:solidFill>
              </a:rPr>
              <a:t>[ SCREENSHOT FORM ISIAN REALISASI ]
Tambahkan screenshot di sini</a:t>
            </a:r>
          </a:p>
        </p:txBody>
      </p:sp>
      <p:sp>
        <p:nvSpPr>
          <p:cNvPr id="14" name="TextBox 13"/>
          <p:cNvSpPr txBox="1"/>
          <p:nvPr/>
        </p:nvSpPr>
        <p:spPr>
          <a:xfrm>
            <a:off x="5440680" y="1261872"/>
            <a:ext cx="6492240" cy="347472"/>
          </a:xfrm>
          <a:prstGeom prst="rect">
            <a:avLst/>
          </a:prstGeom>
          <a:noFill/>
        </p:spPr>
        <p:txBody>
          <a:bodyPr wrap="square">
            <a:spAutoFit/>
          </a:bodyPr>
          <a:lstStyle/>
          <a:p>
            <a:pPr algn="l"/>
            <a:r>
              <a:rPr sz="1300" b="1" i="0">
                <a:solidFill>
                  <a:srgbClr val="1A376C"/>
                </a:solidFill>
              </a:rPr>
              <a:t>Cara Mengisi Realisasi IKU</a:t>
            </a:r>
          </a:p>
        </p:txBody>
      </p:sp>
      <p:sp>
        <p:nvSpPr>
          <p:cNvPr id="15" name="Rectangle 14"/>
          <p:cNvSpPr/>
          <p:nvPr/>
        </p:nvSpPr>
        <p:spPr>
          <a:xfrm>
            <a:off x="5440680" y="126187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1737360"/>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40680" y="1737360"/>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1892807"/>
            <a:ext cx="457200" cy="402336"/>
          </a:xfrm>
          <a:prstGeom prst="rect">
            <a:avLst/>
          </a:prstGeom>
          <a:noFill/>
        </p:spPr>
        <p:txBody>
          <a:bodyPr wrap="square">
            <a:spAutoFit/>
          </a:bodyPr>
          <a:lstStyle/>
          <a:p>
            <a:pPr algn="ctr"/>
            <a:r>
              <a:rPr sz="1700" b="1" i="0">
                <a:solidFill>
                  <a:srgbClr val="FFFFFF"/>
                </a:solidFill>
              </a:rPr>
              <a:t>1</a:t>
            </a:r>
          </a:p>
        </p:txBody>
      </p:sp>
      <p:sp>
        <p:nvSpPr>
          <p:cNvPr id="19" name="TextBox 18"/>
          <p:cNvSpPr txBox="1"/>
          <p:nvPr/>
        </p:nvSpPr>
        <p:spPr>
          <a:xfrm>
            <a:off x="5971032" y="1783080"/>
            <a:ext cx="5897879" cy="274320"/>
          </a:xfrm>
          <a:prstGeom prst="rect">
            <a:avLst/>
          </a:prstGeom>
          <a:noFill/>
        </p:spPr>
        <p:txBody>
          <a:bodyPr wrap="square">
            <a:spAutoFit/>
          </a:bodyPr>
          <a:lstStyle/>
          <a:p>
            <a:pPr algn="l"/>
            <a:r>
              <a:rPr sz="1050" b="1" i="0">
                <a:solidFill>
                  <a:srgbClr val="1A376C"/>
                </a:solidFill>
              </a:rPr>
              <a:t>Klik 'Isi' atau 'Edit'</a:t>
            </a:r>
          </a:p>
        </p:txBody>
      </p:sp>
      <p:sp>
        <p:nvSpPr>
          <p:cNvPr id="20" name="TextBox 19"/>
          <p:cNvSpPr txBox="1"/>
          <p:nvPr/>
        </p:nvSpPr>
        <p:spPr>
          <a:xfrm>
            <a:off x="5971032" y="2066543"/>
            <a:ext cx="5897879" cy="329184"/>
          </a:xfrm>
          <a:prstGeom prst="rect">
            <a:avLst/>
          </a:prstGeom>
          <a:noFill/>
        </p:spPr>
        <p:txBody>
          <a:bodyPr wrap="square">
            <a:spAutoFit/>
          </a:bodyPr>
          <a:lstStyle/>
          <a:p>
            <a:pPr algn="l"/>
            <a:r>
              <a:rPr sz="950" b="0" i="0">
                <a:solidFill>
                  <a:srgbClr val="444444"/>
                </a:solidFill>
              </a:rPr>
              <a:t>Pada baris IKU, klik tombol 'Isi' (belum ada data) atau 'Edit' (data sudah ada).</a:t>
            </a:r>
          </a:p>
        </p:txBody>
      </p:sp>
      <p:sp>
        <p:nvSpPr>
          <p:cNvPr id="21" name="Rectangle 20"/>
          <p:cNvSpPr/>
          <p:nvPr/>
        </p:nvSpPr>
        <p:spPr>
          <a:xfrm>
            <a:off x="5440680" y="2514600"/>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40680" y="2514600"/>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40680" y="2670048"/>
            <a:ext cx="457200" cy="402336"/>
          </a:xfrm>
          <a:prstGeom prst="rect">
            <a:avLst/>
          </a:prstGeom>
          <a:noFill/>
        </p:spPr>
        <p:txBody>
          <a:bodyPr wrap="square">
            <a:spAutoFit/>
          </a:bodyPr>
          <a:lstStyle/>
          <a:p>
            <a:pPr algn="ctr"/>
            <a:r>
              <a:rPr sz="1700" b="1" i="0">
                <a:solidFill>
                  <a:srgbClr val="FFFFFF"/>
                </a:solidFill>
              </a:rPr>
              <a:t>2</a:t>
            </a:r>
          </a:p>
        </p:txBody>
      </p:sp>
      <p:sp>
        <p:nvSpPr>
          <p:cNvPr id="24" name="TextBox 23"/>
          <p:cNvSpPr txBox="1"/>
          <p:nvPr/>
        </p:nvSpPr>
        <p:spPr>
          <a:xfrm>
            <a:off x="5971032" y="2560320"/>
            <a:ext cx="5897879" cy="274320"/>
          </a:xfrm>
          <a:prstGeom prst="rect">
            <a:avLst/>
          </a:prstGeom>
          <a:noFill/>
        </p:spPr>
        <p:txBody>
          <a:bodyPr wrap="square">
            <a:spAutoFit/>
          </a:bodyPr>
          <a:lstStyle/>
          <a:p>
            <a:pPr algn="l"/>
            <a:r>
              <a:rPr sz="1050" b="1" i="0">
                <a:solidFill>
                  <a:srgbClr val="1A376C"/>
                </a:solidFill>
              </a:rPr>
              <a:t>Isi Nilai Realisasi (Wajib)</a:t>
            </a:r>
          </a:p>
        </p:txBody>
      </p:sp>
      <p:sp>
        <p:nvSpPr>
          <p:cNvPr id="25" name="TextBox 24"/>
          <p:cNvSpPr txBox="1"/>
          <p:nvPr/>
        </p:nvSpPr>
        <p:spPr>
          <a:xfrm>
            <a:off x="5971032" y="2843784"/>
            <a:ext cx="5897879" cy="329184"/>
          </a:xfrm>
          <a:prstGeom prst="rect">
            <a:avLst/>
          </a:prstGeom>
          <a:noFill/>
        </p:spPr>
        <p:txBody>
          <a:bodyPr wrap="square">
            <a:spAutoFit/>
          </a:bodyPr>
          <a:lstStyle/>
          <a:p>
            <a:pPr algn="l"/>
            <a:r>
              <a:rPr sz="950" b="0" i="0">
                <a:solidFill>
                  <a:srgbClr val="444444"/>
                </a:solidFill>
              </a:rPr>
              <a:t>Masukkan nilai capaian aktual sesuai satuan IKU.</a:t>
            </a:r>
          </a:p>
        </p:txBody>
      </p:sp>
      <p:sp>
        <p:nvSpPr>
          <p:cNvPr id="26" name="Rectangle 25"/>
          <p:cNvSpPr/>
          <p:nvPr/>
        </p:nvSpPr>
        <p:spPr>
          <a:xfrm>
            <a:off x="5440680" y="3291839"/>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40680" y="3291839"/>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40680" y="3447287"/>
            <a:ext cx="457200" cy="402336"/>
          </a:xfrm>
          <a:prstGeom prst="rect">
            <a:avLst/>
          </a:prstGeom>
          <a:noFill/>
        </p:spPr>
        <p:txBody>
          <a:bodyPr wrap="square">
            <a:spAutoFit/>
          </a:bodyPr>
          <a:lstStyle/>
          <a:p>
            <a:pPr algn="ctr"/>
            <a:r>
              <a:rPr sz="1700" b="1" i="0">
                <a:solidFill>
                  <a:srgbClr val="FFFFFF"/>
                </a:solidFill>
              </a:rPr>
              <a:t>3</a:t>
            </a:r>
          </a:p>
        </p:txBody>
      </p:sp>
      <p:sp>
        <p:nvSpPr>
          <p:cNvPr id="29" name="TextBox 28"/>
          <p:cNvSpPr txBox="1"/>
          <p:nvPr/>
        </p:nvSpPr>
        <p:spPr>
          <a:xfrm>
            <a:off x="5971032" y="3337559"/>
            <a:ext cx="5897879" cy="274320"/>
          </a:xfrm>
          <a:prstGeom prst="rect">
            <a:avLst/>
          </a:prstGeom>
          <a:noFill/>
        </p:spPr>
        <p:txBody>
          <a:bodyPr wrap="square">
            <a:spAutoFit/>
          </a:bodyPr>
          <a:lstStyle/>
          <a:p>
            <a:pPr algn="l"/>
            <a:r>
              <a:rPr sz="1050" b="1" i="0">
                <a:solidFill>
                  <a:srgbClr val="1A376C"/>
                </a:solidFill>
              </a:rPr>
              <a:t>Isi Progress Kegiatan</a:t>
            </a:r>
          </a:p>
        </p:txBody>
      </p:sp>
      <p:sp>
        <p:nvSpPr>
          <p:cNvPr id="30" name="TextBox 29"/>
          <p:cNvSpPr txBox="1"/>
          <p:nvPr/>
        </p:nvSpPr>
        <p:spPr>
          <a:xfrm>
            <a:off x="5971032" y="3621023"/>
            <a:ext cx="5897879" cy="329184"/>
          </a:xfrm>
          <a:prstGeom prst="rect">
            <a:avLst/>
          </a:prstGeom>
          <a:noFill/>
        </p:spPr>
        <p:txBody>
          <a:bodyPr wrap="square">
            <a:spAutoFit/>
          </a:bodyPr>
          <a:lstStyle/>
          <a:p>
            <a:pPr algn="l"/>
            <a:r>
              <a:rPr sz="950" b="0" i="0">
                <a:solidFill>
                  <a:srgbClr val="444444"/>
                </a:solidFill>
              </a:rPr>
              <a:t>Deskripsi singkat progres kegiatan yang telah dilaksanakan.</a:t>
            </a:r>
          </a:p>
        </p:txBody>
      </p:sp>
      <p:sp>
        <p:nvSpPr>
          <p:cNvPr id="31" name="Rectangle 30"/>
          <p:cNvSpPr/>
          <p:nvPr/>
        </p:nvSpPr>
        <p:spPr>
          <a:xfrm>
            <a:off x="5440680" y="4069079"/>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40680" y="4069079"/>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40680" y="4224527"/>
            <a:ext cx="457200" cy="402336"/>
          </a:xfrm>
          <a:prstGeom prst="rect">
            <a:avLst/>
          </a:prstGeom>
          <a:noFill/>
        </p:spPr>
        <p:txBody>
          <a:bodyPr wrap="square">
            <a:spAutoFit/>
          </a:bodyPr>
          <a:lstStyle/>
          <a:p>
            <a:pPr algn="ctr"/>
            <a:r>
              <a:rPr sz="1700" b="1" i="0">
                <a:solidFill>
                  <a:srgbClr val="FFFFFF"/>
                </a:solidFill>
              </a:rPr>
              <a:t>4</a:t>
            </a:r>
          </a:p>
        </p:txBody>
      </p:sp>
      <p:sp>
        <p:nvSpPr>
          <p:cNvPr id="34" name="TextBox 33"/>
          <p:cNvSpPr txBox="1"/>
          <p:nvPr/>
        </p:nvSpPr>
        <p:spPr>
          <a:xfrm>
            <a:off x="5971032" y="4114799"/>
            <a:ext cx="5897879" cy="274320"/>
          </a:xfrm>
          <a:prstGeom prst="rect">
            <a:avLst/>
          </a:prstGeom>
          <a:noFill/>
        </p:spPr>
        <p:txBody>
          <a:bodyPr wrap="square">
            <a:spAutoFit/>
          </a:bodyPr>
          <a:lstStyle/>
          <a:p>
            <a:pPr algn="l"/>
            <a:r>
              <a:rPr sz="1050" b="1" i="0">
                <a:solidFill>
                  <a:srgbClr val="1A376C"/>
                </a:solidFill>
              </a:rPr>
              <a:t>Isi Kendala &amp; Strategi</a:t>
            </a:r>
          </a:p>
        </p:txBody>
      </p:sp>
      <p:sp>
        <p:nvSpPr>
          <p:cNvPr id="35" name="TextBox 34"/>
          <p:cNvSpPr txBox="1"/>
          <p:nvPr/>
        </p:nvSpPr>
        <p:spPr>
          <a:xfrm>
            <a:off x="5971032" y="4398264"/>
            <a:ext cx="5897879" cy="329184"/>
          </a:xfrm>
          <a:prstGeom prst="rect">
            <a:avLst/>
          </a:prstGeom>
          <a:noFill/>
        </p:spPr>
        <p:txBody>
          <a:bodyPr wrap="square">
            <a:spAutoFit/>
          </a:bodyPr>
          <a:lstStyle/>
          <a:p>
            <a:pPr algn="l"/>
            <a:r>
              <a:rPr sz="950" b="0" i="0">
                <a:solidFill>
                  <a:srgbClr val="444444"/>
                </a:solidFill>
              </a:rPr>
              <a:t>Tuliskan kendala (jika ada) dan strategi tindak lanjut.</a:t>
            </a:r>
          </a:p>
        </p:txBody>
      </p:sp>
      <p:sp>
        <p:nvSpPr>
          <p:cNvPr id="36" name="Rectangle 35"/>
          <p:cNvSpPr/>
          <p:nvPr/>
        </p:nvSpPr>
        <p:spPr>
          <a:xfrm>
            <a:off x="5440680" y="4846320"/>
            <a:ext cx="6492240" cy="713232"/>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40680" y="4846320"/>
            <a:ext cx="457200" cy="7132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40680" y="5001768"/>
            <a:ext cx="457200" cy="402336"/>
          </a:xfrm>
          <a:prstGeom prst="rect">
            <a:avLst/>
          </a:prstGeom>
          <a:noFill/>
        </p:spPr>
        <p:txBody>
          <a:bodyPr wrap="square">
            <a:spAutoFit/>
          </a:bodyPr>
          <a:lstStyle/>
          <a:p>
            <a:pPr algn="ctr"/>
            <a:r>
              <a:rPr sz="1700" b="1" i="0">
                <a:solidFill>
                  <a:srgbClr val="FFFFFF"/>
                </a:solidFill>
              </a:rPr>
              <a:t>5</a:t>
            </a:r>
          </a:p>
        </p:txBody>
      </p:sp>
      <p:sp>
        <p:nvSpPr>
          <p:cNvPr id="39" name="TextBox 38"/>
          <p:cNvSpPr txBox="1"/>
          <p:nvPr/>
        </p:nvSpPr>
        <p:spPr>
          <a:xfrm>
            <a:off x="5971032" y="4892040"/>
            <a:ext cx="5897879" cy="274320"/>
          </a:xfrm>
          <a:prstGeom prst="rect">
            <a:avLst/>
          </a:prstGeom>
          <a:noFill/>
        </p:spPr>
        <p:txBody>
          <a:bodyPr wrap="square">
            <a:spAutoFit/>
          </a:bodyPr>
          <a:lstStyle/>
          <a:p>
            <a:pPr algn="l"/>
            <a:r>
              <a:rPr sz="1050" b="1" i="0">
                <a:solidFill>
                  <a:srgbClr val="1A376C"/>
                </a:solidFill>
              </a:rPr>
              <a:t>Klik Simpan</a:t>
            </a:r>
          </a:p>
        </p:txBody>
      </p:sp>
      <p:sp>
        <p:nvSpPr>
          <p:cNvPr id="40" name="TextBox 39"/>
          <p:cNvSpPr txBox="1"/>
          <p:nvPr/>
        </p:nvSpPr>
        <p:spPr>
          <a:xfrm>
            <a:off x="5971032" y="5175504"/>
            <a:ext cx="5897879" cy="329184"/>
          </a:xfrm>
          <a:prstGeom prst="rect">
            <a:avLst/>
          </a:prstGeom>
          <a:noFill/>
        </p:spPr>
        <p:txBody>
          <a:bodyPr wrap="square">
            <a:spAutoFit/>
          </a:bodyPr>
          <a:lstStyle/>
          <a:p>
            <a:pPr algn="l"/>
            <a:r>
              <a:rPr sz="950" b="0" i="0">
                <a:solidFill>
                  <a:srgbClr val="444444"/>
                </a:solidFill>
              </a:rPr>
              <a:t>Klik "Simpan". Status IKU berubah menjadi ✓ Terisi.</a:t>
            </a:r>
          </a:p>
        </p:txBody>
      </p:sp>
      <p:sp>
        <p:nvSpPr>
          <p:cNvPr id="41" name="Rectangle 40"/>
          <p:cNvSpPr/>
          <p:nvPr/>
        </p:nvSpPr>
        <p:spPr>
          <a:xfrm>
            <a:off x="5440680" y="5669280"/>
            <a:ext cx="6492240" cy="1188720"/>
          </a:xfrm>
          <a:prstGeom prst="rect">
            <a:avLst/>
          </a:prstGeom>
          <a:solidFill>
            <a:srgbClr val="E3F2FD"/>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40680" y="5669280"/>
            <a:ext cx="6492240" cy="34747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77840" y="5687568"/>
            <a:ext cx="6217920" cy="310896"/>
          </a:xfrm>
          <a:prstGeom prst="rect">
            <a:avLst/>
          </a:prstGeom>
          <a:noFill/>
        </p:spPr>
        <p:txBody>
          <a:bodyPr wrap="square">
            <a:spAutoFit/>
          </a:bodyPr>
          <a:lstStyle/>
          <a:p>
            <a:pPr algn="l"/>
            <a:r>
              <a:rPr sz="1100" b="1" i="0">
                <a:solidFill>
                  <a:srgbClr val="FFFFFF"/>
                </a:solidFill>
              </a:rPr>
              <a:t>IKU Kolaborasi (Co-PIC)</a:t>
            </a:r>
          </a:p>
        </p:txBody>
      </p:sp>
      <p:sp>
        <p:nvSpPr>
          <p:cNvPr id="44" name="TextBox 43"/>
          <p:cNvSpPr txBox="1"/>
          <p:nvPr/>
        </p:nvSpPr>
        <p:spPr>
          <a:xfrm>
            <a:off x="5577840" y="6062472"/>
            <a:ext cx="6217920" cy="731520"/>
          </a:xfrm>
          <a:prstGeom prst="rect">
            <a:avLst/>
          </a:prstGeom>
          <a:noFill/>
        </p:spPr>
        <p:txBody>
          <a:bodyPr wrap="square">
            <a:spAutoFit/>
          </a:bodyPr>
          <a:lstStyle/>
          <a:p>
            <a:pPr algn="l"/>
            <a:r>
              <a:rPr sz="950" b="0" i="0">
                <a:solidFill>
                  <a:srgbClr val="1A376C"/>
                </a:solidFill>
              </a:rPr>
              <a:t>• Ikon 👥 pada IKU menandakan IKU kolaborasi  • Semua PIC bisa isi/edit kapan saja
• Gunakan kolom Catatan untuk koordinasi  • Hanya satu tim yang perlu submit laporan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II-04  |  Submit &amp; Revisi Laporan Pengukuran</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Mengirim laporan ke Kabag Umum dan prosedur jika dikembalikan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II: Ketua Tim Kerja (Pengukuran)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17 / —</a:t>
            </a:r>
          </a:p>
        </p:txBody>
      </p:sp>
      <p:sp>
        <p:nvSpPr>
          <p:cNvPr id="10" name="Rectangle 9"/>
          <p:cNvSpPr/>
          <p:nvPr/>
        </p:nvSpPr>
        <p:spPr>
          <a:xfrm>
            <a:off x="365760" y="1234440"/>
            <a:ext cx="11430000" cy="12344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298448"/>
            <a:ext cx="2468880" cy="10972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344168"/>
            <a:ext cx="2286000" cy="502920"/>
          </a:xfrm>
          <a:prstGeom prst="rect">
            <a:avLst/>
          </a:prstGeom>
          <a:noFill/>
        </p:spPr>
        <p:txBody>
          <a:bodyPr wrap="square">
            <a:spAutoFit/>
          </a:bodyPr>
          <a:lstStyle/>
          <a:p>
            <a:pPr algn="ctr"/>
            <a:r>
              <a:rPr sz="1000" b="1" i="0">
                <a:solidFill>
                  <a:srgbClr val="FFFFFF"/>
                </a:solidFill>
              </a:rPr>
              <a:t>Isi Semua
Realisasi</a:t>
            </a:r>
          </a:p>
        </p:txBody>
      </p:sp>
      <p:sp>
        <p:nvSpPr>
          <p:cNvPr id="13" name="TextBox 12"/>
          <p:cNvSpPr txBox="1"/>
          <p:nvPr/>
        </p:nvSpPr>
        <p:spPr>
          <a:xfrm>
            <a:off x="640080" y="1819656"/>
            <a:ext cx="2286000" cy="457200"/>
          </a:xfrm>
          <a:prstGeom prst="rect">
            <a:avLst/>
          </a:prstGeom>
          <a:noFill/>
        </p:spPr>
        <p:txBody>
          <a:bodyPr wrap="square">
            <a:spAutoFit/>
          </a:bodyPr>
          <a:lstStyle/>
          <a:p>
            <a:pPr algn="ctr"/>
            <a:r>
              <a:rPr sz="850" b="0" i="0">
                <a:solidFill>
                  <a:srgbClr val="CCDDFF"/>
                </a:solidFill>
              </a:rPr>
              <a:t>Tim Kerja</a:t>
            </a:r>
          </a:p>
        </p:txBody>
      </p:sp>
      <p:sp>
        <p:nvSpPr>
          <p:cNvPr id="14" name="TextBox 13"/>
          <p:cNvSpPr txBox="1"/>
          <p:nvPr/>
        </p:nvSpPr>
        <p:spPr>
          <a:xfrm>
            <a:off x="3044952" y="1627632"/>
            <a:ext cx="320040" cy="457200"/>
          </a:xfrm>
          <a:prstGeom prst="rect">
            <a:avLst/>
          </a:prstGeom>
          <a:noFill/>
        </p:spPr>
        <p:txBody>
          <a:bodyPr wrap="square">
            <a:spAutoFit/>
          </a:bodyPr>
          <a:lstStyle/>
          <a:p>
            <a:pPr algn="ctr"/>
            <a:r>
              <a:rPr sz="1400" b="0" i="0">
                <a:solidFill>
                  <a:srgbClr val="2E75B6"/>
                </a:solidFill>
              </a:rPr>
              <a:t>▶</a:t>
            </a:r>
          </a:p>
        </p:txBody>
      </p:sp>
      <p:sp>
        <p:nvSpPr>
          <p:cNvPr id="15" name="Rectangle 14"/>
          <p:cNvSpPr/>
          <p:nvPr/>
        </p:nvSpPr>
        <p:spPr>
          <a:xfrm>
            <a:off x="365760" y="1234440"/>
            <a:ext cx="11430000" cy="12344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298448"/>
            <a:ext cx="2468880" cy="109728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1344168"/>
            <a:ext cx="2286000" cy="502920"/>
          </a:xfrm>
          <a:prstGeom prst="rect">
            <a:avLst/>
          </a:prstGeom>
          <a:noFill/>
        </p:spPr>
        <p:txBody>
          <a:bodyPr wrap="square">
            <a:spAutoFit/>
          </a:bodyPr>
          <a:lstStyle/>
          <a:p>
            <a:pPr algn="ctr"/>
            <a:r>
              <a:rPr sz="1000" b="1" i="0">
                <a:solidFill>
                  <a:srgbClr val="FFFFFF"/>
                </a:solidFill>
              </a:rPr>
              <a:t>Submit
Laporan</a:t>
            </a:r>
          </a:p>
        </p:txBody>
      </p:sp>
      <p:sp>
        <p:nvSpPr>
          <p:cNvPr id="18" name="TextBox 17"/>
          <p:cNvSpPr txBox="1"/>
          <p:nvPr/>
        </p:nvSpPr>
        <p:spPr>
          <a:xfrm>
            <a:off x="3474720" y="1819656"/>
            <a:ext cx="2286000" cy="457200"/>
          </a:xfrm>
          <a:prstGeom prst="rect">
            <a:avLst/>
          </a:prstGeom>
          <a:noFill/>
        </p:spPr>
        <p:txBody>
          <a:bodyPr wrap="square">
            <a:spAutoFit/>
          </a:bodyPr>
          <a:lstStyle/>
          <a:p>
            <a:pPr algn="ctr"/>
            <a:r>
              <a:rPr sz="850" b="0" i="0">
                <a:solidFill>
                  <a:srgbClr val="CCDDFF"/>
                </a:solidFill>
              </a:rPr>
              <a:t>Tim Kerja</a:t>
            </a:r>
          </a:p>
        </p:txBody>
      </p:sp>
      <p:sp>
        <p:nvSpPr>
          <p:cNvPr id="19" name="TextBox 18"/>
          <p:cNvSpPr txBox="1"/>
          <p:nvPr/>
        </p:nvSpPr>
        <p:spPr>
          <a:xfrm>
            <a:off x="5879592" y="1627632"/>
            <a:ext cx="320040" cy="457200"/>
          </a:xfrm>
          <a:prstGeom prst="rect">
            <a:avLst/>
          </a:prstGeom>
          <a:noFill/>
        </p:spPr>
        <p:txBody>
          <a:bodyPr wrap="square">
            <a:spAutoFit/>
          </a:bodyPr>
          <a:lstStyle/>
          <a:p>
            <a:pPr algn="ctr"/>
            <a:r>
              <a:rPr sz="1400" b="0" i="0">
                <a:solidFill>
                  <a:srgbClr val="2E75B6"/>
                </a:solidFill>
              </a:rPr>
              <a:t>▶</a:t>
            </a:r>
          </a:p>
        </p:txBody>
      </p:sp>
      <p:sp>
        <p:nvSpPr>
          <p:cNvPr id="20" name="Rectangle 19"/>
          <p:cNvSpPr/>
          <p:nvPr/>
        </p:nvSpPr>
        <p:spPr>
          <a:xfrm>
            <a:off x="365760" y="1234440"/>
            <a:ext cx="11430000" cy="12344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298448"/>
            <a:ext cx="2468880" cy="109728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59" y="1344168"/>
            <a:ext cx="2286000" cy="502920"/>
          </a:xfrm>
          <a:prstGeom prst="rect">
            <a:avLst/>
          </a:prstGeom>
          <a:noFill/>
        </p:spPr>
        <p:txBody>
          <a:bodyPr wrap="square">
            <a:spAutoFit/>
          </a:bodyPr>
          <a:lstStyle/>
          <a:p>
            <a:pPr algn="ctr"/>
            <a:r>
              <a:rPr sz="1000" b="1" i="0">
                <a:solidFill>
                  <a:srgbClr val="FFFFFF"/>
                </a:solidFill>
              </a:rPr>
              <a:t>Review
Kabag</a:t>
            </a:r>
          </a:p>
        </p:txBody>
      </p:sp>
      <p:sp>
        <p:nvSpPr>
          <p:cNvPr id="23" name="TextBox 22"/>
          <p:cNvSpPr txBox="1"/>
          <p:nvPr/>
        </p:nvSpPr>
        <p:spPr>
          <a:xfrm>
            <a:off x="6309359" y="1819656"/>
            <a:ext cx="2286000" cy="457200"/>
          </a:xfrm>
          <a:prstGeom prst="rect">
            <a:avLst/>
          </a:prstGeom>
          <a:noFill/>
        </p:spPr>
        <p:txBody>
          <a:bodyPr wrap="square">
            <a:spAutoFit/>
          </a:bodyPr>
          <a:lstStyle/>
          <a:p>
            <a:pPr algn="ctr"/>
            <a:r>
              <a:rPr sz="850" b="0" i="0">
                <a:solidFill>
                  <a:srgbClr val="CCDDFF"/>
                </a:solidFill>
              </a:rPr>
              <a:t>Kabag Umum</a:t>
            </a:r>
          </a:p>
        </p:txBody>
      </p:sp>
      <p:sp>
        <p:nvSpPr>
          <p:cNvPr id="24" name="TextBox 23"/>
          <p:cNvSpPr txBox="1"/>
          <p:nvPr/>
        </p:nvSpPr>
        <p:spPr>
          <a:xfrm>
            <a:off x="8714232" y="1627632"/>
            <a:ext cx="320040" cy="457200"/>
          </a:xfrm>
          <a:prstGeom prst="rect">
            <a:avLst/>
          </a:prstGeom>
          <a:noFill/>
        </p:spPr>
        <p:txBody>
          <a:bodyPr wrap="square">
            <a:spAutoFit/>
          </a:bodyPr>
          <a:lstStyle/>
          <a:p>
            <a:pPr algn="ctr"/>
            <a:r>
              <a:rPr sz="1400" b="0" i="0">
                <a:solidFill>
                  <a:srgbClr val="2E75B6"/>
                </a:solidFill>
              </a:rPr>
              <a:t>▶</a:t>
            </a:r>
          </a:p>
        </p:txBody>
      </p:sp>
      <p:sp>
        <p:nvSpPr>
          <p:cNvPr id="25" name="Rectangle 24"/>
          <p:cNvSpPr/>
          <p:nvPr/>
        </p:nvSpPr>
        <p:spPr>
          <a:xfrm>
            <a:off x="365760" y="1234440"/>
            <a:ext cx="11430000" cy="12344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52560" y="1298448"/>
            <a:ext cx="2468880" cy="1097280"/>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0" y="1344168"/>
            <a:ext cx="2286000" cy="502920"/>
          </a:xfrm>
          <a:prstGeom prst="rect">
            <a:avLst/>
          </a:prstGeom>
          <a:noFill/>
        </p:spPr>
        <p:txBody>
          <a:bodyPr wrap="square">
            <a:spAutoFit/>
          </a:bodyPr>
          <a:lstStyle/>
          <a:p>
            <a:pPr algn="ctr"/>
            <a:r>
              <a:rPr sz="1000" b="1" i="0">
                <a:solidFill>
                  <a:srgbClr val="FFFFFF"/>
                </a:solidFill>
              </a:rPr>
              <a:t>Disetujui /
Dikembalikan</a:t>
            </a:r>
          </a:p>
        </p:txBody>
      </p:sp>
      <p:sp>
        <p:nvSpPr>
          <p:cNvPr id="28" name="TextBox 27"/>
          <p:cNvSpPr txBox="1"/>
          <p:nvPr/>
        </p:nvSpPr>
        <p:spPr>
          <a:xfrm>
            <a:off x="9144000" y="1819656"/>
            <a:ext cx="2286000" cy="457200"/>
          </a:xfrm>
          <a:prstGeom prst="rect">
            <a:avLst/>
          </a:prstGeom>
          <a:noFill/>
        </p:spPr>
        <p:txBody>
          <a:bodyPr wrap="square">
            <a:spAutoFit/>
          </a:bodyPr>
          <a:lstStyle/>
          <a:p>
            <a:pPr algn="ctr"/>
            <a:r>
              <a:rPr sz="850" b="0" i="0">
                <a:solidFill>
                  <a:srgbClr val="CCDDFF"/>
                </a:solidFill>
              </a:rPr>
              <a:t>Kabag Umum</a:t>
            </a:r>
          </a:p>
        </p:txBody>
      </p:sp>
      <p:sp>
        <p:nvSpPr>
          <p:cNvPr id="29" name="Rectangle 28"/>
          <p:cNvSpPr/>
          <p:nvPr/>
        </p:nvSpPr>
        <p:spPr>
          <a:xfrm>
            <a:off x="365760" y="2606040"/>
            <a:ext cx="5394960" cy="379476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2606040"/>
            <a:ext cx="5394960" cy="384048"/>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2624328"/>
            <a:ext cx="5166360" cy="347472"/>
          </a:xfrm>
          <a:prstGeom prst="rect">
            <a:avLst/>
          </a:prstGeom>
          <a:noFill/>
        </p:spPr>
        <p:txBody>
          <a:bodyPr wrap="square">
            <a:spAutoFit/>
          </a:bodyPr>
          <a:lstStyle/>
          <a:p>
            <a:pPr algn="l"/>
            <a:r>
              <a:rPr sz="1200" b="1" i="0">
                <a:solidFill>
                  <a:srgbClr val="FFFFFF"/>
                </a:solidFill>
              </a:rPr>
              <a:t>Cara Submit Laporan</a:t>
            </a:r>
          </a:p>
        </p:txBody>
      </p:sp>
      <p:sp>
        <p:nvSpPr>
          <p:cNvPr id="32" name="Rectangle 31"/>
          <p:cNvSpPr/>
          <p:nvPr/>
        </p:nvSpPr>
        <p:spPr>
          <a:xfrm>
            <a:off x="365760" y="3081528"/>
            <a:ext cx="53949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5760" y="3081528"/>
            <a:ext cx="457200" cy="694944"/>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3227832"/>
            <a:ext cx="457200" cy="402336"/>
          </a:xfrm>
          <a:prstGeom prst="rect">
            <a:avLst/>
          </a:prstGeom>
          <a:noFill/>
        </p:spPr>
        <p:txBody>
          <a:bodyPr wrap="square">
            <a:spAutoFit/>
          </a:bodyPr>
          <a:lstStyle/>
          <a:p>
            <a:pPr algn="ctr"/>
            <a:r>
              <a:rPr sz="1700" b="1" i="0">
                <a:solidFill>
                  <a:srgbClr val="FFFFFF"/>
                </a:solidFill>
              </a:rPr>
              <a:t>1</a:t>
            </a:r>
          </a:p>
        </p:txBody>
      </p:sp>
      <p:sp>
        <p:nvSpPr>
          <p:cNvPr id="35" name="TextBox 34"/>
          <p:cNvSpPr txBox="1"/>
          <p:nvPr/>
        </p:nvSpPr>
        <p:spPr>
          <a:xfrm>
            <a:off x="896112" y="3127248"/>
            <a:ext cx="4800600" cy="274320"/>
          </a:xfrm>
          <a:prstGeom prst="rect">
            <a:avLst/>
          </a:prstGeom>
          <a:noFill/>
        </p:spPr>
        <p:txBody>
          <a:bodyPr wrap="square">
            <a:spAutoFit/>
          </a:bodyPr>
          <a:lstStyle/>
          <a:p>
            <a:pPr algn="l"/>
            <a:r>
              <a:rPr sz="1050" b="1" i="0">
                <a:solidFill>
                  <a:srgbClr val="1A376C"/>
                </a:solidFill>
              </a:rPr>
              <a:t>Periksa Progress Bar</a:t>
            </a:r>
          </a:p>
        </p:txBody>
      </p:sp>
      <p:sp>
        <p:nvSpPr>
          <p:cNvPr id="36" name="TextBox 35"/>
          <p:cNvSpPr txBox="1"/>
          <p:nvPr/>
        </p:nvSpPr>
        <p:spPr>
          <a:xfrm>
            <a:off x="896112" y="3410712"/>
            <a:ext cx="4800600" cy="310896"/>
          </a:xfrm>
          <a:prstGeom prst="rect">
            <a:avLst/>
          </a:prstGeom>
          <a:noFill/>
        </p:spPr>
        <p:txBody>
          <a:bodyPr wrap="square">
            <a:spAutoFit/>
          </a:bodyPr>
          <a:lstStyle/>
          <a:p>
            <a:pPr algn="l"/>
            <a:r>
              <a:rPr sz="950" b="0" i="0">
                <a:solidFill>
                  <a:srgbClr val="444444"/>
                </a:solidFill>
              </a:rPr>
              <a:t>Semua langkah: Periode ✓ | IKU tersedia ✓ | Realisasi diisi ✓.</a:t>
            </a:r>
          </a:p>
        </p:txBody>
      </p:sp>
      <p:sp>
        <p:nvSpPr>
          <p:cNvPr id="37" name="Rectangle 36"/>
          <p:cNvSpPr/>
          <p:nvPr/>
        </p:nvSpPr>
        <p:spPr>
          <a:xfrm>
            <a:off x="365760" y="3840480"/>
            <a:ext cx="53949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5760" y="3840480"/>
            <a:ext cx="457200" cy="694944"/>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3986784"/>
            <a:ext cx="457200" cy="402336"/>
          </a:xfrm>
          <a:prstGeom prst="rect">
            <a:avLst/>
          </a:prstGeom>
          <a:noFill/>
        </p:spPr>
        <p:txBody>
          <a:bodyPr wrap="square">
            <a:spAutoFit/>
          </a:bodyPr>
          <a:lstStyle/>
          <a:p>
            <a:pPr algn="ctr"/>
            <a:r>
              <a:rPr sz="1700" b="1" i="0">
                <a:solidFill>
                  <a:srgbClr val="FFFFFF"/>
                </a:solidFill>
              </a:rPr>
              <a:t>2</a:t>
            </a:r>
          </a:p>
        </p:txBody>
      </p:sp>
      <p:sp>
        <p:nvSpPr>
          <p:cNvPr id="40" name="TextBox 39"/>
          <p:cNvSpPr txBox="1"/>
          <p:nvPr/>
        </p:nvSpPr>
        <p:spPr>
          <a:xfrm>
            <a:off x="896112" y="3886200"/>
            <a:ext cx="4800600" cy="274320"/>
          </a:xfrm>
          <a:prstGeom prst="rect">
            <a:avLst/>
          </a:prstGeom>
          <a:noFill/>
        </p:spPr>
        <p:txBody>
          <a:bodyPr wrap="square">
            <a:spAutoFit/>
          </a:bodyPr>
          <a:lstStyle/>
          <a:p>
            <a:pPr algn="l"/>
            <a:r>
              <a:rPr sz="1050" b="1" i="0">
                <a:solidFill>
                  <a:srgbClr val="1A376C"/>
                </a:solidFill>
              </a:rPr>
              <a:t>Klik Submit Laporan</a:t>
            </a:r>
          </a:p>
        </p:txBody>
      </p:sp>
      <p:sp>
        <p:nvSpPr>
          <p:cNvPr id="41" name="TextBox 40"/>
          <p:cNvSpPr txBox="1"/>
          <p:nvPr/>
        </p:nvSpPr>
        <p:spPr>
          <a:xfrm>
            <a:off x="896112" y="4169664"/>
            <a:ext cx="4800600" cy="310896"/>
          </a:xfrm>
          <a:prstGeom prst="rect">
            <a:avLst/>
          </a:prstGeom>
          <a:noFill/>
        </p:spPr>
        <p:txBody>
          <a:bodyPr wrap="square">
            <a:spAutoFit/>
          </a:bodyPr>
          <a:lstStyle/>
          <a:p>
            <a:pPr algn="l"/>
            <a:r>
              <a:rPr sz="950" b="0" i="0">
                <a:solidFill>
                  <a:srgbClr val="444444"/>
                </a:solidFill>
              </a:rPr>
              <a:t>Klik "Submit Laporan ke Kabag Umum".</a:t>
            </a:r>
          </a:p>
        </p:txBody>
      </p:sp>
      <p:sp>
        <p:nvSpPr>
          <p:cNvPr id="42" name="Rectangle 41"/>
          <p:cNvSpPr/>
          <p:nvPr/>
        </p:nvSpPr>
        <p:spPr>
          <a:xfrm>
            <a:off x="365760" y="4599432"/>
            <a:ext cx="53949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599432"/>
            <a:ext cx="457200" cy="694944"/>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745736"/>
            <a:ext cx="457200" cy="402336"/>
          </a:xfrm>
          <a:prstGeom prst="rect">
            <a:avLst/>
          </a:prstGeom>
          <a:noFill/>
        </p:spPr>
        <p:txBody>
          <a:bodyPr wrap="square">
            <a:spAutoFit/>
          </a:bodyPr>
          <a:lstStyle/>
          <a:p>
            <a:pPr algn="ctr"/>
            <a:r>
              <a:rPr sz="1700" b="1" i="0">
                <a:solidFill>
                  <a:srgbClr val="FFFFFF"/>
                </a:solidFill>
              </a:rPr>
              <a:t>3</a:t>
            </a:r>
          </a:p>
        </p:txBody>
      </p:sp>
      <p:sp>
        <p:nvSpPr>
          <p:cNvPr id="45" name="TextBox 44"/>
          <p:cNvSpPr txBox="1"/>
          <p:nvPr/>
        </p:nvSpPr>
        <p:spPr>
          <a:xfrm>
            <a:off x="896112" y="4645152"/>
            <a:ext cx="4800600" cy="274320"/>
          </a:xfrm>
          <a:prstGeom prst="rect">
            <a:avLst/>
          </a:prstGeom>
          <a:noFill/>
        </p:spPr>
        <p:txBody>
          <a:bodyPr wrap="square">
            <a:spAutoFit/>
          </a:bodyPr>
          <a:lstStyle/>
          <a:p>
            <a:pPr algn="l"/>
            <a:r>
              <a:rPr sz="1050" b="1" i="0">
                <a:solidFill>
                  <a:srgbClr val="1A376C"/>
                </a:solidFill>
              </a:rPr>
              <a:t>Konfirmasi</a:t>
            </a:r>
          </a:p>
        </p:txBody>
      </p:sp>
      <p:sp>
        <p:nvSpPr>
          <p:cNvPr id="46" name="TextBox 45"/>
          <p:cNvSpPr txBox="1"/>
          <p:nvPr/>
        </p:nvSpPr>
        <p:spPr>
          <a:xfrm>
            <a:off x="896112" y="4928616"/>
            <a:ext cx="4800600" cy="310896"/>
          </a:xfrm>
          <a:prstGeom prst="rect">
            <a:avLst/>
          </a:prstGeom>
          <a:noFill/>
        </p:spPr>
        <p:txBody>
          <a:bodyPr wrap="square">
            <a:spAutoFit/>
          </a:bodyPr>
          <a:lstStyle/>
          <a:p>
            <a:pPr algn="l"/>
            <a:r>
              <a:rPr sz="950" b="0" i="0">
                <a:solidFill>
                  <a:srgbClr val="444444"/>
                </a:solidFill>
              </a:rPr>
              <a:t>Klik Konfirmasi di dialog yang muncul.</a:t>
            </a:r>
          </a:p>
        </p:txBody>
      </p:sp>
      <p:sp>
        <p:nvSpPr>
          <p:cNvPr id="47" name="Rectangle 46"/>
          <p:cNvSpPr/>
          <p:nvPr/>
        </p:nvSpPr>
        <p:spPr>
          <a:xfrm>
            <a:off x="365760" y="5358383"/>
            <a:ext cx="53949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65760" y="5358383"/>
            <a:ext cx="457200" cy="694944"/>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5504688"/>
            <a:ext cx="457200" cy="402336"/>
          </a:xfrm>
          <a:prstGeom prst="rect">
            <a:avLst/>
          </a:prstGeom>
          <a:noFill/>
        </p:spPr>
        <p:txBody>
          <a:bodyPr wrap="square">
            <a:spAutoFit/>
          </a:bodyPr>
          <a:lstStyle/>
          <a:p>
            <a:pPr algn="ctr"/>
            <a:r>
              <a:rPr sz="1700" b="1" i="0">
                <a:solidFill>
                  <a:srgbClr val="FFFFFF"/>
                </a:solidFill>
              </a:rPr>
              <a:t>4</a:t>
            </a:r>
          </a:p>
        </p:txBody>
      </p:sp>
      <p:sp>
        <p:nvSpPr>
          <p:cNvPr id="50" name="TextBox 49"/>
          <p:cNvSpPr txBox="1"/>
          <p:nvPr/>
        </p:nvSpPr>
        <p:spPr>
          <a:xfrm>
            <a:off x="896112" y="5404103"/>
            <a:ext cx="4800600" cy="274320"/>
          </a:xfrm>
          <a:prstGeom prst="rect">
            <a:avLst/>
          </a:prstGeom>
          <a:noFill/>
        </p:spPr>
        <p:txBody>
          <a:bodyPr wrap="square">
            <a:spAutoFit/>
          </a:bodyPr>
          <a:lstStyle/>
          <a:p>
            <a:pPr algn="l"/>
            <a:r>
              <a:rPr sz="1050" b="1" i="0">
                <a:solidFill>
                  <a:srgbClr val="1A376C"/>
                </a:solidFill>
              </a:rPr>
              <a:t>Pantau Status</a:t>
            </a:r>
          </a:p>
        </p:txBody>
      </p:sp>
      <p:sp>
        <p:nvSpPr>
          <p:cNvPr id="51" name="TextBox 50"/>
          <p:cNvSpPr txBox="1"/>
          <p:nvPr/>
        </p:nvSpPr>
        <p:spPr>
          <a:xfrm>
            <a:off x="896112" y="5687568"/>
            <a:ext cx="4800600" cy="310896"/>
          </a:xfrm>
          <a:prstGeom prst="rect">
            <a:avLst/>
          </a:prstGeom>
          <a:noFill/>
        </p:spPr>
        <p:txBody>
          <a:bodyPr wrap="square">
            <a:spAutoFit/>
          </a:bodyPr>
          <a:lstStyle/>
          <a:p>
            <a:pPr algn="l"/>
            <a:r>
              <a:rPr sz="950" b="0" i="0">
                <a:solidFill>
                  <a:srgbClr val="444444"/>
                </a:solidFill>
              </a:rPr>
              <a:t>Status berubah menjadi 'Menunggu persetujuan Kabag Umum'.</a:t>
            </a:r>
          </a:p>
        </p:txBody>
      </p:sp>
      <p:sp>
        <p:nvSpPr>
          <p:cNvPr id="52" name="Rectangle 51"/>
          <p:cNvSpPr/>
          <p:nvPr/>
        </p:nvSpPr>
        <p:spPr>
          <a:xfrm>
            <a:off x="365760" y="6245352"/>
            <a:ext cx="5394960" cy="502920"/>
          </a:xfrm>
          <a:prstGeom prst="rect">
            <a:avLst/>
          </a:prstGeom>
          <a:solidFill>
            <a:srgbClr val="FDEDEC"/>
          </a:solidFill>
          <a:ln w="1270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6281928"/>
            <a:ext cx="5193792" cy="429768"/>
          </a:xfrm>
          <a:prstGeom prst="rect">
            <a:avLst/>
          </a:prstGeom>
          <a:noFill/>
        </p:spPr>
        <p:txBody>
          <a:bodyPr wrap="square">
            <a:spAutoFit/>
          </a:bodyPr>
          <a:lstStyle/>
          <a:p>
            <a:pPr algn="l"/>
            <a:r>
              <a:rPr sz="900" b="0" i="0">
                <a:solidFill>
                  <a:srgbClr val="C0392B"/>
                </a:solidFill>
              </a:rPr>
              <a:t>⛔  Laporan yang telah disubmit TIDAK DAPAT diedit. Pastikan semua data sudah benar.</a:t>
            </a:r>
          </a:p>
        </p:txBody>
      </p:sp>
      <p:sp>
        <p:nvSpPr>
          <p:cNvPr id="54" name="Rectangle 53"/>
          <p:cNvSpPr/>
          <p:nvPr/>
        </p:nvSpPr>
        <p:spPr>
          <a:xfrm>
            <a:off x="6126480" y="2606040"/>
            <a:ext cx="5715000" cy="379476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26480" y="2606040"/>
            <a:ext cx="5715000" cy="384048"/>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63640" y="2624328"/>
            <a:ext cx="5486400" cy="347472"/>
          </a:xfrm>
          <a:prstGeom prst="rect">
            <a:avLst/>
          </a:prstGeom>
          <a:noFill/>
        </p:spPr>
        <p:txBody>
          <a:bodyPr wrap="square">
            <a:spAutoFit/>
          </a:bodyPr>
          <a:lstStyle/>
          <a:p>
            <a:pPr algn="l"/>
            <a:r>
              <a:rPr sz="1200" b="1" i="0">
                <a:solidFill>
                  <a:srgbClr val="FFFFFF"/>
                </a:solidFill>
              </a:rPr>
              <a:t>Jika Laporan Dikembalikan</a:t>
            </a:r>
          </a:p>
        </p:txBody>
      </p:sp>
      <p:sp>
        <p:nvSpPr>
          <p:cNvPr id="57" name="Rectangle 56"/>
          <p:cNvSpPr/>
          <p:nvPr/>
        </p:nvSpPr>
        <p:spPr>
          <a:xfrm>
            <a:off x="6126480" y="3081528"/>
            <a:ext cx="57150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126480" y="3081528"/>
            <a:ext cx="457200" cy="6949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26480" y="3227832"/>
            <a:ext cx="457200" cy="402336"/>
          </a:xfrm>
          <a:prstGeom prst="rect">
            <a:avLst/>
          </a:prstGeom>
          <a:noFill/>
        </p:spPr>
        <p:txBody>
          <a:bodyPr wrap="square">
            <a:spAutoFit/>
          </a:bodyPr>
          <a:lstStyle/>
          <a:p>
            <a:pPr algn="ctr"/>
            <a:r>
              <a:rPr sz="1700" b="1" i="0">
                <a:solidFill>
                  <a:srgbClr val="FFFFFF"/>
                </a:solidFill>
              </a:rPr>
              <a:t>1</a:t>
            </a:r>
          </a:p>
        </p:txBody>
      </p:sp>
      <p:sp>
        <p:nvSpPr>
          <p:cNvPr id="60" name="TextBox 59"/>
          <p:cNvSpPr txBox="1"/>
          <p:nvPr/>
        </p:nvSpPr>
        <p:spPr>
          <a:xfrm>
            <a:off x="6656832" y="3127248"/>
            <a:ext cx="5120640" cy="274320"/>
          </a:xfrm>
          <a:prstGeom prst="rect">
            <a:avLst/>
          </a:prstGeom>
          <a:noFill/>
        </p:spPr>
        <p:txBody>
          <a:bodyPr wrap="square">
            <a:spAutoFit/>
          </a:bodyPr>
          <a:lstStyle/>
          <a:p>
            <a:pPr algn="l"/>
            <a:r>
              <a:rPr sz="1050" b="1" i="0">
                <a:solidFill>
                  <a:srgbClr val="1A376C"/>
                </a:solidFill>
              </a:rPr>
              <a:t>Baca Catatan Revisi</a:t>
            </a:r>
          </a:p>
        </p:txBody>
      </p:sp>
      <p:sp>
        <p:nvSpPr>
          <p:cNvPr id="61" name="TextBox 60"/>
          <p:cNvSpPr txBox="1"/>
          <p:nvPr/>
        </p:nvSpPr>
        <p:spPr>
          <a:xfrm>
            <a:off x="6656832" y="3410712"/>
            <a:ext cx="5120640" cy="310896"/>
          </a:xfrm>
          <a:prstGeom prst="rect">
            <a:avLst/>
          </a:prstGeom>
          <a:noFill/>
        </p:spPr>
        <p:txBody>
          <a:bodyPr wrap="square">
            <a:spAutoFit/>
          </a:bodyPr>
          <a:lstStyle/>
          <a:p>
            <a:pPr algn="l"/>
            <a:r>
              <a:rPr sz="950" b="0" i="0">
                <a:solidFill>
                  <a:srgbClr val="444444"/>
                </a:solidFill>
              </a:rPr>
              <a:t>Banner merah muncul di halaman Pengukuran. Baca rekomendasi Kabag.</a:t>
            </a:r>
          </a:p>
        </p:txBody>
      </p:sp>
      <p:sp>
        <p:nvSpPr>
          <p:cNvPr id="62" name="Rectangle 61"/>
          <p:cNvSpPr/>
          <p:nvPr/>
        </p:nvSpPr>
        <p:spPr>
          <a:xfrm>
            <a:off x="6126480" y="3840480"/>
            <a:ext cx="57150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26480" y="3840480"/>
            <a:ext cx="457200" cy="6949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26480" y="3986784"/>
            <a:ext cx="457200" cy="402336"/>
          </a:xfrm>
          <a:prstGeom prst="rect">
            <a:avLst/>
          </a:prstGeom>
          <a:noFill/>
        </p:spPr>
        <p:txBody>
          <a:bodyPr wrap="square">
            <a:spAutoFit/>
          </a:bodyPr>
          <a:lstStyle/>
          <a:p>
            <a:pPr algn="ctr"/>
            <a:r>
              <a:rPr sz="1700" b="1" i="0">
                <a:solidFill>
                  <a:srgbClr val="FFFFFF"/>
                </a:solidFill>
              </a:rPr>
              <a:t>2</a:t>
            </a:r>
          </a:p>
        </p:txBody>
      </p:sp>
      <p:sp>
        <p:nvSpPr>
          <p:cNvPr id="65" name="TextBox 64"/>
          <p:cNvSpPr txBox="1"/>
          <p:nvPr/>
        </p:nvSpPr>
        <p:spPr>
          <a:xfrm>
            <a:off x="6656832" y="3886200"/>
            <a:ext cx="5120640" cy="274320"/>
          </a:xfrm>
          <a:prstGeom prst="rect">
            <a:avLst/>
          </a:prstGeom>
          <a:noFill/>
        </p:spPr>
        <p:txBody>
          <a:bodyPr wrap="square">
            <a:spAutoFit/>
          </a:bodyPr>
          <a:lstStyle/>
          <a:p>
            <a:pPr algn="l"/>
            <a:r>
              <a:rPr sz="1050" b="1" i="0">
                <a:solidFill>
                  <a:srgbClr val="1A376C"/>
                </a:solidFill>
              </a:rPr>
              <a:t>Perbaiki Data</a:t>
            </a:r>
          </a:p>
        </p:txBody>
      </p:sp>
      <p:sp>
        <p:nvSpPr>
          <p:cNvPr id="66" name="TextBox 65"/>
          <p:cNvSpPr txBox="1"/>
          <p:nvPr/>
        </p:nvSpPr>
        <p:spPr>
          <a:xfrm>
            <a:off x="6656832" y="4169664"/>
            <a:ext cx="5120640" cy="310896"/>
          </a:xfrm>
          <a:prstGeom prst="rect">
            <a:avLst/>
          </a:prstGeom>
          <a:noFill/>
        </p:spPr>
        <p:txBody>
          <a:bodyPr wrap="square">
            <a:spAutoFit/>
          </a:bodyPr>
          <a:lstStyle/>
          <a:p>
            <a:pPr algn="l"/>
            <a:r>
              <a:rPr sz="950" b="0" i="0">
                <a:solidFill>
                  <a:srgbClr val="444444"/>
                </a:solidFill>
              </a:rPr>
              <a:t>Klik 'Edit' pada IKU yang perlu diperbaiki. Ubah nilai sesuai catatan.</a:t>
            </a:r>
          </a:p>
        </p:txBody>
      </p:sp>
      <p:sp>
        <p:nvSpPr>
          <p:cNvPr id="67" name="Rectangle 66"/>
          <p:cNvSpPr/>
          <p:nvPr/>
        </p:nvSpPr>
        <p:spPr>
          <a:xfrm>
            <a:off x="6126480" y="4599432"/>
            <a:ext cx="57150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126480" y="4599432"/>
            <a:ext cx="457200" cy="6949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126480" y="4745736"/>
            <a:ext cx="457200" cy="402336"/>
          </a:xfrm>
          <a:prstGeom prst="rect">
            <a:avLst/>
          </a:prstGeom>
          <a:noFill/>
        </p:spPr>
        <p:txBody>
          <a:bodyPr wrap="square">
            <a:spAutoFit/>
          </a:bodyPr>
          <a:lstStyle/>
          <a:p>
            <a:pPr algn="ctr"/>
            <a:r>
              <a:rPr sz="1700" b="1" i="0">
                <a:solidFill>
                  <a:srgbClr val="FFFFFF"/>
                </a:solidFill>
              </a:rPr>
              <a:t>3</a:t>
            </a:r>
          </a:p>
        </p:txBody>
      </p:sp>
      <p:sp>
        <p:nvSpPr>
          <p:cNvPr id="70" name="TextBox 69"/>
          <p:cNvSpPr txBox="1"/>
          <p:nvPr/>
        </p:nvSpPr>
        <p:spPr>
          <a:xfrm>
            <a:off x="6656832" y="4645152"/>
            <a:ext cx="5120640" cy="274320"/>
          </a:xfrm>
          <a:prstGeom prst="rect">
            <a:avLst/>
          </a:prstGeom>
          <a:noFill/>
        </p:spPr>
        <p:txBody>
          <a:bodyPr wrap="square">
            <a:spAutoFit/>
          </a:bodyPr>
          <a:lstStyle/>
          <a:p>
            <a:pPr algn="l"/>
            <a:r>
              <a:rPr sz="1050" b="1" i="0">
                <a:solidFill>
                  <a:srgbClr val="1A376C"/>
                </a:solidFill>
              </a:rPr>
              <a:t>Simpan</a:t>
            </a:r>
          </a:p>
        </p:txBody>
      </p:sp>
      <p:sp>
        <p:nvSpPr>
          <p:cNvPr id="71" name="TextBox 70"/>
          <p:cNvSpPr txBox="1"/>
          <p:nvPr/>
        </p:nvSpPr>
        <p:spPr>
          <a:xfrm>
            <a:off x="6656832" y="4928616"/>
            <a:ext cx="5120640" cy="310896"/>
          </a:xfrm>
          <a:prstGeom prst="rect">
            <a:avLst/>
          </a:prstGeom>
          <a:noFill/>
        </p:spPr>
        <p:txBody>
          <a:bodyPr wrap="square">
            <a:spAutoFit/>
          </a:bodyPr>
          <a:lstStyle/>
          <a:p>
            <a:pPr algn="l"/>
            <a:r>
              <a:rPr sz="950" b="0" i="0">
                <a:solidFill>
                  <a:srgbClr val="444444"/>
                </a:solidFill>
              </a:rPr>
              <a:t>Simpan perubahan pada setiap IKU yang diperbaiki.</a:t>
            </a:r>
          </a:p>
        </p:txBody>
      </p:sp>
      <p:sp>
        <p:nvSpPr>
          <p:cNvPr id="72" name="Rectangle 71"/>
          <p:cNvSpPr/>
          <p:nvPr/>
        </p:nvSpPr>
        <p:spPr>
          <a:xfrm>
            <a:off x="6126480" y="5358383"/>
            <a:ext cx="571500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126480" y="5358383"/>
            <a:ext cx="457200" cy="6949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26480" y="5504688"/>
            <a:ext cx="457200" cy="402336"/>
          </a:xfrm>
          <a:prstGeom prst="rect">
            <a:avLst/>
          </a:prstGeom>
          <a:noFill/>
        </p:spPr>
        <p:txBody>
          <a:bodyPr wrap="square">
            <a:spAutoFit/>
          </a:bodyPr>
          <a:lstStyle/>
          <a:p>
            <a:pPr algn="ctr"/>
            <a:r>
              <a:rPr sz="1700" b="1" i="0">
                <a:solidFill>
                  <a:srgbClr val="FFFFFF"/>
                </a:solidFill>
              </a:rPr>
              <a:t>4</a:t>
            </a:r>
          </a:p>
        </p:txBody>
      </p:sp>
      <p:sp>
        <p:nvSpPr>
          <p:cNvPr id="75" name="TextBox 74"/>
          <p:cNvSpPr txBox="1"/>
          <p:nvPr/>
        </p:nvSpPr>
        <p:spPr>
          <a:xfrm>
            <a:off x="6656832" y="5404103"/>
            <a:ext cx="5120640" cy="274320"/>
          </a:xfrm>
          <a:prstGeom prst="rect">
            <a:avLst/>
          </a:prstGeom>
          <a:noFill/>
        </p:spPr>
        <p:txBody>
          <a:bodyPr wrap="square">
            <a:spAutoFit/>
          </a:bodyPr>
          <a:lstStyle/>
          <a:p>
            <a:pPr algn="l"/>
            <a:r>
              <a:rPr sz="1050" b="1" i="0">
                <a:solidFill>
                  <a:srgbClr val="1A376C"/>
                </a:solidFill>
              </a:rPr>
              <a:t>Submit Ulang</a:t>
            </a:r>
          </a:p>
        </p:txBody>
      </p:sp>
      <p:sp>
        <p:nvSpPr>
          <p:cNvPr id="76" name="TextBox 75"/>
          <p:cNvSpPr txBox="1"/>
          <p:nvPr/>
        </p:nvSpPr>
        <p:spPr>
          <a:xfrm>
            <a:off x="6656832" y="5687568"/>
            <a:ext cx="5120640" cy="310896"/>
          </a:xfrm>
          <a:prstGeom prst="rect">
            <a:avLst/>
          </a:prstGeom>
          <a:noFill/>
        </p:spPr>
        <p:txBody>
          <a:bodyPr wrap="square">
            <a:spAutoFit/>
          </a:bodyPr>
          <a:lstStyle/>
          <a:p>
            <a:pPr algn="l"/>
            <a:r>
              <a:rPr sz="950" b="0" i="0">
                <a:solidFill>
                  <a:srgbClr val="444444"/>
                </a:solidFill>
              </a:rPr>
              <a:t>Klik kembali tombol Submit Laporan. Catatan revisi sebelumnya reset otomatis.</a:t>
            </a:r>
          </a:p>
        </p:txBody>
      </p:sp>
      <p:sp>
        <p:nvSpPr>
          <p:cNvPr id="77" name="Rectangle 76"/>
          <p:cNvSpPr/>
          <p:nvPr/>
        </p:nvSpPr>
        <p:spPr>
          <a:xfrm>
            <a:off x="6126480" y="6245352"/>
            <a:ext cx="5715000" cy="502920"/>
          </a:xfrm>
          <a:prstGeom prst="rect">
            <a:avLst/>
          </a:prstGeom>
          <a:solidFill>
            <a:srgbClr val="FFF3CD"/>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263640" y="6281928"/>
            <a:ext cx="5513832" cy="429768"/>
          </a:xfrm>
          <a:prstGeom prst="rect">
            <a:avLst/>
          </a:prstGeom>
          <a:noFill/>
        </p:spPr>
        <p:txBody>
          <a:bodyPr wrap="square">
            <a:spAutoFit/>
          </a:bodyPr>
          <a:lstStyle/>
          <a:p>
            <a:pPr algn="l"/>
            <a:r>
              <a:rPr sz="900" b="0" i="0">
                <a:solidFill>
                  <a:srgbClr val="7D6008"/>
                </a:solidFill>
              </a:rPr>
              <a:t>⚠  Status laporan: Belum Submit (kuning) → Menunggu Review (biru) → Disetujui (hijau) / Dikembalikan (merah).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II-05  |  FAQ — Pengukuran Kinerja</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Pertanyaan yang Sering Diajukan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II: Ketua Tim Kerja (Pengukuran)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18 / —</a:t>
            </a:r>
          </a:p>
        </p:txBody>
      </p:sp>
      <p:sp>
        <p:nvSpPr>
          <p:cNvPr id="10" name="Rectangle 9"/>
          <p:cNvSpPr/>
          <p:nvPr/>
        </p:nvSpPr>
        <p:spPr>
          <a:xfrm>
            <a:off x="365760" y="1261872"/>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61872"/>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335024"/>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65376"/>
            <a:ext cx="310896" cy="402336"/>
          </a:xfrm>
          <a:prstGeom prst="rect">
            <a:avLst/>
          </a:prstGeom>
          <a:noFill/>
        </p:spPr>
        <p:txBody>
          <a:bodyPr wrap="square">
            <a:spAutoFit/>
          </a:bodyPr>
          <a:lstStyle/>
          <a:p>
            <a:pPr algn="ctr"/>
            <a:r>
              <a:rPr sz="1800" b="1" i="0">
                <a:solidFill>
                  <a:srgbClr val="1B6B35"/>
                </a:solidFill>
              </a:rPr>
              <a:t>Q</a:t>
            </a:r>
          </a:p>
        </p:txBody>
      </p:sp>
      <p:sp>
        <p:nvSpPr>
          <p:cNvPr id="14" name="TextBox 13"/>
          <p:cNvSpPr txBox="1"/>
          <p:nvPr/>
        </p:nvSpPr>
        <p:spPr>
          <a:xfrm>
            <a:off x="932688" y="1353312"/>
            <a:ext cx="4892040" cy="438912"/>
          </a:xfrm>
          <a:prstGeom prst="rect">
            <a:avLst/>
          </a:prstGeom>
          <a:noFill/>
        </p:spPr>
        <p:txBody>
          <a:bodyPr wrap="square">
            <a:spAutoFit/>
          </a:bodyPr>
          <a:lstStyle/>
          <a:p>
            <a:pPr algn="l"/>
            <a:r>
              <a:rPr sz="1000" b="1" i="0">
                <a:solidFill>
                  <a:srgbClr val="1A376C"/>
                </a:solidFill>
              </a:rPr>
              <a:t>IKU saya tidak tampil di halaman Pengukuran.</a:t>
            </a:r>
          </a:p>
        </p:txBody>
      </p:sp>
      <p:sp>
        <p:nvSpPr>
          <p:cNvPr id="15" name="Rectangle 14"/>
          <p:cNvSpPr/>
          <p:nvPr/>
        </p:nvSpPr>
        <p:spPr>
          <a:xfrm>
            <a:off x="932688" y="181051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1883664"/>
            <a:ext cx="4892040" cy="1024128"/>
          </a:xfrm>
          <a:prstGeom prst="rect">
            <a:avLst/>
          </a:prstGeom>
          <a:noFill/>
        </p:spPr>
        <p:txBody>
          <a:bodyPr wrap="square">
            <a:spAutoFit/>
          </a:bodyPr>
          <a:lstStyle/>
          <a:p>
            <a:pPr algn="l"/>
            <a:r>
              <a:rPr sz="950" b="0" i="0">
                <a:solidFill>
                  <a:srgbClr val="444444"/>
                </a:solidFill>
              </a:rPr>
              <a:t>Kemungkinan: periode belum diaktifkan oleh Admin, atau tidak ada IKU yang di-assign ke Tim Anda. Hubungi Admin.</a:t>
            </a:r>
          </a:p>
        </p:txBody>
      </p:sp>
      <p:sp>
        <p:nvSpPr>
          <p:cNvPr id="17" name="Rectangle 16"/>
          <p:cNvSpPr/>
          <p:nvPr/>
        </p:nvSpPr>
        <p:spPr>
          <a:xfrm>
            <a:off x="6309360" y="1261872"/>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261872"/>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60" y="1335024"/>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865376"/>
            <a:ext cx="310896" cy="402336"/>
          </a:xfrm>
          <a:prstGeom prst="rect">
            <a:avLst/>
          </a:prstGeom>
          <a:noFill/>
        </p:spPr>
        <p:txBody>
          <a:bodyPr wrap="square">
            <a:spAutoFit/>
          </a:bodyPr>
          <a:lstStyle/>
          <a:p>
            <a:pPr algn="ctr"/>
            <a:r>
              <a:rPr sz="1800" b="1" i="0">
                <a:solidFill>
                  <a:srgbClr val="1B6B35"/>
                </a:solidFill>
              </a:rPr>
              <a:t>Q</a:t>
            </a:r>
          </a:p>
        </p:txBody>
      </p:sp>
      <p:sp>
        <p:nvSpPr>
          <p:cNvPr id="21" name="TextBox 20"/>
          <p:cNvSpPr txBox="1"/>
          <p:nvPr/>
        </p:nvSpPr>
        <p:spPr>
          <a:xfrm>
            <a:off x="6876288" y="1353312"/>
            <a:ext cx="4892040" cy="438912"/>
          </a:xfrm>
          <a:prstGeom prst="rect">
            <a:avLst/>
          </a:prstGeom>
          <a:noFill/>
        </p:spPr>
        <p:txBody>
          <a:bodyPr wrap="square">
            <a:spAutoFit/>
          </a:bodyPr>
          <a:lstStyle/>
          <a:p>
            <a:pPr algn="l"/>
            <a:r>
              <a:rPr sz="1000" b="1" i="0">
                <a:solidFill>
                  <a:srgbClr val="1A376C"/>
                </a:solidFill>
              </a:rPr>
              <a:t>Saya sudah mengisi tapi data hilang setelah refresh.</a:t>
            </a:r>
          </a:p>
        </p:txBody>
      </p:sp>
      <p:sp>
        <p:nvSpPr>
          <p:cNvPr id="22" name="Rectangle 21"/>
          <p:cNvSpPr/>
          <p:nvPr/>
        </p:nvSpPr>
        <p:spPr>
          <a:xfrm>
            <a:off x="6876288" y="1810512"/>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76288" y="1883664"/>
            <a:ext cx="4892040" cy="1024128"/>
          </a:xfrm>
          <a:prstGeom prst="rect">
            <a:avLst/>
          </a:prstGeom>
          <a:noFill/>
        </p:spPr>
        <p:txBody>
          <a:bodyPr wrap="square">
            <a:spAutoFit/>
          </a:bodyPr>
          <a:lstStyle/>
          <a:p>
            <a:pPr algn="l"/>
            <a:r>
              <a:rPr sz="950" b="0" i="0">
                <a:solidFill>
                  <a:srgbClr val="444444"/>
                </a:solidFill>
              </a:rPr>
              <a:t>Pastikan Anda sudah klik tombol 'Simpan'. Data tidak tersimpan otomatis.</a:t>
            </a:r>
          </a:p>
        </p:txBody>
      </p:sp>
      <p:sp>
        <p:nvSpPr>
          <p:cNvPr id="24" name="Rectangle 23"/>
          <p:cNvSpPr/>
          <p:nvPr/>
        </p:nvSpPr>
        <p:spPr>
          <a:xfrm>
            <a:off x="365760" y="3017520"/>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017520"/>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3090672"/>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621024"/>
            <a:ext cx="310896" cy="402336"/>
          </a:xfrm>
          <a:prstGeom prst="rect">
            <a:avLst/>
          </a:prstGeom>
          <a:noFill/>
        </p:spPr>
        <p:txBody>
          <a:bodyPr wrap="square">
            <a:spAutoFit/>
          </a:bodyPr>
          <a:lstStyle/>
          <a:p>
            <a:pPr algn="ctr"/>
            <a:r>
              <a:rPr sz="1800" b="1" i="0">
                <a:solidFill>
                  <a:srgbClr val="1B6B35"/>
                </a:solidFill>
              </a:rPr>
              <a:t>Q</a:t>
            </a:r>
          </a:p>
        </p:txBody>
      </p:sp>
      <p:sp>
        <p:nvSpPr>
          <p:cNvPr id="28" name="TextBox 27"/>
          <p:cNvSpPr txBox="1"/>
          <p:nvPr/>
        </p:nvSpPr>
        <p:spPr>
          <a:xfrm>
            <a:off x="932688" y="3108960"/>
            <a:ext cx="4892040" cy="438912"/>
          </a:xfrm>
          <a:prstGeom prst="rect">
            <a:avLst/>
          </a:prstGeom>
          <a:noFill/>
        </p:spPr>
        <p:txBody>
          <a:bodyPr wrap="square">
            <a:spAutoFit/>
          </a:bodyPr>
          <a:lstStyle/>
          <a:p>
            <a:pPr algn="l"/>
            <a:r>
              <a:rPr sz="1000" b="1" i="0">
                <a:solidFill>
                  <a:srgbClr val="1A376C"/>
                </a:solidFill>
              </a:rPr>
              <a:t>Tombol Submit Laporan tidak aktif.</a:t>
            </a:r>
          </a:p>
        </p:txBody>
      </p:sp>
      <p:sp>
        <p:nvSpPr>
          <p:cNvPr id="29" name="Rectangle 28"/>
          <p:cNvSpPr/>
          <p:nvPr/>
        </p:nvSpPr>
        <p:spPr>
          <a:xfrm>
            <a:off x="932688" y="3566160"/>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3639312"/>
            <a:ext cx="4892040" cy="1024128"/>
          </a:xfrm>
          <a:prstGeom prst="rect">
            <a:avLst/>
          </a:prstGeom>
          <a:noFill/>
        </p:spPr>
        <p:txBody>
          <a:bodyPr wrap="square">
            <a:spAutoFit/>
          </a:bodyPr>
          <a:lstStyle/>
          <a:p>
            <a:pPr algn="l"/>
            <a:r>
              <a:rPr sz="950" b="0" i="0">
                <a:solidFill>
                  <a:srgbClr val="444444"/>
                </a:solidFill>
              </a:rPr>
              <a:t>Pastikan semua IKU sudah terisi (status ✓). Cek progress bar apakah ada step yang belum terpenuhi.</a:t>
            </a:r>
          </a:p>
        </p:txBody>
      </p:sp>
      <p:sp>
        <p:nvSpPr>
          <p:cNvPr id="31" name="Rectangle 30"/>
          <p:cNvSpPr/>
          <p:nvPr/>
        </p:nvSpPr>
        <p:spPr>
          <a:xfrm>
            <a:off x="6309360" y="3017520"/>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0" y="3017520"/>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3090672"/>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3621024"/>
            <a:ext cx="310896" cy="402336"/>
          </a:xfrm>
          <a:prstGeom prst="rect">
            <a:avLst/>
          </a:prstGeom>
          <a:noFill/>
        </p:spPr>
        <p:txBody>
          <a:bodyPr wrap="square">
            <a:spAutoFit/>
          </a:bodyPr>
          <a:lstStyle/>
          <a:p>
            <a:pPr algn="ctr"/>
            <a:r>
              <a:rPr sz="1800" b="1" i="0">
                <a:solidFill>
                  <a:srgbClr val="1B6B35"/>
                </a:solidFill>
              </a:rPr>
              <a:t>Q</a:t>
            </a:r>
          </a:p>
        </p:txBody>
      </p:sp>
      <p:sp>
        <p:nvSpPr>
          <p:cNvPr id="35" name="TextBox 34"/>
          <p:cNvSpPr txBox="1"/>
          <p:nvPr/>
        </p:nvSpPr>
        <p:spPr>
          <a:xfrm>
            <a:off x="6876288" y="3108960"/>
            <a:ext cx="4892040" cy="438912"/>
          </a:xfrm>
          <a:prstGeom prst="rect">
            <a:avLst/>
          </a:prstGeom>
          <a:noFill/>
        </p:spPr>
        <p:txBody>
          <a:bodyPr wrap="square">
            <a:spAutoFit/>
          </a:bodyPr>
          <a:lstStyle/>
          <a:p>
            <a:pPr algn="l"/>
            <a:r>
              <a:rPr sz="1000" b="1" i="0">
                <a:solidFill>
                  <a:srgbClr val="1A376C"/>
                </a:solidFill>
              </a:rPr>
              <a:t>Tim co-PIC sudah submit lebih dulu. Apakah saya tetap harus submit?</a:t>
            </a:r>
          </a:p>
        </p:txBody>
      </p:sp>
      <p:sp>
        <p:nvSpPr>
          <p:cNvPr id="36" name="Rectangle 35"/>
          <p:cNvSpPr/>
          <p:nvPr/>
        </p:nvSpPr>
        <p:spPr>
          <a:xfrm>
            <a:off x="6876288" y="3566160"/>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76288" y="3639312"/>
            <a:ext cx="4892040" cy="1024128"/>
          </a:xfrm>
          <a:prstGeom prst="rect">
            <a:avLst/>
          </a:prstGeom>
          <a:noFill/>
        </p:spPr>
        <p:txBody>
          <a:bodyPr wrap="square">
            <a:spAutoFit/>
          </a:bodyPr>
          <a:lstStyle/>
          <a:p>
            <a:pPr algn="l"/>
            <a:r>
              <a:rPr sz="950" b="0" i="0">
                <a:solidFill>
                  <a:srgbClr val="444444"/>
                </a:solidFill>
              </a:rPr>
              <a:t>Tidak wajib. Namun Tim Anda tetap dapat submit secara mandiri jika diperlukan.</a:t>
            </a:r>
          </a:p>
        </p:txBody>
      </p:sp>
      <p:sp>
        <p:nvSpPr>
          <p:cNvPr id="38" name="Rectangle 37"/>
          <p:cNvSpPr/>
          <p:nvPr/>
        </p:nvSpPr>
        <p:spPr>
          <a:xfrm>
            <a:off x="365760" y="4773168"/>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4773168"/>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5760" y="4846320"/>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7200" y="5376672"/>
            <a:ext cx="310896" cy="402336"/>
          </a:xfrm>
          <a:prstGeom prst="rect">
            <a:avLst/>
          </a:prstGeom>
          <a:noFill/>
        </p:spPr>
        <p:txBody>
          <a:bodyPr wrap="square">
            <a:spAutoFit/>
          </a:bodyPr>
          <a:lstStyle/>
          <a:p>
            <a:pPr algn="ctr"/>
            <a:r>
              <a:rPr sz="1800" b="1" i="0">
                <a:solidFill>
                  <a:srgbClr val="1B6B35"/>
                </a:solidFill>
              </a:rPr>
              <a:t>Q</a:t>
            </a:r>
          </a:p>
        </p:txBody>
      </p:sp>
      <p:sp>
        <p:nvSpPr>
          <p:cNvPr id="42" name="TextBox 41"/>
          <p:cNvSpPr txBox="1"/>
          <p:nvPr/>
        </p:nvSpPr>
        <p:spPr>
          <a:xfrm>
            <a:off x="932688" y="4864607"/>
            <a:ext cx="4892040" cy="438912"/>
          </a:xfrm>
          <a:prstGeom prst="rect">
            <a:avLst/>
          </a:prstGeom>
          <a:noFill/>
        </p:spPr>
        <p:txBody>
          <a:bodyPr wrap="square">
            <a:spAutoFit/>
          </a:bodyPr>
          <a:lstStyle/>
          <a:p>
            <a:pPr algn="l"/>
            <a:r>
              <a:rPr sz="1000" b="1" i="0">
                <a:solidFill>
                  <a:srgbClr val="1A376C"/>
                </a:solidFill>
              </a:rPr>
              <a:t>Nilai realisasi saya berbeda dengan milik co-PIC.</a:t>
            </a:r>
          </a:p>
        </p:txBody>
      </p:sp>
      <p:sp>
        <p:nvSpPr>
          <p:cNvPr id="43" name="Rectangle 42"/>
          <p:cNvSpPr/>
          <p:nvPr/>
        </p:nvSpPr>
        <p:spPr>
          <a:xfrm>
            <a:off x="932688" y="5321807"/>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 y="5394959"/>
            <a:ext cx="4892040" cy="1024128"/>
          </a:xfrm>
          <a:prstGeom prst="rect">
            <a:avLst/>
          </a:prstGeom>
          <a:noFill/>
        </p:spPr>
        <p:txBody>
          <a:bodyPr wrap="square">
            <a:spAutoFit/>
          </a:bodyPr>
          <a:lstStyle/>
          <a:p>
            <a:pPr algn="l"/>
            <a:r>
              <a:rPr sz="950" b="0" i="0">
                <a:solidFill>
                  <a:srgbClr val="444444"/>
                </a:solidFill>
              </a:rPr>
              <a:t>Koordinasikan. Nilai terakhir yang disimpan menjadi nilai final (last-save-wins). Gunakan kolom Catatan.</a:t>
            </a:r>
          </a:p>
        </p:txBody>
      </p:sp>
      <p:sp>
        <p:nvSpPr>
          <p:cNvPr id="45" name="Rectangle 44"/>
          <p:cNvSpPr/>
          <p:nvPr/>
        </p:nvSpPr>
        <p:spPr>
          <a:xfrm>
            <a:off x="6309360" y="4773168"/>
            <a:ext cx="5577840" cy="169164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09360" y="4773168"/>
            <a:ext cx="5577840" cy="731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09360" y="4846320"/>
            <a:ext cx="475488" cy="1618488"/>
          </a:xfrm>
          <a:prstGeom prst="rect">
            <a:avLst/>
          </a:prstGeom>
          <a:solidFill>
            <a:srgbClr val="D5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5376672"/>
            <a:ext cx="310896" cy="402336"/>
          </a:xfrm>
          <a:prstGeom prst="rect">
            <a:avLst/>
          </a:prstGeom>
          <a:noFill/>
        </p:spPr>
        <p:txBody>
          <a:bodyPr wrap="square">
            <a:spAutoFit/>
          </a:bodyPr>
          <a:lstStyle/>
          <a:p>
            <a:pPr algn="ctr"/>
            <a:r>
              <a:rPr sz="1800" b="1" i="0">
                <a:solidFill>
                  <a:srgbClr val="1B6B35"/>
                </a:solidFill>
              </a:rPr>
              <a:t>Q</a:t>
            </a:r>
          </a:p>
        </p:txBody>
      </p:sp>
      <p:sp>
        <p:nvSpPr>
          <p:cNvPr id="49" name="TextBox 48"/>
          <p:cNvSpPr txBox="1"/>
          <p:nvPr/>
        </p:nvSpPr>
        <p:spPr>
          <a:xfrm>
            <a:off x="6876288" y="4864607"/>
            <a:ext cx="4892040" cy="438912"/>
          </a:xfrm>
          <a:prstGeom prst="rect">
            <a:avLst/>
          </a:prstGeom>
          <a:noFill/>
        </p:spPr>
        <p:txBody>
          <a:bodyPr wrap="square">
            <a:spAutoFit/>
          </a:bodyPr>
          <a:lstStyle/>
          <a:p>
            <a:pPr algn="l"/>
            <a:r>
              <a:rPr sz="1000" b="1" i="0">
                <a:solidFill>
                  <a:srgbClr val="1A376C"/>
                </a:solidFill>
              </a:rPr>
              <a:t>Kabag mengembalikan laporan. Apakah data realisasi terhapus?</a:t>
            </a:r>
          </a:p>
        </p:txBody>
      </p:sp>
      <p:sp>
        <p:nvSpPr>
          <p:cNvPr id="50" name="Rectangle 49"/>
          <p:cNvSpPr/>
          <p:nvPr/>
        </p:nvSpPr>
        <p:spPr>
          <a:xfrm>
            <a:off x="6876288" y="5321807"/>
            <a:ext cx="4892040" cy="18288"/>
          </a:xfrm>
          <a:prstGeom prst="rect">
            <a:avLst/>
          </a:prstGeom>
          <a:solidFill>
            <a:srgbClr val="CCD9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76288" y="5394959"/>
            <a:ext cx="4892040" cy="1024128"/>
          </a:xfrm>
          <a:prstGeom prst="rect">
            <a:avLst/>
          </a:prstGeom>
          <a:noFill/>
        </p:spPr>
        <p:txBody>
          <a:bodyPr wrap="square">
            <a:spAutoFit/>
          </a:bodyPr>
          <a:lstStyle/>
          <a:p>
            <a:pPr algn="l"/>
            <a:r>
              <a:rPr sz="950" b="0" i="0">
                <a:solidFill>
                  <a:srgbClr val="444444"/>
                </a:solidFill>
              </a:rPr>
              <a:t>Tidak. Data realisasi tetap tersimpan. Cukup perbaiki sesuai catatan dan submit ulang.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92608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972800" cy="594360"/>
          </a:xfrm>
          <a:prstGeom prst="rect">
            <a:avLst/>
          </a:prstGeom>
          <a:noFill/>
        </p:spPr>
        <p:txBody>
          <a:bodyPr wrap="square">
            <a:spAutoFit/>
          </a:bodyPr>
          <a:lstStyle/>
          <a:p>
            <a:pPr algn="l"/>
            <a:r>
              <a:rPr sz="1400" b="1" i="0">
                <a:solidFill>
                  <a:srgbClr val="F5A623"/>
                </a:solidFill>
              </a:rPr>
              <a:t>BAGIAN III</a:t>
            </a:r>
          </a:p>
        </p:txBody>
      </p:sp>
      <p:sp>
        <p:nvSpPr>
          <p:cNvPr id="6" name="TextBox 5"/>
          <p:cNvSpPr txBox="1"/>
          <p:nvPr/>
        </p:nvSpPr>
        <p:spPr>
          <a:xfrm>
            <a:off x="731520" y="1691640"/>
            <a:ext cx="10972800" cy="1097280"/>
          </a:xfrm>
          <a:prstGeom prst="rect">
            <a:avLst/>
          </a:prstGeom>
          <a:noFill/>
        </p:spPr>
        <p:txBody>
          <a:bodyPr wrap="square">
            <a:spAutoFit/>
          </a:bodyPr>
          <a:lstStyle/>
          <a:p>
            <a:pPr algn="l"/>
            <a:r>
              <a:rPr sz="3800" b="1" i="0">
                <a:solidFill>
                  <a:srgbClr val="FFFFFF"/>
                </a:solidFill>
              </a:rPr>
              <a:t>Kabag Umum</a:t>
            </a:r>
          </a:p>
        </p:txBody>
      </p:sp>
      <p:sp>
        <p:nvSpPr>
          <p:cNvPr id="7" name="TextBox 6"/>
          <p:cNvSpPr txBox="1"/>
          <p:nvPr/>
        </p:nvSpPr>
        <p:spPr>
          <a:xfrm>
            <a:off x="731520" y="2788920"/>
            <a:ext cx="10972800" cy="502920"/>
          </a:xfrm>
          <a:prstGeom prst="rect">
            <a:avLst/>
          </a:prstGeom>
          <a:noFill/>
        </p:spPr>
        <p:txBody>
          <a:bodyPr wrap="square">
            <a:spAutoFit/>
          </a:bodyPr>
          <a:lstStyle/>
          <a:p>
            <a:pPr algn="l"/>
            <a:r>
              <a:rPr sz="1500" b="0" i="0">
                <a:solidFill>
                  <a:srgbClr val="C8D8F0"/>
                </a:solidFill>
              </a:rPr>
              <a:t>Panduan Review, Persetujuan &amp; Export Laporan</a:t>
            </a:r>
          </a:p>
        </p:txBody>
      </p:sp>
      <p:sp>
        <p:nvSpPr>
          <p:cNvPr id="8" name="Rectangle 7"/>
          <p:cNvSpPr/>
          <p:nvPr/>
        </p:nvSpPr>
        <p:spPr>
          <a:xfrm>
            <a:off x="731520" y="3566160"/>
            <a:ext cx="3474720" cy="914400"/>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611880"/>
            <a:ext cx="3200400" cy="822960"/>
          </a:xfrm>
          <a:prstGeom prst="rect">
            <a:avLst/>
          </a:prstGeom>
          <a:noFill/>
        </p:spPr>
        <p:txBody>
          <a:bodyPr wrap="square">
            <a:spAutoFit/>
          </a:bodyPr>
          <a:lstStyle/>
          <a:p>
            <a:pPr algn="ctr"/>
            <a:r>
              <a:rPr sz="1100" b="0" i="0">
                <a:solidFill>
                  <a:srgbClr val="FFFFFF"/>
                </a:solidFill>
              </a:rPr>
              <a:t>Review Rencana Aksi</a:t>
            </a:r>
          </a:p>
        </p:txBody>
      </p:sp>
      <p:sp>
        <p:nvSpPr>
          <p:cNvPr id="10" name="Rectangle 9"/>
          <p:cNvSpPr/>
          <p:nvPr/>
        </p:nvSpPr>
        <p:spPr>
          <a:xfrm>
            <a:off x="4480559" y="3566160"/>
            <a:ext cx="3474720" cy="914400"/>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3611880"/>
            <a:ext cx="3200400" cy="822960"/>
          </a:xfrm>
          <a:prstGeom prst="rect">
            <a:avLst/>
          </a:prstGeom>
          <a:noFill/>
        </p:spPr>
        <p:txBody>
          <a:bodyPr wrap="square">
            <a:spAutoFit/>
          </a:bodyPr>
          <a:lstStyle/>
          <a:p>
            <a:pPr algn="ctr"/>
            <a:r>
              <a:rPr sz="1100" b="0" i="0">
                <a:solidFill>
                  <a:srgbClr val="FFFFFF"/>
                </a:solidFill>
              </a:rPr>
              <a:t>Setujui / Tolak RA</a:t>
            </a:r>
          </a:p>
        </p:txBody>
      </p:sp>
      <p:sp>
        <p:nvSpPr>
          <p:cNvPr id="12" name="Rectangle 11"/>
          <p:cNvSpPr/>
          <p:nvPr/>
        </p:nvSpPr>
        <p:spPr>
          <a:xfrm>
            <a:off x="8229600" y="3566160"/>
            <a:ext cx="3474720" cy="914400"/>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3611880"/>
            <a:ext cx="3200400" cy="822960"/>
          </a:xfrm>
          <a:prstGeom prst="rect">
            <a:avLst/>
          </a:prstGeom>
          <a:noFill/>
        </p:spPr>
        <p:txBody>
          <a:bodyPr wrap="square">
            <a:spAutoFit/>
          </a:bodyPr>
          <a:lstStyle/>
          <a:p>
            <a:pPr algn="ctr"/>
            <a:r>
              <a:rPr sz="1100" b="0" i="0">
                <a:solidFill>
                  <a:srgbClr val="FFFFFF"/>
                </a:solidFill>
              </a:rPr>
              <a:t>Review Laporan Pengukuran</a:t>
            </a:r>
          </a:p>
        </p:txBody>
      </p:sp>
      <p:sp>
        <p:nvSpPr>
          <p:cNvPr id="14" name="Rectangle 13"/>
          <p:cNvSpPr/>
          <p:nvPr/>
        </p:nvSpPr>
        <p:spPr>
          <a:xfrm>
            <a:off x="11978640" y="3566160"/>
            <a:ext cx="3474720" cy="914400"/>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115800" y="3611880"/>
            <a:ext cx="3200400" cy="822960"/>
          </a:xfrm>
          <a:prstGeom prst="rect">
            <a:avLst/>
          </a:prstGeom>
          <a:noFill/>
        </p:spPr>
        <p:txBody>
          <a:bodyPr wrap="square">
            <a:spAutoFit/>
          </a:bodyPr>
          <a:lstStyle/>
          <a:p>
            <a:pPr algn="ctr"/>
            <a:r>
              <a:rPr sz="1100" b="0" i="0">
                <a:solidFill>
                  <a:srgbClr val="FFFFFF"/>
                </a:solidFill>
              </a:rPr>
              <a:t>Export PDF per TW</a:t>
            </a:r>
          </a:p>
        </p:txBody>
      </p:sp>
      <p:sp>
        <p:nvSpPr>
          <p:cNvPr id="16" name="TextBox 15"/>
          <p:cNvSpPr txBox="1"/>
          <p:nvPr/>
        </p:nvSpPr>
        <p:spPr>
          <a:xfrm>
            <a:off x="731520" y="6309360"/>
            <a:ext cx="10972800" cy="411480"/>
          </a:xfrm>
          <a:prstGeom prst="rect">
            <a:avLst/>
          </a:prstGeom>
          <a:noFill/>
        </p:spPr>
        <p:txBody>
          <a:bodyPr wrap="square">
            <a:spAutoFit/>
          </a:bodyPr>
          <a:lstStyle/>
          <a:p>
            <a:pPr algn="l"/>
            <a:r>
              <a:rPr sz="900" b="0" i="0">
                <a:solidFill>
                  <a:srgbClr val="88A8D0"/>
                </a:solidFill>
              </a:rPr>
              <a:t>SIPITUNG — Petunjuk Teknis | LLDIKTI Wilayah III</a:t>
            </a:r>
          </a:p>
        </p:txBody>
      </p:sp>
      <p:sp>
        <p:nvSpPr>
          <p:cNvPr id="17" name="Rectangle 1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Petunjuk Teknis | LLDIKTI Wilayah III</a:t>
            </a:r>
          </a:p>
        </p:txBody>
      </p:sp>
      <p:sp>
        <p:nvSpPr>
          <p:cNvPr id="19" name="TextBox 1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19 /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0" cy="685800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0" y="0"/>
            <a:ext cx="73152" cy="68580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365760"/>
            <a:ext cx="3383280" cy="1463040"/>
          </a:xfrm>
          <a:prstGeom prst="rect">
            <a:avLst/>
          </a:prstGeom>
          <a:solidFill>
            <a:srgbClr val="1A376C"/>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365760"/>
            <a:ext cx="3383280" cy="1463040"/>
          </a:xfrm>
          <a:prstGeom prst="rect">
            <a:avLst/>
          </a:prstGeom>
          <a:noFill/>
        </p:spPr>
        <p:txBody>
          <a:bodyPr wrap="square">
            <a:spAutoFit/>
          </a:bodyPr>
          <a:lstStyle/>
          <a:p>
            <a:pPr algn="ctr"/>
            <a:r>
              <a:rPr sz="1100" b="0" i="0">
                <a:solidFill>
                  <a:srgbClr val="C8D8F0"/>
                </a:solidFill>
              </a:rPr>
              <a:t>[LOGO LLDIKTI
WILAYAH III]</a:t>
            </a:r>
          </a:p>
        </p:txBody>
      </p:sp>
      <p:sp>
        <p:nvSpPr>
          <p:cNvPr id="7" name="TextBox 6"/>
          <p:cNvSpPr txBox="1"/>
          <p:nvPr/>
        </p:nvSpPr>
        <p:spPr>
          <a:xfrm>
            <a:off x="274320" y="2103120"/>
            <a:ext cx="3566160" cy="502920"/>
          </a:xfrm>
          <a:prstGeom prst="rect">
            <a:avLst/>
          </a:prstGeom>
          <a:noFill/>
        </p:spPr>
        <p:txBody>
          <a:bodyPr wrap="square">
            <a:spAutoFit/>
          </a:bodyPr>
          <a:lstStyle/>
          <a:p>
            <a:pPr algn="l"/>
            <a:r>
              <a:rPr sz="1300" b="1" i="0">
                <a:solidFill>
                  <a:srgbClr val="F5A623"/>
                </a:solidFill>
              </a:rPr>
              <a:t>LLDIKTI WILAYAH III</a:t>
            </a:r>
          </a:p>
        </p:txBody>
      </p:sp>
      <p:sp>
        <p:nvSpPr>
          <p:cNvPr id="8" name="TextBox 7"/>
          <p:cNvSpPr txBox="1"/>
          <p:nvPr/>
        </p:nvSpPr>
        <p:spPr>
          <a:xfrm>
            <a:off x="274320" y="2560320"/>
            <a:ext cx="3566160" cy="640080"/>
          </a:xfrm>
          <a:prstGeom prst="rect">
            <a:avLst/>
          </a:prstGeom>
          <a:noFill/>
        </p:spPr>
        <p:txBody>
          <a:bodyPr wrap="square">
            <a:spAutoFit/>
          </a:bodyPr>
          <a:lstStyle/>
          <a:p>
            <a:pPr algn="l"/>
            <a:r>
              <a:rPr sz="1000" b="0" i="0">
                <a:solidFill>
                  <a:srgbClr val="C8D8F0"/>
                </a:solidFill>
              </a:rPr>
              <a:t>Kementerian Pendidikan Tinggi,
Sains dan Teknologi</a:t>
            </a:r>
          </a:p>
        </p:txBody>
      </p:sp>
      <p:sp>
        <p:nvSpPr>
          <p:cNvPr id="9" name="Rectangle 8"/>
          <p:cNvSpPr/>
          <p:nvPr/>
        </p:nvSpPr>
        <p:spPr>
          <a:xfrm>
            <a:off x="274320" y="3337560"/>
            <a:ext cx="356616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474720"/>
            <a:ext cx="3566160" cy="365760"/>
          </a:xfrm>
          <a:prstGeom prst="rect">
            <a:avLst/>
          </a:prstGeom>
          <a:noFill/>
        </p:spPr>
        <p:txBody>
          <a:bodyPr wrap="square">
            <a:spAutoFit/>
          </a:bodyPr>
          <a:lstStyle/>
          <a:p>
            <a:pPr algn="l"/>
            <a:r>
              <a:rPr sz="1100" b="1" i="0">
                <a:solidFill>
                  <a:srgbClr val="C8D8F0"/>
                </a:solidFill>
              </a:rPr>
              <a:t>PETUNJUK TEKNIS</a:t>
            </a:r>
          </a:p>
        </p:txBody>
      </p:sp>
      <p:sp>
        <p:nvSpPr>
          <p:cNvPr id="11" name="TextBox 10"/>
          <p:cNvSpPr txBox="1"/>
          <p:nvPr/>
        </p:nvSpPr>
        <p:spPr>
          <a:xfrm>
            <a:off x="274320" y="3840480"/>
            <a:ext cx="3566160" cy="822960"/>
          </a:xfrm>
          <a:prstGeom prst="rect">
            <a:avLst/>
          </a:prstGeom>
          <a:noFill/>
        </p:spPr>
        <p:txBody>
          <a:bodyPr wrap="square">
            <a:spAutoFit/>
          </a:bodyPr>
          <a:lstStyle/>
          <a:p>
            <a:pPr algn="l"/>
            <a:r>
              <a:rPr sz="1400" b="1" i="0">
                <a:solidFill>
                  <a:srgbClr val="FFFFFF"/>
                </a:solidFill>
              </a:rPr>
              <a:t>Penggunaan Aplikasi
SIPITUNG</a:t>
            </a:r>
          </a:p>
        </p:txBody>
      </p:sp>
      <p:sp>
        <p:nvSpPr>
          <p:cNvPr id="12" name="TextBox 11"/>
          <p:cNvSpPr txBox="1"/>
          <p:nvPr/>
        </p:nvSpPr>
        <p:spPr>
          <a:xfrm>
            <a:off x="274320" y="6309360"/>
            <a:ext cx="3566160" cy="365760"/>
          </a:xfrm>
          <a:prstGeom prst="rect">
            <a:avLst/>
          </a:prstGeom>
          <a:noFill/>
        </p:spPr>
        <p:txBody>
          <a:bodyPr wrap="square">
            <a:spAutoFit/>
          </a:bodyPr>
          <a:lstStyle/>
          <a:p>
            <a:pPr algn="l"/>
            <a:r>
              <a:rPr sz="900" b="0" i="0">
                <a:solidFill>
                  <a:srgbClr val="88A8D0"/>
                </a:solidFill>
              </a:rPr>
              <a:t>Versi 1.0  |  April 2026</a:t>
            </a:r>
          </a:p>
        </p:txBody>
      </p:sp>
      <p:sp>
        <p:nvSpPr>
          <p:cNvPr id="13" name="TextBox 12"/>
          <p:cNvSpPr txBox="1"/>
          <p:nvPr/>
        </p:nvSpPr>
        <p:spPr>
          <a:xfrm>
            <a:off x="4480560" y="1005840"/>
            <a:ext cx="7315200" cy="1280160"/>
          </a:xfrm>
          <a:prstGeom prst="rect">
            <a:avLst/>
          </a:prstGeom>
          <a:noFill/>
        </p:spPr>
        <p:txBody>
          <a:bodyPr wrap="square">
            <a:spAutoFit/>
          </a:bodyPr>
          <a:lstStyle/>
          <a:p>
            <a:pPr algn="l"/>
            <a:r>
              <a:rPr sz="5200" b="1" i="0">
                <a:solidFill>
                  <a:srgbClr val="FFFFFF"/>
                </a:solidFill>
              </a:rPr>
              <a:t>SIPITUNG</a:t>
            </a:r>
          </a:p>
        </p:txBody>
      </p:sp>
      <p:sp>
        <p:nvSpPr>
          <p:cNvPr id="14" name="TextBox 13"/>
          <p:cNvSpPr txBox="1"/>
          <p:nvPr/>
        </p:nvSpPr>
        <p:spPr>
          <a:xfrm>
            <a:off x="4480560" y="2240280"/>
            <a:ext cx="7315200" cy="457200"/>
          </a:xfrm>
          <a:prstGeom prst="rect">
            <a:avLst/>
          </a:prstGeom>
          <a:noFill/>
        </p:spPr>
        <p:txBody>
          <a:bodyPr wrap="square">
            <a:spAutoFit/>
          </a:bodyPr>
          <a:lstStyle/>
          <a:p>
            <a:pPr algn="l"/>
            <a:r>
              <a:rPr sz="1600" b="0" i="0">
                <a:solidFill>
                  <a:srgbClr val="F5A623"/>
                </a:solidFill>
              </a:rPr>
              <a:t>Sistem Informasi Perencanaan &amp; Kinerja</a:t>
            </a:r>
          </a:p>
        </p:txBody>
      </p:sp>
      <p:sp>
        <p:nvSpPr>
          <p:cNvPr id="15" name="Rectangle 14"/>
          <p:cNvSpPr/>
          <p:nvPr/>
        </p:nvSpPr>
        <p:spPr>
          <a:xfrm>
            <a:off x="4480560" y="2788920"/>
            <a:ext cx="7315200" cy="45720"/>
          </a:xfrm>
          <a:prstGeom prst="rect">
            <a:avLst/>
          </a:prstGeom>
          <a:solidFill>
            <a:srgbClr val="88A8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926080"/>
            <a:ext cx="7315200" cy="457200"/>
          </a:xfrm>
          <a:prstGeom prst="rect">
            <a:avLst/>
          </a:prstGeom>
          <a:noFill/>
        </p:spPr>
        <p:txBody>
          <a:bodyPr wrap="square">
            <a:spAutoFit/>
          </a:bodyPr>
          <a:lstStyle/>
          <a:p>
            <a:pPr algn="l"/>
            <a:r>
              <a:rPr sz="1500" b="1" i="0">
                <a:solidFill>
                  <a:srgbClr val="FFFFFF"/>
                </a:solidFill>
              </a:rPr>
              <a:t>Bagian III — Review &amp; Persetujuan</a:t>
            </a:r>
          </a:p>
        </p:txBody>
      </p:sp>
      <p:sp>
        <p:nvSpPr>
          <p:cNvPr id="17" name="TextBox 16"/>
          <p:cNvSpPr txBox="1"/>
          <p:nvPr/>
        </p:nvSpPr>
        <p:spPr>
          <a:xfrm>
            <a:off x="4480560" y="3429000"/>
            <a:ext cx="7315200" cy="731520"/>
          </a:xfrm>
          <a:prstGeom prst="rect">
            <a:avLst/>
          </a:prstGeom>
          <a:noFill/>
        </p:spPr>
        <p:txBody>
          <a:bodyPr wrap="square">
            <a:spAutoFit/>
          </a:bodyPr>
          <a:lstStyle/>
          <a:p>
            <a:pPr algn="l"/>
            <a:r>
              <a:rPr sz="1300" b="0" i="0">
                <a:solidFill>
                  <a:srgbClr val="C8D8F0"/>
                </a:solidFill>
              </a:rPr>
              <a:t>Rencana Aksi · Laporan Pengukuran · Export PDF</a:t>
            </a:r>
          </a:p>
        </p:txBody>
      </p:sp>
      <p:sp>
        <p:nvSpPr>
          <p:cNvPr id="18" name="Rectangle 17"/>
          <p:cNvSpPr/>
          <p:nvPr/>
        </p:nvSpPr>
        <p:spPr>
          <a:xfrm>
            <a:off x="4480560" y="4297680"/>
            <a:ext cx="2194560" cy="594360"/>
          </a:xfrm>
          <a:prstGeom prst="rect">
            <a:avLst/>
          </a:prstGeom>
          <a:solidFill>
            <a:srgbClr val="0D472E"/>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315968"/>
            <a:ext cx="2011680" cy="228600"/>
          </a:xfrm>
          <a:prstGeom prst="rect">
            <a:avLst/>
          </a:prstGeom>
          <a:noFill/>
        </p:spPr>
        <p:txBody>
          <a:bodyPr wrap="square">
            <a:spAutoFit/>
          </a:bodyPr>
          <a:lstStyle/>
          <a:p>
            <a:pPr algn="l"/>
            <a:r>
              <a:rPr sz="800" b="1" i="0">
                <a:solidFill>
                  <a:srgbClr val="F5A623"/>
                </a:solidFill>
              </a:rPr>
              <a:t>Pengguna</a:t>
            </a:r>
          </a:p>
        </p:txBody>
      </p:sp>
      <p:sp>
        <p:nvSpPr>
          <p:cNvPr id="20" name="TextBox 19"/>
          <p:cNvSpPr txBox="1"/>
          <p:nvPr/>
        </p:nvSpPr>
        <p:spPr>
          <a:xfrm>
            <a:off x="4572000" y="4544568"/>
            <a:ext cx="2011680" cy="274320"/>
          </a:xfrm>
          <a:prstGeom prst="rect">
            <a:avLst/>
          </a:prstGeom>
          <a:noFill/>
        </p:spPr>
        <p:txBody>
          <a:bodyPr wrap="square">
            <a:spAutoFit/>
          </a:bodyPr>
          <a:lstStyle/>
          <a:p>
            <a:pPr algn="l"/>
            <a:r>
              <a:rPr sz="1100" b="1" i="0">
                <a:solidFill>
                  <a:srgbClr val="FFFFFF"/>
                </a:solidFill>
              </a:rPr>
              <a:t>Kabag Umum (Pimpinan)</a:t>
            </a:r>
          </a:p>
        </p:txBody>
      </p:sp>
      <p:sp>
        <p:nvSpPr>
          <p:cNvPr id="21" name="Rectangle 20"/>
          <p:cNvSpPr/>
          <p:nvPr/>
        </p:nvSpPr>
        <p:spPr>
          <a:xfrm>
            <a:off x="6949440" y="4297680"/>
            <a:ext cx="2194560" cy="594360"/>
          </a:xfrm>
          <a:prstGeom prst="rect">
            <a:avLst/>
          </a:prstGeom>
          <a:solidFill>
            <a:srgbClr val="0D472E"/>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4315968"/>
            <a:ext cx="2011680" cy="228600"/>
          </a:xfrm>
          <a:prstGeom prst="rect">
            <a:avLst/>
          </a:prstGeom>
          <a:noFill/>
        </p:spPr>
        <p:txBody>
          <a:bodyPr wrap="square">
            <a:spAutoFit/>
          </a:bodyPr>
          <a:lstStyle/>
          <a:p>
            <a:pPr algn="l"/>
            <a:r>
              <a:rPr sz="800" b="1" i="0">
                <a:solidFill>
                  <a:srgbClr val="F5A623"/>
                </a:solidFill>
              </a:rPr>
              <a:t>Tahun</a:t>
            </a:r>
          </a:p>
        </p:txBody>
      </p:sp>
      <p:sp>
        <p:nvSpPr>
          <p:cNvPr id="23" name="TextBox 22"/>
          <p:cNvSpPr txBox="1"/>
          <p:nvPr/>
        </p:nvSpPr>
        <p:spPr>
          <a:xfrm>
            <a:off x="7040880" y="4544568"/>
            <a:ext cx="2011680" cy="274320"/>
          </a:xfrm>
          <a:prstGeom prst="rect">
            <a:avLst/>
          </a:prstGeom>
          <a:noFill/>
        </p:spPr>
        <p:txBody>
          <a:bodyPr wrap="square">
            <a:spAutoFit/>
          </a:bodyPr>
          <a:lstStyle/>
          <a:p>
            <a:pPr algn="l"/>
            <a:r>
              <a:rPr sz="1100" b="1" i="0">
                <a:solidFill>
                  <a:srgbClr val="FFFFFF"/>
                </a:solidFill>
              </a:rPr>
              <a:t>2026</a:t>
            </a:r>
          </a:p>
        </p:txBody>
      </p:sp>
      <p:sp>
        <p:nvSpPr>
          <p:cNvPr id="24" name="Rectangle 23"/>
          <p:cNvSpPr/>
          <p:nvPr/>
        </p:nvSpPr>
        <p:spPr>
          <a:xfrm>
            <a:off x="9418320" y="4297680"/>
            <a:ext cx="2194560" cy="594360"/>
          </a:xfrm>
          <a:prstGeom prst="rect">
            <a:avLst/>
          </a:prstGeom>
          <a:solidFill>
            <a:srgbClr val="0D472E"/>
          </a:solidFill>
          <a:ln w="9525">
            <a:solidFill>
              <a:srgbClr val="88A8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0" y="4315968"/>
            <a:ext cx="2011680" cy="228600"/>
          </a:xfrm>
          <a:prstGeom prst="rect">
            <a:avLst/>
          </a:prstGeom>
          <a:noFill/>
        </p:spPr>
        <p:txBody>
          <a:bodyPr wrap="square">
            <a:spAutoFit/>
          </a:bodyPr>
          <a:lstStyle/>
          <a:p>
            <a:pPr algn="l"/>
            <a:r>
              <a:rPr sz="800" b="1" i="0">
                <a:solidFill>
                  <a:srgbClr val="F5A623"/>
                </a:solidFill>
              </a:rPr>
              <a:t>Status</a:t>
            </a:r>
          </a:p>
        </p:txBody>
      </p:sp>
      <p:sp>
        <p:nvSpPr>
          <p:cNvPr id="26" name="TextBox 25"/>
          <p:cNvSpPr txBox="1"/>
          <p:nvPr/>
        </p:nvSpPr>
        <p:spPr>
          <a:xfrm>
            <a:off x="9509760" y="4544568"/>
            <a:ext cx="2011680" cy="274320"/>
          </a:xfrm>
          <a:prstGeom prst="rect">
            <a:avLst/>
          </a:prstGeom>
          <a:noFill/>
        </p:spPr>
        <p:txBody>
          <a:bodyPr wrap="square">
            <a:spAutoFit/>
          </a:bodyPr>
          <a:lstStyle/>
          <a:p>
            <a:pPr algn="l"/>
            <a:r>
              <a:rPr sz="1100" b="1" i="0">
                <a:solidFill>
                  <a:srgbClr val="FFFFFF"/>
                </a:solidFill>
              </a:rPr>
              <a:t>Aktif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III-01  |  Peran &amp; Ketentuan Kabag Umum</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Posisi dalam alur persetujuan dan aturan kewenangan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III: Kabag Umum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21 / —</a:t>
            </a:r>
          </a:p>
        </p:txBody>
      </p:sp>
      <p:sp>
        <p:nvSpPr>
          <p:cNvPr id="10" name="Rectangle 9"/>
          <p:cNvSpPr/>
          <p:nvPr/>
        </p:nvSpPr>
        <p:spPr>
          <a:xfrm>
            <a:off x="365760" y="1234440"/>
            <a:ext cx="11430000" cy="129844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298448"/>
            <a:ext cx="2468880" cy="117043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344168"/>
            <a:ext cx="2286000" cy="502920"/>
          </a:xfrm>
          <a:prstGeom prst="rect">
            <a:avLst/>
          </a:prstGeom>
          <a:noFill/>
        </p:spPr>
        <p:txBody>
          <a:bodyPr wrap="square">
            <a:spAutoFit/>
          </a:bodyPr>
          <a:lstStyle/>
          <a:p>
            <a:pPr algn="ctr"/>
            <a:r>
              <a:rPr sz="1100" b="1" i="0">
                <a:solidFill>
                  <a:srgbClr val="FFFFFF"/>
                </a:solidFill>
              </a:rPr>
              <a:t>Tim Kerja
(Ketua)</a:t>
            </a:r>
          </a:p>
        </p:txBody>
      </p:sp>
      <p:sp>
        <p:nvSpPr>
          <p:cNvPr id="13" name="TextBox 12"/>
          <p:cNvSpPr txBox="1"/>
          <p:nvPr/>
        </p:nvSpPr>
        <p:spPr>
          <a:xfrm>
            <a:off x="822960" y="1847088"/>
            <a:ext cx="2286000" cy="566928"/>
          </a:xfrm>
          <a:prstGeom prst="rect">
            <a:avLst/>
          </a:prstGeom>
          <a:noFill/>
        </p:spPr>
        <p:txBody>
          <a:bodyPr wrap="square">
            <a:spAutoFit/>
          </a:bodyPr>
          <a:lstStyle/>
          <a:p>
            <a:pPr algn="ctr"/>
            <a:r>
              <a:rPr sz="900" b="0" i="0">
                <a:solidFill>
                  <a:srgbClr val="CCDDFF"/>
                </a:solidFill>
              </a:rPr>
              <a:t>Menyusun RA &amp;
Mengisi Realisasi</a:t>
            </a:r>
          </a:p>
        </p:txBody>
      </p:sp>
      <p:sp>
        <p:nvSpPr>
          <p:cNvPr id="14" name="TextBox 13"/>
          <p:cNvSpPr txBox="1"/>
          <p:nvPr/>
        </p:nvSpPr>
        <p:spPr>
          <a:xfrm>
            <a:off x="3227832" y="1664208"/>
            <a:ext cx="320040" cy="457200"/>
          </a:xfrm>
          <a:prstGeom prst="rect">
            <a:avLst/>
          </a:prstGeom>
          <a:noFill/>
        </p:spPr>
        <p:txBody>
          <a:bodyPr wrap="square">
            <a:spAutoFit/>
          </a:bodyPr>
          <a:lstStyle/>
          <a:p>
            <a:pPr algn="ctr"/>
            <a:r>
              <a:rPr sz="1400" b="0" i="0">
                <a:solidFill>
                  <a:srgbClr val="2E75B6"/>
                </a:solidFill>
              </a:rPr>
              <a:t>▶</a:t>
            </a:r>
          </a:p>
        </p:txBody>
      </p:sp>
      <p:sp>
        <p:nvSpPr>
          <p:cNvPr id="15" name="Rectangle 14"/>
          <p:cNvSpPr/>
          <p:nvPr/>
        </p:nvSpPr>
        <p:spPr>
          <a:xfrm>
            <a:off x="3566160" y="1298448"/>
            <a:ext cx="2468880" cy="1170432"/>
          </a:xfrm>
          <a:prstGeom prst="rect">
            <a:avLst/>
          </a:prstGeom>
          <a:solidFill>
            <a:srgbClr val="0D4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1344168"/>
            <a:ext cx="2286000" cy="502920"/>
          </a:xfrm>
          <a:prstGeom prst="rect">
            <a:avLst/>
          </a:prstGeom>
          <a:noFill/>
        </p:spPr>
        <p:txBody>
          <a:bodyPr wrap="square">
            <a:spAutoFit/>
          </a:bodyPr>
          <a:lstStyle/>
          <a:p>
            <a:pPr algn="ctr"/>
            <a:r>
              <a:rPr sz="1100" b="1" i="0">
                <a:solidFill>
                  <a:srgbClr val="FFFFFF"/>
                </a:solidFill>
              </a:rPr>
              <a:t>Kabag Umum
★ ANDA</a:t>
            </a:r>
          </a:p>
        </p:txBody>
      </p:sp>
      <p:sp>
        <p:nvSpPr>
          <p:cNvPr id="17" name="TextBox 16"/>
          <p:cNvSpPr txBox="1"/>
          <p:nvPr/>
        </p:nvSpPr>
        <p:spPr>
          <a:xfrm>
            <a:off x="3657600" y="1847088"/>
            <a:ext cx="2286000" cy="566928"/>
          </a:xfrm>
          <a:prstGeom prst="rect">
            <a:avLst/>
          </a:prstGeom>
          <a:noFill/>
        </p:spPr>
        <p:txBody>
          <a:bodyPr wrap="square">
            <a:spAutoFit/>
          </a:bodyPr>
          <a:lstStyle/>
          <a:p>
            <a:pPr algn="ctr"/>
            <a:r>
              <a:rPr sz="900" b="0" i="0">
                <a:solidFill>
                  <a:srgbClr val="CCDDFF"/>
                </a:solidFill>
              </a:rPr>
              <a:t>Review, Setujui/
Tolak Dokumen</a:t>
            </a:r>
          </a:p>
        </p:txBody>
      </p:sp>
      <p:sp>
        <p:nvSpPr>
          <p:cNvPr id="18" name="TextBox 17"/>
          <p:cNvSpPr txBox="1"/>
          <p:nvPr/>
        </p:nvSpPr>
        <p:spPr>
          <a:xfrm>
            <a:off x="6062472" y="1664208"/>
            <a:ext cx="320040" cy="457200"/>
          </a:xfrm>
          <a:prstGeom prst="rect">
            <a:avLst/>
          </a:prstGeom>
          <a:noFill/>
        </p:spPr>
        <p:txBody>
          <a:bodyPr wrap="square">
            <a:spAutoFit/>
          </a:bodyPr>
          <a:lstStyle/>
          <a:p>
            <a:pPr algn="ctr"/>
            <a:r>
              <a:rPr sz="1400" b="0" i="0">
                <a:solidFill>
                  <a:srgbClr val="2E75B6"/>
                </a:solidFill>
              </a:rPr>
              <a:t>▶</a:t>
            </a:r>
          </a:p>
        </p:txBody>
      </p:sp>
      <p:sp>
        <p:nvSpPr>
          <p:cNvPr id="19" name="Rectangle 18"/>
          <p:cNvSpPr/>
          <p:nvPr/>
        </p:nvSpPr>
        <p:spPr>
          <a:xfrm>
            <a:off x="6400800" y="1298448"/>
            <a:ext cx="2468880" cy="1170432"/>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1344168"/>
            <a:ext cx="2286000" cy="502920"/>
          </a:xfrm>
          <a:prstGeom prst="rect">
            <a:avLst/>
          </a:prstGeom>
          <a:noFill/>
        </p:spPr>
        <p:txBody>
          <a:bodyPr wrap="square">
            <a:spAutoFit/>
          </a:bodyPr>
          <a:lstStyle/>
          <a:p>
            <a:pPr algn="ctr"/>
            <a:r>
              <a:rPr sz="1100" b="1" i="0">
                <a:solidFill>
                  <a:srgbClr val="FFFFFF"/>
                </a:solidFill>
              </a:rPr>
              <a:t>PPK</a:t>
            </a:r>
          </a:p>
        </p:txBody>
      </p:sp>
      <p:sp>
        <p:nvSpPr>
          <p:cNvPr id="21" name="TextBox 20"/>
          <p:cNvSpPr txBox="1"/>
          <p:nvPr/>
        </p:nvSpPr>
        <p:spPr>
          <a:xfrm>
            <a:off x="6492240" y="1847088"/>
            <a:ext cx="2286000" cy="566928"/>
          </a:xfrm>
          <a:prstGeom prst="rect">
            <a:avLst/>
          </a:prstGeom>
          <a:noFill/>
        </p:spPr>
        <p:txBody>
          <a:bodyPr wrap="square">
            <a:spAutoFit/>
          </a:bodyPr>
          <a:lstStyle/>
          <a:p>
            <a:pPr algn="ctr"/>
            <a:r>
              <a:rPr sz="900" b="0" i="0">
                <a:solidFill>
                  <a:srgbClr val="CCDDFF"/>
                </a:solidFill>
              </a:rPr>
              <a:t>Persetujuan Final</a:t>
            </a:r>
          </a:p>
        </p:txBody>
      </p:sp>
      <p:sp>
        <p:nvSpPr>
          <p:cNvPr id="22" name="TextBox 21"/>
          <p:cNvSpPr txBox="1"/>
          <p:nvPr/>
        </p:nvSpPr>
        <p:spPr>
          <a:xfrm>
            <a:off x="8897112" y="1664208"/>
            <a:ext cx="320040" cy="457200"/>
          </a:xfrm>
          <a:prstGeom prst="rect">
            <a:avLst/>
          </a:prstGeom>
          <a:noFill/>
        </p:spPr>
        <p:txBody>
          <a:bodyPr wrap="square">
            <a:spAutoFit/>
          </a:bodyPr>
          <a:lstStyle/>
          <a:p>
            <a:pPr algn="ctr"/>
            <a:r>
              <a:rPr sz="1400" b="0" i="0">
                <a:solidFill>
                  <a:srgbClr val="2E75B6"/>
                </a:solidFill>
              </a:rPr>
              <a:t>▶</a:t>
            </a:r>
          </a:p>
        </p:txBody>
      </p:sp>
      <p:sp>
        <p:nvSpPr>
          <p:cNvPr id="23" name="Rectangle 22"/>
          <p:cNvSpPr/>
          <p:nvPr/>
        </p:nvSpPr>
        <p:spPr>
          <a:xfrm>
            <a:off x="9235440" y="1298448"/>
            <a:ext cx="2468880" cy="117043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1344168"/>
            <a:ext cx="2286000" cy="502920"/>
          </a:xfrm>
          <a:prstGeom prst="rect">
            <a:avLst/>
          </a:prstGeom>
          <a:noFill/>
        </p:spPr>
        <p:txBody>
          <a:bodyPr wrap="square">
            <a:spAutoFit/>
          </a:bodyPr>
          <a:lstStyle/>
          <a:p>
            <a:pPr algn="ctr"/>
            <a:r>
              <a:rPr sz="1100" b="1" i="0">
                <a:solidFill>
                  <a:srgbClr val="FFFFFF"/>
                </a:solidFill>
              </a:rPr>
              <a:t>Terkunci</a:t>
            </a:r>
          </a:p>
        </p:txBody>
      </p:sp>
      <p:sp>
        <p:nvSpPr>
          <p:cNvPr id="25" name="TextBox 24"/>
          <p:cNvSpPr txBox="1"/>
          <p:nvPr/>
        </p:nvSpPr>
        <p:spPr>
          <a:xfrm>
            <a:off x="9326880" y="1847088"/>
            <a:ext cx="2286000" cy="566928"/>
          </a:xfrm>
          <a:prstGeom prst="rect">
            <a:avLst/>
          </a:prstGeom>
          <a:noFill/>
        </p:spPr>
        <p:txBody>
          <a:bodyPr wrap="square">
            <a:spAutoFit/>
          </a:bodyPr>
          <a:lstStyle/>
          <a:p>
            <a:pPr algn="ctr"/>
            <a:r>
              <a:rPr sz="900" b="0" i="0">
                <a:solidFill>
                  <a:srgbClr val="CCDDFF"/>
                </a:solidFill>
              </a:rPr>
              <a:t>Dokumen Arsip</a:t>
            </a:r>
          </a:p>
        </p:txBody>
      </p:sp>
      <p:sp>
        <p:nvSpPr>
          <p:cNvPr id="26" name="Rectangle 25"/>
          <p:cNvSpPr/>
          <p:nvPr/>
        </p:nvSpPr>
        <p:spPr>
          <a:xfrm>
            <a:off x="365760" y="2670048"/>
            <a:ext cx="5394960" cy="376732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2670048"/>
            <a:ext cx="5394960" cy="384048"/>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2688336"/>
            <a:ext cx="5166360" cy="347472"/>
          </a:xfrm>
          <a:prstGeom prst="rect">
            <a:avLst/>
          </a:prstGeom>
          <a:noFill/>
        </p:spPr>
        <p:txBody>
          <a:bodyPr wrap="square">
            <a:spAutoFit/>
          </a:bodyPr>
          <a:lstStyle/>
          <a:p>
            <a:pPr algn="l"/>
            <a:r>
              <a:rPr sz="1200" b="1" i="0">
                <a:solidFill>
                  <a:srgbClr val="FFFFFF"/>
                </a:solidFill>
              </a:rPr>
              <a:t>Kewenangan Kabag Umum</a:t>
            </a:r>
          </a:p>
        </p:txBody>
      </p:sp>
      <p:sp>
        <p:nvSpPr>
          <p:cNvPr id="29" name="Rectangle 28"/>
          <p:cNvSpPr/>
          <p:nvPr/>
        </p:nvSpPr>
        <p:spPr>
          <a:xfrm>
            <a:off x="365760" y="3145536"/>
            <a:ext cx="384048" cy="438912"/>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3191256"/>
            <a:ext cx="384048" cy="347472"/>
          </a:xfrm>
          <a:prstGeom prst="rect">
            <a:avLst/>
          </a:prstGeom>
          <a:noFill/>
        </p:spPr>
        <p:txBody>
          <a:bodyPr wrap="square">
            <a:spAutoFit/>
          </a:bodyPr>
          <a:lstStyle/>
          <a:p>
            <a:pPr algn="ctr"/>
            <a:r>
              <a:rPr sz="1300" b="1" i="0">
                <a:solidFill>
                  <a:srgbClr val="FFFFFF"/>
                </a:solidFill>
              </a:rPr>
              <a:t>✓</a:t>
            </a:r>
          </a:p>
        </p:txBody>
      </p:sp>
      <p:sp>
        <p:nvSpPr>
          <p:cNvPr id="31" name="TextBox 30"/>
          <p:cNvSpPr txBox="1"/>
          <p:nvPr/>
        </p:nvSpPr>
        <p:spPr>
          <a:xfrm>
            <a:off x="822960" y="3200400"/>
            <a:ext cx="4846320" cy="365760"/>
          </a:xfrm>
          <a:prstGeom prst="rect">
            <a:avLst/>
          </a:prstGeom>
          <a:noFill/>
        </p:spPr>
        <p:txBody>
          <a:bodyPr wrap="square">
            <a:spAutoFit/>
          </a:bodyPr>
          <a:lstStyle/>
          <a:p>
            <a:pPr algn="l"/>
            <a:r>
              <a:rPr sz="1000" b="0" i="0">
                <a:solidFill>
                  <a:srgbClr val="444444"/>
                </a:solidFill>
              </a:rPr>
              <a:t>Mereview dan menyetujui Rencana Aksi (RA) yang disubmit Tim Kerja</a:t>
            </a:r>
          </a:p>
        </p:txBody>
      </p:sp>
      <p:sp>
        <p:nvSpPr>
          <p:cNvPr id="32" name="Rectangle 31"/>
          <p:cNvSpPr/>
          <p:nvPr/>
        </p:nvSpPr>
        <p:spPr>
          <a:xfrm>
            <a:off x="365760" y="3602736"/>
            <a:ext cx="384048" cy="438912"/>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3648456"/>
            <a:ext cx="384048" cy="347472"/>
          </a:xfrm>
          <a:prstGeom prst="rect">
            <a:avLst/>
          </a:prstGeom>
          <a:noFill/>
        </p:spPr>
        <p:txBody>
          <a:bodyPr wrap="square">
            <a:spAutoFit/>
          </a:bodyPr>
          <a:lstStyle/>
          <a:p>
            <a:pPr algn="ctr"/>
            <a:r>
              <a:rPr sz="1300" b="1" i="0">
                <a:solidFill>
                  <a:srgbClr val="FFFFFF"/>
                </a:solidFill>
              </a:rPr>
              <a:t>✓</a:t>
            </a:r>
          </a:p>
        </p:txBody>
      </p:sp>
      <p:sp>
        <p:nvSpPr>
          <p:cNvPr id="34" name="TextBox 33"/>
          <p:cNvSpPr txBox="1"/>
          <p:nvPr/>
        </p:nvSpPr>
        <p:spPr>
          <a:xfrm>
            <a:off x="822960" y="3657600"/>
            <a:ext cx="4846320" cy="365760"/>
          </a:xfrm>
          <a:prstGeom prst="rect">
            <a:avLst/>
          </a:prstGeom>
          <a:noFill/>
        </p:spPr>
        <p:txBody>
          <a:bodyPr wrap="square">
            <a:spAutoFit/>
          </a:bodyPr>
          <a:lstStyle/>
          <a:p>
            <a:pPr algn="l"/>
            <a:r>
              <a:rPr sz="1000" b="0" i="0">
                <a:solidFill>
                  <a:srgbClr val="444444"/>
                </a:solidFill>
              </a:rPr>
              <a:t>Menolak RA disertai catatan revisi untuk diperbaiki Tim Kerja</a:t>
            </a:r>
          </a:p>
        </p:txBody>
      </p:sp>
      <p:sp>
        <p:nvSpPr>
          <p:cNvPr id="35" name="Rectangle 34"/>
          <p:cNvSpPr/>
          <p:nvPr/>
        </p:nvSpPr>
        <p:spPr>
          <a:xfrm>
            <a:off x="365760" y="4059935"/>
            <a:ext cx="384048" cy="438912"/>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4105655"/>
            <a:ext cx="384048" cy="347472"/>
          </a:xfrm>
          <a:prstGeom prst="rect">
            <a:avLst/>
          </a:prstGeom>
          <a:noFill/>
        </p:spPr>
        <p:txBody>
          <a:bodyPr wrap="square">
            <a:spAutoFit/>
          </a:bodyPr>
          <a:lstStyle/>
          <a:p>
            <a:pPr algn="ctr"/>
            <a:r>
              <a:rPr sz="1300" b="1" i="0">
                <a:solidFill>
                  <a:srgbClr val="FFFFFF"/>
                </a:solidFill>
              </a:rPr>
              <a:t>✓</a:t>
            </a:r>
          </a:p>
        </p:txBody>
      </p:sp>
      <p:sp>
        <p:nvSpPr>
          <p:cNvPr id="37" name="TextBox 36"/>
          <p:cNvSpPr txBox="1"/>
          <p:nvPr/>
        </p:nvSpPr>
        <p:spPr>
          <a:xfrm>
            <a:off x="822960" y="4114799"/>
            <a:ext cx="4846320" cy="365760"/>
          </a:xfrm>
          <a:prstGeom prst="rect">
            <a:avLst/>
          </a:prstGeom>
          <a:noFill/>
        </p:spPr>
        <p:txBody>
          <a:bodyPr wrap="square">
            <a:spAutoFit/>
          </a:bodyPr>
          <a:lstStyle/>
          <a:p>
            <a:pPr algn="l"/>
            <a:r>
              <a:rPr sz="1000" b="0" i="0">
                <a:solidFill>
                  <a:srgbClr val="444444"/>
                </a:solidFill>
              </a:rPr>
              <a:t>Mereview dan menyetujui Laporan Pengukuran Kinerja per triwulan</a:t>
            </a:r>
          </a:p>
        </p:txBody>
      </p:sp>
      <p:sp>
        <p:nvSpPr>
          <p:cNvPr id="38" name="Rectangle 37"/>
          <p:cNvSpPr/>
          <p:nvPr/>
        </p:nvSpPr>
        <p:spPr>
          <a:xfrm>
            <a:off x="365760" y="4517136"/>
            <a:ext cx="384048" cy="438912"/>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4562855"/>
            <a:ext cx="384048" cy="347472"/>
          </a:xfrm>
          <a:prstGeom prst="rect">
            <a:avLst/>
          </a:prstGeom>
          <a:noFill/>
        </p:spPr>
        <p:txBody>
          <a:bodyPr wrap="square">
            <a:spAutoFit/>
          </a:bodyPr>
          <a:lstStyle/>
          <a:p>
            <a:pPr algn="ctr"/>
            <a:r>
              <a:rPr sz="1300" b="1" i="0">
                <a:solidFill>
                  <a:srgbClr val="FFFFFF"/>
                </a:solidFill>
              </a:rPr>
              <a:t>✓</a:t>
            </a:r>
          </a:p>
        </p:txBody>
      </p:sp>
      <p:sp>
        <p:nvSpPr>
          <p:cNvPr id="40" name="TextBox 39"/>
          <p:cNvSpPr txBox="1"/>
          <p:nvPr/>
        </p:nvSpPr>
        <p:spPr>
          <a:xfrm>
            <a:off x="822960" y="4571999"/>
            <a:ext cx="4846320" cy="365760"/>
          </a:xfrm>
          <a:prstGeom prst="rect">
            <a:avLst/>
          </a:prstGeom>
          <a:noFill/>
        </p:spPr>
        <p:txBody>
          <a:bodyPr wrap="square">
            <a:spAutoFit/>
          </a:bodyPr>
          <a:lstStyle/>
          <a:p>
            <a:pPr algn="l"/>
            <a:r>
              <a:rPr sz="1000" b="0" i="0">
                <a:solidFill>
                  <a:srgbClr val="444444"/>
                </a:solidFill>
              </a:rPr>
              <a:t>Menolak Laporan disertai rekomendasi perbaikan</a:t>
            </a:r>
          </a:p>
        </p:txBody>
      </p:sp>
      <p:sp>
        <p:nvSpPr>
          <p:cNvPr id="41" name="Rectangle 40"/>
          <p:cNvSpPr/>
          <p:nvPr/>
        </p:nvSpPr>
        <p:spPr>
          <a:xfrm>
            <a:off x="365760" y="4974336"/>
            <a:ext cx="384048" cy="438912"/>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5020055"/>
            <a:ext cx="384048" cy="347472"/>
          </a:xfrm>
          <a:prstGeom prst="rect">
            <a:avLst/>
          </a:prstGeom>
          <a:noFill/>
        </p:spPr>
        <p:txBody>
          <a:bodyPr wrap="square">
            <a:spAutoFit/>
          </a:bodyPr>
          <a:lstStyle/>
          <a:p>
            <a:pPr algn="ctr"/>
            <a:r>
              <a:rPr sz="1300" b="1" i="0">
                <a:solidFill>
                  <a:srgbClr val="FFFFFF"/>
                </a:solidFill>
              </a:rPr>
              <a:t>✓</a:t>
            </a:r>
          </a:p>
        </p:txBody>
      </p:sp>
      <p:sp>
        <p:nvSpPr>
          <p:cNvPr id="43" name="TextBox 42"/>
          <p:cNvSpPr txBox="1"/>
          <p:nvPr/>
        </p:nvSpPr>
        <p:spPr>
          <a:xfrm>
            <a:off x="822960" y="5029199"/>
            <a:ext cx="4846320" cy="365760"/>
          </a:xfrm>
          <a:prstGeom prst="rect">
            <a:avLst/>
          </a:prstGeom>
          <a:noFill/>
        </p:spPr>
        <p:txBody>
          <a:bodyPr wrap="square">
            <a:spAutoFit/>
          </a:bodyPr>
          <a:lstStyle/>
          <a:p>
            <a:pPr algn="l"/>
            <a:r>
              <a:rPr sz="1000" b="0" i="0">
                <a:solidFill>
                  <a:srgbClr val="444444"/>
                </a:solidFill>
              </a:rPr>
              <a:t>Mengekspor laporan pengukuran dalam format PDF per triwulan</a:t>
            </a:r>
          </a:p>
        </p:txBody>
      </p:sp>
      <p:sp>
        <p:nvSpPr>
          <p:cNvPr id="44" name="Rectangle 43"/>
          <p:cNvSpPr/>
          <p:nvPr/>
        </p:nvSpPr>
        <p:spPr>
          <a:xfrm>
            <a:off x="6126480" y="2670048"/>
            <a:ext cx="5715000" cy="376732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26480" y="2670048"/>
            <a:ext cx="5715000" cy="384048"/>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63640" y="2688336"/>
            <a:ext cx="5486400" cy="347472"/>
          </a:xfrm>
          <a:prstGeom prst="rect">
            <a:avLst/>
          </a:prstGeom>
          <a:noFill/>
        </p:spPr>
        <p:txBody>
          <a:bodyPr wrap="square">
            <a:spAutoFit/>
          </a:bodyPr>
          <a:lstStyle/>
          <a:p>
            <a:pPr algn="l"/>
            <a:r>
              <a:rPr sz="1200" b="1" i="0">
                <a:solidFill>
                  <a:srgbClr val="FFFFFF"/>
                </a:solidFill>
              </a:rPr>
              <a:t>Ketentuan Umum Kabag Umum</a:t>
            </a:r>
          </a:p>
        </p:txBody>
      </p:sp>
      <p:sp>
        <p:nvSpPr>
          <p:cNvPr id="47" name="Rectangle 46"/>
          <p:cNvSpPr/>
          <p:nvPr/>
        </p:nvSpPr>
        <p:spPr>
          <a:xfrm>
            <a:off x="6126480" y="3145536"/>
            <a:ext cx="5715000" cy="6400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3209544"/>
            <a:ext cx="1645920" cy="274320"/>
          </a:xfrm>
          <a:prstGeom prst="rect">
            <a:avLst/>
          </a:prstGeom>
          <a:noFill/>
        </p:spPr>
        <p:txBody>
          <a:bodyPr wrap="square">
            <a:spAutoFit/>
          </a:bodyPr>
          <a:lstStyle/>
          <a:p>
            <a:pPr algn="l"/>
            <a:r>
              <a:rPr sz="1000" b="1" i="0">
                <a:solidFill>
                  <a:srgbClr val="1A376C"/>
                </a:solidFill>
              </a:rPr>
              <a:t>Status Dokumen</a:t>
            </a:r>
          </a:p>
        </p:txBody>
      </p:sp>
      <p:sp>
        <p:nvSpPr>
          <p:cNvPr id="49" name="TextBox 48"/>
          <p:cNvSpPr txBox="1"/>
          <p:nvPr/>
        </p:nvSpPr>
        <p:spPr>
          <a:xfrm>
            <a:off x="7909560" y="3209544"/>
            <a:ext cx="3840480" cy="530352"/>
          </a:xfrm>
          <a:prstGeom prst="rect">
            <a:avLst/>
          </a:prstGeom>
          <a:noFill/>
        </p:spPr>
        <p:txBody>
          <a:bodyPr wrap="square">
            <a:spAutoFit/>
          </a:bodyPr>
          <a:lstStyle/>
          <a:p>
            <a:pPr algn="l"/>
            <a:r>
              <a:rPr sz="950" b="0" i="0">
                <a:solidFill>
                  <a:srgbClr val="444444"/>
                </a:solidFill>
              </a:rPr>
              <a:t>Tombol Setujui/Tolak hanya aktif untuk dokumen berstatus 'submitted'.</a:t>
            </a:r>
          </a:p>
        </p:txBody>
      </p:sp>
      <p:sp>
        <p:nvSpPr>
          <p:cNvPr id="50" name="Rectangle 49"/>
          <p:cNvSpPr/>
          <p:nvPr/>
        </p:nvSpPr>
        <p:spPr>
          <a:xfrm>
            <a:off x="6126480" y="3803904"/>
            <a:ext cx="5715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63640" y="3867912"/>
            <a:ext cx="1645920" cy="274320"/>
          </a:xfrm>
          <a:prstGeom prst="rect">
            <a:avLst/>
          </a:prstGeom>
          <a:noFill/>
        </p:spPr>
        <p:txBody>
          <a:bodyPr wrap="square">
            <a:spAutoFit/>
          </a:bodyPr>
          <a:lstStyle/>
          <a:p>
            <a:pPr algn="l"/>
            <a:r>
              <a:rPr sz="1000" b="1" i="0">
                <a:solidFill>
                  <a:srgbClr val="1A376C"/>
                </a:solidFill>
              </a:rPr>
              <a:t>Catatan Wajib</a:t>
            </a:r>
          </a:p>
        </p:txBody>
      </p:sp>
      <p:sp>
        <p:nvSpPr>
          <p:cNvPr id="52" name="TextBox 51"/>
          <p:cNvSpPr txBox="1"/>
          <p:nvPr/>
        </p:nvSpPr>
        <p:spPr>
          <a:xfrm>
            <a:off x="7909560" y="3867912"/>
            <a:ext cx="3840480" cy="530352"/>
          </a:xfrm>
          <a:prstGeom prst="rect">
            <a:avLst/>
          </a:prstGeom>
          <a:noFill/>
        </p:spPr>
        <p:txBody>
          <a:bodyPr wrap="square">
            <a:spAutoFit/>
          </a:bodyPr>
          <a:lstStyle/>
          <a:p>
            <a:pPr algn="l"/>
            <a:r>
              <a:rPr sz="950" b="0" i="0">
                <a:solidFill>
                  <a:srgbClr val="444444"/>
                </a:solidFill>
              </a:rPr>
              <a:t>Setiap penolakan WAJIB disertai catatan/rekomendasi yang jelas.</a:t>
            </a:r>
          </a:p>
        </p:txBody>
      </p:sp>
      <p:sp>
        <p:nvSpPr>
          <p:cNvPr id="53" name="Rectangle 52"/>
          <p:cNvSpPr/>
          <p:nvPr/>
        </p:nvSpPr>
        <p:spPr>
          <a:xfrm>
            <a:off x="6126480" y="4462272"/>
            <a:ext cx="5715000" cy="6400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63640" y="4526280"/>
            <a:ext cx="1645920" cy="274320"/>
          </a:xfrm>
          <a:prstGeom prst="rect">
            <a:avLst/>
          </a:prstGeom>
          <a:noFill/>
        </p:spPr>
        <p:txBody>
          <a:bodyPr wrap="square">
            <a:spAutoFit/>
          </a:bodyPr>
          <a:lstStyle/>
          <a:p>
            <a:pPr algn="l"/>
            <a:r>
              <a:rPr sz="1000" b="1" i="0">
                <a:solidFill>
                  <a:srgbClr val="1A376C"/>
                </a:solidFill>
              </a:rPr>
              <a:t>View-Only</a:t>
            </a:r>
          </a:p>
        </p:txBody>
      </p:sp>
      <p:sp>
        <p:nvSpPr>
          <p:cNvPr id="55" name="TextBox 54"/>
          <p:cNvSpPr txBox="1"/>
          <p:nvPr/>
        </p:nvSpPr>
        <p:spPr>
          <a:xfrm>
            <a:off x="7909560" y="4526280"/>
            <a:ext cx="3840480" cy="530352"/>
          </a:xfrm>
          <a:prstGeom prst="rect">
            <a:avLst/>
          </a:prstGeom>
          <a:noFill/>
        </p:spPr>
        <p:txBody>
          <a:bodyPr wrap="square">
            <a:spAutoFit/>
          </a:bodyPr>
          <a:lstStyle/>
          <a:p>
            <a:pPr algn="l"/>
            <a:r>
              <a:rPr sz="950" b="0" i="0">
                <a:solidFill>
                  <a:srgbClr val="444444"/>
                </a:solidFill>
              </a:rPr>
              <a:t>Halaman menampilkan SEMUA dokumen semua status. Tombol hanya untuk 'submitted'.</a:t>
            </a:r>
          </a:p>
        </p:txBody>
      </p:sp>
      <p:sp>
        <p:nvSpPr>
          <p:cNvPr id="56" name="Rectangle 55"/>
          <p:cNvSpPr/>
          <p:nvPr/>
        </p:nvSpPr>
        <p:spPr>
          <a:xfrm>
            <a:off x="6126480" y="5120640"/>
            <a:ext cx="57150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63640" y="5184648"/>
            <a:ext cx="1645920" cy="274320"/>
          </a:xfrm>
          <a:prstGeom prst="rect">
            <a:avLst/>
          </a:prstGeom>
          <a:noFill/>
        </p:spPr>
        <p:txBody>
          <a:bodyPr wrap="square">
            <a:spAutoFit/>
          </a:bodyPr>
          <a:lstStyle/>
          <a:p>
            <a:pPr algn="l"/>
            <a:r>
              <a:rPr sz="1000" b="1" i="0">
                <a:solidFill>
                  <a:srgbClr val="1A376C"/>
                </a:solidFill>
              </a:rPr>
              <a:t>Persetujuan PPK</a:t>
            </a:r>
          </a:p>
        </p:txBody>
      </p:sp>
      <p:sp>
        <p:nvSpPr>
          <p:cNvPr id="58" name="TextBox 57"/>
          <p:cNvSpPr txBox="1"/>
          <p:nvPr/>
        </p:nvSpPr>
        <p:spPr>
          <a:xfrm>
            <a:off x="7909560" y="5184648"/>
            <a:ext cx="3840480" cy="530352"/>
          </a:xfrm>
          <a:prstGeom prst="rect">
            <a:avLst/>
          </a:prstGeom>
          <a:noFill/>
        </p:spPr>
        <p:txBody>
          <a:bodyPr wrap="square">
            <a:spAutoFit/>
          </a:bodyPr>
          <a:lstStyle/>
          <a:p>
            <a:pPr algn="l"/>
            <a:r>
              <a:rPr sz="950" b="0" i="0">
                <a:solidFill>
                  <a:srgbClr val="444444"/>
                </a:solidFill>
              </a:rPr>
              <a:t>Setelah Kabag menyetujui, dokumen diteruskan ke PPK. Tidak bisa dibatalkan.</a:t>
            </a:r>
          </a:p>
        </p:txBody>
      </p:sp>
      <p:sp>
        <p:nvSpPr>
          <p:cNvPr id="59" name="Rectangle 58"/>
          <p:cNvSpPr/>
          <p:nvPr/>
        </p:nvSpPr>
        <p:spPr>
          <a:xfrm>
            <a:off x="6126480" y="5779008"/>
            <a:ext cx="5715000" cy="64008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63640" y="5843016"/>
            <a:ext cx="1645920" cy="274320"/>
          </a:xfrm>
          <a:prstGeom prst="rect">
            <a:avLst/>
          </a:prstGeom>
          <a:noFill/>
        </p:spPr>
        <p:txBody>
          <a:bodyPr wrap="square">
            <a:spAutoFit/>
          </a:bodyPr>
          <a:lstStyle/>
          <a:p>
            <a:pPr algn="l"/>
            <a:r>
              <a:rPr sz="1000" b="1" i="0">
                <a:solidFill>
                  <a:srgbClr val="1A376C"/>
                </a:solidFill>
              </a:rPr>
              <a:t>Export</a:t>
            </a:r>
          </a:p>
        </p:txBody>
      </p:sp>
      <p:sp>
        <p:nvSpPr>
          <p:cNvPr id="61" name="TextBox 60"/>
          <p:cNvSpPr txBox="1"/>
          <p:nvPr/>
        </p:nvSpPr>
        <p:spPr>
          <a:xfrm>
            <a:off x="7909560" y="5843016"/>
            <a:ext cx="3840480" cy="530352"/>
          </a:xfrm>
          <a:prstGeom prst="rect">
            <a:avLst/>
          </a:prstGeom>
          <a:noFill/>
        </p:spPr>
        <p:txBody>
          <a:bodyPr wrap="square">
            <a:spAutoFit/>
          </a:bodyPr>
          <a:lstStyle/>
          <a:p>
            <a:pPr algn="l"/>
            <a:r>
              <a:rPr sz="950" b="0" i="0">
                <a:solidFill>
                  <a:srgbClr val="444444"/>
                </a:solidFill>
              </a:rPr>
              <a:t>Hanya Kabag Umum yang dapat mengekspor laporan ke PDF.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III-02  |  Login &amp; Review Rencana Aksi</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Cara masuk dan mereview RA dari seluruh Tim Kerja</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III: Kabag Umum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22 / —</a:t>
            </a:r>
          </a:p>
        </p:txBody>
      </p:sp>
      <p:sp>
        <p:nvSpPr>
          <p:cNvPr id="10" name="Rectangle 9"/>
          <p:cNvSpPr/>
          <p:nvPr/>
        </p:nvSpPr>
        <p:spPr>
          <a:xfrm>
            <a:off x="365760" y="1234440"/>
            <a:ext cx="438912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38912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206240" cy="320040"/>
          </a:xfrm>
          <a:prstGeom prst="rect">
            <a:avLst/>
          </a:prstGeom>
          <a:noFill/>
        </p:spPr>
        <p:txBody>
          <a:bodyPr wrap="square">
            <a:spAutoFit/>
          </a:bodyPr>
          <a:lstStyle/>
          <a:p>
            <a:pPr algn="l"/>
            <a:r>
              <a:rPr sz="1000" b="1" i="0">
                <a:solidFill>
                  <a:srgbClr val="FFFFFF"/>
                </a:solidFill>
              </a:rPr>
              <a:t>Tampilan Halaman Review RA</a:t>
            </a:r>
          </a:p>
        </p:txBody>
      </p:sp>
      <p:sp>
        <p:nvSpPr>
          <p:cNvPr id="13" name="TextBox 12"/>
          <p:cNvSpPr txBox="1"/>
          <p:nvPr/>
        </p:nvSpPr>
        <p:spPr>
          <a:xfrm>
            <a:off x="640080" y="1737360"/>
            <a:ext cx="3977639" cy="4617720"/>
          </a:xfrm>
          <a:prstGeom prst="rect">
            <a:avLst/>
          </a:prstGeom>
          <a:noFill/>
        </p:spPr>
        <p:txBody>
          <a:bodyPr wrap="square">
            <a:spAutoFit/>
          </a:bodyPr>
          <a:lstStyle/>
          <a:p>
            <a:pPr algn="ctr"/>
            <a:r>
              <a:rPr sz="1000" b="0" i="1">
                <a:solidFill>
                  <a:srgbClr val="2E75B6"/>
                </a:solidFill>
              </a:rPr>
              <a:t>[ SCREENSHOT HALAMAN REVIEW RA ]
Tambahkan screenshot di sini</a:t>
            </a:r>
          </a:p>
        </p:txBody>
      </p:sp>
      <p:sp>
        <p:nvSpPr>
          <p:cNvPr id="14" name="TextBox 13"/>
          <p:cNvSpPr txBox="1"/>
          <p:nvPr/>
        </p:nvSpPr>
        <p:spPr>
          <a:xfrm>
            <a:off x="5074920" y="1261872"/>
            <a:ext cx="6766560" cy="347472"/>
          </a:xfrm>
          <a:prstGeom prst="rect">
            <a:avLst/>
          </a:prstGeom>
          <a:noFill/>
        </p:spPr>
        <p:txBody>
          <a:bodyPr wrap="square">
            <a:spAutoFit/>
          </a:bodyPr>
          <a:lstStyle/>
          <a:p>
            <a:pPr algn="l"/>
            <a:r>
              <a:rPr sz="1300" b="1" i="0">
                <a:solidFill>
                  <a:srgbClr val="1A376C"/>
                </a:solidFill>
              </a:rPr>
              <a:t>Login &amp; Navigasi Review RA</a:t>
            </a:r>
          </a:p>
        </p:txBody>
      </p:sp>
      <p:sp>
        <p:nvSpPr>
          <p:cNvPr id="15" name="Rectangle 14"/>
          <p:cNvSpPr/>
          <p:nvPr/>
        </p:nvSpPr>
        <p:spPr>
          <a:xfrm>
            <a:off x="5074920" y="126187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74920" y="1737360"/>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74920" y="1737360"/>
            <a:ext cx="457200" cy="6949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1883663"/>
            <a:ext cx="457200" cy="402336"/>
          </a:xfrm>
          <a:prstGeom prst="rect">
            <a:avLst/>
          </a:prstGeom>
          <a:noFill/>
        </p:spPr>
        <p:txBody>
          <a:bodyPr wrap="square">
            <a:spAutoFit/>
          </a:bodyPr>
          <a:lstStyle/>
          <a:p>
            <a:pPr algn="ctr"/>
            <a:r>
              <a:rPr sz="1700" b="1" i="0">
                <a:solidFill>
                  <a:srgbClr val="FFFFFF"/>
                </a:solidFill>
              </a:rPr>
              <a:t>1</a:t>
            </a:r>
          </a:p>
        </p:txBody>
      </p:sp>
      <p:sp>
        <p:nvSpPr>
          <p:cNvPr id="19" name="TextBox 18"/>
          <p:cNvSpPr txBox="1"/>
          <p:nvPr/>
        </p:nvSpPr>
        <p:spPr>
          <a:xfrm>
            <a:off x="5605272" y="1783080"/>
            <a:ext cx="6172200" cy="274320"/>
          </a:xfrm>
          <a:prstGeom prst="rect">
            <a:avLst/>
          </a:prstGeom>
          <a:noFill/>
        </p:spPr>
        <p:txBody>
          <a:bodyPr wrap="square">
            <a:spAutoFit/>
          </a:bodyPr>
          <a:lstStyle/>
          <a:p>
            <a:pPr algn="l"/>
            <a:r>
              <a:rPr sz="1050" b="1" i="0">
                <a:solidFill>
                  <a:srgbClr val="1A376C"/>
                </a:solidFill>
              </a:rPr>
              <a:t>Login</a:t>
            </a:r>
          </a:p>
        </p:txBody>
      </p:sp>
      <p:sp>
        <p:nvSpPr>
          <p:cNvPr id="20" name="TextBox 19"/>
          <p:cNvSpPr txBox="1"/>
          <p:nvPr/>
        </p:nvSpPr>
        <p:spPr>
          <a:xfrm>
            <a:off x="5605272" y="2066543"/>
            <a:ext cx="6172200" cy="310896"/>
          </a:xfrm>
          <a:prstGeom prst="rect">
            <a:avLst/>
          </a:prstGeom>
          <a:noFill/>
        </p:spPr>
        <p:txBody>
          <a:bodyPr wrap="square">
            <a:spAutoFit/>
          </a:bodyPr>
          <a:lstStyle/>
          <a:p>
            <a:pPr algn="l"/>
            <a:r>
              <a:rPr sz="950" b="0" i="0">
                <a:solidFill>
                  <a:srgbClr val="444444"/>
                </a:solidFill>
              </a:rPr>
              <a:t>Masukkan username kabag.umum dan password, lalu klik Masuk.</a:t>
            </a:r>
          </a:p>
        </p:txBody>
      </p:sp>
      <p:sp>
        <p:nvSpPr>
          <p:cNvPr id="21" name="Rectangle 20"/>
          <p:cNvSpPr/>
          <p:nvPr/>
        </p:nvSpPr>
        <p:spPr>
          <a:xfrm>
            <a:off x="5074920" y="2496312"/>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74920" y="2496312"/>
            <a:ext cx="457200" cy="6949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2642615"/>
            <a:ext cx="457200" cy="402336"/>
          </a:xfrm>
          <a:prstGeom prst="rect">
            <a:avLst/>
          </a:prstGeom>
          <a:noFill/>
        </p:spPr>
        <p:txBody>
          <a:bodyPr wrap="square">
            <a:spAutoFit/>
          </a:bodyPr>
          <a:lstStyle/>
          <a:p>
            <a:pPr algn="ctr"/>
            <a:r>
              <a:rPr sz="1700" b="1" i="0">
                <a:solidFill>
                  <a:srgbClr val="FFFFFF"/>
                </a:solidFill>
              </a:rPr>
              <a:t>2</a:t>
            </a:r>
          </a:p>
        </p:txBody>
      </p:sp>
      <p:sp>
        <p:nvSpPr>
          <p:cNvPr id="24" name="TextBox 23"/>
          <p:cNvSpPr txBox="1"/>
          <p:nvPr/>
        </p:nvSpPr>
        <p:spPr>
          <a:xfrm>
            <a:off x="5605272" y="2542032"/>
            <a:ext cx="6172200" cy="274320"/>
          </a:xfrm>
          <a:prstGeom prst="rect">
            <a:avLst/>
          </a:prstGeom>
          <a:noFill/>
        </p:spPr>
        <p:txBody>
          <a:bodyPr wrap="square">
            <a:spAutoFit/>
          </a:bodyPr>
          <a:lstStyle/>
          <a:p>
            <a:pPr algn="l"/>
            <a:r>
              <a:rPr sz="1050" b="1" i="0">
                <a:solidFill>
                  <a:srgbClr val="1A376C"/>
                </a:solidFill>
              </a:rPr>
              <a:t>Buka Dashboard</a:t>
            </a:r>
          </a:p>
        </p:txBody>
      </p:sp>
      <p:sp>
        <p:nvSpPr>
          <p:cNvPr id="25" name="TextBox 24"/>
          <p:cNvSpPr txBox="1"/>
          <p:nvPr/>
        </p:nvSpPr>
        <p:spPr>
          <a:xfrm>
            <a:off x="5605272" y="2825496"/>
            <a:ext cx="6172200" cy="310896"/>
          </a:xfrm>
          <a:prstGeom prst="rect">
            <a:avLst/>
          </a:prstGeom>
          <a:noFill/>
        </p:spPr>
        <p:txBody>
          <a:bodyPr wrap="square">
            <a:spAutoFit/>
          </a:bodyPr>
          <a:lstStyle/>
          <a:p>
            <a:pPr algn="l"/>
            <a:r>
              <a:rPr sz="950" b="0" i="0">
                <a:solidFill>
                  <a:srgbClr val="444444"/>
                </a:solidFill>
              </a:rPr>
              <a:t>Dashboard menampilkan ringkasan: Menunggu Review / Disetujui / Ditolak.</a:t>
            </a:r>
          </a:p>
        </p:txBody>
      </p:sp>
      <p:sp>
        <p:nvSpPr>
          <p:cNvPr id="26" name="Rectangle 25"/>
          <p:cNvSpPr/>
          <p:nvPr/>
        </p:nvSpPr>
        <p:spPr>
          <a:xfrm>
            <a:off x="5074920" y="3255263"/>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74920" y="3255263"/>
            <a:ext cx="457200" cy="6949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401567"/>
            <a:ext cx="457200" cy="402336"/>
          </a:xfrm>
          <a:prstGeom prst="rect">
            <a:avLst/>
          </a:prstGeom>
          <a:noFill/>
        </p:spPr>
        <p:txBody>
          <a:bodyPr wrap="square">
            <a:spAutoFit/>
          </a:bodyPr>
          <a:lstStyle/>
          <a:p>
            <a:pPr algn="ctr"/>
            <a:r>
              <a:rPr sz="1700" b="1" i="0">
                <a:solidFill>
                  <a:srgbClr val="FFFFFF"/>
                </a:solidFill>
              </a:rPr>
              <a:t>3</a:t>
            </a:r>
          </a:p>
        </p:txBody>
      </p:sp>
      <p:sp>
        <p:nvSpPr>
          <p:cNvPr id="29" name="TextBox 28"/>
          <p:cNvSpPr txBox="1"/>
          <p:nvPr/>
        </p:nvSpPr>
        <p:spPr>
          <a:xfrm>
            <a:off x="5605272" y="3300983"/>
            <a:ext cx="6172200" cy="274320"/>
          </a:xfrm>
          <a:prstGeom prst="rect">
            <a:avLst/>
          </a:prstGeom>
          <a:noFill/>
        </p:spPr>
        <p:txBody>
          <a:bodyPr wrap="square">
            <a:spAutoFit/>
          </a:bodyPr>
          <a:lstStyle/>
          <a:p>
            <a:pPr algn="l"/>
            <a:r>
              <a:rPr sz="1050" b="1" i="0">
                <a:solidFill>
                  <a:srgbClr val="1A376C"/>
                </a:solidFill>
              </a:rPr>
              <a:t>Menu Perencanaan → RA</a:t>
            </a:r>
          </a:p>
        </p:txBody>
      </p:sp>
      <p:sp>
        <p:nvSpPr>
          <p:cNvPr id="30" name="TextBox 29"/>
          <p:cNvSpPr txBox="1"/>
          <p:nvPr/>
        </p:nvSpPr>
        <p:spPr>
          <a:xfrm>
            <a:off x="5605272" y="3584447"/>
            <a:ext cx="6172200" cy="310896"/>
          </a:xfrm>
          <a:prstGeom prst="rect">
            <a:avLst/>
          </a:prstGeom>
          <a:noFill/>
        </p:spPr>
        <p:txBody>
          <a:bodyPr wrap="square">
            <a:spAutoFit/>
          </a:bodyPr>
          <a:lstStyle/>
          <a:p>
            <a:pPr algn="l"/>
            <a:r>
              <a:rPr sz="950" b="0" i="0">
                <a:solidFill>
                  <a:srgbClr val="444444"/>
                </a:solidFill>
              </a:rPr>
              <a:t>Klik 'Perencanaan' di sidebar → 'Rencana Aksi'. Semua RA dari semua Tim Kerja tampil.</a:t>
            </a:r>
          </a:p>
        </p:txBody>
      </p:sp>
      <p:sp>
        <p:nvSpPr>
          <p:cNvPr id="31" name="Rectangle 30"/>
          <p:cNvSpPr/>
          <p:nvPr/>
        </p:nvSpPr>
        <p:spPr>
          <a:xfrm>
            <a:off x="5074920" y="4014215"/>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74920" y="4014215"/>
            <a:ext cx="457200" cy="6949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74920" y="4160520"/>
            <a:ext cx="457200" cy="402336"/>
          </a:xfrm>
          <a:prstGeom prst="rect">
            <a:avLst/>
          </a:prstGeom>
          <a:noFill/>
        </p:spPr>
        <p:txBody>
          <a:bodyPr wrap="square">
            <a:spAutoFit/>
          </a:bodyPr>
          <a:lstStyle/>
          <a:p>
            <a:pPr algn="ctr"/>
            <a:r>
              <a:rPr sz="1700" b="1" i="0">
                <a:solidFill>
                  <a:srgbClr val="FFFFFF"/>
                </a:solidFill>
              </a:rPr>
              <a:t>4</a:t>
            </a:r>
          </a:p>
        </p:txBody>
      </p:sp>
      <p:sp>
        <p:nvSpPr>
          <p:cNvPr id="34" name="TextBox 33"/>
          <p:cNvSpPr txBox="1"/>
          <p:nvPr/>
        </p:nvSpPr>
        <p:spPr>
          <a:xfrm>
            <a:off x="5605272" y="4059935"/>
            <a:ext cx="6172200" cy="274320"/>
          </a:xfrm>
          <a:prstGeom prst="rect">
            <a:avLst/>
          </a:prstGeom>
          <a:noFill/>
        </p:spPr>
        <p:txBody>
          <a:bodyPr wrap="square">
            <a:spAutoFit/>
          </a:bodyPr>
          <a:lstStyle/>
          <a:p>
            <a:pPr algn="l"/>
            <a:r>
              <a:rPr sz="1050" b="1" i="0">
                <a:solidFill>
                  <a:srgbClr val="1A376C"/>
                </a:solidFill>
              </a:rPr>
              <a:t>Identifikasi yang Perlu Direview</a:t>
            </a:r>
          </a:p>
        </p:txBody>
      </p:sp>
      <p:sp>
        <p:nvSpPr>
          <p:cNvPr id="35" name="TextBox 34"/>
          <p:cNvSpPr txBox="1"/>
          <p:nvPr/>
        </p:nvSpPr>
        <p:spPr>
          <a:xfrm>
            <a:off x="5605272" y="4343400"/>
            <a:ext cx="6172200" cy="310896"/>
          </a:xfrm>
          <a:prstGeom prst="rect">
            <a:avLst/>
          </a:prstGeom>
          <a:noFill/>
        </p:spPr>
        <p:txBody>
          <a:bodyPr wrap="square">
            <a:spAutoFit/>
          </a:bodyPr>
          <a:lstStyle/>
          <a:p>
            <a:pPr algn="l"/>
            <a:r>
              <a:rPr sz="950" b="0" i="0">
                <a:solidFill>
                  <a:srgbClr val="444444"/>
                </a:solidFill>
              </a:rPr>
              <a:t>Cari baris dengan badge biru 'Menunggu Review'. Ini yang perlu ditindaklanjuti.</a:t>
            </a:r>
          </a:p>
        </p:txBody>
      </p:sp>
      <p:sp>
        <p:nvSpPr>
          <p:cNvPr id="36" name="Rectangle 35"/>
          <p:cNvSpPr/>
          <p:nvPr/>
        </p:nvSpPr>
        <p:spPr>
          <a:xfrm>
            <a:off x="5074920" y="4773168"/>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74920" y="4773168"/>
            <a:ext cx="457200" cy="6949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4919472"/>
            <a:ext cx="457200" cy="402336"/>
          </a:xfrm>
          <a:prstGeom prst="rect">
            <a:avLst/>
          </a:prstGeom>
          <a:noFill/>
        </p:spPr>
        <p:txBody>
          <a:bodyPr wrap="square">
            <a:spAutoFit/>
          </a:bodyPr>
          <a:lstStyle/>
          <a:p>
            <a:pPr algn="ctr"/>
            <a:r>
              <a:rPr sz="1700" b="1" i="0">
                <a:solidFill>
                  <a:srgbClr val="FFFFFF"/>
                </a:solidFill>
              </a:rPr>
              <a:t>5</a:t>
            </a:r>
          </a:p>
        </p:txBody>
      </p:sp>
      <p:sp>
        <p:nvSpPr>
          <p:cNvPr id="39" name="TextBox 38"/>
          <p:cNvSpPr txBox="1"/>
          <p:nvPr/>
        </p:nvSpPr>
        <p:spPr>
          <a:xfrm>
            <a:off x="5605272" y="4818888"/>
            <a:ext cx="6172200" cy="274320"/>
          </a:xfrm>
          <a:prstGeom prst="rect">
            <a:avLst/>
          </a:prstGeom>
          <a:noFill/>
        </p:spPr>
        <p:txBody>
          <a:bodyPr wrap="square">
            <a:spAutoFit/>
          </a:bodyPr>
          <a:lstStyle/>
          <a:p>
            <a:pPr algn="l"/>
            <a:r>
              <a:rPr sz="1050" b="1" i="0">
                <a:solidFill>
                  <a:srgbClr val="1A376C"/>
                </a:solidFill>
              </a:rPr>
              <a:t>Review Kelengkapan</a:t>
            </a:r>
          </a:p>
        </p:txBody>
      </p:sp>
      <p:sp>
        <p:nvSpPr>
          <p:cNvPr id="40" name="TextBox 39"/>
          <p:cNvSpPr txBox="1"/>
          <p:nvPr/>
        </p:nvSpPr>
        <p:spPr>
          <a:xfrm>
            <a:off x="5605272" y="5102352"/>
            <a:ext cx="6172200" cy="310896"/>
          </a:xfrm>
          <a:prstGeom prst="rect">
            <a:avLst/>
          </a:prstGeom>
          <a:noFill/>
        </p:spPr>
        <p:txBody>
          <a:bodyPr wrap="square">
            <a:spAutoFit/>
          </a:bodyPr>
          <a:lstStyle/>
          <a:p>
            <a:pPr algn="l"/>
            <a:r>
              <a:rPr sz="950" b="0" i="0">
                <a:solidFill>
                  <a:srgbClr val="444444"/>
                </a:solidFill>
              </a:rPr>
              <a:t>Periksa: target TW I–IV tidak kosong, nilai wajar, IKU kolaborasi ter-assign benar.</a:t>
            </a:r>
          </a:p>
        </p:txBody>
      </p:sp>
      <p:sp>
        <p:nvSpPr>
          <p:cNvPr id="41" name="Rectangle 40"/>
          <p:cNvSpPr/>
          <p:nvPr/>
        </p:nvSpPr>
        <p:spPr>
          <a:xfrm>
            <a:off x="5074920" y="5532119"/>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74920" y="5532119"/>
            <a:ext cx="457200" cy="6949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74920" y="5678423"/>
            <a:ext cx="457200" cy="402336"/>
          </a:xfrm>
          <a:prstGeom prst="rect">
            <a:avLst/>
          </a:prstGeom>
          <a:noFill/>
        </p:spPr>
        <p:txBody>
          <a:bodyPr wrap="square">
            <a:spAutoFit/>
          </a:bodyPr>
          <a:lstStyle/>
          <a:p>
            <a:pPr algn="ctr"/>
            <a:r>
              <a:rPr sz="1700" b="1" i="0">
                <a:solidFill>
                  <a:srgbClr val="FFFFFF"/>
                </a:solidFill>
              </a:rPr>
              <a:t>6</a:t>
            </a:r>
          </a:p>
        </p:txBody>
      </p:sp>
      <p:sp>
        <p:nvSpPr>
          <p:cNvPr id="44" name="TextBox 43"/>
          <p:cNvSpPr txBox="1"/>
          <p:nvPr/>
        </p:nvSpPr>
        <p:spPr>
          <a:xfrm>
            <a:off x="5605272" y="5577839"/>
            <a:ext cx="6172200" cy="274320"/>
          </a:xfrm>
          <a:prstGeom prst="rect">
            <a:avLst/>
          </a:prstGeom>
          <a:noFill/>
        </p:spPr>
        <p:txBody>
          <a:bodyPr wrap="square">
            <a:spAutoFit/>
          </a:bodyPr>
          <a:lstStyle/>
          <a:p>
            <a:pPr algn="l"/>
            <a:r>
              <a:rPr sz="1050" b="1" i="0">
                <a:solidFill>
                  <a:srgbClr val="1A376C"/>
                </a:solidFill>
              </a:rPr>
              <a:t>Ambil Keputusan</a:t>
            </a:r>
          </a:p>
        </p:txBody>
      </p:sp>
      <p:sp>
        <p:nvSpPr>
          <p:cNvPr id="45" name="TextBox 44"/>
          <p:cNvSpPr txBox="1"/>
          <p:nvPr/>
        </p:nvSpPr>
        <p:spPr>
          <a:xfrm>
            <a:off x="5605272" y="5861303"/>
            <a:ext cx="6172200" cy="310896"/>
          </a:xfrm>
          <a:prstGeom prst="rect">
            <a:avLst/>
          </a:prstGeom>
          <a:noFill/>
        </p:spPr>
        <p:txBody>
          <a:bodyPr wrap="square">
            <a:spAutoFit/>
          </a:bodyPr>
          <a:lstStyle/>
          <a:p>
            <a:pPr algn="l"/>
            <a:r>
              <a:rPr sz="950" b="0" i="0">
                <a:solidFill>
                  <a:srgbClr val="444444"/>
                </a:solidFill>
              </a:rPr>
              <a:t>Jika data lengkap dan valid → Setujui. Jika perlu perbaikan → Tolak + catatan.</a:t>
            </a:r>
          </a:p>
        </p:txBody>
      </p:sp>
      <p:sp>
        <p:nvSpPr>
          <p:cNvPr id="46" name="Rectangle 45"/>
          <p:cNvSpPr/>
          <p:nvPr/>
        </p:nvSpPr>
        <p:spPr>
          <a:xfrm>
            <a:off x="5074920" y="6355080"/>
            <a:ext cx="6766560" cy="438912"/>
          </a:xfrm>
          <a:prstGeom prst="rect">
            <a:avLst/>
          </a:prstGeom>
          <a:solidFill>
            <a:srgbClr val="E3F2FD"/>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12080" y="6391656"/>
            <a:ext cx="6565392" cy="365759"/>
          </a:xfrm>
          <a:prstGeom prst="rect">
            <a:avLst/>
          </a:prstGeom>
          <a:noFill/>
        </p:spPr>
        <p:txBody>
          <a:bodyPr wrap="square">
            <a:spAutoFit/>
          </a:bodyPr>
          <a:lstStyle/>
          <a:p>
            <a:pPr algn="l"/>
            <a:r>
              <a:rPr sz="900" b="0" i="0">
                <a:solidFill>
                  <a:srgbClr val="1A376C"/>
                </a:solidFill>
              </a:rPr>
              <a:t>ℹ  Tabel menampilkan SEMUA Tim Kerja &amp; SEMUA status. Kolom Aksi (Setujui/Tolak) hanya aktif untuk status 'submitted'.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III-03  |  Setujui atau Tolak Rencana Aksi</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Langkah persetujuan dan prosedur penolakan RA</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III: Kabag Umum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23 / —</a:t>
            </a:r>
          </a:p>
        </p:txBody>
      </p:sp>
      <p:sp>
        <p:nvSpPr>
          <p:cNvPr id="10" name="Rectangle 9"/>
          <p:cNvSpPr/>
          <p:nvPr/>
        </p:nvSpPr>
        <p:spPr>
          <a:xfrm>
            <a:off x="365760" y="1234440"/>
            <a:ext cx="5394960" cy="52578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5394960" cy="411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5166360" cy="365760"/>
          </a:xfrm>
          <a:prstGeom prst="rect">
            <a:avLst/>
          </a:prstGeom>
          <a:noFill/>
        </p:spPr>
        <p:txBody>
          <a:bodyPr wrap="square">
            <a:spAutoFit/>
          </a:bodyPr>
          <a:lstStyle/>
          <a:p>
            <a:pPr algn="l"/>
            <a:r>
              <a:rPr sz="1200" b="1" i="0">
                <a:solidFill>
                  <a:srgbClr val="FFFFFF"/>
                </a:solidFill>
              </a:rPr>
              <a:t>Menyetujui Rencana Aksi</a:t>
            </a:r>
          </a:p>
        </p:txBody>
      </p:sp>
      <p:sp>
        <p:nvSpPr>
          <p:cNvPr id="13" name="Rectangle 12"/>
          <p:cNvSpPr/>
          <p:nvPr/>
        </p:nvSpPr>
        <p:spPr>
          <a:xfrm>
            <a:off x="365760" y="1737360"/>
            <a:ext cx="5394960" cy="83210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737360"/>
            <a:ext cx="457200" cy="83210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1952243"/>
            <a:ext cx="457200" cy="402336"/>
          </a:xfrm>
          <a:prstGeom prst="rect">
            <a:avLst/>
          </a:prstGeom>
          <a:noFill/>
        </p:spPr>
        <p:txBody>
          <a:bodyPr wrap="square">
            <a:spAutoFit/>
          </a:bodyPr>
          <a:lstStyle/>
          <a:p>
            <a:pPr algn="ctr"/>
            <a:r>
              <a:rPr sz="1700" b="1" i="0">
                <a:solidFill>
                  <a:srgbClr val="FFFFFF"/>
                </a:solidFill>
              </a:rPr>
              <a:t>1</a:t>
            </a:r>
          </a:p>
        </p:txBody>
      </p:sp>
      <p:sp>
        <p:nvSpPr>
          <p:cNvPr id="16" name="TextBox 15"/>
          <p:cNvSpPr txBox="1"/>
          <p:nvPr/>
        </p:nvSpPr>
        <p:spPr>
          <a:xfrm>
            <a:off x="896112" y="1783080"/>
            <a:ext cx="4800600" cy="274320"/>
          </a:xfrm>
          <a:prstGeom prst="rect">
            <a:avLst/>
          </a:prstGeom>
          <a:noFill/>
        </p:spPr>
        <p:txBody>
          <a:bodyPr wrap="square">
            <a:spAutoFit/>
          </a:bodyPr>
          <a:lstStyle/>
          <a:p>
            <a:pPr algn="l"/>
            <a:r>
              <a:rPr sz="1050" b="1" i="0">
                <a:solidFill>
                  <a:srgbClr val="1A376C"/>
                </a:solidFill>
              </a:rPr>
              <a:t>Temukan Tim yang Perlu Disetujui</a:t>
            </a:r>
          </a:p>
        </p:txBody>
      </p:sp>
      <p:sp>
        <p:nvSpPr>
          <p:cNvPr id="17" name="TextBox 16"/>
          <p:cNvSpPr txBox="1"/>
          <p:nvPr/>
        </p:nvSpPr>
        <p:spPr>
          <a:xfrm>
            <a:off x="896112" y="2066543"/>
            <a:ext cx="4800600" cy="448056"/>
          </a:xfrm>
          <a:prstGeom prst="rect">
            <a:avLst/>
          </a:prstGeom>
          <a:noFill/>
        </p:spPr>
        <p:txBody>
          <a:bodyPr wrap="square">
            <a:spAutoFit/>
          </a:bodyPr>
          <a:lstStyle/>
          <a:p>
            <a:pPr algn="l"/>
            <a:r>
              <a:rPr sz="950" b="0" i="0">
                <a:solidFill>
                  <a:srgbClr val="444444"/>
                </a:solidFill>
              </a:rPr>
              <a:t>Cari baris dengan badge biru 'Menunggu Review'. Tombol Setujui ada di kolom Aksi.</a:t>
            </a:r>
          </a:p>
        </p:txBody>
      </p:sp>
      <p:sp>
        <p:nvSpPr>
          <p:cNvPr id="18" name="Rectangle 17"/>
          <p:cNvSpPr/>
          <p:nvPr/>
        </p:nvSpPr>
        <p:spPr>
          <a:xfrm>
            <a:off x="365760" y="2633472"/>
            <a:ext cx="5394960" cy="83210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633472"/>
            <a:ext cx="457200" cy="83210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848356"/>
            <a:ext cx="457200" cy="402336"/>
          </a:xfrm>
          <a:prstGeom prst="rect">
            <a:avLst/>
          </a:prstGeom>
          <a:noFill/>
        </p:spPr>
        <p:txBody>
          <a:bodyPr wrap="square">
            <a:spAutoFit/>
          </a:bodyPr>
          <a:lstStyle/>
          <a:p>
            <a:pPr algn="ctr"/>
            <a:r>
              <a:rPr sz="1700" b="1" i="0">
                <a:solidFill>
                  <a:srgbClr val="FFFFFF"/>
                </a:solidFill>
              </a:rPr>
              <a:t>2</a:t>
            </a:r>
          </a:p>
        </p:txBody>
      </p:sp>
      <p:sp>
        <p:nvSpPr>
          <p:cNvPr id="21" name="TextBox 20"/>
          <p:cNvSpPr txBox="1"/>
          <p:nvPr/>
        </p:nvSpPr>
        <p:spPr>
          <a:xfrm>
            <a:off x="896112" y="2679191"/>
            <a:ext cx="4800600" cy="274320"/>
          </a:xfrm>
          <a:prstGeom prst="rect">
            <a:avLst/>
          </a:prstGeom>
          <a:noFill/>
        </p:spPr>
        <p:txBody>
          <a:bodyPr wrap="square">
            <a:spAutoFit/>
          </a:bodyPr>
          <a:lstStyle/>
          <a:p>
            <a:pPr algn="l"/>
            <a:r>
              <a:rPr sz="1050" b="1" i="0">
                <a:solidFill>
                  <a:srgbClr val="1A376C"/>
                </a:solidFill>
              </a:rPr>
              <a:t>Klik Tombol 'Setujui'</a:t>
            </a:r>
          </a:p>
        </p:txBody>
      </p:sp>
      <p:sp>
        <p:nvSpPr>
          <p:cNvPr id="22" name="TextBox 21"/>
          <p:cNvSpPr txBox="1"/>
          <p:nvPr/>
        </p:nvSpPr>
        <p:spPr>
          <a:xfrm>
            <a:off x="896112" y="2962656"/>
            <a:ext cx="4800600" cy="448056"/>
          </a:xfrm>
          <a:prstGeom prst="rect">
            <a:avLst/>
          </a:prstGeom>
          <a:noFill/>
        </p:spPr>
        <p:txBody>
          <a:bodyPr wrap="square">
            <a:spAutoFit/>
          </a:bodyPr>
          <a:lstStyle/>
          <a:p>
            <a:pPr algn="l"/>
            <a:r>
              <a:rPr sz="950" b="0" i="0">
                <a:solidFill>
                  <a:srgbClr val="444444"/>
                </a:solidFill>
              </a:rPr>
              <a:t>Klik tombol hijau 'Setujui'. Dialog konfirmasi akan muncul.</a:t>
            </a:r>
          </a:p>
        </p:txBody>
      </p:sp>
      <p:sp>
        <p:nvSpPr>
          <p:cNvPr id="23" name="Rectangle 22"/>
          <p:cNvSpPr/>
          <p:nvPr/>
        </p:nvSpPr>
        <p:spPr>
          <a:xfrm>
            <a:off x="365760" y="3529584"/>
            <a:ext cx="5394960" cy="83210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529584"/>
            <a:ext cx="457200" cy="83210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744468"/>
            <a:ext cx="457200" cy="402336"/>
          </a:xfrm>
          <a:prstGeom prst="rect">
            <a:avLst/>
          </a:prstGeom>
          <a:noFill/>
        </p:spPr>
        <p:txBody>
          <a:bodyPr wrap="square">
            <a:spAutoFit/>
          </a:bodyPr>
          <a:lstStyle/>
          <a:p>
            <a:pPr algn="ctr"/>
            <a:r>
              <a:rPr sz="1700" b="1" i="0">
                <a:solidFill>
                  <a:srgbClr val="FFFFFF"/>
                </a:solidFill>
              </a:rPr>
              <a:t>3</a:t>
            </a:r>
          </a:p>
        </p:txBody>
      </p:sp>
      <p:sp>
        <p:nvSpPr>
          <p:cNvPr id="26" name="TextBox 25"/>
          <p:cNvSpPr txBox="1"/>
          <p:nvPr/>
        </p:nvSpPr>
        <p:spPr>
          <a:xfrm>
            <a:off x="896112" y="3575303"/>
            <a:ext cx="4800600" cy="274320"/>
          </a:xfrm>
          <a:prstGeom prst="rect">
            <a:avLst/>
          </a:prstGeom>
          <a:noFill/>
        </p:spPr>
        <p:txBody>
          <a:bodyPr wrap="square">
            <a:spAutoFit/>
          </a:bodyPr>
          <a:lstStyle/>
          <a:p>
            <a:pPr algn="l"/>
            <a:r>
              <a:rPr sz="1050" b="1" i="0">
                <a:solidFill>
                  <a:srgbClr val="1A376C"/>
                </a:solidFill>
              </a:rPr>
              <a:t>Konfirmasi</a:t>
            </a:r>
          </a:p>
        </p:txBody>
      </p:sp>
      <p:sp>
        <p:nvSpPr>
          <p:cNvPr id="27" name="TextBox 26"/>
          <p:cNvSpPr txBox="1"/>
          <p:nvPr/>
        </p:nvSpPr>
        <p:spPr>
          <a:xfrm>
            <a:off x="896112" y="3858768"/>
            <a:ext cx="4800600" cy="448056"/>
          </a:xfrm>
          <a:prstGeom prst="rect">
            <a:avLst/>
          </a:prstGeom>
          <a:noFill/>
        </p:spPr>
        <p:txBody>
          <a:bodyPr wrap="square">
            <a:spAutoFit/>
          </a:bodyPr>
          <a:lstStyle/>
          <a:p>
            <a:pPr algn="l"/>
            <a:r>
              <a:rPr sz="950" b="0" i="0">
                <a:solidFill>
                  <a:srgbClr val="444444"/>
                </a:solidFill>
              </a:rPr>
              <a:t>Klik 'Konfirmasi'. Status berubah menjadi 'Menunggu PPK' (badge amber).</a:t>
            </a:r>
          </a:p>
        </p:txBody>
      </p:sp>
      <p:sp>
        <p:nvSpPr>
          <p:cNvPr id="28" name="Rectangle 27"/>
          <p:cNvSpPr/>
          <p:nvPr/>
        </p:nvSpPr>
        <p:spPr>
          <a:xfrm>
            <a:off x="365760" y="4425696"/>
            <a:ext cx="5394960" cy="83210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4425696"/>
            <a:ext cx="457200" cy="83210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4640580"/>
            <a:ext cx="457200" cy="402336"/>
          </a:xfrm>
          <a:prstGeom prst="rect">
            <a:avLst/>
          </a:prstGeom>
          <a:noFill/>
        </p:spPr>
        <p:txBody>
          <a:bodyPr wrap="square">
            <a:spAutoFit/>
          </a:bodyPr>
          <a:lstStyle/>
          <a:p>
            <a:pPr algn="ctr"/>
            <a:r>
              <a:rPr sz="1700" b="1" i="0">
                <a:solidFill>
                  <a:srgbClr val="FFFFFF"/>
                </a:solidFill>
              </a:rPr>
              <a:t>4</a:t>
            </a:r>
          </a:p>
        </p:txBody>
      </p:sp>
      <p:sp>
        <p:nvSpPr>
          <p:cNvPr id="31" name="TextBox 30"/>
          <p:cNvSpPr txBox="1"/>
          <p:nvPr/>
        </p:nvSpPr>
        <p:spPr>
          <a:xfrm>
            <a:off x="896112" y="4471416"/>
            <a:ext cx="4800600" cy="274320"/>
          </a:xfrm>
          <a:prstGeom prst="rect">
            <a:avLst/>
          </a:prstGeom>
          <a:noFill/>
        </p:spPr>
        <p:txBody>
          <a:bodyPr wrap="square">
            <a:spAutoFit/>
          </a:bodyPr>
          <a:lstStyle/>
          <a:p>
            <a:pPr algn="l"/>
            <a:r>
              <a:rPr sz="1050" b="1" i="0">
                <a:solidFill>
                  <a:srgbClr val="1A376C"/>
                </a:solidFill>
              </a:rPr>
              <a:t>Verifikasi</a:t>
            </a:r>
          </a:p>
        </p:txBody>
      </p:sp>
      <p:sp>
        <p:nvSpPr>
          <p:cNvPr id="32" name="TextBox 31"/>
          <p:cNvSpPr txBox="1"/>
          <p:nvPr/>
        </p:nvSpPr>
        <p:spPr>
          <a:xfrm>
            <a:off x="896112" y="4754880"/>
            <a:ext cx="4800600" cy="448056"/>
          </a:xfrm>
          <a:prstGeom prst="rect">
            <a:avLst/>
          </a:prstGeom>
          <a:noFill/>
        </p:spPr>
        <p:txBody>
          <a:bodyPr wrap="square">
            <a:spAutoFit/>
          </a:bodyPr>
          <a:lstStyle/>
          <a:p>
            <a:pPr algn="l"/>
            <a:r>
              <a:rPr sz="950" b="0" i="0">
                <a:solidFill>
                  <a:srgbClr val="444444"/>
                </a:solidFill>
              </a:rPr>
              <a:t>Refresh halaman. Status Tim Kerja tersebut sudah berubah.</a:t>
            </a:r>
          </a:p>
        </p:txBody>
      </p:sp>
      <p:sp>
        <p:nvSpPr>
          <p:cNvPr id="33" name="Rectangle 32"/>
          <p:cNvSpPr/>
          <p:nvPr/>
        </p:nvSpPr>
        <p:spPr>
          <a:xfrm>
            <a:off x="365760" y="5321808"/>
            <a:ext cx="5394960" cy="83210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5760" y="5321808"/>
            <a:ext cx="457200" cy="83210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5536692"/>
            <a:ext cx="457200" cy="402336"/>
          </a:xfrm>
          <a:prstGeom prst="rect">
            <a:avLst/>
          </a:prstGeom>
          <a:noFill/>
        </p:spPr>
        <p:txBody>
          <a:bodyPr wrap="square">
            <a:spAutoFit/>
          </a:bodyPr>
          <a:lstStyle/>
          <a:p>
            <a:pPr algn="ctr"/>
            <a:r>
              <a:rPr sz="1700" b="1" i="0">
                <a:solidFill>
                  <a:srgbClr val="FFFFFF"/>
                </a:solidFill>
              </a:rPr>
              <a:t>5</a:t>
            </a:r>
          </a:p>
        </p:txBody>
      </p:sp>
      <p:sp>
        <p:nvSpPr>
          <p:cNvPr id="36" name="TextBox 35"/>
          <p:cNvSpPr txBox="1"/>
          <p:nvPr/>
        </p:nvSpPr>
        <p:spPr>
          <a:xfrm>
            <a:off x="896112" y="5367528"/>
            <a:ext cx="4800600" cy="274320"/>
          </a:xfrm>
          <a:prstGeom prst="rect">
            <a:avLst/>
          </a:prstGeom>
          <a:noFill/>
        </p:spPr>
        <p:txBody>
          <a:bodyPr wrap="square">
            <a:spAutoFit/>
          </a:bodyPr>
          <a:lstStyle/>
          <a:p>
            <a:pPr algn="l"/>
            <a:r>
              <a:rPr sz="1050" b="1" i="0">
                <a:solidFill>
                  <a:srgbClr val="1A376C"/>
                </a:solidFill>
              </a:rPr>
              <a:t>Ulangi untuk Tim Lain</a:t>
            </a:r>
          </a:p>
        </p:txBody>
      </p:sp>
      <p:sp>
        <p:nvSpPr>
          <p:cNvPr id="37" name="TextBox 36"/>
          <p:cNvSpPr txBox="1"/>
          <p:nvPr/>
        </p:nvSpPr>
        <p:spPr>
          <a:xfrm>
            <a:off x="896112" y="5650992"/>
            <a:ext cx="4800600" cy="448056"/>
          </a:xfrm>
          <a:prstGeom prst="rect">
            <a:avLst/>
          </a:prstGeom>
          <a:noFill/>
        </p:spPr>
        <p:txBody>
          <a:bodyPr wrap="square">
            <a:spAutoFit/>
          </a:bodyPr>
          <a:lstStyle/>
          <a:p>
            <a:pPr algn="l"/>
            <a:r>
              <a:rPr sz="950" b="0" i="0">
                <a:solidFill>
                  <a:srgbClr val="444444"/>
                </a:solidFill>
              </a:rPr>
              <a:t>Lakukan hal yang sama untuk setiap RA yang berstatus 'Menunggu Review'.</a:t>
            </a:r>
          </a:p>
        </p:txBody>
      </p:sp>
      <p:sp>
        <p:nvSpPr>
          <p:cNvPr id="38" name="Rectangle 37"/>
          <p:cNvSpPr/>
          <p:nvPr/>
        </p:nvSpPr>
        <p:spPr>
          <a:xfrm>
            <a:off x="365760" y="6263640"/>
            <a:ext cx="5394960" cy="411480"/>
          </a:xfrm>
          <a:prstGeom prst="rect">
            <a:avLst/>
          </a:prstGeom>
          <a:solidFill>
            <a:srgbClr val="E3F2FD"/>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6300216"/>
            <a:ext cx="5193792" cy="338328"/>
          </a:xfrm>
          <a:prstGeom prst="rect">
            <a:avLst/>
          </a:prstGeom>
          <a:noFill/>
        </p:spPr>
        <p:txBody>
          <a:bodyPr wrap="square">
            <a:spAutoFit/>
          </a:bodyPr>
          <a:lstStyle/>
          <a:p>
            <a:pPr algn="l"/>
            <a:r>
              <a:rPr sz="900" b="0" i="0">
                <a:solidFill>
                  <a:srgbClr val="1A376C"/>
                </a:solidFill>
              </a:rPr>
              <a:t>ℹ  Setelah disetujui, dokumen diteruskan ke PPK. Kabag tidak perlu tindakan lanjutan.</a:t>
            </a:r>
          </a:p>
        </p:txBody>
      </p:sp>
      <p:sp>
        <p:nvSpPr>
          <p:cNvPr id="40" name="Rectangle 39"/>
          <p:cNvSpPr/>
          <p:nvPr/>
        </p:nvSpPr>
        <p:spPr>
          <a:xfrm>
            <a:off x="6126480" y="1234440"/>
            <a:ext cx="5715000" cy="525780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80" y="1234440"/>
            <a:ext cx="571500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63640" y="1252728"/>
            <a:ext cx="5486400" cy="365760"/>
          </a:xfrm>
          <a:prstGeom prst="rect">
            <a:avLst/>
          </a:prstGeom>
          <a:noFill/>
        </p:spPr>
        <p:txBody>
          <a:bodyPr wrap="square">
            <a:spAutoFit/>
          </a:bodyPr>
          <a:lstStyle/>
          <a:p>
            <a:pPr algn="l"/>
            <a:r>
              <a:rPr sz="1200" b="1" i="0">
                <a:solidFill>
                  <a:srgbClr val="FFFFFF"/>
                </a:solidFill>
              </a:rPr>
              <a:t>Menolak Rencana Aksi + Catatan</a:t>
            </a:r>
          </a:p>
        </p:txBody>
      </p:sp>
      <p:sp>
        <p:nvSpPr>
          <p:cNvPr id="43" name="Rectangle 42"/>
          <p:cNvSpPr/>
          <p:nvPr/>
        </p:nvSpPr>
        <p:spPr>
          <a:xfrm>
            <a:off x="6126480" y="1737360"/>
            <a:ext cx="5715000" cy="83210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0" y="1737360"/>
            <a:ext cx="457200" cy="83210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0" y="1952243"/>
            <a:ext cx="457200" cy="402336"/>
          </a:xfrm>
          <a:prstGeom prst="rect">
            <a:avLst/>
          </a:prstGeom>
          <a:noFill/>
        </p:spPr>
        <p:txBody>
          <a:bodyPr wrap="square">
            <a:spAutoFit/>
          </a:bodyPr>
          <a:lstStyle/>
          <a:p>
            <a:pPr algn="ctr"/>
            <a:r>
              <a:rPr sz="1700" b="1" i="0">
                <a:solidFill>
                  <a:srgbClr val="FFFFFF"/>
                </a:solidFill>
              </a:rPr>
              <a:t>1</a:t>
            </a:r>
          </a:p>
        </p:txBody>
      </p:sp>
      <p:sp>
        <p:nvSpPr>
          <p:cNvPr id="46" name="TextBox 45"/>
          <p:cNvSpPr txBox="1"/>
          <p:nvPr/>
        </p:nvSpPr>
        <p:spPr>
          <a:xfrm>
            <a:off x="6656832" y="1783080"/>
            <a:ext cx="5120640" cy="274320"/>
          </a:xfrm>
          <a:prstGeom prst="rect">
            <a:avLst/>
          </a:prstGeom>
          <a:noFill/>
        </p:spPr>
        <p:txBody>
          <a:bodyPr wrap="square">
            <a:spAutoFit/>
          </a:bodyPr>
          <a:lstStyle/>
          <a:p>
            <a:pPr algn="l"/>
            <a:r>
              <a:rPr sz="1050" b="1" i="0">
                <a:solidFill>
                  <a:srgbClr val="1A376C"/>
                </a:solidFill>
              </a:rPr>
              <a:t>Identifikasi Alasan</a:t>
            </a:r>
          </a:p>
        </p:txBody>
      </p:sp>
      <p:sp>
        <p:nvSpPr>
          <p:cNvPr id="47" name="TextBox 46"/>
          <p:cNvSpPr txBox="1"/>
          <p:nvPr/>
        </p:nvSpPr>
        <p:spPr>
          <a:xfrm>
            <a:off x="6656832" y="2066543"/>
            <a:ext cx="5120640" cy="448056"/>
          </a:xfrm>
          <a:prstGeom prst="rect">
            <a:avLst/>
          </a:prstGeom>
          <a:noFill/>
        </p:spPr>
        <p:txBody>
          <a:bodyPr wrap="square">
            <a:spAutoFit/>
          </a:bodyPr>
          <a:lstStyle/>
          <a:p>
            <a:pPr algn="l"/>
            <a:r>
              <a:rPr sz="950" b="0" i="0">
                <a:solidFill>
                  <a:srgbClr val="444444"/>
                </a:solidFill>
              </a:rPr>
              <a:t>Tentukan poin spesifik yang perlu diperbaiki sebelum menolak.</a:t>
            </a:r>
          </a:p>
        </p:txBody>
      </p:sp>
      <p:sp>
        <p:nvSpPr>
          <p:cNvPr id="48" name="Rectangle 47"/>
          <p:cNvSpPr/>
          <p:nvPr/>
        </p:nvSpPr>
        <p:spPr>
          <a:xfrm>
            <a:off x="6126480" y="2633472"/>
            <a:ext cx="5715000" cy="83210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80" y="2633472"/>
            <a:ext cx="457200" cy="83210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26480" y="2848356"/>
            <a:ext cx="457200" cy="402336"/>
          </a:xfrm>
          <a:prstGeom prst="rect">
            <a:avLst/>
          </a:prstGeom>
          <a:noFill/>
        </p:spPr>
        <p:txBody>
          <a:bodyPr wrap="square">
            <a:spAutoFit/>
          </a:bodyPr>
          <a:lstStyle/>
          <a:p>
            <a:pPr algn="ctr"/>
            <a:r>
              <a:rPr sz="1700" b="1" i="0">
                <a:solidFill>
                  <a:srgbClr val="FFFFFF"/>
                </a:solidFill>
              </a:rPr>
              <a:t>2</a:t>
            </a:r>
          </a:p>
        </p:txBody>
      </p:sp>
      <p:sp>
        <p:nvSpPr>
          <p:cNvPr id="51" name="TextBox 50"/>
          <p:cNvSpPr txBox="1"/>
          <p:nvPr/>
        </p:nvSpPr>
        <p:spPr>
          <a:xfrm>
            <a:off x="6656832" y="2679191"/>
            <a:ext cx="5120640" cy="274320"/>
          </a:xfrm>
          <a:prstGeom prst="rect">
            <a:avLst/>
          </a:prstGeom>
          <a:noFill/>
        </p:spPr>
        <p:txBody>
          <a:bodyPr wrap="square">
            <a:spAutoFit/>
          </a:bodyPr>
          <a:lstStyle/>
          <a:p>
            <a:pPr algn="l"/>
            <a:r>
              <a:rPr sz="1050" b="1" i="0">
                <a:solidFill>
                  <a:srgbClr val="1A376C"/>
                </a:solidFill>
              </a:rPr>
              <a:t>Klik Tombol 'Tolak'</a:t>
            </a:r>
          </a:p>
        </p:txBody>
      </p:sp>
      <p:sp>
        <p:nvSpPr>
          <p:cNvPr id="52" name="TextBox 51"/>
          <p:cNvSpPr txBox="1"/>
          <p:nvPr/>
        </p:nvSpPr>
        <p:spPr>
          <a:xfrm>
            <a:off x="6656832" y="2962656"/>
            <a:ext cx="5120640" cy="448056"/>
          </a:xfrm>
          <a:prstGeom prst="rect">
            <a:avLst/>
          </a:prstGeom>
          <a:noFill/>
        </p:spPr>
        <p:txBody>
          <a:bodyPr wrap="square">
            <a:spAutoFit/>
          </a:bodyPr>
          <a:lstStyle/>
          <a:p>
            <a:pPr algn="l"/>
            <a:r>
              <a:rPr sz="950" b="0" i="0">
                <a:solidFill>
                  <a:srgbClr val="444444"/>
                </a:solidFill>
              </a:rPr>
              <a:t>Klik tombol merah 'Tolak' pada kolom Aksi baris Tim Kerja.</a:t>
            </a:r>
          </a:p>
        </p:txBody>
      </p:sp>
      <p:sp>
        <p:nvSpPr>
          <p:cNvPr id="53" name="Rectangle 52"/>
          <p:cNvSpPr/>
          <p:nvPr/>
        </p:nvSpPr>
        <p:spPr>
          <a:xfrm>
            <a:off x="6126480" y="3529584"/>
            <a:ext cx="5715000" cy="83210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26480" y="3529584"/>
            <a:ext cx="457200" cy="83210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26480" y="3744468"/>
            <a:ext cx="457200" cy="402336"/>
          </a:xfrm>
          <a:prstGeom prst="rect">
            <a:avLst/>
          </a:prstGeom>
          <a:noFill/>
        </p:spPr>
        <p:txBody>
          <a:bodyPr wrap="square">
            <a:spAutoFit/>
          </a:bodyPr>
          <a:lstStyle/>
          <a:p>
            <a:pPr algn="ctr"/>
            <a:r>
              <a:rPr sz="1700" b="1" i="0">
                <a:solidFill>
                  <a:srgbClr val="FFFFFF"/>
                </a:solidFill>
              </a:rPr>
              <a:t>3</a:t>
            </a:r>
          </a:p>
        </p:txBody>
      </p:sp>
      <p:sp>
        <p:nvSpPr>
          <p:cNvPr id="56" name="TextBox 55"/>
          <p:cNvSpPr txBox="1"/>
          <p:nvPr/>
        </p:nvSpPr>
        <p:spPr>
          <a:xfrm>
            <a:off x="6656832" y="3575303"/>
            <a:ext cx="5120640" cy="274320"/>
          </a:xfrm>
          <a:prstGeom prst="rect">
            <a:avLst/>
          </a:prstGeom>
          <a:noFill/>
        </p:spPr>
        <p:txBody>
          <a:bodyPr wrap="square">
            <a:spAutoFit/>
          </a:bodyPr>
          <a:lstStyle/>
          <a:p>
            <a:pPr algn="l"/>
            <a:r>
              <a:rPr sz="1050" b="1" i="0">
                <a:solidFill>
                  <a:srgbClr val="1A376C"/>
                </a:solidFill>
              </a:rPr>
              <a:t>Dialog Catatan Muncul</a:t>
            </a:r>
          </a:p>
        </p:txBody>
      </p:sp>
      <p:sp>
        <p:nvSpPr>
          <p:cNvPr id="57" name="TextBox 56"/>
          <p:cNvSpPr txBox="1"/>
          <p:nvPr/>
        </p:nvSpPr>
        <p:spPr>
          <a:xfrm>
            <a:off x="6656832" y="3858768"/>
            <a:ext cx="5120640" cy="448056"/>
          </a:xfrm>
          <a:prstGeom prst="rect">
            <a:avLst/>
          </a:prstGeom>
          <a:noFill/>
        </p:spPr>
        <p:txBody>
          <a:bodyPr wrap="square">
            <a:spAutoFit/>
          </a:bodyPr>
          <a:lstStyle/>
          <a:p>
            <a:pPr algn="l"/>
            <a:r>
              <a:rPr sz="950" b="0" i="0">
                <a:solidFill>
                  <a:srgbClr val="444444"/>
                </a:solidFill>
              </a:rPr>
              <a:t>Kolom 'Catatan Revisi' wajib diisi sebelum dapat mengkonfirmasi.</a:t>
            </a:r>
          </a:p>
        </p:txBody>
      </p:sp>
      <p:sp>
        <p:nvSpPr>
          <p:cNvPr id="58" name="Rectangle 57"/>
          <p:cNvSpPr/>
          <p:nvPr/>
        </p:nvSpPr>
        <p:spPr>
          <a:xfrm>
            <a:off x="6126480" y="4425696"/>
            <a:ext cx="5715000" cy="83210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126480" y="4425696"/>
            <a:ext cx="457200" cy="83210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26480" y="4640580"/>
            <a:ext cx="457200" cy="402336"/>
          </a:xfrm>
          <a:prstGeom prst="rect">
            <a:avLst/>
          </a:prstGeom>
          <a:noFill/>
        </p:spPr>
        <p:txBody>
          <a:bodyPr wrap="square">
            <a:spAutoFit/>
          </a:bodyPr>
          <a:lstStyle/>
          <a:p>
            <a:pPr algn="ctr"/>
            <a:r>
              <a:rPr sz="1700" b="1" i="0">
                <a:solidFill>
                  <a:srgbClr val="FFFFFF"/>
                </a:solidFill>
              </a:rPr>
              <a:t>4</a:t>
            </a:r>
          </a:p>
        </p:txBody>
      </p:sp>
      <p:sp>
        <p:nvSpPr>
          <p:cNvPr id="61" name="TextBox 60"/>
          <p:cNvSpPr txBox="1"/>
          <p:nvPr/>
        </p:nvSpPr>
        <p:spPr>
          <a:xfrm>
            <a:off x="6656832" y="4471416"/>
            <a:ext cx="5120640" cy="274320"/>
          </a:xfrm>
          <a:prstGeom prst="rect">
            <a:avLst/>
          </a:prstGeom>
          <a:noFill/>
        </p:spPr>
        <p:txBody>
          <a:bodyPr wrap="square">
            <a:spAutoFit/>
          </a:bodyPr>
          <a:lstStyle/>
          <a:p>
            <a:pPr algn="l"/>
            <a:r>
              <a:rPr sz="1050" b="1" i="0">
                <a:solidFill>
                  <a:srgbClr val="1A376C"/>
                </a:solidFill>
              </a:rPr>
              <a:t>Tulis Catatan Spesifik</a:t>
            </a:r>
          </a:p>
        </p:txBody>
      </p:sp>
      <p:sp>
        <p:nvSpPr>
          <p:cNvPr id="62" name="TextBox 61"/>
          <p:cNvSpPr txBox="1"/>
          <p:nvPr/>
        </p:nvSpPr>
        <p:spPr>
          <a:xfrm>
            <a:off x="6656832" y="4754880"/>
            <a:ext cx="5120640" cy="448056"/>
          </a:xfrm>
          <a:prstGeom prst="rect">
            <a:avLst/>
          </a:prstGeom>
          <a:noFill/>
        </p:spPr>
        <p:txBody>
          <a:bodyPr wrap="square">
            <a:spAutoFit/>
          </a:bodyPr>
          <a:lstStyle/>
          <a:p>
            <a:pPr algn="l"/>
            <a:r>
              <a:rPr sz="950" b="0" i="0">
                <a:solidFill>
                  <a:srgbClr val="444444"/>
                </a:solidFill>
              </a:rPr>
              <a:t>Contoh: 'Target TW II IKU 2.1 terlalu rendah. Mohon disesuaikan dengan target tahunan.'</a:t>
            </a:r>
          </a:p>
        </p:txBody>
      </p:sp>
      <p:sp>
        <p:nvSpPr>
          <p:cNvPr id="63" name="Rectangle 62"/>
          <p:cNvSpPr/>
          <p:nvPr/>
        </p:nvSpPr>
        <p:spPr>
          <a:xfrm>
            <a:off x="6126480" y="5321808"/>
            <a:ext cx="5715000" cy="83210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26480" y="5321808"/>
            <a:ext cx="457200" cy="83210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126480" y="5536692"/>
            <a:ext cx="457200" cy="402336"/>
          </a:xfrm>
          <a:prstGeom prst="rect">
            <a:avLst/>
          </a:prstGeom>
          <a:noFill/>
        </p:spPr>
        <p:txBody>
          <a:bodyPr wrap="square">
            <a:spAutoFit/>
          </a:bodyPr>
          <a:lstStyle/>
          <a:p>
            <a:pPr algn="ctr"/>
            <a:r>
              <a:rPr sz="1700" b="1" i="0">
                <a:solidFill>
                  <a:srgbClr val="FFFFFF"/>
                </a:solidFill>
              </a:rPr>
              <a:t>5</a:t>
            </a:r>
          </a:p>
        </p:txBody>
      </p:sp>
      <p:sp>
        <p:nvSpPr>
          <p:cNvPr id="66" name="TextBox 65"/>
          <p:cNvSpPr txBox="1"/>
          <p:nvPr/>
        </p:nvSpPr>
        <p:spPr>
          <a:xfrm>
            <a:off x="6656832" y="5367528"/>
            <a:ext cx="5120640" cy="274320"/>
          </a:xfrm>
          <a:prstGeom prst="rect">
            <a:avLst/>
          </a:prstGeom>
          <a:noFill/>
        </p:spPr>
        <p:txBody>
          <a:bodyPr wrap="square">
            <a:spAutoFit/>
          </a:bodyPr>
          <a:lstStyle/>
          <a:p>
            <a:pPr algn="l"/>
            <a:r>
              <a:rPr sz="1050" b="1" i="0">
                <a:solidFill>
                  <a:srgbClr val="1A376C"/>
                </a:solidFill>
              </a:rPr>
              <a:t>Konfirmasi Tolak</a:t>
            </a:r>
          </a:p>
        </p:txBody>
      </p:sp>
      <p:sp>
        <p:nvSpPr>
          <p:cNvPr id="67" name="TextBox 66"/>
          <p:cNvSpPr txBox="1"/>
          <p:nvPr/>
        </p:nvSpPr>
        <p:spPr>
          <a:xfrm>
            <a:off x="6656832" y="5650992"/>
            <a:ext cx="5120640" cy="448056"/>
          </a:xfrm>
          <a:prstGeom prst="rect">
            <a:avLst/>
          </a:prstGeom>
          <a:noFill/>
        </p:spPr>
        <p:txBody>
          <a:bodyPr wrap="square">
            <a:spAutoFit/>
          </a:bodyPr>
          <a:lstStyle/>
          <a:p>
            <a:pPr algn="l"/>
            <a:r>
              <a:rPr sz="950" b="0" i="0">
                <a:solidFill>
                  <a:srgbClr val="444444"/>
                </a:solidFill>
              </a:rPr>
              <a:t>Klik 'Konfirmasi Tolak'. Status berubah menjadi 'Ditolak' (badge merah).</a:t>
            </a:r>
          </a:p>
        </p:txBody>
      </p:sp>
      <p:sp>
        <p:nvSpPr>
          <p:cNvPr id="68" name="Rectangle 67"/>
          <p:cNvSpPr/>
          <p:nvPr/>
        </p:nvSpPr>
        <p:spPr>
          <a:xfrm>
            <a:off x="6126480" y="6263640"/>
            <a:ext cx="5715000" cy="411480"/>
          </a:xfrm>
          <a:prstGeom prst="rect">
            <a:avLst/>
          </a:prstGeom>
          <a:solidFill>
            <a:srgbClr val="FFF3CD"/>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63640" y="6300216"/>
            <a:ext cx="5513832" cy="338328"/>
          </a:xfrm>
          <a:prstGeom prst="rect">
            <a:avLst/>
          </a:prstGeom>
          <a:noFill/>
        </p:spPr>
        <p:txBody>
          <a:bodyPr wrap="square">
            <a:spAutoFit/>
          </a:bodyPr>
          <a:lstStyle/>
          <a:p>
            <a:pPr algn="l"/>
            <a:r>
              <a:rPr sz="900" b="0" i="0">
                <a:solidFill>
                  <a:srgbClr val="7D6008"/>
                </a:solidFill>
              </a:rPr>
              <a:t>⚠  Catatan revisi harus SPESIFIK dan JELAS. Catatan umum akan menyulitkan Tim Kerja dalam melakukan perbaikan.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III-04  |  Review &amp; Tindak Lanjut Laporan Pengukuran</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Cara mereview, menyetujui, atau mengembalikan laporan triwulan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III: Kabag Umum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24 / —</a:t>
            </a:r>
          </a:p>
        </p:txBody>
      </p:sp>
      <p:sp>
        <p:nvSpPr>
          <p:cNvPr id="10" name="Rectangle 9"/>
          <p:cNvSpPr/>
          <p:nvPr/>
        </p:nvSpPr>
        <p:spPr>
          <a:xfrm>
            <a:off x="365760" y="1234440"/>
            <a:ext cx="4389120" cy="5257800"/>
          </a:xfrm>
          <a:prstGeom prst="rect">
            <a:avLst/>
          </a:prstGeom>
          <a:solidFill>
            <a:srgbClr val="E8EEF8"/>
          </a:solidFill>
          <a:ln w="1905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4389120" cy="34747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4206240" cy="320040"/>
          </a:xfrm>
          <a:prstGeom prst="rect">
            <a:avLst/>
          </a:prstGeom>
          <a:noFill/>
        </p:spPr>
        <p:txBody>
          <a:bodyPr wrap="square">
            <a:spAutoFit/>
          </a:bodyPr>
          <a:lstStyle/>
          <a:p>
            <a:pPr algn="l"/>
            <a:r>
              <a:rPr sz="1000" b="1" i="0">
                <a:solidFill>
                  <a:srgbClr val="FFFFFF"/>
                </a:solidFill>
              </a:rPr>
              <a:t>Tampilan Laporan Pengukuran Kabag</a:t>
            </a:r>
          </a:p>
        </p:txBody>
      </p:sp>
      <p:sp>
        <p:nvSpPr>
          <p:cNvPr id="13" name="TextBox 12"/>
          <p:cNvSpPr txBox="1"/>
          <p:nvPr/>
        </p:nvSpPr>
        <p:spPr>
          <a:xfrm>
            <a:off x="640080" y="1737360"/>
            <a:ext cx="3977639" cy="4617720"/>
          </a:xfrm>
          <a:prstGeom prst="rect">
            <a:avLst/>
          </a:prstGeom>
          <a:noFill/>
        </p:spPr>
        <p:txBody>
          <a:bodyPr wrap="square">
            <a:spAutoFit/>
          </a:bodyPr>
          <a:lstStyle/>
          <a:p>
            <a:pPr algn="ctr"/>
            <a:r>
              <a:rPr sz="1000" b="0" i="1">
                <a:solidFill>
                  <a:srgbClr val="2E75B6"/>
                </a:solidFill>
              </a:rPr>
              <a:t>[ SCREENSHOT LAPORAN PENGUKURAN KABAG ]
Tambahkan screenshot di sini</a:t>
            </a:r>
          </a:p>
        </p:txBody>
      </p:sp>
      <p:sp>
        <p:nvSpPr>
          <p:cNvPr id="14" name="TextBox 13"/>
          <p:cNvSpPr txBox="1"/>
          <p:nvPr/>
        </p:nvSpPr>
        <p:spPr>
          <a:xfrm>
            <a:off x="5074920" y="1261872"/>
            <a:ext cx="6766560" cy="347472"/>
          </a:xfrm>
          <a:prstGeom prst="rect">
            <a:avLst/>
          </a:prstGeom>
          <a:noFill/>
        </p:spPr>
        <p:txBody>
          <a:bodyPr wrap="square">
            <a:spAutoFit/>
          </a:bodyPr>
          <a:lstStyle/>
          <a:p>
            <a:pPr algn="l"/>
            <a:r>
              <a:rPr sz="1300" b="1" i="0">
                <a:solidFill>
                  <a:srgbClr val="1A376C"/>
                </a:solidFill>
              </a:rPr>
              <a:t>Review &amp; Tindak Lanjut Laporan</a:t>
            </a:r>
          </a:p>
        </p:txBody>
      </p:sp>
      <p:sp>
        <p:nvSpPr>
          <p:cNvPr id="15" name="Rectangle 14"/>
          <p:cNvSpPr/>
          <p:nvPr/>
        </p:nvSpPr>
        <p:spPr>
          <a:xfrm>
            <a:off x="5074920" y="1261872"/>
            <a:ext cx="54864"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74920" y="1737360"/>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74920" y="1737360"/>
            <a:ext cx="457200" cy="6949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1883663"/>
            <a:ext cx="457200" cy="402336"/>
          </a:xfrm>
          <a:prstGeom prst="rect">
            <a:avLst/>
          </a:prstGeom>
          <a:noFill/>
        </p:spPr>
        <p:txBody>
          <a:bodyPr wrap="square">
            <a:spAutoFit/>
          </a:bodyPr>
          <a:lstStyle/>
          <a:p>
            <a:pPr algn="ctr"/>
            <a:r>
              <a:rPr sz="1700" b="1" i="0">
                <a:solidFill>
                  <a:srgbClr val="FFFFFF"/>
                </a:solidFill>
              </a:rPr>
              <a:t>1</a:t>
            </a:r>
          </a:p>
        </p:txBody>
      </p:sp>
      <p:sp>
        <p:nvSpPr>
          <p:cNvPr id="19" name="TextBox 18"/>
          <p:cNvSpPr txBox="1"/>
          <p:nvPr/>
        </p:nvSpPr>
        <p:spPr>
          <a:xfrm>
            <a:off x="5605272" y="1783080"/>
            <a:ext cx="6172200" cy="274320"/>
          </a:xfrm>
          <a:prstGeom prst="rect">
            <a:avLst/>
          </a:prstGeom>
          <a:noFill/>
        </p:spPr>
        <p:txBody>
          <a:bodyPr wrap="square">
            <a:spAutoFit/>
          </a:bodyPr>
          <a:lstStyle/>
          <a:p>
            <a:pPr algn="l"/>
            <a:r>
              <a:rPr sz="1050" b="1" i="0">
                <a:solidFill>
                  <a:srgbClr val="1A376C"/>
                </a:solidFill>
              </a:rPr>
              <a:t>Buka Pengukuran Kinerja</a:t>
            </a:r>
          </a:p>
        </p:txBody>
      </p:sp>
      <p:sp>
        <p:nvSpPr>
          <p:cNvPr id="20" name="TextBox 19"/>
          <p:cNvSpPr txBox="1"/>
          <p:nvPr/>
        </p:nvSpPr>
        <p:spPr>
          <a:xfrm>
            <a:off x="5605272" y="2066543"/>
            <a:ext cx="6172200" cy="310896"/>
          </a:xfrm>
          <a:prstGeom prst="rect">
            <a:avLst/>
          </a:prstGeom>
          <a:noFill/>
        </p:spPr>
        <p:txBody>
          <a:bodyPr wrap="square">
            <a:spAutoFit/>
          </a:bodyPr>
          <a:lstStyle/>
          <a:p>
            <a:pPr algn="l"/>
            <a:r>
              <a:rPr sz="950" b="0" i="0">
                <a:solidFill>
                  <a:srgbClr val="444444"/>
                </a:solidFill>
              </a:rPr>
              <a:t>Klik 'Pengukuran Kinerja' di sidebar. Kartu laporan per Tim Kerja tampil di atas.</a:t>
            </a:r>
          </a:p>
        </p:txBody>
      </p:sp>
      <p:sp>
        <p:nvSpPr>
          <p:cNvPr id="21" name="Rectangle 20"/>
          <p:cNvSpPr/>
          <p:nvPr/>
        </p:nvSpPr>
        <p:spPr>
          <a:xfrm>
            <a:off x="5074920" y="2496312"/>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74920" y="2496312"/>
            <a:ext cx="457200" cy="6949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2642615"/>
            <a:ext cx="457200" cy="402336"/>
          </a:xfrm>
          <a:prstGeom prst="rect">
            <a:avLst/>
          </a:prstGeom>
          <a:noFill/>
        </p:spPr>
        <p:txBody>
          <a:bodyPr wrap="square">
            <a:spAutoFit/>
          </a:bodyPr>
          <a:lstStyle/>
          <a:p>
            <a:pPr algn="ctr"/>
            <a:r>
              <a:rPr sz="1700" b="1" i="0">
                <a:solidFill>
                  <a:srgbClr val="FFFFFF"/>
                </a:solidFill>
              </a:rPr>
              <a:t>2</a:t>
            </a:r>
          </a:p>
        </p:txBody>
      </p:sp>
      <p:sp>
        <p:nvSpPr>
          <p:cNvPr id="24" name="TextBox 23"/>
          <p:cNvSpPr txBox="1"/>
          <p:nvPr/>
        </p:nvSpPr>
        <p:spPr>
          <a:xfrm>
            <a:off x="5605272" y="2542032"/>
            <a:ext cx="6172200" cy="274320"/>
          </a:xfrm>
          <a:prstGeom prst="rect">
            <a:avLst/>
          </a:prstGeom>
          <a:noFill/>
        </p:spPr>
        <p:txBody>
          <a:bodyPr wrap="square">
            <a:spAutoFit/>
          </a:bodyPr>
          <a:lstStyle/>
          <a:p>
            <a:pPr algn="l"/>
            <a:r>
              <a:rPr sz="1050" b="1" i="0">
                <a:solidFill>
                  <a:srgbClr val="1A376C"/>
                </a:solidFill>
              </a:rPr>
              <a:t>Pilih Periode</a:t>
            </a:r>
          </a:p>
        </p:txBody>
      </p:sp>
      <p:sp>
        <p:nvSpPr>
          <p:cNvPr id="25" name="TextBox 24"/>
          <p:cNvSpPr txBox="1"/>
          <p:nvPr/>
        </p:nvSpPr>
        <p:spPr>
          <a:xfrm>
            <a:off x="5605272" y="2825496"/>
            <a:ext cx="6172200" cy="310896"/>
          </a:xfrm>
          <a:prstGeom prst="rect">
            <a:avLst/>
          </a:prstGeom>
          <a:noFill/>
        </p:spPr>
        <p:txBody>
          <a:bodyPr wrap="square">
            <a:spAutoFit/>
          </a:bodyPr>
          <a:lstStyle/>
          <a:p>
            <a:pPr algn="l"/>
            <a:r>
              <a:rPr sz="950" b="0" i="0">
                <a:solidFill>
                  <a:srgbClr val="444444"/>
                </a:solidFill>
              </a:rPr>
              <a:t>Pilih periode triwulan dari dropdown.</a:t>
            </a:r>
          </a:p>
        </p:txBody>
      </p:sp>
      <p:sp>
        <p:nvSpPr>
          <p:cNvPr id="26" name="Rectangle 25"/>
          <p:cNvSpPr/>
          <p:nvPr/>
        </p:nvSpPr>
        <p:spPr>
          <a:xfrm>
            <a:off x="5074920" y="3255263"/>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74920" y="3255263"/>
            <a:ext cx="457200" cy="6949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401567"/>
            <a:ext cx="457200" cy="402336"/>
          </a:xfrm>
          <a:prstGeom prst="rect">
            <a:avLst/>
          </a:prstGeom>
          <a:noFill/>
        </p:spPr>
        <p:txBody>
          <a:bodyPr wrap="square">
            <a:spAutoFit/>
          </a:bodyPr>
          <a:lstStyle/>
          <a:p>
            <a:pPr algn="ctr"/>
            <a:r>
              <a:rPr sz="1700" b="1" i="0">
                <a:solidFill>
                  <a:srgbClr val="FFFFFF"/>
                </a:solidFill>
              </a:rPr>
              <a:t>3</a:t>
            </a:r>
          </a:p>
        </p:txBody>
      </p:sp>
      <p:sp>
        <p:nvSpPr>
          <p:cNvPr id="29" name="TextBox 28"/>
          <p:cNvSpPr txBox="1"/>
          <p:nvPr/>
        </p:nvSpPr>
        <p:spPr>
          <a:xfrm>
            <a:off x="5605272" y="3300983"/>
            <a:ext cx="6172200" cy="274320"/>
          </a:xfrm>
          <a:prstGeom prst="rect">
            <a:avLst/>
          </a:prstGeom>
          <a:noFill/>
        </p:spPr>
        <p:txBody>
          <a:bodyPr wrap="square">
            <a:spAutoFit/>
          </a:bodyPr>
          <a:lstStyle/>
          <a:p>
            <a:pPr algn="l"/>
            <a:r>
              <a:rPr sz="1050" b="1" i="0">
                <a:solidFill>
                  <a:srgbClr val="1A376C"/>
                </a:solidFill>
              </a:rPr>
              <a:t>Identifikasi Menunggu Review</a:t>
            </a:r>
          </a:p>
        </p:txBody>
      </p:sp>
      <p:sp>
        <p:nvSpPr>
          <p:cNvPr id="30" name="TextBox 29"/>
          <p:cNvSpPr txBox="1"/>
          <p:nvPr/>
        </p:nvSpPr>
        <p:spPr>
          <a:xfrm>
            <a:off x="5605272" y="3584447"/>
            <a:ext cx="6172200" cy="310896"/>
          </a:xfrm>
          <a:prstGeom prst="rect">
            <a:avLst/>
          </a:prstGeom>
          <a:noFill/>
        </p:spPr>
        <p:txBody>
          <a:bodyPr wrap="square">
            <a:spAutoFit/>
          </a:bodyPr>
          <a:lstStyle/>
          <a:p>
            <a:pPr algn="l"/>
            <a:r>
              <a:rPr sz="950" b="0" i="0">
                <a:solidFill>
                  <a:srgbClr val="444444"/>
                </a:solidFill>
              </a:rPr>
              <a:t>Cari kartu dengan badge biru 'Menunggu'. Berisi tombol Setujui dan Kembalikan.</a:t>
            </a:r>
          </a:p>
        </p:txBody>
      </p:sp>
      <p:sp>
        <p:nvSpPr>
          <p:cNvPr id="31" name="Rectangle 30"/>
          <p:cNvSpPr/>
          <p:nvPr/>
        </p:nvSpPr>
        <p:spPr>
          <a:xfrm>
            <a:off x="5074920" y="4014215"/>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74920" y="4014215"/>
            <a:ext cx="457200" cy="694944"/>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74920" y="4160520"/>
            <a:ext cx="457200" cy="402336"/>
          </a:xfrm>
          <a:prstGeom prst="rect">
            <a:avLst/>
          </a:prstGeom>
          <a:noFill/>
        </p:spPr>
        <p:txBody>
          <a:bodyPr wrap="square">
            <a:spAutoFit/>
          </a:bodyPr>
          <a:lstStyle/>
          <a:p>
            <a:pPr algn="ctr"/>
            <a:r>
              <a:rPr sz="1700" b="1" i="0">
                <a:solidFill>
                  <a:srgbClr val="FFFFFF"/>
                </a:solidFill>
              </a:rPr>
              <a:t>4</a:t>
            </a:r>
          </a:p>
        </p:txBody>
      </p:sp>
      <p:sp>
        <p:nvSpPr>
          <p:cNvPr id="34" name="TextBox 33"/>
          <p:cNvSpPr txBox="1"/>
          <p:nvPr/>
        </p:nvSpPr>
        <p:spPr>
          <a:xfrm>
            <a:off x="5605272" y="4059935"/>
            <a:ext cx="6172200" cy="274320"/>
          </a:xfrm>
          <a:prstGeom prst="rect">
            <a:avLst/>
          </a:prstGeom>
          <a:noFill/>
        </p:spPr>
        <p:txBody>
          <a:bodyPr wrap="square">
            <a:spAutoFit/>
          </a:bodyPr>
          <a:lstStyle/>
          <a:p>
            <a:pPr algn="l"/>
            <a:r>
              <a:rPr sz="1050" b="1" i="0">
                <a:solidFill>
                  <a:srgbClr val="1A376C"/>
                </a:solidFill>
              </a:rPr>
              <a:t>Review Matriks Realisasi</a:t>
            </a:r>
          </a:p>
        </p:txBody>
      </p:sp>
      <p:sp>
        <p:nvSpPr>
          <p:cNvPr id="35" name="TextBox 34"/>
          <p:cNvSpPr txBox="1"/>
          <p:nvPr/>
        </p:nvSpPr>
        <p:spPr>
          <a:xfrm>
            <a:off x="5605272" y="4343400"/>
            <a:ext cx="6172200" cy="310896"/>
          </a:xfrm>
          <a:prstGeom prst="rect">
            <a:avLst/>
          </a:prstGeom>
          <a:noFill/>
        </p:spPr>
        <p:txBody>
          <a:bodyPr wrap="square">
            <a:spAutoFit/>
          </a:bodyPr>
          <a:lstStyle/>
          <a:p>
            <a:pPr algn="l"/>
            <a:r>
              <a:rPr sz="950" b="0" i="0">
                <a:solidFill>
                  <a:srgbClr val="444444"/>
                </a:solidFill>
              </a:rPr>
              <a:t>Cek nilai realisasi, progress kegiatan, kendala, strategi tindak lanjut per IKU.</a:t>
            </a:r>
          </a:p>
        </p:txBody>
      </p:sp>
      <p:sp>
        <p:nvSpPr>
          <p:cNvPr id="36" name="Rectangle 35"/>
          <p:cNvSpPr/>
          <p:nvPr/>
        </p:nvSpPr>
        <p:spPr>
          <a:xfrm>
            <a:off x="5074920" y="4773168"/>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74920" y="4773168"/>
            <a:ext cx="457200" cy="69494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4919472"/>
            <a:ext cx="457200" cy="402336"/>
          </a:xfrm>
          <a:prstGeom prst="rect">
            <a:avLst/>
          </a:prstGeom>
          <a:noFill/>
        </p:spPr>
        <p:txBody>
          <a:bodyPr wrap="square">
            <a:spAutoFit/>
          </a:bodyPr>
          <a:lstStyle/>
          <a:p>
            <a:pPr algn="ctr"/>
            <a:r>
              <a:rPr sz="1700" b="1" i="0">
                <a:solidFill>
                  <a:srgbClr val="FFFFFF"/>
                </a:solidFill>
              </a:rPr>
              <a:t>5a</a:t>
            </a:r>
          </a:p>
        </p:txBody>
      </p:sp>
      <p:sp>
        <p:nvSpPr>
          <p:cNvPr id="39" name="TextBox 38"/>
          <p:cNvSpPr txBox="1"/>
          <p:nvPr/>
        </p:nvSpPr>
        <p:spPr>
          <a:xfrm>
            <a:off x="5605272" y="4818888"/>
            <a:ext cx="6172200" cy="274320"/>
          </a:xfrm>
          <a:prstGeom prst="rect">
            <a:avLst/>
          </a:prstGeom>
          <a:noFill/>
        </p:spPr>
        <p:txBody>
          <a:bodyPr wrap="square">
            <a:spAutoFit/>
          </a:bodyPr>
          <a:lstStyle/>
          <a:p>
            <a:pPr algn="l"/>
            <a:r>
              <a:rPr sz="1050" b="1" i="0">
                <a:solidFill>
                  <a:srgbClr val="1A376C"/>
                </a:solidFill>
              </a:rPr>
              <a:t>Setujui — Klik 'Setujui'</a:t>
            </a:r>
          </a:p>
        </p:txBody>
      </p:sp>
      <p:sp>
        <p:nvSpPr>
          <p:cNvPr id="40" name="TextBox 39"/>
          <p:cNvSpPr txBox="1"/>
          <p:nvPr/>
        </p:nvSpPr>
        <p:spPr>
          <a:xfrm>
            <a:off x="5605272" y="5102352"/>
            <a:ext cx="6172200" cy="310896"/>
          </a:xfrm>
          <a:prstGeom prst="rect">
            <a:avLst/>
          </a:prstGeom>
          <a:noFill/>
        </p:spPr>
        <p:txBody>
          <a:bodyPr wrap="square">
            <a:spAutoFit/>
          </a:bodyPr>
          <a:lstStyle/>
          <a:p>
            <a:pPr algn="l"/>
            <a:r>
              <a:rPr sz="950" b="0" i="0">
                <a:solidFill>
                  <a:srgbClr val="444444"/>
                </a:solidFill>
              </a:rPr>
              <a:t>Jika data lengkap: klik tombol hijau 'Setujui' → isi catatan (opsional) → Konfirmasi.</a:t>
            </a:r>
          </a:p>
        </p:txBody>
      </p:sp>
      <p:sp>
        <p:nvSpPr>
          <p:cNvPr id="41" name="Rectangle 40"/>
          <p:cNvSpPr/>
          <p:nvPr/>
        </p:nvSpPr>
        <p:spPr>
          <a:xfrm>
            <a:off x="5074920" y="5532119"/>
            <a:ext cx="6766560" cy="694944"/>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74920" y="5532119"/>
            <a:ext cx="457200" cy="694944"/>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74920" y="5678423"/>
            <a:ext cx="457200" cy="402336"/>
          </a:xfrm>
          <a:prstGeom prst="rect">
            <a:avLst/>
          </a:prstGeom>
          <a:noFill/>
        </p:spPr>
        <p:txBody>
          <a:bodyPr wrap="square">
            <a:spAutoFit/>
          </a:bodyPr>
          <a:lstStyle/>
          <a:p>
            <a:pPr algn="ctr"/>
            <a:r>
              <a:rPr sz="1700" b="1" i="0">
                <a:solidFill>
                  <a:srgbClr val="FFFFFF"/>
                </a:solidFill>
              </a:rPr>
              <a:t>5b</a:t>
            </a:r>
          </a:p>
        </p:txBody>
      </p:sp>
      <p:sp>
        <p:nvSpPr>
          <p:cNvPr id="44" name="TextBox 43"/>
          <p:cNvSpPr txBox="1"/>
          <p:nvPr/>
        </p:nvSpPr>
        <p:spPr>
          <a:xfrm>
            <a:off x="5605272" y="5577839"/>
            <a:ext cx="6172200" cy="274320"/>
          </a:xfrm>
          <a:prstGeom prst="rect">
            <a:avLst/>
          </a:prstGeom>
          <a:noFill/>
        </p:spPr>
        <p:txBody>
          <a:bodyPr wrap="square">
            <a:spAutoFit/>
          </a:bodyPr>
          <a:lstStyle/>
          <a:p>
            <a:pPr algn="l"/>
            <a:r>
              <a:rPr sz="1050" b="1" i="0">
                <a:solidFill>
                  <a:srgbClr val="1A376C"/>
                </a:solidFill>
              </a:rPr>
              <a:t>Tolak — Klik 'Kembalikan'</a:t>
            </a:r>
          </a:p>
        </p:txBody>
      </p:sp>
      <p:sp>
        <p:nvSpPr>
          <p:cNvPr id="45" name="TextBox 44"/>
          <p:cNvSpPr txBox="1"/>
          <p:nvPr/>
        </p:nvSpPr>
        <p:spPr>
          <a:xfrm>
            <a:off x="5605272" y="5861303"/>
            <a:ext cx="6172200" cy="310896"/>
          </a:xfrm>
          <a:prstGeom prst="rect">
            <a:avLst/>
          </a:prstGeom>
          <a:noFill/>
        </p:spPr>
        <p:txBody>
          <a:bodyPr wrap="square">
            <a:spAutoFit/>
          </a:bodyPr>
          <a:lstStyle/>
          <a:p>
            <a:pPr algn="l"/>
            <a:r>
              <a:rPr sz="950" b="0" i="0">
                <a:solidFill>
                  <a:srgbClr val="444444"/>
                </a:solidFill>
              </a:rPr>
              <a:t>Jika perlu perbaikan: klik merah 'Kembalikan' → isi rekomendasi (WAJIB) → Konfirmasi.</a:t>
            </a:r>
          </a:p>
        </p:txBody>
      </p:sp>
      <p:sp>
        <p:nvSpPr>
          <p:cNvPr id="46" name="Rectangle 45"/>
          <p:cNvSpPr/>
          <p:nvPr/>
        </p:nvSpPr>
        <p:spPr>
          <a:xfrm>
            <a:off x="5074920" y="6327648"/>
            <a:ext cx="6766560" cy="438912"/>
          </a:xfrm>
          <a:prstGeom prst="rect">
            <a:avLst/>
          </a:prstGeom>
          <a:solidFill>
            <a:srgbClr val="E3F2FD"/>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12080" y="6364224"/>
            <a:ext cx="6565392" cy="365759"/>
          </a:xfrm>
          <a:prstGeom prst="rect">
            <a:avLst/>
          </a:prstGeom>
          <a:noFill/>
        </p:spPr>
        <p:txBody>
          <a:bodyPr wrap="square">
            <a:spAutoFit/>
          </a:bodyPr>
          <a:lstStyle/>
          <a:p>
            <a:pPr algn="l"/>
            <a:r>
              <a:rPr sz="900" b="0" i="0">
                <a:solidFill>
                  <a:srgbClr val="1A376C"/>
                </a:solidFill>
              </a:rPr>
              <a:t>ℹ  Matriks realisasi menampilkan: Sasaran | IKU | PIC | Target PK | Target TW | Realisasi | Progress | Kendala | Strategi | Diisi Oleh.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88952"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200" b="1" i="0">
                <a:solidFill>
                  <a:srgbClr val="FFFFFF"/>
                </a:solidFill>
              </a:rPr>
              <a:t>III-05  |  Export PDF &amp; Checklist Review</a:t>
            </a:r>
          </a:p>
        </p:txBody>
      </p:sp>
      <p:sp>
        <p:nvSpPr>
          <p:cNvPr id="6" name="TextBox 5"/>
          <p:cNvSpPr txBox="1"/>
          <p:nvPr/>
        </p:nvSpPr>
        <p:spPr>
          <a:xfrm>
            <a:off x="320040" y="640080"/>
            <a:ext cx="11430000" cy="347472"/>
          </a:xfrm>
          <a:prstGeom prst="rect">
            <a:avLst/>
          </a:prstGeom>
          <a:noFill/>
        </p:spPr>
        <p:txBody>
          <a:bodyPr wrap="square">
            <a:spAutoFit/>
          </a:bodyPr>
          <a:lstStyle/>
          <a:p>
            <a:pPr algn="l"/>
            <a:r>
              <a:rPr sz="1100" b="0" i="0">
                <a:solidFill>
                  <a:srgbClr val="C8D8F0"/>
                </a:solidFill>
              </a:rPr>
              <a:t>Mengekspor laporan ke PDF dan panduan checklist harian</a:t>
            </a:r>
          </a:p>
        </p:txBody>
      </p:sp>
      <p:sp>
        <p:nvSpPr>
          <p:cNvPr id="7" name="Rectangle 6"/>
          <p:cNvSpPr/>
          <p:nvPr/>
        </p:nvSpPr>
        <p:spPr>
          <a:xfrm>
            <a:off x="0" y="6492240"/>
            <a:ext cx="12188952" cy="365760"/>
          </a:xfrm>
          <a:prstGeom prst="rect">
            <a:avLst/>
          </a:prstGeom>
          <a:solidFill>
            <a:srgbClr val="1A37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6492240"/>
            <a:ext cx="9144000" cy="365760"/>
          </a:xfrm>
          <a:prstGeom prst="rect">
            <a:avLst/>
          </a:prstGeom>
          <a:noFill/>
        </p:spPr>
        <p:txBody>
          <a:bodyPr wrap="square">
            <a:spAutoFit/>
          </a:bodyPr>
          <a:lstStyle/>
          <a:p>
            <a:pPr algn="l"/>
            <a:r>
              <a:rPr sz="900" b="0" i="0">
                <a:solidFill>
                  <a:srgbClr val="C8D8F0"/>
                </a:solidFill>
              </a:rPr>
              <a:t>SIPITUNG — Bagian III: Kabag Umum | LLDIKTI Wilayah III</a:t>
            </a:r>
          </a:p>
        </p:txBody>
      </p:sp>
      <p:sp>
        <p:nvSpPr>
          <p:cNvPr id="9" name="TextBox 8"/>
          <p:cNvSpPr txBox="1"/>
          <p:nvPr/>
        </p:nvSpPr>
        <p:spPr>
          <a:xfrm>
            <a:off x="11430000" y="6492240"/>
            <a:ext cx="731520" cy="365760"/>
          </a:xfrm>
          <a:prstGeom prst="rect">
            <a:avLst/>
          </a:prstGeom>
          <a:noFill/>
        </p:spPr>
        <p:txBody>
          <a:bodyPr wrap="square">
            <a:spAutoFit/>
          </a:bodyPr>
          <a:lstStyle/>
          <a:p>
            <a:pPr algn="r"/>
            <a:r>
              <a:rPr sz="900" b="0" i="0">
                <a:solidFill>
                  <a:srgbClr val="FFFFFF"/>
                </a:solidFill>
              </a:rPr>
              <a:t>25 / —</a:t>
            </a:r>
          </a:p>
        </p:txBody>
      </p:sp>
      <p:sp>
        <p:nvSpPr>
          <p:cNvPr id="10" name="Rectangle 9"/>
          <p:cNvSpPr/>
          <p:nvPr/>
        </p:nvSpPr>
        <p:spPr>
          <a:xfrm>
            <a:off x="365760" y="1234440"/>
            <a:ext cx="5394960" cy="34747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234440"/>
            <a:ext cx="5394960" cy="384048"/>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252728"/>
            <a:ext cx="5166360" cy="347472"/>
          </a:xfrm>
          <a:prstGeom prst="rect">
            <a:avLst/>
          </a:prstGeom>
          <a:noFill/>
        </p:spPr>
        <p:txBody>
          <a:bodyPr wrap="square">
            <a:spAutoFit/>
          </a:bodyPr>
          <a:lstStyle/>
          <a:p>
            <a:pPr algn="l"/>
            <a:r>
              <a:rPr sz="1200" b="1" i="0">
                <a:solidFill>
                  <a:srgbClr val="FFFFFF"/>
                </a:solidFill>
              </a:rPr>
              <a:t>Export Laporan PDF</a:t>
            </a:r>
          </a:p>
        </p:txBody>
      </p:sp>
      <p:sp>
        <p:nvSpPr>
          <p:cNvPr id="13" name="Rectangle 12"/>
          <p:cNvSpPr/>
          <p:nvPr/>
        </p:nvSpPr>
        <p:spPr>
          <a:xfrm>
            <a:off x="365760" y="1709928"/>
            <a:ext cx="539496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709928"/>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1920240"/>
            <a:ext cx="457200" cy="402336"/>
          </a:xfrm>
          <a:prstGeom prst="rect">
            <a:avLst/>
          </a:prstGeom>
          <a:noFill/>
        </p:spPr>
        <p:txBody>
          <a:bodyPr wrap="square">
            <a:spAutoFit/>
          </a:bodyPr>
          <a:lstStyle/>
          <a:p>
            <a:pPr algn="ctr"/>
            <a:r>
              <a:rPr sz="1700" b="1" i="0">
                <a:solidFill>
                  <a:srgbClr val="FFFFFF"/>
                </a:solidFill>
              </a:rPr>
              <a:t>1</a:t>
            </a:r>
          </a:p>
        </p:txBody>
      </p:sp>
      <p:sp>
        <p:nvSpPr>
          <p:cNvPr id="16" name="TextBox 15"/>
          <p:cNvSpPr txBox="1"/>
          <p:nvPr/>
        </p:nvSpPr>
        <p:spPr>
          <a:xfrm>
            <a:off x="896112" y="1755648"/>
            <a:ext cx="4800600" cy="274320"/>
          </a:xfrm>
          <a:prstGeom prst="rect">
            <a:avLst/>
          </a:prstGeom>
          <a:noFill/>
        </p:spPr>
        <p:txBody>
          <a:bodyPr wrap="square">
            <a:spAutoFit/>
          </a:bodyPr>
          <a:lstStyle/>
          <a:p>
            <a:pPr algn="l"/>
            <a:r>
              <a:rPr sz="1050" b="1" i="0">
                <a:solidFill>
                  <a:srgbClr val="1A376C"/>
                </a:solidFill>
              </a:rPr>
              <a:t>Pilih Periode</a:t>
            </a:r>
          </a:p>
        </p:txBody>
      </p:sp>
      <p:sp>
        <p:nvSpPr>
          <p:cNvPr id="17" name="TextBox 16"/>
          <p:cNvSpPr txBox="1"/>
          <p:nvPr/>
        </p:nvSpPr>
        <p:spPr>
          <a:xfrm>
            <a:off x="896112" y="2039112"/>
            <a:ext cx="4800600" cy="438912"/>
          </a:xfrm>
          <a:prstGeom prst="rect">
            <a:avLst/>
          </a:prstGeom>
          <a:noFill/>
        </p:spPr>
        <p:txBody>
          <a:bodyPr wrap="square">
            <a:spAutoFit/>
          </a:bodyPr>
          <a:lstStyle/>
          <a:p>
            <a:pPr algn="l"/>
            <a:r>
              <a:rPr sz="950" b="0" i="0">
                <a:solidFill>
                  <a:srgbClr val="444444"/>
                </a:solidFill>
              </a:rPr>
              <a:t>Pada halaman Pengukuran Kinerja, pilih periode dari dropdown.</a:t>
            </a:r>
          </a:p>
        </p:txBody>
      </p:sp>
      <p:sp>
        <p:nvSpPr>
          <p:cNvPr id="18" name="Rectangle 17"/>
          <p:cNvSpPr/>
          <p:nvPr/>
        </p:nvSpPr>
        <p:spPr>
          <a:xfrm>
            <a:off x="365760" y="2606040"/>
            <a:ext cx="539496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2606040"/>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816352"/>
            <a:ext cx="457200" cy="402336"/>
          </a:xfrm>
          <a:prstGeom prst="rect">
            <a:avLst/>
          </a:prstGeom>
          <a:noFill/>
        </p:spPr>
        <p:txBody>
          <a:bodyPr wrap="square">
            <a:spAutoFit/>
          </a:bodyPr>
          <a:lstStyle/>
          <a:p>
            <a:pPr algn="ctr"/>
            <a:r>
              <a:rPr sz="1700" b="1" i="0">
                <a:solidFill>
                  <a:srgbClr val="FFFFFF"/>
                </a:solidFill>
              </a:rPr>
              <a:t>2</a:t>
            </a:r>
          </a:p>
        </p:txBody>
      </p:sp>
      <p:sp>
        <p:nvSpPr>
          <p:cNvPr id="21" name="TextBox 20"/>
          <p:cNvSpPr txBox="1"/>
          <p:nvPr/>
        </p:nvSpPr>
        <p:spPr>
          <a:xfrm>
            <a:off x="896112" y="2651760"/>
            <a:ext cx="4800600" cy="274320"/>
          </a:xfrm>
          <a:prstGeom prst="rect">
            <a:avLst/>
          </a:prstGeom>
          <a:noFill/>
        </p:spPr>
        <p:txBody>
          <a:bodyPr wrap="square">
            <a:spAutoFit/>
          </a:bodyPr>
          <a:lstStyle/>
          <a:p>
            <a:pPr algn="l"/>
            <a:r>
              <a:rPr sz="1050" b="1" i="0">
                <a:solidFill>
                  <a:srgbClr val="1A376C"/>
                </a:solidFill>
              </a:rPr>
              <a:t>Klik Export PDF</a:t>
            </a:r>
          </a:p>
        </p:txBody>
      </p:sp>
      <p:sp>
        <p:nvSpPr>
          <p:cNvPr id="22" name="TextBox 21"/>
          <p:cNvSpPr txBox="1"/>
          <p:nvPr/>
        </p:nvSpPr>
        <p:spPr>
          <a:xfrm>
            <a:off x="896112" y="2935224"/>
            <a:ext cx="4800600" cy="438912"/>
          </a:xfrm>
          <a:prstGeom prst="rect">
            <a:avLst/>
          </a:prstGeom>
          <a:noFill/>
        </p:spPr>
        <p:txBody>
          <a:bodyPr wrap="square">
            <a:spAutoFit/>
          </a:bodyPr>
          <a:lstStyle/>
          <a:p>
            <a:pPr algn="l"/>
            <a:r>
              <a:rPr sz="950" b="0" i="0">
                <a:solidFill>
                  <a:srgbClr val="444444"/>
                </a:solidFill>
              </a:rPr>
              <a:t>Klik tombol 'Export PDF [TW]'. Halaman preview A3 landscape terbuka.</a:t>
            </a:r>
          </a:p>
        </p:txBody>
      </p:sp>
      <p:sp>
        <p:nvSpPr>
          <p:cNvPr id="23" name="Rectangle 22"/>
          <p:cNvSpPr/>
          <p:nvPr/>
        </p:nvSpPr>
        <p:spPr>
          <a:xfrm>
            <a:off x="365760" y="3502152"/>
            <a:ext cx="5394960" cy="822960"/>
          </a:xfrm>
          <a:prstGeom prst="rect">
            <a:avLst/>
          </a:prstGeom>
          <a:solidFill>
            <a:srgbClr val="FFFFFF"/>
          </a:solidFill>
          <a:ln w="9525">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502152"/>
            <a:ext cx="457200" cy="822960"/>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712464"/>
            <a:ext cx="457200" cy="402336"/>
          </a:xfrm>
          <a:prstGeom prst="rect">
            <a:avLst/>
          </a:prstGeom>
          <a:noFill/>
        </p:spPr>
        <p:txBody>
          <a:bodyPr wrap="square">
            <a:spAutoFit/>
          </a:bodyPr>
          <a:lstStyle/>
          <a:p>
            <a:pPr algn="ctr"/>
            <a:r>
              <a:rPr sz="1700" b="1" i="0">
                <a:solidFill>
                  <a:srgbClr val="FFFFFF"/>
                </a:solidFill>
              </a:rPr>
              <a:t>3</a:t>
            </a:r>
          </a:p>
        </p:txBody>
      </p:sp>
      <p:sp>
        <p:nvSpPr>
          <p:cNvPr id="26" name="TextBox 25"/>
          <p:cNvSpPr txBox="1"/>
          <p:nvPr/>
        </p:nvSpPr>
        <p:spPr>
          <a:xfrm>
            <a:off x="896112" y="3547872"/>
            <a:ext cx="4800600" cy="274320"/>
          </a:xfrm>
          <a:prstGeom prst="rect">
            <a:avLst/>
          </a:prstGeom>
          <a:noFill/>
        </p:spPr>
        <p:txBody>
          <a:bodyPr wrap="square">
            <a:spAutoFit/>
          </a:bodyPr>
          <a:lstStyle/>
          <a:p>
            <a:pPr algn="l"/>
            <a:r>
              <a:rPr sz="1050" b="1" i="0">
                <a:solidFill>
                  <a:srgbClr val="1A376C"/>
                </a:solidFill>
              </a:rPr>
              <a:t>Cetak / Simpan PDF</a:t>
            </a:r>
          </a:p>
        </p:txBody>
      </p:sp>
      <p:sp>
        <p:nvSpPr>
          <p:cNvPr id="27" name="TextBox 26"/>
          <p:cNvSpPr txBox="1"/>
          <p:nvPr/>
        </p:nvSpPr>
        <p:spPr>
          <a:xfrm>
            <a:off x="896112" y="3831336"/>
            <a:ext cx="4800600" cy="438912"/>
          </a:xfrm>
          <a:prstGeom prst="rect">
            <a:avLst/>
          </a:prstGeom>
          <a:noFill/>
        </p:spPr>
        <p:txBody>
          <a:bodyPr wrap="square">
            <a:spAutoFit/>
          </a:bodyPr>
          <a:lstStyle/>
          <a:p>
            <a:pPr algn="l"/>
            <a:r>
              <a:rPr sz="950" b="0" i="0">
                <a:solidFill>
                  <a:srgbClr val="444444"/>
                </a:solidFill>
              </a:rPr>
              <a:t>Tekan Ctrl+P/Cmd+P → pilih 'Save as PDF' atau printer fisik.</a:t>
            </a:r>
          </a:p>
        </p:txBody>
      </p:sp>
      <p:sp>
        <p:nvSpPr>
          <p:cNvPr id="28" name="Rectangle 27"/>
          <p:cNvSpPr/>
          <p:nvPr/>
        </p:nvSpPr>
        <p:spPr>
          <a:xfrm>
            <a:off x="365760" y="4800600"/>
            <a:ext cx="5394960" cy="411480"/>
          </a:xfrm>
          <a:prstGeom prst="rect">
            <a:avLst/>
          </a:prstGeom>
          <a:solidFill>
            <a:srgbClr val="E3F2FD"/>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837176"/>
            <a:ext cx="5193792" cy="338328"/>
          </a:xfrm>
          <a:prstGeom prst="rect">
            <a:avLst/>
          </a:prstGeom>
          <a:noFill/>
        </p:spPr>
        <p:txBody>
          <a:bodyPr wrap="square">
            <a:spAutoFit/>
          </a:bodyPr>
          <a:lstStyle/>
          <a:p>
            <a:pPr algn="l"/>
            <a:r>
              <a:rPr sz="900" b="0" i="0">
                <a:solidFill>
                  <a:srgbClr val="1A376C"/>
                </a:solidFill>
              </a:rPr>
              <a:t>ℹ  PDF berisi: Judul &amp; Periode | Matriks Realisasi | Status per Tim Kerja | Area Tanda Tangan.</a:t>
            </a:r>
          </a:p>
        </p:txBody>
      </p:sp>
      <p:sp>
        <p:nvSpPr>
          <p:cNvPr id="30" name="Rectangle 29"/>
          <p:cNvSpPr/>
          <p:nvPr/>
        </p:nvSpPr>
        <p:spPr>
          <a:xfrm>
            <a:off x="365760" y="5349240"/>
            <a:ext cx="5394960" cy="148132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5349240"/>
            <a:ext cx="5394960" cy="347472"/>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5367528"/>
            <a:ext cx="5166360" cy="310896"/>
          </a:xfrm>
          <a:prstGeom prst="rect">
            <a:avLst/>
          </a:prstGeom>
          <a:noFill/>
        </p:spPr>
        <p:txBody>
          <a:bodyPr wrap="square">
            <a:spAutoFit/>
          </a:bodyPr>
          <a:lstStyle/>
          <a:p>
            <a:pPr algn="l"/>
            <a:r>
              <a:rPr sz="1050" b="1" i="0">
                <a:solidFill>
                  <a:srgbClr val="FFFFFF"/>
                </a:solidFill>
              </a:rPr>
              <a:t>Checklist Review RA</a:t>
            </a:r>
          </a:p>
        </p:txBody>
      </p:sp>
      <p:sp>
        <p:nvSpPr>
          <p:cNvPr id="33" name="TextBox 32"/>
          <p:cNvSpPr txBox="1"/>
          <p:nvPr/>
        </p:nvSpPr>
        <p:spPr>
          <a:xfrm>
            <a:off x="502920" y="5760720"/>
            <a:ext cx="292608" cy="310896"/>
          </a:xfrm>
          <a:prstGeom prst="rect">
            <a:avLst/>
          </a:prstGeom>
          <a:noFill/>
        </p:spPr>
        <p:txBody>
          <a:bodyPr wrap="square">
            <a:spAutoFit/>
          </a:bodyPr>
          <a:lstStyle/>
          <a:p>
            <a:pPr algn="ctr"/>
            <a:r>
              <a:rPr sz="1200" b="1" i="0">
                <a:solidFill>
                  <a:srgbClr val="27AE60"/>
                </a:solidFill>
              </a:rPr>
              <a:t>☐</a:t>
            </a:r>
          </a:p>
        </p:txBody>
      </p:sp>
      <p:sp>
        <p:nvSpPr>
          <p:cNvPr id="34" name="TextBox 33"/>
          <p:cNvSpPr txBox="1"/>
          <p:nvPr/>
        </p:nvSpPr>
        <p:spPr>
          <a:xfrm>
            <a:off x="841248" y="5797296"/>
            <a:ext cx="4828032" cy="274320"/>
          </a:xfrm>
          <a:prstGeom prst="rect">
            <a:avLst/>
          </a:prstGeom>
          <a:noFill/>
        </p:spPr>
        <p:txBody>
          <a:bodyPr wrap="square">
            <a:spAutoFit/>
          </a:bodyPr>
          <a:lstStyle/>
          <a:p>
            <a:pPr algn="l"/>
            <a:r>
              <a:rPr sz="950" b="0" i="0">
                <a:solidFill>
                  <a:srgbClr val="444444"/>
                </a:solidFill>
              </a:rPr>
              <a:t>Semua IKU: target TW I–IV terisi &amp; tidak ada nilai kosong</a:t>
            </a:r>
          </a:p>
        </p:txBody>
      </p:sp>
      <p:sp>
        <p:nvSpPr>
          <p:cNvPr id="35" name="TextBox 34"/>
          <p:cNvSpPr txBox="1"/>
          <p:nvPr/>
        </p:nvSpPr>
        <p:spPr>
          <a:xfrm>
            <a:off x="502920" y="6108192"/>
            <a:ext cx="292608" cy="310896"/>
          </a:xfrm>
          <a:prstGeom prst="rect">
            <a:avLst/>
          </a:prstGeom>
          <a:noFill/>
        </p:spPr>
        <p:txBody>
          <a:bodyPr wrap="square">
            <a:spAutoFit/>
          </a:bodyPr>
          <a:lstStyle/>
          <a:p>
            <a:pPr algn="ctr"/>
            <a:r>
              <a:rPr sz="1200" b="1" i="0">
                <a:solidFill>
                  <a:srgbClr val="27AE60"/>
                </a:solidFill>
              </a:rPr>
              <a:t>☐</a:t>
            </a:r>
          </a:p>
        </p:txBody>
      </p:sp>
      <p:sp>
        <p:nvSpPr>
          <p:cNvPr id="36" name="TextBox 35"/>
          <p:cNvSpPr txBox="1"/>
          <p:nvPr/>
        </p:nvSpPr>
        <p:spPr>
          <a:xfrm>
            <a:off x="841248" y="6144768"/>
            <a:ext cx="4828032" cy="274320"/>
          </a:xfrm>
          <a:prstGeom prst="rect">
            <a:avLst/>
          </a:prstGeom>
          <a:noFill/>
        </p:spPr>
        <p:txBody>
          <a:bodyPr wrap="square">
            <a:spAutoFit/>
          </a:bodyPr>
          <a:lstStyle/>
          <a:p>
            <a:pPr algn="l"/>
            <a:r>
              <a:rPr sz="950" b="0" i="0">
                <a:solidFill>
                  <a:srgbClr val="444444"/>
                </a:solidFill>
              </a:rPr>
              <a:t>Target triwulan kumulatif (TW IV = target tahunan)</a:t>
            </a:r>
          </a:p>
        </p:txBody>
      </p:sp>
      <p:sp>
        <p:nvSpPr>
          <p:cNvPr id="37" name="TextBox 36"/>
          <p:cNvSpPr txBox="1"/>
          <p:nvPr/>
        </p:nvSpPr>
        <p:spPr>
          <a:xfrm>
            <a:off x="502920" y="6455664"/>
            <a:ext cx="292608" cy="310896"/>
          </a:xfrm>
          <a:prstGeom prst="rect">
            <a:avLst/>
          </a:prstGeom>
          <a:noFill/>
        </p:spPr>
        <p:txBody>
          <a:bodyPr wrap="square">
            <a:spAutoFit/>
          </a:bodyPr>
          <a:lstStyle/>
          <a:p>
            <a:pPr algn="ctr"/>
            <a:r>
              <a:rPr sz="1200" b="1" i="0">
                <a:solidFill>
                  <a:srgbClr val="27AE60"/>
                </a:solidFill>
              </a:rPr>
              <a:t>☐</a:t>
            </a:r>
          </a:p>
        </p:txBody>
      </p:sp>
      <p:sp>
        <p:nvSpPr>
          <p:cNvPr id="38" name="TextBox 37"/>
          <p:cNvSpPr txBox="1"/>
          <p:nvPr/>
        </p:nvSpPr>
        <p:spPr>
          <a:xfrm>
            <a:off x="841248" y="6492240"/>
            <a:ext cx="4828032" cy="274320"/>
          </a:xfrm>
          <a:prstGeom prst="rect">
            <a:avLst/>
          </a:prstGeom>
          <a:noFill/>
        </p:spPr>
        <p:txBody>
          <a:bodyPr wrap="square">
            <a:spAutoFit/>
          </a:bodyPr>
          <a:lstStyle/>
          <a:p>
            <a:pPr algn="l"/>
            <a:r>
              <a:rPr sz="950" b="0" i="0">
                <a:solidFill>
                  <a:srgbClr val="444444"/>
                </a:solidFill>
              </a:rPr>
              <a:t>IKU kolaborasi ter-assign ke PIC primer dan co-PIC yang benar</a:t>
            </a:r>
          </a:p>
        </p:txBody>
      </p:sp>
      <p:sp>
        <p:nvSpPr>
          <p:cNvPr id="39" name="Rectangle 38"/>
          <p:cNvSpPr/>
          <p:nvPr/>
        </p:nvSpPr>
        <p:spPr>
          <a:xfrm>
            <a:off x="6126480" y="1234440"/>
            <a:ext cx="5715000" cy="3474720"/>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26480" y="1234440"/>
            <a:ext cx="5715000" cy="384048"/>
          </a:xfrm>
          <a:prstGeom prst="rect">
            <a:avLst/>
          </a:prstGeom>
          <a:solidFill>
            <a:srgbClr val="1B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3640" y="1252728"/>
            <a:ext cx="5486400" cy="347472"/>
          </a:xfrm>
          <a:prstGeom prst="rect">
            <a:avLst/>
          </a:prstGeom>
          <a:noFill/>
        </p:spPr>
        <p:txBody>
          <a:bodyPr wrap="square">
            <a:spAutoFit/>
          </a:bodyPr>
          <a:lstStyle/>
          <a:p>
            <a:pPr algn="l"/>
            <a:r>
              <a:rPr sz="1200" b="1" i="0">
                <a:solidFill>
                  <a:srgbClr val="FFFFFF"/>
                </a:solidFill>
              </a:rPr>
              <a:t>Checklist Review Laporan Pengukuran</a:t>
            </a:r>
          </a:p>
        </p:txBody>
      </p:sp>
      <p:sp>
        <p:nvSpPr>
          <p:cNvPr id="42" name="Rectangle 41"/>
          <p:cNvSpPr/>
          <p:nvPr/>
        </p:nvSpPr>
        <p:spPr>
          <a:xfrm>
            <a:off x="6126480" y="1709928"/>
            <a:ext cx="5715000" cy="48463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45352" y="1764792"/>
            <a:ext cx="292608" cy="365760"/>
          </a:xfrm>
          <a:prstGeom prst="rect">
            <a:avLst/>
          </a:prstGeom>
          <a:noFill/>
        </p:spPr>
        <p:txBody>
          <a:bodyPr wrap="square">
            <a:spAutoFit/>
          </a:bodyPr>
          <a:lstStyle/>
          <a:p>
            <a:pPr algn="ctr"/>
            <a:r>
              <a:rPr sz="1200" b="1" i="0">
                <a:solidFill>
                  <a:srgbClr val="27AE60"/>
                </a:solidFill>
              </a:rPr>
              <a:t>☐</a:t>
            </a:r>
          </a:p>
        </p:txBody>
      </p:sp>
      <p:sp>
        <p:nvSpPr>
          <p:cNvPr id="44" name="TextBox 43"/>
          <p:cNvSpPr txBox="1"/>
          <p:nvPr/>
        </p:nvSpPr>
        <p:spPr>
          <a:xfrm>
            <a:off x="6583680" y="1783080"/>
            <a:ext cx="5166360" cy="365760"/>
          </a:xfrm>
          <a:prstGeom prst="rect">
            <a:avLst/>
          </a:prstGeom>
          <a:noFill/>
        </p:spPr>
        <p:txBody>
          <a:bodyPr wrap="square">
            <a:spAutoFit/>
          </a:bodyPr>
          <a:lstStyle/>
          <a:p>
            <a:pPr algn="l"/>
            <a:r>
              <a:rPr sz="950" b="0" i="0">
                <a:solidFill>
                  <a:srgbClr val="444444"/>
                </a:solidFill>
              </a:rPr>
              <a:t>Semua IKU Tim Kerja sudah diisi nilai realisasi</a:t>
            </a:r>
          </a:p>
        </p:txBody>
      </p:sp>
      <p:sp>
        <p:nvSpPr>
          <p:cNvPr id="45" name="Rectangle 44"/>
          <p:cNvSpPr/>
          <p:nvPr/>
        </p:nvSpPr>
        <p:spPr>
          <a:xfrm>
            <a:off x="6126480" y="2212848"/>
            <a:ext cx="57150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2" y="2267712"/>
            <a:ext cx="292608" cy="365760"/>
          </a:xfrm>
          <a:prstGeom prst="rect">
            <a:avLst/>
          </a:prstGeom>
          <a:noFill/>
        </p:spPr>
        <p:txBody>
          <a:bodyPr wrap="square">
            <a:spAutoFit/>
          </a:bodyPr>
          <a:lstStyle/>
          <a:p>
            <a:pPr algn="ctr"/>
            <a:r>
              <a:rPr sz="1200" b="1" i="0">
                <a:solidFill>
                  <a:srgbClr val="27AE60"/>
                </a:solidFill>
              </a:rPr>
              <a:t>☐</a:t>
            </a:r>
          </a:p>
        </p:txBody>
      </p:sp>
      <p:sp>
        <p:nvSpPr>
          <p:cNvPr id="47" name="TextBox 46"/>
          <p:cNvSpPr txBox="1"/>
          <p:nvPr/>
        </p:nvSpPr>
        <p:spPr>
          <a:xfrm>
            <a:off x="6583680" y="2286000"/>
            <a:ext cx="5166360" cy="365760"/>
          </a:xfrm>
          <a:prstGeom prst="rect">
            <a:avLst/>
          </a:prstGeom>
          <a:noFill/>
        </p:spPr>
        <p:txBody>
          <a:bodyPr wrap="square">
            <a:spAutoFit/>
          </a:bodyPr>
          <a:lstStyle/>
          <a:p>
            <a:pPr algn="l"/>
            <a:r>
              <a:rPr sz="950" b="0" i="0">
                <a:solidFill>
                  <a:srgbClr val="444444"/>
                </a:solidFill>
              </a:rPr>
              <a:t>Nilai realisasi wajar dan konsisten dengan periode sebelumnya</a:t>
            </a:r>
          </a:p>
        </p:txBody>
      </p:sp>
      <p:sp>
        <p:nvSpPr>
          <p:cNvPr id="48" name="Rectangle 47"/>
          <p:cNvSpPr/>
          <p:nvPr/>
        </p:nvSpPr>
        <p:spPr>
          <a:xfrm>
            <a:off x="6126480" y="2715768"/>
            <a:ext cx="5715000" cy="48463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45352" y="2770632"/>
            <a:ext cx="292608" cy="365760"/>
          </a:xfrm>
          <a:prstGeom prst="rect">
            <a:avLst/>
          </a:prstGeom>
          <a:noFill/>
        </p:spPr>
        <p:txBody>
          <a:bodyPr wrap="square">
            <a:spAutoFit/>
          </a:bodyPr>
          <a:lstStyle/>
          <a:p>
            <a:pPr algn="ctr"/>
            <a:r>
              <a:rPr sz="1200" b="1" i="0">
                <a:solidFill>
                  <a:srgbClr val="27AE60"/>
                </a:solidFill>
              </a:rPr>
              <a:t>☐</a:t>
            </a:r>
          </a:p>
        </p:txBody>
      </p:sp>
      <p:sp>
        <p:nvSpPr>
          <p:cNvPr id="50" name="TextBox 49"/>
          <p:cNvSpPr txBox="1"/>
          <p:nvPr/>
        </p:nvSpPr>
        <p:spPr>
          <a:xfrm>
            <a:off x="6583680" y="2788920"/>
            <a:ext cx="5166360" cy="365760"/>
          </a:xfrm>
          <a:prstGeom prst="rect">
            <a:avLst/>
          </a:prstGeom>
          <a:noFill/>
        </p:spPr>
        <p:txBody>
          <a:bodyPr wrap="square">
            <a:spAutoFit/>
          </a:bodyPr>
          <a:lstStyle/>
          <a:p>
            <a:pPr algn="l"/>
            <a:r>
              <a:rPr sz="950" b="0" i="0">
                <a:solidFill>
                  <a:srgbClr val="444444"/>
                </a:solidFill>
              </a:rPr>
              <a:t>Kolom Progress Kegiatan terisi dengan deskripsi yang jelas</a:t>
            </a:r>
          </a:p>
        </p:txBody>
      </p:sp>
      <p:sp>
        <p:nvSpPr>
          <p:cNvPr id="51" name="Rectangle 50"/>
          <p:cNvSpPr/>
          <p:nvPr/>
        </p:nvSpPr>
        <p:spPr>
          <a:xfrm>
            <a:off x="6126480" y="3218688"/>
            <a:ext cx="57150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45352" y="3273552"/>
            <a:ext cx="292608" cy="365760"/>
          </a:xfrm>
          <a:prstGeom prst="rect">
            <a:avLst/>
          </a:prstGeom>
          <a:noFill/>
        </p:spPr>
        <p:txBody>
          <a:bodyPr wrap="square">
            <a:spAutoFit/>
          </a:bodyPr>
          <a:lstStyle/>
          <a:p>
            <a:pPr algn="ctr"/>
            <a:r>
              <a:rPr sz="1200" b="1" i="0">
                <a:solidFill>
                  <a:srgbClr val="27AE60"/>
                </a:solidFill>
              </a:rPr>
              <a:t>☐</a:t>
            </a:r>
          </a:p>
        </p:txBody>
      </p:sp>
      <p:sp>
        <p:nvSpPr>
          <p:cNvPr id="53" name="TextBox 52"/>
          <p:cNvSpPr txBox="1"/>
          <p:nvPr/>
        </p:nvSpPr>
        <p:spPr>
          <a:xfrm>
            <a:off x="6583680" y="3291840"/>
            <a:ext cx="5166360" cy="365760"/>
          </a:xfrm>
          <a:prstGeom prst="rect">
            <a:avLst/>
          </a:prstGeom>
          <a:noFill/>
        </p:spPr>
        <p:txBody>
          <a:bodyPr wrap="square">
            <a:spAutoFit/>
          </a:bodyPr>
          <a:lstStyle/>
          <a:p>
            <a:pPr algn="l"/>
            <a:r>
              <a:rPr sz="950" b="0" i="0">
                <a:solidFill>
                  <a:srgbClr val="444444"/>
                </a:solidFill>
              </a:rPr>
              <a:t>Kolom Kendala diisi jika ada hambatan signifikan</a:t>
            </a:r>
          </a:p>
        </p:txBody>
      </p:sp>
      <p:sp>
        <p:nvSpPr>
          <p:cNvPr id="54" name="Rectangle 53"/>
          <p:cNvSpPr/>
          <p:nvPr/>
        </p:nvSpPr>
        <p:spPr>
          <a:xfrm>
            <a:off x="6126480" y="3721608"/>
            <a:ext cx="5715000" cy="484632"/>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245352" y="3776472"/>
            <a:ext cx="292608" cy="365760"/>
          </a:xfrm>
          <a:prstGeom prst="rect">
            <a:avLst/>
          </a:prstGeom>
          <a:noFill/>
        </p:spPr>
        <p:txBody>
          <a:bodyPr wrap="square">
            <a:spAutoFit/>
          </a:bodyPr>
          <a:lstStyle/>
          <a:p>
            <a:pPr algn="ctr"/>
            <a:r>
              <a:rPr sz="1200" b="1" i="0">
                <a:solidFill>
                  <a:srgbClr val="27AE60"/>
                </a:solidFill>
              </a:rPr>
              <a:t>☐</a:t>
            </a:r>
          </a:p>
        </p:txBody>
      </p:sp>
      <p:sp>
        <p:nvSpPr>
          <p:cNvPr id="56" name="TextBox 55"/>
          <p:cNvSpPr txBox="1"/>
          <p:nvPr/>
        </p:nvSpPr>
        <p:spPr>
          <a:xfrm>
            <a:off x="6583680" y="3794760"/>
            <a:ext cx="5166360" cy="365760"/>
          </a:xfrm>
          <a:prstGeom prst="rect">
            <a:avLst/>
          </a:prstGeom>
          <a:noFill/>
        </p:spPr>
        <p:txBody>
          <a:bodyPr wrap="square">
            <a:spAutoFit/>
          </a:bodyPr>
          <a:lstStyle/>
          <a:p>
            <a:pPr algn="l"/>
            <a:r>
              <a:rPr sz="950" b="0" i="0">
                <a:solidFill>
                  <a:srgbClr val="444444"/>
                </a:solidFill>
              </a:rPr>
              <a:t>Kolom Strategi Tindak Lanjut diisi sesuai kendala</a:t>
            </a:r>
          </a:p>
        </p:txBody>
      </p:sp>
      <p:sp>
        <p:nvSpPr>
          <p:cNvPr id="57" name="Rectangle 56"/>
          <p:cNvSpPr/>
          <p:nvPr/>
        </p:nvSpPr>
        <p:spPr>
          <a:xfrm>
            <a:off x="6126480" y="4224528"/>
            <a:ext cx="5715000" cy="4846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45352" y="4279392"/>
            <a:ext cx="292608" cy="365760"/>
          </a:xfrm>
          <a:prstGeom prst="rect">
            <a:avLst/>
          </a:prstGeom>
          <a:noFill/>
        </p:spPr>
        <p:txBody>
          <a:bodyPr wrap="square">
            <a:spAutoFit/>
          </a:bodyPr>
          <a:lstStyle/>
          <a:p>
            <a:pPr algn="ctr"/>
            <a:r>
              <a:rPr sz="1200" b="1" i="0">
                <a:solidFill>
                  <a:srgbClr val="27AE60"/>
                </a:solidFill>
              </a:rPr>
              <a:t>☐</a:t>
            </a:r>
          </a:p>
        </p:txBody>
      </p:sp>
      <p:sp>
        <p:nvSpPr>
          <p:cNvPr id="59" name="TextBox 58"/>
          <p:cNvSpPr txBox="1"/>
          <p:nvPr/>
        </p:nvSpPr>
        <p:spPr>
          <a:xfrm>
            <a:off x="6583680" y="4297680"/>
            <a:ext cx="5166360" cy="365760"/>
          </a:xfrm>
          <a:prstGeom prst="rect">
            <a:avLst/>
          </a:prstGeom>
          <a:noFill/>
        </p:spPr>
        <p:txBody>
          <a:bodyPr wrap="square">
            <a:spAutoFit/>
          </a:bodyPr>
          <a:lstStyle/>
          <a:p>
            <a:pPr algn="l"/>
            <a:r>
              <a:rPr sz="950" b="0" i="0">
                <a:solidFill>
                  <a:srgbClr val="444444"/>
                </a:solidFill>
              </a:rPr>
              <a:t>IKU kolaborasi: kolom 'Diisi Oleh' menampilkan tim yang tepat</a:t>
            </a:r>
          </a:p>
        </p:txBody>
      </p:sp>
      <p:sp>
        <p:nvSpPr>
          <p:cNvPr id="60" name="Rectangle 59"/>
          <p:cNvSpPr/>
          <p:nvPr/>
        </p:nvSpPr>
        <p:spPr>
          <a:xfrm>
            <a:off x="6126480" y="4800600"/>
            <a:ext cx="5715000" cy="2029968"/>
          </a:xfrm>
          <a:prstGeom prst="rect">
            <a:avLst/>
          </a:prstGeom>
          <a:solidFill>
            <a:srgbClr val="FFFFFF"/>
          </a:solidFill>
          <a:ln w="12700">
            <a:solidFill>
              <a:srgbClr val="CCD9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126480" y="4800600"/>
            <a:ext cx="5715000"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263640" y="4818888"/>
            <a:ext cx="5486400" cy="310896"/>
          </a:xfrm>
          <a:prstGeom prst="rect">
            <a:avLst/>
          </a:prstGeom>
          <a:noFill/>
        </p:spPr>
        <p:txBody>
          <a:bodyPr wrap="square">
            <a:spAutoFit/>
          </a:bodyPr>
          <a:lstStyle/>
          <a:p>
            <a:pPr algn="l"/>
            <a:r>
              <a:rPr sz="1100" b="1" i="0">
                <a:solidFill>
                  <a:srgbClr val="FFFFFF"/>
                </a:solidFill>
              </a:rPr>
              <a:t>FAQ Singkat — Kabag Umum</a:t>
            </a:r>
          </a:p>
        </p:txBody>
      </p:sp>
      <p:sp>
        <p:nvSpPr>
          <p:cNvPr id="63" name="Rectangle 62"/>
          <p:cNvSpPr/>
          <p:nvPr/>
        </p:nvSpPr>
        <p:spPr>
          <a:xfrm>
            <a:off x="6126480" y="5230368"/>
            <a:ext cx="5715000" cy="512064"/>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63640" y="5266944"/>
            <a:ext cx="5486400" cy="201168"/>
          </a:xfrm>
          <a:prstGeom prst="rect">
            <a:avLst/>
          </a:prstGeom>
          <a:noFill/>
        </p:spPr>
        <p:txBody>
          <a:bodyPr wrap="square">
            <a:spAutoFit/>
          </a:bodyPr>
          <a:lstStyle/>
          <a:p>
            <a:pPr algn="l"/>
            <a:r>
              <a:rPr sz="950" b="1" i="0">
                <a:solidFill>
                  <a:srgbClr val="1A376C"/>
                </a:solidFill>
              </a:rPr>
              <a:t>Q: Tombol Setujui tidak muncul?</a:t>
            </a:r>
          </a:p>
        </p:txBody>
      </p:sp>
      <p:sp>
        <p:nvSpPr>
          <p:cNvPr id="65" name="TextBox 64"/>
          <p:cNvSpPr txBox="1"/>
          <p:nvPr/>
        </p:nvSpPr>
        <p:spPr>
          <a:xfrm>
            <a:off x="6263640" y="5486400"/>
            <a:ext cx="5486400" cy="219456"/>
          </a:xfrm>
          <a:prstGeom prst="rect">
            <a:avLst/>
          </a:prstGeom>
          <a:noFill/>
        </p:spPr>
        <p:txBody>
          <a:bodyPr wrap="square">
            <a:spAutoFit/>
          </a:bodyPr>
          <a:lstStyle/>
          <a:p>
            <a:pPr algn="l"/>
            <a:r>
              <a:rPr sz="900" b="0" i="0">
                <a:solidFill>
                  <a:srgbClr val="444444"/>
                </a:solidFill>
              </a:rPr>
              <a:t>A: Status dokumen bukan 'submitted'. Cek badge status Tim Kerja tersebut.</a:t>
            </a:r>
          </a:p>
        </p:txBody>
      </p:sp>
      <p:sp>
        <p:nvSpPr>
          <p:cNvPr id="66" name="Rectangle 65"/>
          <p:cNvSpPr/>
          <p:nvPr/>
        </p:nvSpPr>
        <p:spPr>
          <a:xfrm>
            <a:off x="6126480" y="5760720"/>
            <a:ext cx="571500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63640" y="5797296"/>
            <a:ext cx="5486400" cy="201168"/>
          </a:xfrm>
          <a:prstGeom prst="rect">
            <a:avLst/>
          </a:prstGeom>
          <a:noFill/>
        </p:spPr>
        <p:txBody>
          <a:bodyPr wrap="square">
            <a:spAutoFit/>
          </a:bodyPr>
          <a:lstStyle/>
          <a:p>
            <a:pPr algn="l"/>
            <a:r>
              <a:rPr sz="950" b="1" i="0">
                <a:solidFill>
                  <a:srgbClr val="1A376C"/>
                </a:solidFill>
              </a:rPr>
              <a:t>Q: Bisakah saya batalkan persetujuan?</a:t>
            </a:r>
          </a:p>
        </p:txBody>
      </p:sp>
      <p:sp>
        <p:nvSpPr>
          <p:cNvPr id="68" name="TextBox 67"/>
          <p:cNvSpPr txBox="1"/>
          <p:nvPr/>
        </p:nvSpPr>
        <p:spPr>
          <a:xfrm>
            <a:off x="6263640" y="6016752"/>
            <a:ext cx="5486400" cy="219456"/>
          </a:xfrm>
          <a:prstGeom prst="rect">
            <a:avLst/>
          </a:prstGeom>
          <a:noFill/>
        </p:spPr>
        <p:txBody>
          <a:bodyPr wrap="square">
            <a:spAutoFit/>
          </a:bodyPr>
          <a:lstStyle/>
          <a:p>
            <a:pPr algn="l"/>
            <a:r>
              <a:rPr sz="900" b="0" i="0">
                <a:solidFill>
                  <a:srgbClr val="444444"/>
                </a:solidFill>
              </a:rPr>
              <a:t>A: Tidak. Hanya SuperAdmin yang bisa membuka kembali dokumen ppk_approved.</a:t>
            </a:r>
          </a:p>
        </p:txBody>
      </p:sp>
      <p:sp>
        <p:nvSpPr>
          <p:cNvPr id="69" name="Rectangle 68"/>
          <p:cNvSpPr/>
          <p:nvPr/>
        </p:nvSpPr>
        <p:spPr>
          <a:xfrm>
            <a:off x="6126480" y="6291072"/>
            <a:ext cx="5715000" cy="512064"/>
          </a:xfrm>
          <a:prstGeom prst="rect">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263640" y="6327648"/>
            <a:ext cx="5486400" cy="201168"/>
          </a:xfrm>
          <a:prstGeom prst="rect">
            <a:avLst/>
          </a:prstGeom>
          <a:noFill/>
        </p:spPr>
        <p:txBody>
          <a:bodyPr wrap="square">
            <a:spAutoFit/>
          </a:bodyPr>
          <a:lstStyle/>
          <a:p>
            <a:pPr algn="l"/>
            <a:r>
              <a:rPr sz="950" b="1" i="0">
                <a:solidFill>
                  <a:srgbClr val="1A376C"/>
                </a:solidFill>
              </a:rPr>
              <a:t>Q: Laporan mana yang menunggu review?</a:t>
            </a:r>
          </a:p>
        </p:txBody>
      </p:sp>
      <p:sp>
        <p:nvSpPr>
          <p:cNvPr id="71" name="TextBox 70"/>
          <p:cNvSpPr txBox="1"/>
          <p:nvPr/>
        </p:nvSpPr>
        <p:spPr>
          <a:xfrm>
            <a:off x="6263640" y="6547104"/>
            <a:ext cx="5486400" cy="219456"/>
          </a:xfrm>
          <a:prstGeom prst="rect">
            <a:avLst/>
          </a:prstGeom>
          <a:noFill/>
        </p:spPr>
        <p:txBody>
          <a:bodyPr wrap="square">
            <a:spAutoFit/>
          </a:bodyPr>
          <a:lstStyle/>
          <a:p>
            <a:pPr algn="l"/>
            <a:r>
              <a:rPr sz="900" b="0" i="0">
                <a:solidFill>
                  <a:srgbClr val="444444"/>
                </a:solidFill>
              </a:rPr>
              <a:t>A: Cek Dashboard: angka 'Menunggu Review'. Klik untuk menuju halaman tersebut.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88952" cy="7315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10360152" cy="1097280"/>
          </a:xfrm>
          <a:prstGeom prst="rect">
            <a:avLst/>
          </a:prstGeom>
          <a:noFill/>
        </p:spPr>
        <p:txBody>
          <a:bodyPr wrap="square">
            <a:spAutoFit/>
          </a:bodyPr>
          <a:lstStyle/>
          <a:p>
            <a:pPr algn="ctr"/>
            <a:r>
              <a:rPr sz="4400" b="1" i="0">
                <a:solidFill>
                  <a:srgbClr val="FFFFFF"/>
                </a:solidFill>
              </a:rPr>
              <a:t>Terima Kasih</a:t>
            </a:r>
          </a:p>
        </p:txBody>
      </p:sp>
      <p:sp>
        <p:nvSpPr>
          <p:cNvPr id="5" name="TextBox 4"/>
          <p:cNvSpPr txBox="1"/>
          <p:nvPr/>
        </p:nvSpPr>
        <p:spPr>
          <a:xfrm>
            <a:off x="914400" y="2377440"/>
            <a:ext cx="10360152" cy="548640"/>
          </a:xfrm>
          <a:prstGeom prst="rect">
            <a:avLst/>
          </a:prstGeom>
          <a:noFill/>
        </p:spPr>
        <p:txBody>
          <a:bodyPr wrap="square">
            <a:spAutoFit/>
          </a:bodyPr>
          <a:lstStyle/>
          <a:p>
            <a:pPr algn="ctr"/>
            <a:r>
              <a:rPr sz="1600" b="0" i="0">
                <a:solidFill>
                  <a:srgbClr val="F5A623"/>
                </a:solidFill>
              </a:rPr>
              <a:t>Buku Petunjuk Teknis SIPITUNG — LLDIKTI Wilayah III</a:t>
            </a:r>
          </a:p>
        </p:txBody>
      </p:sp>
      <p:sp>
        <p:nvSpPr>
          <p:cNvPr id="6" name="TextBox 5"/>
          <p:cNvSpPr txBox="1"/>
          <p:nvPr/>
        </p:nvSpPr>
        <p:spPr>
          <a:xfrm>
            <a:off x="914400" y="3429000"/>
            <a:ext cx="10360152" cy="457200"/>
          </a:xfrm>
          <a:prstGeom prst="rect">
            <a:avLst/>
          </a:prstGeom>
          <a:noFill/>
        </p:spPr>
        <p:txBody>
          <a:bodyPr wrap="square">
            <a:spAutoFit/>
          </a:bodyPr>
          <a:lstStyle/>
          <a:p>
            <a:pPr algn="ctr"/>
            <a:r>
              <a:rPr sz="1300" b="0" i="0">
                <a:solidFill>
                  <a:srgbClr val="FFFFFF"/>
                </a:solidFill>
              </a:rPr>
              <a:t>Untuk pertanyaan dan bantuan teknis, hubungi Admin Sistem SIPITUNG</a:t>
            </a:r>
          </a:p>
        </p:txBody>
      </p:sp>
      <p:sp>
        <p:nvSpPr>
          <p:cNvPr id="7" name="TextBox 6"/>
          <p:cNvSpPr txBox="1"/>
          <p:nvPr/>
        </p:nvSpPr>
        <p:spPr>
          <a:xfrm>
            <a:off x="914400" y="3977639"/>
            <a:ext cx="10360152" cy="411480"/>
          </a:xfrm>
          <a:prstGeom prst="rect">
            <a:avLst/>
          </a:prstGeom>
          <a:noFill/>
        </p:spPr>
        <p:txBody>
          <a:bodyPr wrap="square">
            <a:spAutoFit/>
          </a:bodyPr>
          <a:lstStyle/>
          <a:p>
            <a:pPr algn="ctr"/>
            <a:r>
              <a:rPr sz="1100" b="0" i="0">
                <a:solidFill>
                  <a:srgbClr val="88A8D0"/>
                </a:solidFill>
              </a:rPr>
              <a:t>Versi 1.0  |  April 2026</a:t>
            </a:r>
          </a:p>
        </p:txBody>
      </p:sp>
      <p:sp>
        <p:nvSpPr>
          <p:cNvPr id="8" name="Rectangle 7"/>
          <p:cNvSpPr/>
          <p:nvPr/>
        </p:nvSpPr>
        <p:spPr>
          <a:xfrm>
            <a:off x="2286000" y="4709160"/>
            <a:ext cx="2331720" cy="530352"/>
          </a:xfrm>
          <a:prstGeom prst="rect">
            <a:avLst/>
          </a:prstGeom>
          <a:solidFill>
            <a:srgbClr val="1E4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4773168"/>
            <a:ext cx="2148840" cy="402336"/>
          </a:xfrm>
          <a:prstGeom prst="rect">
            <a:avLst/>
          </a:prstGeom>
          <a:noFill/>
        </p:spPr>
        <p:txBody>
          <a:bodyPr wrap="square">
            <a:spAutoFit/>
          </a:bodyPr>
          <a:lstStyle/>
          <a:p>
            <a:pPr algn="ctr"/>
            <a:r>
              <a:rPr sz="1100" b="1" i="0">
                <a:solidFill>
                  <a:srgbClr val="FFFFFF"/>
                </a:solidFill>
              </a:rPr>
              <a:t>Bagian I: Rencana Aksi</a:t>
            </a:r>
          </a:p>
        </p:txBody>
      </p:sp>
      <p:sp>
        <p:nvSpPr>
          <p:cNvPr id="10" name="Rectangle 9"/>
          <p:cNvSpPr/>
          <p:nvPr/>
        </p:nvSpPr>
        <p:spPr>
          <a:xfrm>
            <a:off x="4846320" y="4709160"/>
            <a:ext cx="2331720" cy="53035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59" y="4773168"/>
            <a:ext cx="2148840" cy="402336"/>
          </a:xfrm>
          <a:prstGeom prst="rect">
            <a:avLst/>
          </a:prstGeom>
          <a:noFill/>
        </p:spPr>
        <p:txBody>
          <a:bodyPr wrap="square">
            <a:spAutoFit/>
          </a:bodyPr>
          <a:lstStyle/>
          <a:p>
            <a:pPr algn="ctr"/>
            <a:r>
              <a:rPr sz="1100" b="1" i="0">
                <a:solidFill>
                  <a:srgbClr val="FFFFFF"/>
                </a:solidFill>
              </a:rPr>
              <a:t>Bagian II: Pengukuran</a:t>
            </a:r>
          </a:p>
        </p:txBody>
      </p:sp>
      <p:sp>
        <p:nvSpPr>
          <p:cNvPr id="12" name="Rectangle 11"/>
          <p:cNvSpPr/>
          <p:nvPr/>
        </p:nvSpPr>
        <p:spPr>
          <a:xfrm>
            <a:off x="7406640" y="4709160"/>
            <a:ext cx="2331720" cy="530352"/>
          </a:xfrm>
          <a:prstGeom prst="rect">
            <a:avLst/>
          </a:prstGeom>
          <a:solidFill>
            <a:srgbClr val="1A6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4773168"/>
            <a:ext cx="2148840" cy="402336"/>
          </a:xfrm>
          <a:prstGeom prst="rect">
            <a:avLst/>
          </a:prstGeom>
          <a:noFill/>
        </p:spPr>
        <p:txBody>
          <a:bodyPr wrap="square">
            <a:spAutoFit/>
          </a:bodyPr>
          <a:lstStyle/>
          <a:p>
            <a:pPr algn="ctr"/>
            <a:r>
              <a:rPr sz="1100" b="1" i="0">
                <a:solidFill>
                  <a:srgbClr val="FFFFFF"/>
                </a:solidFill>
              </a:rPr>
              <a:t>Bagian III: Kabag Umum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