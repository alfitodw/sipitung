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97" d="100"/>
          <a:sy n="97" d="100"/>
        </p:scale>
        <p:origin x="15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346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83680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9C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  /  MODUL KEUANGAN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0" y="658368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LLDIKTI WILAYAH III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028"/>
            <a:ext cx="3931920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73152" cy="6858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29260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PETUNJUK PENGGUNAAN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Keuangan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283464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069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book untuk seluruh pengguna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Admin, PUMK, KA.TIM, PIC Keuangan,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Pimpinan, PPK, dan Bendahara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245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LLDIKTI WILAYAH III  |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74980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99432" y="1481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Informasi Perencanaan &amp; Kinerja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240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digital pengelolaan Permohonan Dana Kegiatan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9432" y="281635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master data dan RKA-K/L hingga pencairan, bukti pembayaran, dan LPJ.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9432" y="3886200"/>
            <a:ext cx="1444752" cy="960120"/>
          </a:xfrm>
          <a:prstGeom prst="roundRect">
            <a:avLst>
              <a:gd name="adj" fmla="val 11429"/>
            </a:avLst>
          </a:prstGeom>
          <a:solidFill>
            <a:srgbClr val="173B59"/>
          </a:solidFill>
          <a:ln w="12700">
            <a:solidFill>
              <a:srgbClr val="315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36592" y="40507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4352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91072" y="3886200"/>
            <a:ext cx="1444752" cy="960120"/>
          </a:xfrm>
          <a:prstGeom prst="roundRect">
            <a:avLst>
              <a:gd name="adj" fmla="val 11429"/>
            </a:avLst>
          </a:prstGeom>
          <a:solidFill>
            <a:srgbClr val="173B59"/>
          </a:solidFill>
          <a:ln w="12700">
            <a:solidFill>
              <a:srgbClr val="315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40507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28232" y="4352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Permohonan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82712" y="3886200"/>
            <a:ext cx="1444752" cy="960120"/>
          </a:xfrm>
          <a:prstGeom prst="roundRect">
            <a:avLst>
              <a:gd name="adj" fmla="val 11429"/>
            </a:avLst>
          </a:prstGeom>
          <a:solidFill>
            <a:srgbClr val="173B59"/>
          </a:solidFill>
          <a:ln w="12700">
            <a:solidFill>
              <a:srgbClr val="315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19872" y="40507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19872" y="4352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74352" y="3886200"/>
            <a:ext cx="1444752" cy="960120"/>
          </a:xfrm>
          <a:prstGeom prst="roundRect">
            <a:avLst>
              <a:gd name="adj" fmla="val 11429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11512" y="40507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11512" y="4352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Realisasi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E84DE6D-9CC7-5BED-17B7-3F8A576D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35" y="617120"/>
            <a:ext cx="2663451" cy="7742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ORIENTASI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Panduan dalam satu alur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daftar ini untuk menemukan bagian yang sesuai dengan peran Anda.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166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5528" y="19933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20025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62456" y="19202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62456" y="22402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Tujuan, aktor, dan alur umum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166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19088" y="19933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19088" y="20025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86016" y="19202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86016" y="22402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Tahun anggaran, pengguna, pegawai, tim kerja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5166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5528" y="322783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" y="32369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62456" y="31546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Anggaran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62456" y="34747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RKA-K/L dan struktur rincian biaya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5166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19088" y="322783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19088" y="32369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86016" y="31546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Permohonan Dana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86016" y="34747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Pengajuan, dokumen, biaya, dan nominatif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206240"/>
            <a:ext cx="5166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5528" y="446227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5528" y="4471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362456" y="43891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62456" y="47091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KA.TIM, PIC Keuangan, Pimpinan, dan PPK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206240"/>
            <a:ext cx="5166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19088" y="446227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19088" y="4471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86016" y="43891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Pencairan &amp; LPJ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86016" y="47091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Bendahara, bukti bayar, dan pertanggungjawaban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ORIENTASI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dikelola SIPITUNG?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Keuangan menghubungkan anggaran, permohonan, persetujuan, pencairan, dan pertanggungjawaban dalam satu jejak proses.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73152" cy="132588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186537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" y="2075688"/>
            <a:ext cx="3063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Membantu setiap pengguna memahami langkah dan batas kewenangannya sebelum memproses data keuangan.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73152" cy="132588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0288" y="186537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PRINSIP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90288" y="2075688"/>
            <a:ext cx="3063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dimasukkan sekali, diperiksa berjenjang, dan tersimpan sebagai riwayat proses.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73152" cy="13258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85048" y="186537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85048" y="2075688"/>
            <a:ext cx="3063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data yang sah dan sesuai dokumen RKA-K/L. Hindari mengunggah data yang tidak diperlukan.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utama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224528"/>
            <a:ext cx="1298448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" y="438912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47672" y="4370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76272" y="4224528"/>
            <a:ext cx="1298448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9424" y="438912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RKA-K/L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9584" y="4370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758184" y="4224528"/>
            <a:ext cx="1298448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31336" y="438912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Permohonan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11496" y="4370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340096" y="4224528"/>
            <a:ext cx="1298448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13248" y="438912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Verifikasi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93408" y="4370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22008" y="4224528"/>
            <a:ext cx="1298448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95160" y="438912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75320" y="4370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503920" y="4224528"/>
            <a:ext cx="1298448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77072" y="438912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Pencairan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857232" y="43708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085832" y="4224528"/>
            <a:ext cx="1298448" cy="594360"/>
          </a:xfrm>
          <a:prstGeom prst="roundRect">
            <a:avLst>
              <a:gd name="adj" fmla="val 18462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158984" y="438912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LPJ</a:t>
            </a:r>
            <a:endParaRPr lang="en-US" sz="9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ORIENTASI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Siapa melakukan apa?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Hak akses menentukan menu yang terlihat dan tindakan yang dapat dilakukan.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2606040" cy="9144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2494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Menyiapkan data dasar dan master anggaran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2606040" cy="9144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9385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2494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Membuat dan mengajukan permohonan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2606040" cy="91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19385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KA.TIM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2494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Memeriksa permohonan tim kerja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20040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200400"/>
            <a:ext cx="2606040" cy="9144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 Keuangan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7124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Memverifikasi biaya dan dokumen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320040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3200400"/>
            <a:ext cx="2606040" cy="9144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 / PPK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37124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Memberikan persetujuan berjenjang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20040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83880" y="3200400"/>
            <a:ext cx="2606040" cy="91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66760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Bendahara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37124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Mencairkan dan mencatat bukti pembayaran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983480"/>
            <a:ext cx="10927080" cy="685800"/>
          </a:xfrm>
          <a:prstGeom prst="roundRect">
            <a:avLst>
              <a:gd name="adj" fmla="val 16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4360" y="4983480"/>
            <a:ext cx="73152" cy="6858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5528" y="5111496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5528" y="5321808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 menu tidak muncul, periksa role dan status pengguna. Hubungi Super Admin untuk perubahan akses.</a:t>
            </a:r>
            <a:endParaRPr lang="en-US" sz="10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Menyiapkan referensi yang menjadi fondasi seluruh transaksi keuangan.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1078992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62727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  /  MODUL KEUANGAN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MASTER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dan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Mulai setiap proses dengan akun sesuai peran.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6126480" cy="4069080"/>
          </a:xfrm>
          <a:prstGeom prst="roundRect">
            <a:avLst>
              <a:gd name="adj" fmla="val 269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612648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8013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5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halaman</a:t>
            </a: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21208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2395728"/>
            <a:ext cx="0" cy="306324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737360"/>
            <a:ext cx="44348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60920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singkat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2487168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62088" y="23957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alamat aplikasi SIPITUNG.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28803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62088" y="27889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username dan password.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327355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62088" y="31821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 Masuk, lalu pastikan dashboard sesuai role.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3886200"/>
            <a:ext cx="443484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86600" y="3886200"/>
            <a:ext cx="73152" cy="10972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87768" y="401421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KEAMANAN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87768" y="422452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Jangan membagikan kredensial. Logout setelah selesai menggunakan aplikasi.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452AEB1-40C4-CD65-A700-8E82D0C2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25" y="2092343"/>
            <a:ext cx="6113814" cy="37140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MASTER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Tahun</a:t>
            </a: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dirty="0" err="1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anggaran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Tahun anggaran aktif menjadi konteks data yang digunakan pada proses berikutnya.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r>
              <a:rPr lang="en-US" dirty="0"/>
              <a:t>Screenshot 2026-09-28 at 17.19.46</a:t>
            </a:r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menu tahun anggaran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691640"/>
            <a:ext cx="41605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1947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Prosedur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4231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23317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Data Master → Tahun Anggaran.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81635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27249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Tambah tahun dan label tahun anggaran.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2095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6408" y="311810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Tentukan tahun aktif/default.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60273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36408" y="35112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Pastikan status aktif sebelum input transaksi.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429768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60920" y="4297680"/>
            <a:ext cx="73152" cy="91440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2088" y="44256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62088" y="463600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Jangan membuat permohonan sebelum tahun anggaran aktif tersedia.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01A094C-B7F6-A096-E049-064183D8C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" y="2061972"/>
            <a:ext cx="6541961" cy="37627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MASTER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Pengguna, pegawai, dan tim kerja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Tiga referensi ini menentukan siapa yang dapat masuk, menerima dana, dan memproses permohonan.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429000" cy="1078992"/>
          </a:xfrm>
          <a:prstGeom prst="roundRect">
            <a:avLst>
              <a:gd name="adj" fmla="val 10169"/>
            </a:avLst>
          </a:prstGeom>
          <a:solidFill>
            <a:srgbClr val="E8F1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19019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221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Username, role, status aktif, dan tim kerja.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1078992"/>
          </a:xfrm>
          <a:prstGeom prst="roundRect">
            <a:avLst>
              <a:gd name="adj" fmla="val 10169"/>
            </a:avLst>
          </a:prstGeom>
          <a:solidFill>
            <a:srgbClr val="DDF4F1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0288" y="19019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Referensi pegawai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221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Identitas, status kepegawaian, rekening, bank, dan pajak.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1691640"/>
            <a:ext cx="3429000" cy="1078992"/>
          </a:xfrm>
          <a:prstGeom prst="roundRect">
            <a:avLst>
              <a:gd name="adj" fmla="val 10169"/>
            </a:avLst>
          </a:prstGeom>
          <a:solidFill>
            <a:srgbClr val="FFF4D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85048" y="19019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 kerja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85048" y="2221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Kode, nama, ketua tim, dan status aktif.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6492240" cy="2560320"/>
          </a:xfrm>
          <a:prstGeom prst="roundRect">
            <a:avLst>
              <a:gd name="adj" fmla="val 4286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0664" y="3310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daftar master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51560" y="461772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0" y="3904488"/>
            <a:ext cx="0" cy="15544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36168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60920" y="324612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60920" y="3246120"/>
            <a:ext cx="73152" cy="1051560"/>
          </a:xfrm>
          <a:prstGeom prst="rect">
            <a:avLst/>
          </a:prstGeom>
          <a:solidFill>
            <a:srgbClr val="C05640"/>
          </a:solidFill>
          <a:ln w="12700">
            <a:solidFill>
              <a:srgbClr val="C05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62088" y="337413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PERLINDUNGAN DATA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62088" y="3584448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Saat membuat dokumentasi, samarkan NIK, NPWP, nomor rekening, email, dan nomor telepon.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452628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60920" y="4526280"/>
            <a:ext cx="73152" cy="105156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62088" y="46542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URUTAN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62088" y="4864608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Siapkan pegawai dan tim kerja sebelum PUMK mengisi nominatif.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6591592-8445-633C-FA4F-EFEC4440E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93592"/>
            <a:ext cx="6492240" cy="26931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Anggaran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Memasukkan dan memastikan data RKA-K/L siap dipakai sebagai sumber pilihan permohonan.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1078992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62727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  /  MODUL KEUANGAN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MASTER ANGGARAN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 master anggaran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RKA-K/L digunakan sebagai dasar struktur anggaran pada SIPITUNG.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impor master anggaran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691640"/>
            <a:ext cx="41605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19476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Prosedur Super Admin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4231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23317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Keuangan → Master Anggaran.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81635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27249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tahun anggaran aktif.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2095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6408" y="311810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Unggah berkas master anggaran.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60273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36408" y="35112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pratinjau lalu konfirmasi impor.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443484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60920" y="4434840"/>
            <a:ext cx="73152" cy="9144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2088" y="456285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62088" y="477316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RKA-K/L yang menjadi dasar input SIPITUNG. Pastikan tahun dan struktur datanya sesuai.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B3F984E-C9EC-ABD7-3D9E-2D37A1A1B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039112"/>
            <a:ext cx="6492241" cy="37856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MASTER ANGGARAN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Memahami hierarki anggaran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Pilihan pada form permohonan mengikuti urutan hierarki dari umum ke rinci.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E8F1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2728" y="19202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52728" y="22219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strategis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E8F1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41648" y="19202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Sasaran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41648" y="22219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strategis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E8F1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30568" y="19202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30568" y="22219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strategis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1120" y="17373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E8F1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0" y="1920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19488" y="19202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19488" y="22219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strategis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1546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DDF4F1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52728" y="3337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52728" y="36393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operasional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1546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DDF4F1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66160" y="3337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41648" y="3337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Kegiatan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41648" y="36393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operasional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31546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DDF4F1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3337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30568" y="3337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Subkegiatan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30568" y="36393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operasional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61120" y="31546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DDF4F1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0" y="3337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19488" y="3337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Rincian biaya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19488" y="36393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operasional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" y="4800600"/>
            <a:ext cx="6492240" cy="1051560"/>
          </a:xfrm>
          <a:prstGeom prst="roundRect">
            <a:avLst>
              <a:gd name="adj" fmla="val 10435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4360" y="480060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0664" y="486460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struktur anggaran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" y="541782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40480" y="5458968"/>
            <a:ext cx="0" cy="4572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4400" y="516178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daftar program / rincian biaya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60920" y="480060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360920" y="4800600"/>
            <a:ext cx="73152" cy="10515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62088" y="49286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KONSISTENSI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62088" y="5138928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Jangan mengubah master anggaran ketika masih digunakan oleh permohonan aktif.</a:t>
            </a:r>
            <a:endParaRPr lang="en-US" sz="10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07FB3F6-2670-3B74-A089-946D3901D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138928"/>
            <a:ext cx="6487428" cy="10946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/  MASTER ANGGARAN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Pemeriksaan pagu dan sisa anggaran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 menampilkan penggunaan anggaran untuk membantu mencegah permohonan melebihi pagu.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6492240" cy="4069080"/>
          </a:xfrm>
          <a:prstGeom prst="roundRect">
            <a:avLst>
              <a:gd name="adj" fmla="val 269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8013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pagu dan sisa anggaran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95728"/>
            <a:ext cx="0" cy="306324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37360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0" y="1874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Pagu total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29800" y="1874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 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0" y="2606040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2743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Terpakai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29800" y="2743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 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60920" y="3474720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DDF4F1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Sisa anggaran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29800" y="3611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 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452628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60920" y="4526280"/>
            <a:ext cx="73152" cy="109728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62088" y="46542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62088" y="486460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kode akun, nama item, satuan, harga satuan, status aktif, dan sisa pagu.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802FA1D-CBC5-DEEE-09CC-E9F7ADD1A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42001"/>
            <a:ext cx="6537960" cy="37266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Permohonan Dana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Membuat pengajuan kegiatan secara lengkap, terukur, dan siap diperiksa.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1078992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62727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  /  MODUL KEUANGAN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/  PERMOHONAN DANA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Membuat draft permohonan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PUMK memulai permohonan dengan memilih konteks anggaran dan judul pekerjaan.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form buat permohonan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691640"/>
            <a:ext cx="4160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PUMK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4231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23317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Permohonan Dana → Buat Permohonan.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81635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27249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Program sampai Kegiatan.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2095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6408" y="311810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Isi judul pekerjaan/keperluan.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60273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36408" y="35112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 Simpan untuk membuat draft.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443484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60920" y="4434840"/>
            <a:ext cx="73152" cy="91440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2088" y="456285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62088" y="477316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Nomor permohonan dibuat otomatis dan status awal adalah Draft.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8A61C4D-C7AA-9114-E240-2C0BC2B0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09928"/>
            <a:ext cx="6492240" cy="38422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/  PERMOHONAN DANA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Mengisi kegiatan, waktu, dan penanggung jawab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Lengkapi konteks kegiatan sebelum mengisi rincian biaya.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tahap Kegiatan dan Waktu &amp; PJ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691640"/>
            <a:ext cx="41605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yang diisi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4231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23317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Judul pekerjaan dan keperluan.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81635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27249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Tanggal mulai dan selesai.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2095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6408" y="311810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Jam pelaksanaan dan tempat.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60273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36408" y="35112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Tanggal pertanggungjawaban.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3995928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36408" y="39044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KA.TIM dan PIC Keuangan bila tersedia.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4389120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60920" y="4389120"/>
            <a:ext cx="73152" cy="9601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62088" y="451713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ULANG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62088" y="4727448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Tanggal kegiatan harus konsisten dengan dokumen pendukung dan rincian perjalanan.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BB99EA2-B80F-0400-9C5F-AF764C17A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45155"/>
            <a:ext cx="6492240" cy="3870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/  PERMOHONAN DANA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Mengunggah dokumen pendukung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 membantu pemeriksa memvalidasi kebutuhan, waktu, dan besaran permohonan.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tahap Dokumen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092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unggah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60920" y="214884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0920" y="21579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55280" y="21854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jenis dokumen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0920" y="278892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60920" y="279806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28254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file yang benar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342900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60920" y="3438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955280" y="34655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Unggah dan tunggu status berhasil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60920" y="406908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60920" y="4078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0" y="41056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Hapus/ganti jika ada kesalahan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4892040"/>
            <a:ext cx="4160520" cy="777240"/>
          </a:xfrm>
          <a:prstGeom prst="roundRect">
            <a:avLst>
              <a:gd name="adj" fmla="val 14118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60920" y="4892040"/>
            <a:ext cx="73152" cy="77724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62088" y="502005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62088" y="523036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format dan ukuran file sesuai validasi yang tampil pada aplikasi.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D0F7F43-8D50-BBE5-1D28-6BCE4D354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1" y="2029968"/>
            <a:ext cx="6571486" cy="38221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/  PERMOHONAN DANA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Mengisi rincian biaya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Rincian biaya harus bersumber dari item anggaran yang tersedia dan tidak melebihi sisa pagu.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6492240" cy="4251960"/>
          </a:xfrm>
          <a:prstGeom prst="roundRect">
            <a:avLst>
              <a:gd name="adj" fmla="val 2581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099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tahap Rincian Biaya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04288"/>
            <a:ext cx="0" cy="324612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645920"/>
            <a:ext cx="41605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1901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perlu diperiksa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395728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23042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Subkegiatan dan kode akun.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78892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269748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 item dan satuan.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18211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6408" y="30906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yang diminta.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57530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36408" y="348386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Harga satuan dan jumlah permintaan.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396849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36408" y="387705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Pagu, terpakai, dan sisa anggaran.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4572000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60920" y="4572000"/>
            <a:ext cx="73152" cy="960120"/>
          </a:xfrm>
          <a:prstGeom prst="rect">
            <a:avLst/>
          </a:prstGeom>
          <a:solidFill>
            <a:srgbClr val="C05640"/>
          </a:solidFill>
          <a:ln w="12700">
            <a:solidFill>
              <a:srgbClr val="C05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62088" y="47000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OTOMATIS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62088" y="4910328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total melebihi sisa anggaran, perbaiki volume atau pilih rincian biaya yang sesuai.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F7AD6D5-E8BD-0323-B8FE-C7D272641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06" y="1952980"/>
            <a:ext cx="6499294" cy="40089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 /  PERMOHONAN DANA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Mengisi daftar nominatif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nominatif untuk item honorarium atau perjalanan dinas yang memerlukan penerima.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6492240" cy="4251960"/>
          </a:xfrm>
          <a:prstGeom prst="roundRect">
            <a:avLst>
              <a:gd name="adj" fmla="val 2581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099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form nominatif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04288"/>
            <a:ext cx="0" cy="324612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0920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penerima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60920" y="21945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62088" y="21031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pegawai dari referensi nama.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60920" y="258775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62088" y="24963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identitas dan rekening.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29809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62088" y="28895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Isi jabatan, volume, dan tarif.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337413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62088" y="32826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PPh 21 yang dihitung sistem.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60920" y="3767328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62088" y="36758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setiap baris nominatif.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0920" y="416052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60920" y="4160520"/>
            <a:ext cx="73152" cy="10515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62088" y="428853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KERAHASIAAN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62088" y="4498848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Pastikan penerima dan rekening sesuai dokumen. Jangan mengisi data fiktif.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D5F2299-002B-572D-5A45-9A778EDF7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6" y="2001563"/>
            <a:ext cx="6546571" cy="39603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 /  PERMOHONAN DANA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dan ajukan permohonan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Sebelum diajukan, PUMK bertanggung jawab memastikan data telah lengkap dan benar.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review / print preview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691639"/>
            <a:ext cx="4160520" cy="2487167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sebelum submit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4231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23317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Kegiatan dan waktu benar.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81635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27249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 wajib tersedia.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2095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6408" y="311810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Rincian biaya sesuai pagu.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60273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36408" y="35112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Nominatif dan rekening benar.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3995928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36408" y="39044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 Ajukan lalu konfirmasi.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434340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60920" y="4343400"/>
            <a:ext cx="73152" cy="91440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62088" y="44714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62088" y="46817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Setelah diajukan, permohonan masuk ke pemeriksaan KA.TIM.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69113C-7F31-05FE-32C9-F62B4413F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84249"/>
            <a:ext cx="6647680" cy="3867910"/>
          </a:xfrm>
          <a:prstGeom prst="rect">
            <a:avLst/>
          </a:prstGeom>
        </p:spPr>
      </p:pic>
      <p:sp>
        <p:nvSpPr>
          <p:cNvPr id="31" name="Frame 30">
            <a:extLst>
              <a:ext uri="{FF2B5EF4-FFF2-40B4-BE49-F238E27FC236}">
                <a16:creationId xmlns:a16="http://schemas.microsoft.com/office/drawing/2014/main" id="{3E4DA314-8635-6CC8-047B-0A30F265F176}"/>
              </a:ext>
            </a:extLst>
          </p:cNvPr>
          <p:cNvSpPr/>
          <p:nvPr/>
        </p:nvSpPr>
        <p:spPr>
          <a:xfrm>
            <a:off x="5093341" y="5170932"/>
            <a:ext cx="2139563" cy="594359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 Berjenjang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pemeriksa menilai permohonan dari sudut pandang kewenangannya.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1078992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62727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  /  MODUL KEUANGAN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 /  PERSETUJUAN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pemeriksaan dan persetujuan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Permohonan berpindah ke tahap berikutnya setelah disetujui pada tahap berjalan.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143000" cy="114300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262432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7512" y="294436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Ajukan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03704" y="2560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68880" y="2331720"/>
            <a:ext cx="1143000" cy="11430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262432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KA.TIM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42032" y="294436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78224" y="2560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43400" y="2331720"/>
            <a:ext cx="1143000" cy="11430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16552" y="262432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 Keuangan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16552" y="294436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Verifikasi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52744" y="2560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17920" y="2331720"/>
            <a:ext cx="1143000" cy="11430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262432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 / Kabag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91072" y="294436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Setujui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27264" y="2560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92440" y="2331720"/>
            <a:ext cx="1143000" cy="11430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65592" y="262432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65592" y="294436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Setujui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01784" y="25603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966960" y="2331720"/>
            <a:ext cx="1143000" cy="114300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40112" y="262432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Bendahara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40112" y="2944368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Cairkan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429768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4360" y="4297680"/>
            <a:ext cx="73152" cy="914400"/>
          </a:xfrm>
          <a:prstGeom prst="rect">
            <a:avLst/>
          </a:prstGeom>
          <a:solidFill>
            <a:srgbClr val="C05640"/>
          </a:solidFill>
          <a:ln w="12700">
            <a:solidFill>
              <a:srgbClr val="C05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5528" y="4425696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PERLU REVISI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5528" y="4636008"/>
            <a:ext cx="10561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Pemeriksa mengembalikan permohonan dengan catatan. PUMK memperbaiki data lalu mengajukan ulang.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 /  PERSETUJUAN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KA.TIM dan PIC Keuangan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 tahap ini memastikan permohonan sesuai kebutuhan tim kerja dan ketentuan keuangan.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daftar / detail verifikasi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78308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KA.TIM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286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Menilai kebutuhan kegiatan, waktu, dokumen, dan kesesuaian tim kerja.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320040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 Keuangan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3703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Memeriksa kode akun, sisa pagu, rincian biaya, nominatif, dan dokumen.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470916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62088" y="483717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62088" y="50474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 setujui jika sesuai atau tolak/kembalikan dengan catatan yang jelas.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B1321A-7B7F-DBE6-5684-E76F958BD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1" y="1984247"/>
            <a:ext cx="6492240" cy="38404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 /  PERSETUJUAN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Pimpinan, PPK, dan catatan keputusan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 akhir memastikan permohonan layak diproses menuju pencairan.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halaman persetujuan pimpinan / PPK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092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Saat memeriksa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60920" y="224028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62088" y="21488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 ringkasan permohonan.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60920" y="263347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62088" y="25420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total anggaran dan tujuan.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302666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62088" y="293522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catatan dari tahap sebelumnya.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341985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62088" y="332841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Setujui atau kembalikan dengan alasan.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60920" y="406908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60920" y="4069080"/>
            <a:ext cx="73152" cy="109728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62088" y="4197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JEJAK AUDIT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62088" y="440740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 pemeriksa, waktu keputusan, dan catatan tersimpan pada riwayat permohonan.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7A30CC4-3F57-75DE-0A1C-E39DA0037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39112"/>
            <a:ext cx="6492240" cy="37714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Pencairan &amp; LPJ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Menutup siklus permohonan melalui pencairan, bukti pembayaran, dan pertanggungjawaban.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1078992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62727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SIPITUNG  /  MODUL KEUANGAN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 /  PENCAIRAN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Pencairan oleh Bendahara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Bendahara memproses permohonan yang telah melewati seluruh tahap persetujuan.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daftar siap dicairkan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691640"/>
            <a:ext cx="41605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Prosedur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423160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36408" y="23317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Permohonan Dana sebagai Bendahara.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2816352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6408" y="27249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permohonan siap dicairkan.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209544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6408" y="311810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nilai dan dokumen persetujuan.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602736"/>
            <a:ext cx="91440" cy="91440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36408" y="351129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 Setujui/Cairkan dan konfirmasi.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434340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60920" y="4343400"/>
            <a:ext cx="73152" cy="91440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2088" y="44714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62088" y="46817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berubah menjadi Dicairkan dan waktu pencairan tercatat.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E6D099D6-4330-C7D9-A508-AC8F197C5BD9}"/>
              </a:ext>
            </a:extLst>
          </p:cNvPr>
          <p:cNvSpPr/>
          <p:nvPr/>
        </p:nvSpPr>
        <p:spPr>
          <a:xfrm>
            <a:off x="7761968" y="6748272"/>
            <a:ext cx="61103" cy="631657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7FD3B01-6D70-B995-6832-8644D9B13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8659"/>
            <a:ext cx="6506073" cy="380606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 /  PERTANGGUNGJAWABAN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pembayaran dan LPJ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 setelah pencairan menjadi bukti bahwa dana telah direalisasikan dan dipertanggungjawabkan.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unggah bukti bayar / LPJ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386334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0008"/>
            <a:ext cx="0" cy="315468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073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87452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60920" y="1883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955280" y="17830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pembayaran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20939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Diunggah oleh Bendahara setelah proses pencairan.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60920" y="306324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60920" y="30723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29718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LPJ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0" y="32826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Diunggah oleh PUMK untuk pertanggungjawaban kegiatan.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425196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60920" y="4261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955280" y="4160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Verifikasi LPJ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0" y="44714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Diperiksa oleh PIC Keuangan atau Bendahara sesuai alur.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3E5F88-DC51-3B61-486D-633927342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33752"/>
            <a:ext cx="6492240" cy="38310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 /  MONITORING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Status, revisi, dan riwayat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Pantau posisi permohonan agar tindak lanjut dilakukan oleh pengguna yang tepat.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5528" y="2084832"/>
            <a:ext cx="164592" cy="164592"/>
          </a:xfrm>
          <a:prstGeom prst="ellipse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70632" y="182880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71800" y="2084832"/>
            <a:ext cx="164592" cy="164592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9544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Diajukan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0872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46904" y="182880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48072" y="2084832"/>
            <a:ext cx="164592" cy="16459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85816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Diverifikasi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67144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23176" y="182880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24344" y="2084832"/>
            <a:ext cx="164592" cy="1645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62088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Disetujui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43416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299448" y="182880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0616" y="2084832"/>
            <a:ext cx="164592" cy="16459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38360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Dicairkan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063240"/>
            <a:ext cx="6492240" cy="2468880"/>
          </a:xfrm>
          <a:prstGeom prst="roundRect">
            <a:avLst>
              <a:gd name="adj" fmla="val 4444"/>
            </a:avLst>
          </a:prstGeom>
          <a:solidFill>
            <a:srgbClr val="EDF4F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3063240"/>
            <a:ext cx="6492240" cy="34747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" y="31272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timeline / riwayat permohonan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1560" y="4389120"/>
            <a:ext cx="5577840" cy="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0" y="3721608"/>
            <a:ext cx="0" cy="1463040"/>
          </a:xfrm>
          <a:prstGeom prst="line">
            <a:avLst/>
          </a:prstGeom>
          <a:noFill/>
          <a:ln w="12700">
            <a:solidFill>
              <a:srgbClr val="A8C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13308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screenshot halaman ini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60920" y="306324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60920" y="3063240"/>
            <a:ext cx="73152" cy="1051560"/>
          </a:xfrm>
          <a:prstGeom prst="rect">
            <a:avLst/>
          </a:prstGeom>
          <a:solidFill>
            <a:srgbClr val="C05640"/>
          </a:solidFill>
          <a:ln w="12700">
            <a:solidFill>
              <a:srgbClr val="C05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62088" y="319125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62088" y="3401568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 catatan penolakan, lakukan perbaikan, lalu ajukan kembali sesuai kewenangan.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60920" y="438912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60920" y="4389120"/>
            <a:ext cx="73152" cy="105156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62088" y="451713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62088" y="4727448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filter status dan buka detail untuk melihat aktor serta waktu setiap keputusan.</a:t>
            </a:r>
            <a:endParaRPr lang="en-US" sz="10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F3AD6B-B2AB-9EDE-821F-17E40996C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19856"/>
            <a:ext cx="6492240" cy="207548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 /  PENUTUP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penggunaan yang aman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checklist ini sebelum menyelesaikan proses pada setiap tahap.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938528"/>
            <a:ext cx="164592" cy="1645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24712" y="17922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20848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Tahun anggaran, pengguna, pegawai, dan tim kerja sudah benar.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1938528"/>
            <a:ext cx="164592" cy="1645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48272" y="17922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Anggaran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48272" y="20848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RKA-K/L sesuai tahun aktif dan rincian biaya memiliki sisa pagu.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081528"/>
            <a:ext cx="164592" cy="1645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29352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Permohonan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32278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Kegiatan, dokumen, biaya, dan nominatif telah diperiksa.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278892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46520" y="3081528"/>
            <a:ext cx="164592" cy="1645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48272" y="29352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48272" y="32278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diberikan sesuai role dan disertai catatan bila perlu.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393192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4224528"/>
            <a:ext cx="164592" cy="1645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24712" y="40782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Pertanggungjawaban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" y="43708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Bukti pembayaran dan LPJ diunggah pada permohonan yang benar.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393192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46520" y="4224528"/>
            <a:ext cx="164592" cy="1645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48272" y="40782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Keamanan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48272" y="43708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pribadi dan dokumen internal tidak dibagikan di luar kebutuhan.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5257800"/>
            <a:ext cx="10927080" cy="685800"/>
          </a:xfrm>
          <a:prstGeom prst="roundRect">
            <a:avLst>
              <a:gd name="adj" fmla="val 16000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4360" y="5257800"/>
            <a:ext cx="73152" cy="68580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5528" y="5385816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BANTUAN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5528" y="5596128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menemukan kendala, catat nomor permohonan, role pengguna, menu, dan pesan error sebelum melapor kepada pengelola SIPITUNG.</a:t>
            </a:r>
            <a:endParaRPr lang="en-US" sz="10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1822</Words>
  <Application>Microsoft Macintosh PowerPoint</Application>
  <PresentationFormat>Widescreen</PresentationFormat>
  <Paragraphs>431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LLDIKTI Wilayah III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Book Modul Keuangan SIPITUNG</dc:title>
  <dc:subject>Manual Book Modul Keuangan SIPITUNG</dc:subject>
  <dc:creator>LLDIKTI Wilayah III</dc:creator>
  <cp:lastModifiedBy>alfitoart</cp:lastModifiedBy>
  <cp:revision>2</cp:revision>
  <dcterms:created xsi:type="dcterms:W3CDTF">2026-09-28T10:12:30Z</dcterms:created>
  <dcterms:modified xsi:type="dcterms:W3CDTF">2026-09-28T11:34:42Z</dcterms:modified>
</cp:coreProperties>
</file>