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3580"/>
          </a:solidFill>
          <a:ln w="12700">
            <a:solidFill>
              <a:srgbClr val="0035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User Guide Modul Keuangan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94360" y="713232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BEAFE"/>
                </a:solidFill>
              </a:rPr>
              <a:t>SIPITUNG LLDIKTI Wilayah III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731520" y="1508760"/>
            <a:ext cx="5577840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</a:rPr>
              <a:t>Panduan per role berdasarkan flow aplikasi dan screenshot aktual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49808" y="2743200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</a:rPr>
              <a:t>Role: PUMK, Ketua Tim Kerja, Kabag Umum, PIC Keuangan, PPK, Bendahara, dan Super Admin.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556248" y="1298448"/>
            <a:ext cx="4855464" cy="4489704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8" name="Image 0" descr="tmp/user-guide-keuangan/screenshots/log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1325880"/>
            <a:ext cx="4800600" cy="44348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49808" y="612648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Dibuat otomatis dari aplikasi lokal pada 30/6/2026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Alur Besar Modul Keuangan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11155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Urutan status dan perpindahan tanggung jawab antar role.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1051560"/>
            <a:ext cx="111556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417320"/>
            <a:ext cx="5303520" cy="4663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PUMK membuat draft permohonan dana dan melengkapi data kegiatan, anggaran, dokumen, serta nominatif.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PUMK submit permohonan. Status masuk proses diajukan dan data inti terkunci.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Ketua Tim melakukan approval tahap 1. Jika ditolak, permohonan kembali ke PUMK sebagai Revisi.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 Keuangan memverifikasi kelengkapan/validitas permohonan setelah Ketua Tim menyetujui.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PPK memberi approval setelah verifikasi PIC Keuangan.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Bendahara mencairkan dana, mengunggah bukti bayar, dan memproses dokumen pascapencairan.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PUMK mengunggah LPJ; PIC Keuangan/Bendahara memantau dan memverifikasi LPJ sesuai menu masing-masing.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 Admin memonitor semua permohonan dan mengelola master anggaran DJA.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1463040"/>
            <a:ext cx="914400" cy="502920"/>
          </a:xfrm>
          <a:prstGeom prst="chevron">
            <a:avLst/>
          </a:prstGeom>
          <a:solidFill>
            <a:srgbClr val="DBEAFE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629400" y="1325880"/>
            <a:ext cx="3200400" cy="411480"/>
          </a:xfrm>
          <a:prstGeom prst="roundRect">
            <a:avLst>
              <a:gd name="adj" fmla="val 17778"/>
            </a:avLst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12280" y="1426464"/>
            <a:ext cx="28346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Draft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092440" y="1737360"/>
            <a:ext cx="182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↓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629400" y="1984248"/>
            <a:ext cx="3200400" cy="411480"/>
          </a:xfrm>
          <a:prstGeom prst="roundRect">
            <a:avLst>
              <a:gd name="adj" fmla="val 17778"/>
            </a:avLst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12280" y="2084832"/>
            <a:ext cx="28346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Submitted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092440" y="2395728"/>
            <a:ext cx="182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↓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629400" y="2642616"/>
            <a:ext cx="3200400" cy="411480"/>
          </a:xfrm>
          <a:prstGeom prst="roundRect">
            <a:avLst>
              <a:gd name="adj" fmla="val 17778"/>
            </a:avLst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12280" y="2743200"/>
            <a:ext cx="28346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Ketua Tim OK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092440" y="3054096"/>
            <a:ext cx="182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↓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629400" y="3300984"/>
            <a:ext cx="3200400" cy="411480"/>
          </a:xfrm>
          <a:prstGeom prst="roundRect">
            <a:avLst>
              <a:gd name="adj" fmla="val 17778"/>
            </a:avLst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12280" y="3401568"/>
            <a:ext cx="28346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PIC OK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092440" y="3712464"/>
            <a:ext cx="182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↓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629400" y="3959352"/>
            <a:ext cx="3200400" cy="411480"/>
          </a:xfrm>
          <a:prstGeom prst="roundRect">
            <a:avLst>
              <a:gd name="adj" fmla="val 17778"/>
            </a:avLst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12280" y="4059936"/>
            <a:ext cx="28346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PPK OK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092440" y="4370832"/>
            <a:ext cx="182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↓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629400" y="4617720"/>
            <a:ext cx="3200400" cy="411480"/>
          </a:xfrm>
          <a:prstGeom prst="roundRect">
            <a:avLst>
              <a:gd name="adj" fmla="val 17778"/>
            </a:avLst>
          </a:prstGeom>
          <a:solidFill>
            <a:srgbClr val="DCFCE7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12280" y="4718304"/>
            <a:ext cx="28346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Dicairkan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092440" y="5029200"/>
            <a:ext cx="182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↓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629400" y="5276088"/>
            <a:ext cx="3200400" cy="411480"/>
          </a:xfrm>
          <a:prstGeom prst="roundRect">
            <a:avLst>
              <a:gd name="adj" fmla="val 17778"/>
            </a:avLst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12280" y="5376672"/>
            <a:ext cx="28346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LPJ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Panduan Role: PUMK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11155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Membuat, melengkapi, mengajukan, dan mengunggah LPJ permohonan dana.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1051560"/>
            <a:ext cx="111556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325880"/>
            <a:ext cx="4617720" cy="4663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Masuk sebagai PUMK, pilih menu Permohonan Dana &gt; Permohonan Baru.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Isi hierarki anggaran DJA, judul pekerjaan, keperluan, periode, tempat, kapokja, dan PIC Keuangan.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Lanjutkan wizard untuk mengisi rincian biaya/RAB, dokumen pendukung, data nominatif jika diperlukan, lalu review.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Klik Submit untuk mengirim permohonan ke Ketua Tim. Draft masih bisa diedit; setelah submit data terkunci.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Jika status Revisi, buka permohonan, perbaiki sesuai catatan penolakan, lalu submit ulang.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Setelah dana dicairkan, unggah file LPJ dari halaman permohonan.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504688" y="1207008"/>
            <a:ext cx="6044184" cy="5038344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7" name="Image 0" descr="tmp/user-guide-keuangan/screenshots/pumk-crea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32120" y="1234440"/>
            <a:ext cx="5989320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Panduan Role: Ketua Tim Kerja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11155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Melakukan approval tahap 1 untuk permohonan dari tim kerja.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1051560"/>
            <a:ext cx="111556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325880"/>
            <a:ext cx="4617720" cy="4663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Masuk sebagai Ketua Tim, buka menu Keuangan &gt; Approval Permohonan.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Gunakan tab Menunggu/Diajukan untuk menemukan permohonan yang perlu diproses.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Buka detail permohonan untuk memeriksa TOR/RAB, dokumen pendukung, nominatif, total anggaran, dan timeline approval.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Pilih Setujui untuk meneruskan ke PIC Keuangan, atau Tolak/Revisi jika data belum sesuai.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Catatan penolakan menjadi panduan PUMK saat memperbaiki permohonan.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504688" y="1207008"/>
            <a:ext cx="6044184" cy="5038344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7" name="Image 0" descr="tmp/user-guide-keuangan/screenshots/ketua-approv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32120" y="1234440"/>
            <a:ext cx="5989320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Panduan Role: Kabag Umum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11155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Melihat dan memantau daftar approval permohonan dana pada menu pimpinan.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1051560"/>
            <a:ext cx="111556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325880"/>
            <a:ext cx="4617720" cy="4663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Masuk sebagai Kabag Umum, buka menu Keuangan &gt; Approval Permohonan.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Halaman menampilkan daftar permohonan, status, pihak approval berikutnya, dan aksi detail.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Gunakan tabel untuk monitoring progres antar status: Draft, Diajukan, Revisi, dan Selesai.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Pada implementasi saat ini layar Kabag Umum tampil sebagai view-only untuk modul permohonan dana.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504688" y="1207008"/>
            <a:ext cx="6044184" cy="5038344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7" name="Image 0" descr="tmp/user-guide-keuangan/screenshots/kabag-approv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32120" y="1234440"/>
            <a:ext cx="5989320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Panduan Role: PIC Keuangan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11155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Memverifikasi kelengkapan dan kesesuaian permohonan sebelum ke PPK.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1051560"/>
            <a:ext cx="111556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325880"/>
            <a:ext cx="4617720" cy="4663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Masuk sebagai PIC Keuangan, buka menu Keuangan &gt; Verifikasi Permohonan.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Pilih permohonan dengan status setelah disetujui Ketua Tim.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Periksa detail RAB, dokumen pendukung, data nominatif, dan kesesuaian akun anggaran.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Klik Verifikasi/Setujui untuk meneruskan ke PPK, atau Tolak/Revisi jika perlu perbaikan PUMK.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Menu Verifikasi LPJ digunakan untuk mengecek dokumen pertanggungjawaban setelah PUMK mengunggah LPJ.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504688" y="1207008"/>
            <a:ext cx="6044184" cy="5038344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7" name="Image 0" descr="tmp/user-guide-keuangan/screenshots/pic-verifikas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32120" y="1234440"/>
            <a:ext cx="5989320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Panduan Role: PPK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11155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Memberikan approval tahap akhir sebelum permohonan masuk ke Bendahara.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1051560"/>
            <a:ext cx="111556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325880"/>
            <a:ext cx="4617720" cy="4663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Masuk sebagai PPK, buka menu Keuangan &gt; Approval Permohonan.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Fokus pada tab Menunggu untuk permohonan yang sudah diverifikasi PIC Keuangan.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Buka detail untuk memeriksa nilai pengajuan, dokumen, status approval sebelumnya, dan catatan.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Setujui untuk meneruskan ke Bendahara sebagai permohonan siap dicairkan.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Tolak/Revisi jika masih ada ketidaksesuaian administrasi atau anggaran.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504688" y="1207008"/>
            <a:ext cx="6044184" cy="5038344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7" name="Image 0" descr="tmp/user-guide-keuangan/screenshots/ppk-approv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32120" y="1234440"/>
            <a:ext cx="5989320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Panduan Role: Bendahara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11155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Mencairkan dana, mengunggah bukti bayar, dan memantau/verifikasi LPJ.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1051560"/>
            <a:ext cx="111556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325880"/>
            <a:ext cx="4617720" cy="4663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Masuk sebagai Bendahara, buka menu Keuangan &gt; Permohonan Dana.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 Perlu Diproses berisi permohonan yang sudah disetujui PPK dan siap dicairkan.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Buka detail permohonan, periksa dokumen dan total anggaran, lalu proses pencairan.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Unggah bukti bayar setelah pembayaran dilakukan.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Gunakan menu Verifikasi LPJ untuk memantau dokumen LPJ yang diunggah PUMK.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Jika perlu perbaikan pascapencairan, fitur buka kunci dapat dipakai sesuai kewenangan.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504688" y="1207008"/>
            <a:ext cx="6044184" cy="5038344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7" name="Image 0" descr="tmp/user-guide-keuangan/screenshots/bendahara-pencair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32120" y="1234440"/>
            <a:ext cx="5989320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Panduan Role: Super Admin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11155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Monitoring seluruh permohonan dan mengelola master anggaran DJA.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1051560"/>
            <a:ext cx="111556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325880"/>
            <a:ext cx="4617720" cy="4663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Masuk sebagai Super Admin, buka menu Keuangan &gt; Permohonan Dana untuk monitoring lintas tim.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Gunakan filter tim kerja, tab status, pencarian, dan detail untuk menelusuri progres permohonan.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Buka menu Keuangan &gt; Master Anggaran DJA untuk mengelola struktur Program, Sasaran, KRO, RO, Komponen, Kegiatan, Sub Kegiatan, dan Rincian Biaya.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 Admin dapat membuka kunci permohonan tertentu bila ada kebutuhan koreksi administratif.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504688" y="1207008"/>
            <a:ext cx="6044184" cy="5038344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7" name="Image 0" descr="tmp/user-guide-keuangan/screenshots/superadmin-monitor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32120" y="1234440"/>
            <a:ext cx="5989320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PUMK - Daftar Permohonan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11155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Screenshot pendukung untuk panduan operasional.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1051560"/>
            <a:ext cx="111556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207008"/>
            <a:ext cx="11027664" cy="5175504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6" name="Image 0" descr="tmp/user-guide-keuangan/screenshots/pumk-li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234440"/>
            <a:ext cx="1097280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 Keuangan - Verifikasi LPJ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11155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Screenshot pendukung untuk panduan operasional.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1051560"/>
            <a:ext cx="111556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207008"/>
            <a:ext cx="11027664" cy="5175504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6" name="Image 0" descr="tmp/user-guide-keuangan/screenshots/pic-lpj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234440"/>
            <a:ext cx="1097280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Bendahara - Verifikasi LPJ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11155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Screenshot pendukung untuk panduan operasional.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1051560"/>
            <a:ext cx="111556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207008"/>
            <a:ext cx="11027664" cy="5175504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6" name="Image 0" descr="tmp/user-guide-keuangan/screenshots/bendahara-lpj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234440"/>
            <a:ext cx="1097280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 Admin - Master Anggaran DJA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11155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Screenshot pendukung untuk panduan operasional.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1051560"/>
            <a:ext cx="111556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207008"/>
            <a:ext cx="11027664" cy="5175504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6" name="Image 0" descr="tmp/user-guide-keuangan/screenshots/superadmin-mas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234440"/>
            <a:ext cx="1097280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Ringkasan Status Permohonan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11155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Istilah status yang muncul pada tabel dan detail permohonan.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1051560"/>
            <a:ext cx="111556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417320"/>
            <a:ext cx="10241280" cy="4663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Draft: permohonan masih disusun PUMK dan belum masuk jalur approval.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Diajukan: permohonan sedang menunggu approval/verifikasi dari role berikutnya.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Revisi: permohonan ditolak pada salah satu tahap dan perlu diperbaiki PUMK.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Selesai: permohonan sudah dicairkan oleh Bendahara.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Kolom Perlu Approval/Oleh menunjukkan role dan nama pihak yang sedang memegang proses berikutnya.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Gunakan aksi Detail untuk membaca data lengkap, dokumen, timeline persetujuan, dan catatan penolakan.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LLDIKTI Wilayah III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User Guide Modul Keuangan SIPITUNG</dc:title>
  <dc:subject>User Guide Modul Keuangan</dc:subject>
  <dc:creator>SIPITUNG</dc:creator>
  <cp:lastModifiedBy>SIPITUNG</cp:lastModifiedBy>
  <cp:revision>1</cp:revision>
  <dcterms:created xsi:type="dcterms:W3CDTF">2026-06-30T03:27:49Z</dcterms:created>
  <dcterms:modified xsi:type="dcterms:W3CDTF">2026-06-30T03:27:49Z</dcterms:modified>
</cp:coreProperties>
</file>